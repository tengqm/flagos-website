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36"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85" d="100"/>
          <a:sy n="85" d="100"/>
        </p:scale>
        <p:origin x="332" y="60"/>
      </p:cViewPr>
      <p:guideLst>
        <p:guide orient="horz" pos="1636"/>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4" Type="http://schemas.openxmlformats.org/officeDocument/2006/relationships/tableStyles" Target="tableStyles.xml"/><Relationship Id="rId63" Type="http://schemas.openxmlformats.org/officeDocument/2006/relationships/viewProps" Target="viewProps.xml"/><Relationship Id="rId62" Type="http://schemas.openxmlformats.org/officeDocument/2006/relationships/presProps" Target="presProps.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本次课程聚焦</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大模型，旨在深入探讨其基础原理，并介绍基于</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的本地部署方法。大模型时代已然来临，它如同超级图书馆的管理员，存储并理解着人类知识。掌握大模型基础原理，能让我们理解其如何实现各种强大功能。而基于</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本地部署大模型，可满足特定场景需求，提升使用效率和数据安全性。让我们一同开启这场大模型探索之旅。</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大家或许都用过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DeepSeek</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或</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ChatGPT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，它们能进行对话、写作、问答，功能看似强大。在日常工作和生活里，我们习惯借助它们获取信息、寻求建议。但实际上，它们只是</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会对话</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。这意味着它们更多是在提供建议，处于被动回应的层面，无法主动执行任务，存在一定的局限性。</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在深夜</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2</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点的办公室，员工面临着巨大的工作压力。在这个时候，对话式</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助手展现出强大的能力。员工提出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帮我生成一份完整的汇报材料，包括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PPT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大纲和数据分析</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的需求，仅用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分钟，</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就完成了材料生成。不仅如此，还顺带完成了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6</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封邮件回复草稿。这充分体现了对话式</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在提高工作效率方面的显著作用，能在员工疲惫的深夜及时提供有力支持，让工作得以高效推进。</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对话式</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虽已广泛应用，但存在明显局限，它只能提供建议，却无法直接付诸行动。就像我们问它怎么写邮件，它会给出思路和方法，却不能亲自完成邮件的撰写和发送。</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而行动派</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则实现了质的飞跃，它能够自动执行任务。从发邮件、订会议室到整理数据，行动派</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都能独立完成。这意味着，我们从单纯向</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询问建议，转变为让</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直接开展工作，极大地提高了效率，也拓展了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的应用边界。</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以</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OpenClaw</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为代表的智能体，展示了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自主执行任务的强大能力。当收到</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调研</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行业最新动态，生成报告并发送给团队</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的指令，它会按步骤行动。先搜索相关资料，广泛查找信息，然后筛选出关键信息，为生成报告做准备。接着撰写完整报告，再对数据进行可视化分析。最后自动邮件通知，完成任务闭环。</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这表明</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 Agent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不只是会聊天的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，它能调用工具完成实际动作，实现任务的自动执行，开启了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从提供建议到自主行动的新时代。</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前面我们介绍了对话式应用，如</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DeepSeek</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ChatGPT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这类能写报告的对话式</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，属于应用层。而现在我们来到进阶层，聚焦以</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OpenClaw</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为代表的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 Agent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，也就是能像数字员工一样自动执行任务的智能体。</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尽管对话式应用和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 Agent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在功能表现上有所不同，一个侧重于对话交流，一个强调自主执行任务，但它们背后依靠的是同一个</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大脑</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大模型。大模型就像一个强大的中枢，为不同类型的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应用提供核心支持。</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本次课程围绕大模型展开，包含五个主要部分。先介绍</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无所不能</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，开启大模型时代；接着探讨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实现的原理，即大模型推理；再阐述如何训练出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无所不能</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；之后剖析大模型背后的算力及开源</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系统软件栈</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；最后进行实操演示。附录提供参考资源，结尾致谢相关人员。</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前面我们了解了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在对话和执行任务方面的应用案例及相关原理。现在，我们将进入一个全新的篇章</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无所不能</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，大模型时代来临。大模型就像超级图书馆的管理员，它究竟有怎样的魅力和能力？接下来让我们一探究竟。</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要理解大模型，不妨想象一个超级图书馆，馆藏囊括人类历史几乎所有知识信息。大模型就如同这图书馆的管理员，不仅能记住所有内容，更能洞悉其中的关联和规律。</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大模型的参数规模达到</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6710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亿，这些参数是模型中的可调变量，如同大脑神经元的连接强度，它们决定了大模型对知识的掌握和运用能力。参数规模越大，大模型就越能精准地理解和处理复杂信息，为我们提供更准确、更有价值的服务。</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生成式</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宛如一位全能魔法师，拥有令人惊叹的魔法。它在文字生成领域，能创作文章、代码、诗歌、邮件等，无论是严谨的学术论文，还是优美的诗歌，都能信手拈来。</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图片生成方面，绘画、设计、摄影、插画等都不在话下，能满足不同的创意需求。声音生成上，音乐、配音、音效、语音等都能轻松生成，为作品增添独特的听觉体验。视频生成领域，动画、短片、特效、剪辑等也能完美呈现。</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这种多模态能力，使生成式</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能同时理解并生成文字、图片、声音、视频等多种内容，极大地拓展了其应用范围和价值。</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大模型的核心原理如同一场预测游戏，本质是</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词语接龙</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，即预测下一个最可能出现的词。以</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人工智能是指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为例，有</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计算机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一种</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由</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三个候选词，其概率分别为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45%</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30%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25%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计算机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概率最高，最有可能成为下一个词。</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种预测方式被称为自回归生成，每次都基于已生成的内容来预测下一个词。这一原理看似简单，却赋予了大模型强大的能力，让它能生成连贯、有逻辑的文本，是大模型能够实现文本生成等诸多应用的关键所在。</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大模型的厉害之处不仅在于</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词语接龙</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，更在于它能理解长距离的语义关联。就像例子里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他养了一只猫，那只猫在他最孤独的日子里陪着他，真的很可爱</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，模型能明白两个</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猫</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是同一指代，还能把</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可爱</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猫</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关联起来。这体现了长距离依赖理解能力。而这一能力的实现依靠自注意力机制，它让模型在处理每个词时，自动关联上下文词汇，从而精准把握语义，就像给模型装上了一双能纵观全局的眼睛。</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Transformer</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架构是多层堆叠的，每一层都在前一层的基础上提取更高级的特征。在第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层，模型关注表层特征，如词性和语法结构，这是理解文本的基石。到了第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5</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层，模型能够理解短语义单元，开始把握局部的语义信息。</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当达到第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层时，模型可以实现句子理解，掌握完整的语义，这是一个重要的跨越。而到了第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20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层，模型具备抽象推理能力，能理解逻辑、情感和意图，这使得大模型能够处理复杂的任务。</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这种层层递进的架构，让大模型逐步深入理解语言，就像我们学习知识一样，从基础到深入，最终具备强大的语义理解和处理能力。</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前面我们已经了解到，大模型具备文本生成、多模态能力、对话式应用以及</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Agent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工作流等强大能力。那么，大模型是怎样运转起来的呢？实际上，大模型在实际应用中的过程，本质就是大模型推理的过程。接下来，我们会通过具体的例子，深入拆解大模型的工作流程，看看它是如何从输入信息一步步得出输出结果的。</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前面我们了解了大模型具备文本生成、多模态等能力，现在我们聚焦于</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究竟怎么做到的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这一问题，深入探索大模型推理的奥秘。大模型推理是运用大模型处理信息并生成结果的重要流程，它的实现过程就如同一场精密的运算。接下来我们会逐步拆解大模型推理流程，揭开</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背后的神秘面纱。</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大模型推理流程可概括为四个关键步骤。第一步是输入处理，其本质是将文字转化为数字。这是后续所有计算的基础，为模型理解语义做好准备。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第二步是逐层计算，旨在理解语义。大模型通过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Transformer</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架构的多层堆叠，从表层特征逐步提取到抽象推理，不断加深对输入内容的理解。</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第三步是预测，也就是计算概率。大模型基于已生成的内容，预测下一个最可能出现的词，这是</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词语接龙</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核心能力的体现。</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第四步是生成，采用循环迭代的方式。不断重复上述步骤，持续生成新的内容，直到满足特定条件为止。这四个步骤环环相扣，共同构成了大模型的推理过程。</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大模型推理的第一步是输入处理，即把文字转换为数字，这一过程包括四个关键步骤。首先是分词，将文本切分成</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，就像把句子拆分成一个个有意义的小单元。接着是向量化，把</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映射为高维向量，以此捕捉语义、语法和上下文等特征。然后进行位置编码，为模型提供词语顺序信息，区分不同位置的相同词。最后是最终表示，将语义特征和位置信息融合，形成最终的输入表示。以</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“What is 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为例，经过这四个步骤，输入就转换为机器可理解的数字表示了。</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大模型推理的第一步输入处理里，分词是关键的初始环节。它将句子切分成</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，并查询词表获得</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 ID</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。就像示例</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“What is 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，被切分成</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“What”“is”“AI”“?”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这些</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，分别对应唯一的数字</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ID</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主流词表大小达</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 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，每个</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都有专属</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ID</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，这保证了大模型能精准识别和处理文本。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是大模型处理文本的基本单元，分词就是将原始文本切分成</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序列的过程。</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大家可以通过这个网站</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https://tiktokenizer.vercel.app/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体验分词，直观感受文本是如何被切分成</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在大模型推理流程的输入处理阶段，完成分词后，接下来进入向量化环节。此环节将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映射为高维向量，从而捕捉语义特征。</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高维向量的不同维度对应着不同特征。</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1 - 512</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维度代表语义特征，这是对词语本身含义的量化体现；</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513 - 1024</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维度是语法特征，反映了词语在句子中的语法规则；</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1025 - 4096</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维度则为上下文特征，能体现词语在具体语境中的意义。</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通过向量化，原本的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被转化为更具信息承载能力的高维向量，为后续模型理解语义奠定了基础。</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在大模型推理流程的输入处理环节，位置编码是关键步骤，它为模型提供词语顺序信息，从而区分不同位置的相同词。以</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“What is 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“Is What 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为例，同样的词因顺序不同语义也不同，位置编码能让模型识别这种差异。</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具体来说，位置编码是给每个词赋予位置向量，将其与词向量相加得到最终向量。这样，模型就能在处理输入时考虑到词语的位置信息，进而更精准地理解语义。位置编码技术极大提升了模型对文本顺序和语义的把握能力。</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在大模型推理流程的输入处理环节，历经分词、向量化、位置编码后，来到了关键的最终表示步骤。此步骤将词向量所携带的语义特征与位置向量包含的顺序信息相融合，从而形成最终向量。</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这一融合意义重大，它使得输入信息拥有了完整的表示，就如同给信息穿上了一件</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完整的外衣</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，让机器能够更好地理解。至此，</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Step 1</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输入处理圆满完成，输入已成功转换为机器可理解的数字表示，为后续的逐层计算、预测和生成奠定了坚实基础。</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完成输入处理后，模型进入</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Step 2</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逐层计算阶段，此阶段旨在理解输入的语义。该阶段主要包含四个方面。</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多角度理解，借助</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Self - Attention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机制，让每个词关注其他所有词，可全面把握语义。深度加工则是通过前馈网络对每个词进行独立非线性变换，提炼高层语义，将表面形式抽象为更具内涵的表示。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层层递进依靠多层堆叠，从表层特征开始，逐层提取更高级的特征，最终实现对完整语义和抽象推理的理解。缓存加速利用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KV</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缓存，避免重复计算，能大幅提升生成速度。</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通过多层神经网络计算，模型能逐步理解输入的语义、语法和上下文关系。</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在模型逐层计算的过程中，多角度理解这一步至关重要，它借助</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Self - Attention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机制，让每个词都能</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看到</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其他所有词。以</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“What is 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为例，</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“What”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能与</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“is”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产生关联，</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“is”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也能和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“What”“AI”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相互关注，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同样如此。</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Self - Attention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机制通过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Q</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（查询）、</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K</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（键）、</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V</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值）三个核心矩阵来计算注意力权重和输出。这一机制能让模型更全面地捕捉词与词之间的关系，就像我们在理解句子时，会综合考虑各个词语的相互作用。这种多角度的理解方式，为后续模型深度加工和层层递进奠定了基础。</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逐层计算的流程里，深度加工是极为关键的一步。这一步借助前馈网络，对输入向量进行处理，将输入特征中蕴含的基础语义，转化为输出特征的高层抽象。</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前馈网络会对每个词独立进行非线性变换，从而提取高层语义。就像面对</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“What is 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这样的表面形式，模型会进行独立且深度的加工，最终提炼出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用户在询问一个技术概念的定义</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这样的抽象表示。这一过程实现了从具体到抽象的跨越，让模型能更好地理解输入内容。</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模型处理流程的逐层计算阶段，</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层层递进</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这一步至关重要。它通过多层堆叠的方式，逐层提取更高级的特征。</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从第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层到第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20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层，模型实现了从表层特征到抽象推理的跨越。在第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层，模型主要识别名词、动词，了解词性和语法；到第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5</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层，开始理解词组关系，进行短语理解；第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层时，能把握句子主旨，实现句子理解；到第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20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层，就可以进行抽象推理，识别逻辑、情感和意图，推理深层含义。</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多层堆叠的意义在于，每一层都在前一层的基础上进一步提炼和抽象，从而让模型对输入内容有更深入、全面的理解。</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在模型逐层计算过程中，</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KV</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缓存加速是提升效率的关键环节。若无</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KV</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缓存，每生成一个词都需重新计算全部历史，这会导致大量重复运算，耗时达</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100%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。而有了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KV</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缓存，首次生成词时会存储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K</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V</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到缓存，后续生成新词只需读取缓存并计算新词，耗时大幅降至</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20%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KV</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缓存通过避免重复计算，显著提升了生成速度，让模型运行更高效。这就如同给模型配备了记忆助手，使其能快速调用过往信息，避免了不必要的重复劳动，从而提升了整体的工作效率。</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完成逐层计算后，模型进入预测环节，此环节需计算概率。预测包含两方面，一是选词策略，采用思维链推理；二是技术实现，运用概率采样。</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基于前面步骤提取的语义特征，模型会计算每个候选词的概率分布。思维链推理让模型先生成中间推理步骤，再给出最终答案，能提升复杂问题回答的准确性。技术实现方面，通过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Softmax</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将分数转换为概率，用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Top - k/p Sampling</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控制生成多样性，最终选择合适的词。</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在大模型预测环节的选词策略中，思维链（</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CoT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）方法发挥着重要作用。它让模型先生成中间推理步骤，再给出最终答案。以</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What is AI? Let's think step by step”</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为例，模型先明确</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代表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Artificial Intelligence</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，接着指出是机器模拟人类智能，还包括学习、推理和解决问题等方面，最后得出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是机器对人类智能的模拟这一答案。</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相较于普通回答，</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CoT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回答能更清晰地展示思考过程，提升模型处理复杂问题的准确性。这种先逐步推理再得出结论的方式，使模型的回答更具逻辑性和说服力。</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在大模型工作流程的预测环节，技术实现方面涉及候选词概率分布。这里给出了几个候选词及其概率，如</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占</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45%</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“Artificial”</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占</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30%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占</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15%</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占</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。为了将分数转换为概率，会用到</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Softmax</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函数。</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同时，为了控制生成的多样性，采用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Top - k/p Sampling</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采样策略。这两者相辅相成，</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Softmax</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函数为后续的采样提供了概率基础，而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Top - k/p Sampling</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则在众多候选词中筛选，确保生成内容既符合概率分布，又具有多样性。</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在大模型工作流程中，生成环节采用自回归生成方式，即循环迭代地基于已生成内容预测下一个词。以询问</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“What is 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为例，第一次预测结果为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“Artificial”</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，随后将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“Artificial”</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加入输入，进行第二次预测，得到结果</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“Intelligence”</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这种不断重复的预测过程，就像在搭建一座知识的大厦，每一个新生成的词都是一块砖，逐步构建出完整的回答。模型持续循环，直至生成完整、准确的答案，最终输出如</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“Artificial Intelligence is...”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这样完整的内容。</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接下来总结大模型工作流程。以</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What is AI?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为例，首先是输入处理，要将输入文本进行分词，转化为向量，再进行位置编码，就像给每个词语安排好位置，以便后续处理。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接着进入逐层计算环节，这一步需要对输入信息进行多角度理解、深度加工和多层堆叠，让模型对信息有更深入的认识。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最后是预测环节，运用思维链进行推理，计算每个候选词的概率，再通过采样策略选出合适的词。经过这些步骤，最终输出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“Artificial Intelligence is...”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这样的回答。</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我们通过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应用知晓了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的能力，又从大模型工作流程中了解到，</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强大能力的背后依托的是大模型的推理能力。那么，大模型强大的推理能力究竟源自何处呢？这是一个值得深入探究的问题。对其来源的探寻，有助于我们进一步理解大模型的运行机制，挖掘其更多的潜力，为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的发展和应用提供更坚实的理论支撑和实践指导。</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前面我们了解了大模型的工作流程和推理能力，那么如何让</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变得</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无所不能</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呢？这就涉及到大模型训练。大模型训练是提升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能力的关键环节，它就像培养实习生一样，需要逐步学习和成长。接下来，我们就一起看看大模型训练的主要流程。</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大模型训练的主要流程可类比为培养实习生，要经历学习数据收集，词表构建，架构设计，预训练，监督微调，和根据反馈调整这</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6</a:t>
            </a: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个阶段。</a:t>
            </a:r>
            <a:r>
              <a:rPr lang="zh-CN">
                <a:solidFill>
                  <a:srgbClr val="000000"/>
                </a:solidFill>
                <a:latin typeface="Calibri" panose="020F0502020204030204"/>
                <a:ea typeface="宋体" panose="02010600030101010101" pitchFamily="2" charset="-122"/>
                <a:cs typeface="Calibri" panose="020F0502020204030204"/>
                <a:sym typeface="Calibri" panose="020F0502020204030204"/>
              </a:rPr>
              <a:t>预训练，监督微调，和根据反馈调整这几个阶段</a:t>
            </a:r>
            <a:r>
              <a:rPr lang="zh-CN">
                <a:solidFill>
                  <a:srgbClr val="000000"/>
                </a:solidFill>
                <a:latin typeface="Calibri" panose="020F0502020204030204"/>
                <a:ea typeface="宋体" panose="02010600030101010101" pitchFamily="2" charset="-122"/>
                <a:cs typeface="Calibri" panose="020F0502020204030204"/>
                <a:sym typeface="Calibri" panose="020F0502020204030204"/>
              </a:rPr>
              <a:t>则是训练的主要阶段。</a:t>
            </a: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预训练阶段，模型如同实习生学习通用知识，在大规模数据上学习通用语言表示，为后续发展奠定基础。</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SFT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阶段即监督微调，如同对实习生进行专项培训，让模型聚焦特定任务和领域，提升其在具体场景下的表现。</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RLHF</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阶段则是引入人类反馈，就像根据实际工作中的反馈来调整实习生的工作方式，使模型不断优化，以更好地满足人类需求和期望。这三个阶段环环相扣，共同助力大模型具备强大的能力。</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大模型训练的第一步是数据收集，这是整个训练过程的基石。训练数据规模达到了万亿级</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，如此庞大的数据量为模型学习提供了丰富的素材。</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数据类型涵盖网页、书籍、论文、代码等多种文本。网页数据具有实时性和多样性，能让模型接触到当下流行的信息；书籍蕴含着系统的知识体系；论文代表着专业领域的研究成果；代码则体现了特定的逻辑和规则。多种类型数据相互补充，使模型能学习到全面且复杂的语言模式和知识。</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大模型训练的第二步是构建词表，这是一项基础且关键的工作。词表就像是大模型的一本字典，其中包含了模型所能识别的所有</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及其编号。构建词表时，会先进行分词统计，统计出各种词汇的出现频率，再按照频率对词汇进行排序，最后为每个词汇分配一个唯一的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ID</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这个词表规模庞大，有</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 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，涵盖了像</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“the”“is”“AI”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等常见词汇，也有</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学习</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智能</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等专业词汇。有了这个词表，大模型就能将输入的文本转化为计算机能够理解的数字编号，为后续的训练和计算打下坚实基础。</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大模型训练的第三步是架构设计，主要涉及</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Transformer</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MoE</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Transformer</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作为核心架构，已成为当下大语言模型的标准配置。它凭借</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Self - Attention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机制，能精准捕捉文本中词汇间的关联；多层堆叠设计则增强了模型的表达能力；并行计算的特性大幅提升了训练速度。</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MoE</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是可选的混合专家系统，作为条件计算架构，它只激活部分参数。这种方式能有效提升计算效率，还支持构建更大规模的模型。可以说，</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Transformer</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奠定了大模型的基础能力，而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MoE</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则在必要时为模型的性能提升和规模拓展提供助力。</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大模型训练的第四步是预训练，其核心任务是预测被遮盖的词。比如</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 is [MASK] of computer science”</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，模型要推测出最合适的词，这里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的概率高达</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85%</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预训练需要万亿级</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的训练数据，涵盖网页、书籍等多种文本类型。如此大规模的数据训练，成本高昂，需数百万美元，并且要依靠</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GPU/TPU</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算力来完成。</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预训练是在大规模无标注数据上进行的，目的是让模型学习通用语言表示，就像实习生学习通用知识，为后续的专项培训和调整奠定基础。</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大模型训练的第五步是监督微调，其重要性在于让模型回应更贴合人类期望。从示例可见，微调前的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回复过于学术化，像用户说</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你好</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，它只是解释</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你好</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是常用问候语。而微调后，回复变得友好自然，如</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你好！很高兴见到你，有什么我可以帮助你的吗？</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监督微调通过使用高质量指令</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回答数据对模型进行微调，使其对齐人类意图。这就如同给模型一个</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导航</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，让它在回应时能朝着人类期望的方向前进，从而更好地满足用户需求。</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在大模型训练的第六步</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RLHF</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，即基于人类反馈的强化学习中，目的是让模型生成的内容更符合人类偏好。以写春天的诗为例，</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春风拂面柳丝长，桃花映日满园香</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这样富有意境的诗获高分，而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春天来了，花开了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这种简单表述则是低分。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奖励模型会学习人类偏好，以此来优化目标。让模型生成的回答具备有用、诚实、无害的特性，这样模型生成的内容就能更好地满足人类的需求，真正与人类偏好对齐。</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培养模型的思维链能力，本质是使其学会逐步推理。具体步骤包含理解问题、分析步骤、逐步求解、验证答案。理解问题需精准把握题目要求与已知条件，这是推理的基础。分析步骤则是将复杂问题拆解为子问题，降低推理难度。逐步求解是依次攻克每个子问题，推动推理进程。最后验证答案，确保结果的正确性。</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培养过程中，预训练阶段借助大量推理文本数据，让模型初步熟悉推理模式。微调阶段运用步骤式标注数据，进一步强化其逐步推理能力。通过这两个阶段的训练，模型能更好地掌握逐步推理的方法，提升思维链能力。</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本次课程围绕大模型展开，涵盖</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应用、大模型能力、推理流程和训练流程等内容。我们看到的大模型应用如同冰山之上，是直观可见的部分。而支撑大模型的算力基础设施则像冰山之下，虽不直接显现，却起着关键作用。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那么，究竟是什么在支撑着大模型呢？这是我们需要深入思考的问题。算力基础设施是大模型运行的基石，它为模型的训练和推理提供了强大的计算能力。只有深入了解其背后的支撑因素，才能更好地推动大模型的发展和应用。</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前面我们了解了大模型的训练流程和思维链能力培养等内容，知道了大模型的强大功能。而接下来，我们将聚焦大模型背后的算力。这里要介绍的开源</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系统软件栈</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，它是支撑大模型运行的关键。那</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具体有怎样的生态地位和作用呢，让我们一探究竟。</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在生态中具有重要地位，其体系由生态使能、核心库和工具三部分构成。生态使能包含</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Megatron - EL</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vLLM - plugin - FL</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TransformerEngine - FL</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，这些组件为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生态的运行提供了基础支撑。</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核心库是</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的关键部分。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FlagGems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作为高性能通用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算子库，能高效处理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计算任务；</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FlagTree</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统一的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编译器可打破芯片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方言</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障碍；</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FlagScale</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统一的并行训练和推理框架能提高训练和推理效率；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FlagCX</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统一通信库则确保了系统内的高效通信。</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工具部分也不容小觑。</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KernelGen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是</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赋能的算子开发工具，可加速算子开发；</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FlagRelease</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是大型模型发布平台，方便模型的发布；</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FlagPerf</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作为人工智能硬件评估引擎，能对硬件进行精准评估。</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现在进入实操环节，探讨如何基于</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在华为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NPU</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上本地运行大模型</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Qwen3 - 4B</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。这一实操具有重要意义，一方面能让我们更直观地感受大模型的运行机制，另一方面也能体验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在本地运行大模型时的优势。</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华为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NPU</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为大模型运行提供强大的计算支持，而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Qwen3 - 4B</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模型则是大模型领域的佼佼者。通过将二者结合，借助</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的能力，我们能在本地实现高效、稳定的大模型运行，为后续的应用开发和研究奠定基础。</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本次实战部署通过</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FlagOS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创建对话机器人，包含六个步骤。先进行环境检查与模型安装，保障数据安全；接着安装</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FlagGems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算子库用于计算、</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FlagTree</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编译器统一芯片语言；再安装</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vLLM</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插件连接各方；之后配置启动推理服务，最后进行客户端配置与对话，各步骤环环相扣。</a:t>
            </a:r>
            <a:endPar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在通过</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FlagOS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创建对话机器人的实战部署进程中，当前虽遇到不支持导入内容的状况，但这也是技术实践里常有的挑战。这提醒我们，实战建设并非一帆风顺，可能会面临各类未知问题。不过这也正是技术探索的魅力所在，每一个阻碍都是通往成功的关键节点。我们要保持耐心，积极解决问题，确保后续构建对话机器人的步骤顺利开展。</a:t>
            </a:r>
            <a:endPar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创建对话机器人的第一步是环境检查与模型下载。先检查</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NPU</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状态，使用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“npu - smi info”</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命令，若两块</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Ascend</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状态正常，温度、功耗在安全范围，</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NPU</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版本兼容且芯片健康，就具备了良好的硬件基础。</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同时，下载开源模型权重而非进行</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API</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调用，数据完全留在本地，这为数据安全加上了一把锁，让我们无需担忧隐私泄露问题。之后，使用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“pip install modelscope”</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安装工具，再用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“modelscope download --model Qwen/Qwen3 - 4B --local_dir ./Qwen3 - 4B”</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将</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Qwen3 - 4B</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模型下载到根目录，为后续操作做好准备。</a:t>
            </a:r>
            <a:endPar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在基于</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FlagOS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本地运行大模型的实操中，第二步是安装</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FlagGems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高性能算子库。这一步包含四个关键环节。首先是安装依赖，通过编译工具链来安装必要的组件，如使用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“pip install -U scikit - build - core==0.11 pybind11 ninja cmake”</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命令。接着是克隆仓库，从</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“https://github.com/flagos - ai/FlagGems”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获取源码。然后以开发模式安装包，使用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“pip install --no - build - isolation -e .”</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命令。最后是验证安装，运行测试，通过</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“pytest test_unary_pointwise_ops.py”</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启用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FlagGems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算子，若有通过的算子，再用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“pip show flag_gems”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确认</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FlagGems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运行正常，且此过程零代码改动、自动启用。</a:t>
            </a:r>
            <a:endPar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接下来进行</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FlagTree</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跨芯片统一编译器的安装。要使用特定命令从</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FlagOS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官方资源仓库地址下载，该编译器是针对华为昇腾</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3.2</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预编译的。具体命令为，先设置资源地址变量</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RES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，再用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python3 -m pip install flagtree==0.4.0+ascend3.2 $RES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来安装。</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安装完成后，还需进行验证，使用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pip show flagtree</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命令，确认版本号和安装路径是否正确。这一步骤至关重要，它保证了编译器的正确安装和后续使用，为后续创建对话机器人奠定基础。</a:t>
            </a:r>
            <a:endPar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在通过</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FlagOS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创建对话机器人的实战部署中，第四步是安装</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vLLM - Plugin - FL</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跨芯片统一插件。这一步至关重要，它能让</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大脑</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FlagOS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及计算硬件紧密连接起来。</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具体操作分三步。第一步，通过命令</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“git clone https://github.com/flagos - ai/vllm - plugin - FL”</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克隆插件仓库，获取所需的插件代码。第二步，执行</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“pip install -r requirements.txt”</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安装依赖，确保插件运行的环境准备好。第三步，使用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“pip install --no - build - isolation -e.”</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安装插件。完成这三步，插件就能正常工作，为后续推理服务的顺利开展奠定基础。</a:t>
            </a:r>
            <a:endPar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配置启动推理服务这一步至关重要，其中环境变量配置有两个关键变量。第一个变量</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“export VLLM_PLUGINS=fl”</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，能告诉</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vLLM</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使用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FlagOS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后端插件，为服务运行奠定基础。第二个变量</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“exportTRITON_ALL_BLOCKS_PARALLEL=1”</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，可开启</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Triton</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并行优化，显著提升推理速度。</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启动推理服务后，若显示</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“Platform plugin fl is activated”</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，则表明启动成功。此时服务状态为运行中，监听地址是</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127.0.0.1:30000</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，这意味着华为</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NPU</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成功变身为</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AI</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推理服务器。推理服务启动时还会自动启动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FlagGems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算子，可通过</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“cat /tmp/flaggems_enable_oplist.txt”</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查询启动的算子。</a:t>
            </a:r>
            <a:endPar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完成前面一系列安装和配置后，就来到了第六步</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客户端配置与对话。这一步需要配置模型地址和名称。运行</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“vllm serve --model /root/Qwen3 - 4B --served - model - name qwen --enforce - eager --port 30000”</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，明确模型权重路径、服务对外名称、禁用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CUDA Graph</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以实现</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NPU</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兼容，以及服务运行端口。</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同时，要设置</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Base URL</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为</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Service URL/v1</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Chat Model Name</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为</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qwen</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。这些配置能让客户端与模型建立有效连接，开启流畅对话，为后续使用模型进行交互奠定基础。</a:t>
            </a:r>
            <a:endPar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前面我们完成了环境检查、模型下载、相关库与插件的安装以及推理服务的配置启动，现在来到第六步</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客户端配置与对话。这一步至关重要，它能让我们实际体验与模型交互。配置好客户端后，我们就能开启与模型的对话，那会有怎样有趣的交互呢，让我们拭目以待。</a:t>
            </a:r>
            <a:endPar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为各类</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芯片设计，是统一、开源的系统软件栈，能让国产算力可用、易用、好用，为中国</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基础设施自主可控奠定基础。其核心价值显著：</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一是自主可控，摆脱对</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API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和生态的依赖，数据本地部署，保障数据安全。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二是提升开发效率，无需针对</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NPU</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重写算子，一套代码跨平台运行，降低开发成本。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三是保障性能，</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Triton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语言带来接近手写</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CUDA</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的性能，还保持代码可读性和可维护性。</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四是利于未来扩展，同一套代码可在更多国产芯片上运行，社区生态也会持续扩展。</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为帮助大家更好地学习和研究，这里为大家提供了一系列参考资源与工具。交互式理解</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Transformer</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架构的资源，能让大家通过互动的方式深入了解</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Transformer</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架构的原理和运行机制。大模型架构可视化工具，可将复杂的大模型架构直观地展示出来，便于理解。动画演示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Attention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机制的资源，以生动的动画呈现</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Attention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机制，让抽象的概念变得易懂。</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词向量可视化工具，能帮助大家直观地看到词向量的分布和关系。</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文档则是了解</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系统软件栈的重要资料。还有体验文本如何被切分成</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的工具，能让大家亲身体验文本处理的过程。合理利用这些资源和工具，能提升学习和研究的效率。</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各位朋友，今天我们一同深入了解了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系统软件栈的安装流程及其带来的核心价值。从环境检查与模型下载，到客户端配置与对话，每一个步骤都展现了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的强大实力和广阔前景。它为国产算力的发展带来了自主可控、高效开发、性能保障和未来扩展等诸多优势，让国产算力真正可用、易用、好用。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在这里，我要特别感谢曹州、腾启明、王蕴博等为本次课程提供支持的人员，是他们的付出让我们有机会深入学习</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。同时，我也希望大家能够行动起来，积极尝试使用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，共同推动中国</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基础设施的自主可控发展。</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展望未来，我们有理由相信，</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将在国产芯片领域发挥更大的作用，为中国</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产业的崛起贡献力量。让我们携手共进，迎接</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时代的挑战与机遇！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再次感谢大家的聆听！</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DEFAULT">
    <p:bg>
      <p:bgPr>
        <a:solidFill>
          <a:srgbClr val="FFFFFF">
            <a:alpha val="100000"/>
          </a:srgbClr>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PPTIST_MASTER">
    <p:bg>
      <p:bgPr>
        <a:solidFill>
          <a:srgbClr val="FFFFFF">
            <a:alpha val="100000"/>
          </a:srgbClr>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image" Target="../media/image1.png"/><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fld>
            <a:endParaRPr lang="zh-CN"/>
          </a:p>
        </p:txBody>
      </p:sp>
      <p:pic>
        <p:nvPicPr>
          <p:cNvPr id="2" name="Picture 1"/>
          <p:cNvPicPr>
            <a:picLocks noChangeAspect="1"/>
          </p:cNvPicPr>
          <p:nvPr/>
        </p:nvPicPr>
        <p:blipFill>
          <a:blip r:embed="rId12"/>
          <a:stretch>
            <a:fillRect/>
          </a:stretch>
        </p:blipFill>
        <p:spPr>
          <a:xfrm>
            <a:off x="9017000" y="5029200"/>
            <a:ext cx="2286000" cy="1371600"/>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9017000" y="5029200"/>
            <a:ext cx="2286000" cy="1371600"/>
          </a:xfrm>
          <a:prstGeom prst="rect">
            <a:avLst/>
          </a:prstGeom>
        </p:spPr>
      </p:pic>
    </p:spTree>
  </p:cSld>
  <p:clrMap bg1="lt1" tx1="dk1" bg2="dk2" tx2="lt2" accent1="accent1" accent2="accent2" accent3="accent3" accent4="accent4" accent5="accent5" accent6="accent6" hlink="hlink" folHlink="folHlink"/>
  <p:sldLayoutIdLst>
    <p:sldLayoutId id="2147483661" r:id="rId1"/>
    <p:sldLayoutId id="2147483662"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8" Type="http://schemas.openxmlformats.org/officeDocument/2006/relationships/notesSlide" Target="../notesSlides/notesSlide34.xml"/><Relationship Id="rId37" Type="http://schemas.openxmlformats.org/officeDocument/2006/relationships/slideLayout" Target="../slideLayouts/slideLayout12.xml"/><Relationship Id="rId36" Type="http://schemas.openxmlformats.org/officeDocument/2006/relationships/image" Target="../media/image5.png"/><Relationship Id="rId35" Type="http://schemas.openxmlformats.org/officeDocument/2006/relationships/tags" Target="../tags/tag33.xml"/><Relationship Id="rId34" Type="http://schemas.openxmlformats.org/officeDocument/2006/relationships/image" Target="../media/image4.png"/><Relationship Id="rId33" Type="http://schemas.openxmlformats.org/officeDocument/2006/relationships/tags" Target="../tags/tag32.xml"/><Relationship Id="rId32" Type="http://schemas.openxmlformats.org/officeDocument/2006/relationships/tags" Target="../tags/tag31.xml"/><Relationship Id="rId31" Type="http://schemas.openxmlformats.org/officeDocument/2006/relationships/tags" Target="../tags/tag30.xml"/><Relationship Id="rId30" Type="http://schemas.openxmlformats.org/officeDocument/2006/relationships/tags" Target="../tags/tag29.xml"/><Relationship Id="rId3" Type="http://schemas.openxmlformats.org/officeDocument/2006/relationships/tags" Target="../tags/tag3.xml"/><Relationship Id="rId29" Type="http://schemas.openxmlformats.org/officeDocument/2006/relationships/tags" Target="../tags/tag28.xml"/><Relationship Id="rId28" Type="http://schemas.openxmlformats.org/officeDocument/2006/relationships/tags" Target="../tags/tag27.xml"/><Relationship Id="rId27" Type="http://schemas.openxmlformats.org/officeDocument/2006/relationships/tags" Target="../tags/tag26.xml"/><Relationship Id="rId26" Type="http://schemas.openxmlformats.org/officeDocument/2006/relationships/tags" Target="../tags/tag25.xml"/><Relationship Id="rId25" Type="http://schemas.openxmlformats.org/officeDocument/2006/relationships/tags" Target="../tags/tag24.xml"/><Relationship Id="rId24" Type="http://schemas.openxmlformats.org/officeDocument/2006/relationships/tags" Target="../tags/tag23.xml"/><Relationship Id="rId23" Type="http://schemas.openxmlformats.org/officeDocument/2006/relationships/tags" Target="../tags/tag22.xml"/><Relationship Id="rId22" Type="http://schemas.openxmlformats.org/officeDocument/2006/relationships/tags" Target="../tags/tag21.xml"/><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tags" Target="../tags/tag2.xml"/><Relationship Id="rId19" Type="http://schemas.openxmlformats.org/officeDocument/2006/relationships/tags" Target="../tags/tag18.xml"/><Relationship Id="rId18" Type="http://schemas.openxmlformats.org/officeDocument/2006/relationships/image" Target="../media/image3.png"/><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6" Type="http://schemas.openxmlformats.org/officeDocument/2006/relationships/notesSlide" Target="../notesSlides/notesSlide47.xml"/><Relationship Id="rId5" Type="http://schemas.openxmlformats.org/officeDocument/2006/relationships/vmlDrawing" Target="../drawings/vmlDrawing1.vml"/><Relationship Id="rId4" Type="http://schemas.openxmlformats.org/officeDocument/2006/relationships/slideLayout" Target="../slideLayouts/slideLayout12.xml"/><Relationship Id="rId3" Type="http://schemas.openxmlformats.org/officeDocument/2006/relationships/image" Target="../media/image8.emf"/><Relationship Id="rId2" Type="http://schemas.openxmlformats.org/officeDocument/2006/relationships/oleObject" Target="../embeddings/oleObject1.bin"/><Relationship Id="rId1" Type="http://schemas.openxmlformats.org/officeDocument/2006/relationships/image" Target="../media/image7.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2.xml"/><Relationship Id="rId1" Type="http://schemas.openxmlformats.org/officeDocument/2006/relationships/image" Target="../media/image9.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2.xml"/><Relationship Id="rId1" Type="http://schemas.openxmlformats.org/officeDocument/2006/relationships/image" Target="../media/image10.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2.xml"/><Relationship Id="rId1" Type="http://schemas.openxmlformats.org/officeDocument/2006/relationships/image" Target="../media/image11.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4" Type="http://schemas.openxmlformats.org/officeDocument/2006/relationships/notesSlide" Target="../notesSlides/notesSlide53.xml"/><Relationship Id="rId3" Type="http://schemas.openxmlformats.org/officeDocument/2006/relationships/slideLayout" Target="../slideLayouts/slideLayout12.xml"/><Relationship Id="rId2" Type="http://schemas.openxmlformats.org/officeDocument/2006/relationships/image" Target="../media/image13.png"/><Relationship Id="rId1" Type="http://schemas.openxmlformats.org/officeDocument/2006/relationships/image" Target="../media/image12.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2.xml"/><Relationship Id="rId1" Type="http://schemas.openxmlformats.org/officeDocument/2006/relationships/image" Target="../media/image14.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5B92E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957475" y="2286000"/>
            <a:ext cx="4581525" cy="914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4800" b="1" i="0" u="none" strike="noStrike">
                <a:solidFill>
                  <a:srgbClr val="FFFFFF"/>
                </a:solidFill>
                <a:latin typeface="Alimama ShuHeiTi"/>
                <a:ea typeface="Alimama ShuHeiTi"/>
                <a:cs typeface="Alimama ShuHeiTi"/>
                <a:sym typeface="Alimama ShuHeiTi"/>
              </a:rPr>
              <a:t>AI 大模型通识课</a:t>
            </a:r>
            <a:endParaRPr lang="en-US" sz="1100"/>
          </a:p>
        </p:txBody>
      </p:sp>
      <p:sp>
        <p:nvSpPr>
          <p:cNvPr id="3" name="AutoShape 3"/>
          <p:cNvSpPr/>
          <p:nvPr/>
        </p:nvSpPr>
        <p:spPr>
          <a:xfrm>
            <a:off x="3068955" y="4055745"/>
            <a:ext cx="6719622" cy="4572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4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大模型基础原理</a:t>
            </a:r>
            <a:r>
              <a:rPr lang="en-US" sz="2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a:t>
            </a:r>
            <a:r>
              <a:rPr lang="en-US" sz="24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基于FlagOS</a:t>
            </a:r>
            <a:r>
              <a:rPr lang="en-US" sz="2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24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本地部署大模型</a:t>
            </a:r>
            <a:endParaRPr lang="en-US" sz="1100" dirty="0"/>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254000" y="381000"/>
            <a:ext cx="11684000" cy="7620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4000" b="0" i="0" u="none" strike="noStrike">
                <a:solidFill>
                  <a:srgbClr val="5B92E5"/>
                </a:solidFill>
                <a:latin typeface="Alimama ShuHeiTi"/>
                <a:ea typeface="Alimama ShuHeiTi"/>
                <a:cs typeface="Alimama ShuHeiTi"/>
                <a:sym typeface="Alimama ShuHeiTi"/>
              </a:rPr>
              <a:t>你用过DeepSeek或ChatGPT吗？</a:t>
            </a:r>
            <a:endParaRPr lang="en-US" sz="1100"/>
          </a:p>
        </p:txBody>
      </p:sp>
      <p:sp>
        <p:nvSpPr>
          <p:cNvPr id="3" name="Freeform 3"/>
          <p:cNvSpPr/>
          <p:nvPr/>
        </p:nvSpPr>
        <p:spPr>
          <a:xfrm>
            <a:off x="3810135" y="2933673"/>
            <a:ext cx="914400" cy="914400"/>
          </a:xfrm>
          <a:custGeom>
            <a:avLst/>
            <a:gdLst/>
            <a:ahLst/>
            <a:cxnLst/>
            <a:rect l="l" t="t" r="r" b="b"/>
            <a:pathLst>
              <a:path w="914400" h="914400">
                <a:moveTo>
                  <a:pt x="457200" y="0"/>
                </a:moveTo>
                <a:lnTo>
                  <a:pt x="457200" y="0"/>
                </a:lnTo>
                <a:cubicBezTo>
                  <a:pt x="709536" y="0"/>
                  <a:pt x="914400" y="204864"/>
                  <a:pt x="914400" y="457200"/>
                </a:cubicBezTo>
                <a:lnTo>
                  <a:pt x="914400" y="457200"/>
                </a:lnTo>
                <a:cubicBezTo>
                  <a:pt x="914400" y="709536"/>
                  <a:pt x="709536" y="914400"/>
                  <a:pt x="457200" y="914400"/>
                </a:cubicBezTo>
                <a:lnTo>
                  <a:pt x="457200" y="914400"/>
                </a:lnTo>
                <a:cubicBezTo>
                  <a:pt x="204864" y="914400"/>
                  <a:pt x="0" y="709536"/>
                  <a:pt x="0" y="457200"/>
                </a:cubicBezTo>
                <a:lnTo>
                  <a:pt x="0" y="457200"/>
                </a:lnTo>
                <a:cubicBezTo>
                  <a:pt x="0" y="204864"/>
                  <a:pt x="204864" y="0"/>
                  <a:pt x="4572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4008168" y="3133616"/>
            <a:ext cx="518189" cy="516315"/>
          </a:xfrm>
          <a:custGeom>
            <a:avLst/>
            <a:gdLst/>
            <a:ahLst/>
            <a:cxnLst/>
            <a:rect l="l" t="t" r="r" b="b"/>
            <a:pathLst>
              <a:path w="518189" h="516315">
                <a:moveTo>
                  <a:pt x="344865" y="157162"/>
                </a:moveTo>
                <a:cubicBezTo>
                  <a:pt x="344865" y="243959"/>
                  <a:pt x="268069" y="314325"/>
                  <a:pt x="173415" y="314325"/>
                </a:cubicBezTo>
                <a:cubicBezTo>
                  <a:pt x="149573" y="314325"/>
                  <a:pt x="126891" y="309860"/>
                  <a:pt x="106264" y="301823"/>
                </a:cubicBezTo>
                <a:lnTo>
                  <a:pt x="33398" y="340399"/>
                </a:lnTo>
                <a:cubicBezTo>
                  <a:pt x="25093" y="344775"/>
                  <a:pt x="14913" y="343257"/>
                  <a:pt x="8216" y="336649"/>
                </a:cubicBezTo>
                <a:cubicBezTo>
                  <a:pt x="1519" y="330041"/>
                  <a:pt x="0" y="319772"/>
                  <a:pt x="4466" y="311467"/>
                </a:cubicBezTo>
                <a:lnTo>
                  <a:pt x="36255" y="251460"/>
                </a:lnTo>
                <a:cubicBezTo>
                  <a:pt x="14734" y="225207"/>
                  <a:pt x="1965" y="192524"/>
                  <a:pt x="1965" y="157162"/>
                </a:cubicBezTo>
                <a:cubicBezTo>
                  <a:pt x="1965" y="70366"/>
                  <a:pt x="78761" y="0"/>
                  <a:pt x="173415" y="0"/>
                </a:cubicBezTo>
                <a:cubicBezTo>
                  <a:pt x="268069" y="0"/>
                  <a:pt x="344865" y="70366"/>
                  <a:pt x="344865" y="157162"/>
                </a:cubicBezTo>
                <a:close/>
                <a:moveTo>
                  <a:pt x="344865" y="485775"/>
                </a:moveTo>
                <a:cubicBezTo>
                  <a:pt x="260837" y="485775"/>
                  <a:pt x="190917" y="430322"/>
                  <a:pt x="176273" y="357188"/>
                </a:cubicBezTo>
                <a:cubicBezTo>
                  <a:pt x="283429" y="355848"/>
                  <a:pt x="376565" y="279589"/>
                  <a:pt x="386835" y="176183"/>
                </a:cubicBezTo>
                <a:cubicBezTo>
                  <a:pt x="461219" y="193328"/>
                  <a:pt x="516315" y="255033"/>
                  <a:pt x="516315" y="328612"/>
                </a:cubicBezTo>
                <a:cubicBezTo>
                  <a:pt x="516315" y="363974"/>
                  <a:pt x="503546" y="396657"/>
                  <a:pt x="482025" y="422910"/>
                </a:cubicBezTo>
                <a:lnTo>
                  <a:pt x="513814" y="482917"/>
                </a:lnTo>
                <a:cubicBezTo>
                  <a:pt x="518190" y="491222"/>
                  <a:pt x="516672" y="501402"/>
                  <a:pt x="510064" y="508099"/>
                </a:cubicBezTo>
                <a:cubicBezTo>
                  <a:pt x="503456" y="514796"/>
                  <a:pt x="493187" y="516315"/>
                  <a:pt x="484882" y="511849"/>
                </a:cubicBezTo>
                <a:lnTo>
                  <a:pt x="412016" y="473273"/>
                </a:lnTo>
                <a:cubicBezTo>
                  <a:pt x="391389" y="481310"/>
                  <a:pt x="368707" y="485775"/>
                  <a:pt x="344865" y="485775"/>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4038654" y="4076538"/>
            <a:ext cx="5715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对话</a:t>
            </a:r>
            <a:endParaRPr lang="en-US" sz="1100"/>
          </a:p>
        </p:txBody>
      </p:sp>
      <p:sp>
        <p:nvSpPr>
          <p:cNvPr id="6" name="Freeform 6"/>
          <p:cNvSpPr/>
          <p:nvPr/>
        </p:nvSpPr>
        <p:spPr>
          <a:xfrm>
            <a:off x="5638827" y="2933673"/>
            <a:ext cx="914400" cy="914400"/>
          </a:xfrm>
          <a:custGeom>
            <a:avLst/>
            <a:gdLst/>
            <a:ahLst/>
            <a:cxnLst/>
            <a:rect l="l" t="t" r="r" b="b"/>
            <a:pathLst>
              <a:path w="914400" h="914400">
                <a:moveTo>
                  <a:pt x="457200" y="0"/>
                </a:moveTo>
                <a:lnTo>
                  <a:pt x="457200" y="0"/>
                </a:lnTo>
                <a:cubicBezTo>
                  <a:pt x="709536" y="0"/>
                  <a:pt x="914400" y="204864"/>
                  <a:pt x="914400" y="457200"/>
                </a:cubicBezTo>
                <a:lnTo>
                  <a:pt x="914400" y="457200"/>
                </a:lnTo>
                <a:cubicBezTo>
                  <a:pt x="914400" y="709536"/>
                  <a:pt x="709536" y="914400"/>
                  <a:pt x="457200" y="914400"/>
                </a:cubicBezTo>
                <a:lnTo>
                  <a:pt x="457200" y="914400"/>
                </a:lnTo>
                <a:cubicBezTo>
                  <a:pt x="204864" y="914400"/>
                  <a:pt x="0" y="709536"/>
                  <a:pt x="0" y="457200"/>
                </a:cubicBezTo>
                <a:lnTo>
                  <a:pt x="0" y="457200"/>
                </a:lnTo>
                <a:cubicBezTo>
                  <a:pt x="0" y="204864"/>
                  <a:pt x="204864" y="0"/>
                  <a:pt x="4572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5870884" y="3162191"/>
            <a:ext cx="453805" cy="453627"/>
          </a:xfrm>
          <a:custGeom>
            <a:avLst/>
            <a:gdLst/>
            <a:ahLst/>
            <a:cxnLst/>
            <a:rect l="l" t="t" r="r" b="b"/>
            <a:pathLst>
              <a:path w="453805" h="453627">
                <a:moveTo>
                  <a:pt x="330040" y="24199"/>
                </a:moveTo>
                <a:cubicBezTo>
                  <a:pt x="343434" y="8840"/>
                  <a:pt x="362812" y="0"/>
                  <a:pt x="383261" y="0"/>
                </a:cubicBezTo>
                <a:cubicBezTo>
                  <a:pt x="422195" y="0"/>
                  <a:pt x="453805" y="31612"/>
                  <a:pt x="453805" y="70545"/>
                </a:cubicBezTo>
                <a:cubicBezTo>
                  <a:pt x="453805" y="90904"/>
                  <a:pt x="444964" y="110371"/>
                  <a:pt x="429606" y="123765"/>
                </a:cubicBezTo>
                <a:lnTo>
                  <a:pt x="249851" y="280214"/>
                </a:lnTo>
                <a:lnTo>
                  <a:pt x="240296" y="270570"/>
                </a:lnTo>
                <a:lnTo>
                  <a:pt x="183146" y="213420"/>
                </a:lnTo>
                <a:lnTo>
                  <a:pt x="173502" y="203865"/>
                </a:lnTo>
                <a:lnTo>
                  <a:pt x="330040" y="24199"/>
                </a:lnTo>
                <a:close/>
                <a:moveTo>
                  <a:pt x="140373" y="231278"/>
                </a:moveTo>
                <a:cubicBezTo>
                  <a:pt x="141177" y="232173"/>
                  <a:pt x="164393" y="255389"/>
                  <a:pt x="209936" y="300930"/>
                </a:cubicBezTo>
                <a:lnTo>
                  <a:pt x="222347" y="313343"/>
                </a:lnTo>
                <a:lnTo>
                  <a:pt x="207078" y="379600"/>
                </a:lnTo>
                <a:cubicBezTo>
                  <a:pt x="203595" y="394871"/>
                  <a:pt x="191987" y="407015"/>
                  <a:pt x="176895" y="411212"/>
                </a:cubicBezTo>
                <a:lnTo>
                  <a:pt x="25270" y="453627"/>
                </a:lnTo>
                <a:lnTo>
                  <a:pt x="107691" y="371207"/>
                </a:lnTo>
                <a:cubicBezTo>
                  <a:pt x="108762" y="371296"/>
                  <a:pt x="109744" y="371386"/>
                  <a:pt x="110816" y="371386"/>
                </a:cubicBezTo>
                <a:cubicBezTo>
                  <a:pt x="126622" y="371386"/>
                  <a:pt x="139391" y="358616"/>
                  <a:pt x="139391" y="342811"/>
                </a:cubicBezTo>
                <a:cubicBezTo>
                  <a:pt x="139391" y="327005"/>
                  <a:pt x="126622" y="314236"/>
                  <a:pt x="110816" y="314236"/>
                </a:cubicBezTo>
                <a:cubicBezTo>
                  <a:pt x="95010" y="314236"/>
                  <a:pt x="82241" y="327005"/>
                  <a:pt x="82241" y="342811"/>
                </a:cubicBezTo>
                <a:cubicBezTo>
                  <a:pt x="82241" y="343882"/>
                  <a:pt x="82330" y="344954"/>
                  <a:pt x="82420" y="345937"/>
                </a:cubicBezTo>
                <a:lnTo>
                  <a:pt x="0" y="428446"/>
                </a:lnTo>
                <a:lnTo>
                  <a:pt x="42504" y="276821"/>
                </a:lnTo>
                <a:cubicBezTo>
                  <a:pt x="46701" y="261729"/>
                  <a:pt x="58845" y="250121"/>
                  <a:pt x="74116" y="246638"/>
                </a:cubicBezTo>
                <a:lnTo>
                  <a:pt x="140373" y="231278"/>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5867346" y="4076538"/>
            <a:ext cx="5715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写作</a:t>
            </a:r>
            <a:endParaRPr lang="en-US" sz="1100"/>
          </a:p>
        </p:txBody>
      </p:sp>
      <p:sp>
        <p:nvSpPr>
          <p:cNvPr id="9" name="Freeform 9"/>
          <p:cNvSpPr/>
          <p:nvPr/>
        </p:nvSpPr>
        <p:spPr>
          <a:xfrm>
            <a:off x="7467519" y="2933673"/>
            <a:ext cx="914400" cy="914400"/>
          </a:xfrm>
          <a:custGeom>
            <a:avLst/>
            <a:gdLst/>
            <a:ahLst/>
            <a:cxnLst/>
            <a:rect l="l" t="t" r="r" b="b"/>
            <a:pathLst>
              <a:path w="914400" h="914400">
                <a:moveTo>
                  <a:pt x="457200" y="0"/>
                </a:moveTo>
                <a:lnTo>
                  <a:pt x="457200" y="0"/>
                </a:lnTo>
                <a:cubicBezTo>
                  <a:pt x="709536" y="0"/>
                  <a:pt x="914400" y="204864"/>
                  <a:pt x="914400" y="457200"/>
                </a:cubicBezTo>
                <a:lnTo>
                  <a:pt x="914400" y="457200"/>
                </a:lnTo>
                <a:cubicBezTo>
                  <a:pt x="914400" y="709536"/>
                  <a:pt x="709536" y="914400"/>
                  <a:pt x="457200" y="914400"/>
                </a:cubicBezTo>
                <a:lnTo>
                  <a:pt x="457200" y="914400"/>
                </a:lnTo>
                <a:cubicBezTo>
                  <a:pt x="204864" y="914400"/>
                  <a:pt x="0" y="709536"/>
                  <a:pt x="0" y="457200"/>
                </a:cubicBezTo>
                <a:lnTo>
                  <a:pt x="0" y="457200"/>
                </a:lnTo>
                <a:cubicBezTo>
                  <a:pt x="0" y="204864"/>
                  <a:pt x="204864" y="0"/>
                  <a:pt x="4572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7696091" y="3162191"/>
            <a:ext cx="457200" cy="457200"/>
          </a:xfrm>
          <a:custGeom>
            <a:avLst/>
            <a:gdLst/>
            <a:ahLst/>
            <a:cxnLst/>
            <a:rect l="l" t="t" r="r" b="b"/>
            <a:pathLst>
              <a:path w="457200" h="457200">
                <a:moveTo>
                  <a:pt x="228600" y="457200"/>
                </a:moveTo>
                <a:cubicBezTo>
                  <a:pt x="354768" y="457200"/>
                  <a:pt x="457200" y="354768"/>
                  <a:pt x="457200" y="228600"/>
                </a:cubicBezTo>
                <a:cubicBezTo>
                  <a:pt x="457200" y="102432"/>
                  <a:pt x="354768" y="0"/>
                  <a:pt x="228600" y="0"/>
                </a:cubicBezTo>
                <a:cubicBezTo>
                  <a:pt x="102432" y="0"/>
                  <a:pt x="0" y="102432"/>
                  <a:pt x="0" y="228600"/>
                </a:cubicBezTo>
                <a:cubicBezTo>
                  <a:pt x="0" y="354768"/>
                  <a:pt x="102432" y="457200"/>
                  <a:pt x="228600" y="457200"/>
                </a:cubicBezTo>
                <a:close/>
                <a:moveTo>
                  <a:pt x="228600" y="157163"/>
                </a:moveTo>
                <a:cubicBezTo>
                  <a:pt x="212794" y="157163"/>
                  <a:pt x="200025" y="169932"/>
                  <a:pt x="200025" y="185737"/>
                </a:cubicBezTo>
                <a:cubicBezTo>
                  <a:pt x="200025" y="197615"/>
                  <a:pt x="190470" y="207169"/>
                  <a:pt x="178594" y="207169"/>
                </a:cubicBezTo>
                <a:cubicBezTo>
                  <a:pt x="166717" y="207169"/>
                  <a:pt x="157163" y="197615"/>
                  <a:pt x="157163" y="185737"/>
                </a:cubicBezTo>
                <a:cubicBezTo>
                  <a:pt x="157163" y="146268"/>
                  <a:pt x="189131" y="114300"/>
                  <a:pt x="228600" y="114300"/>
                </a:cubicBezTo>
                <a:cubicBezTo>
                  <a:pt x="268069" y="114300"/>
                  <a:pt x="300037" y="146268"/>
                  <a:pt x="300037" y="185737"/>
                </a:cubicBezTo>
                <a:cubicBezTo>
                  <a:pt x="300037" y="227886"/>
                  <a:pt x="267891" y="245745"/>
                  <a:pt x="250031" y="252264"/>
                </a:cubicBezTo>
                <a:lnTo>
                  <a:pt x="250031" y="255657"/>
                </a:lnTo>
                <a:cubicBezTo>
                  <a:pt x="250031" y="267533"/>
                  <a:pt x="240476" y="277089"/>
                  <a:pt x="228600" y="277089"/>
                </a:cubicBezTo>
                <a:cubicBezTo>
                  <a:pt x="216724" y="277089"/>
                  <a:pt x="207169" y="267533"/>
                  <a:pt x="207169" y="255657"/>
                </a:cubicBezTo>
                <a:lnTo>
                  <a:pt x="207169" y="248423"/>
                </a:lnTo>
                <a:cubicBezTo>
                  <a:pt x="207169" y="230118"/>
                  <a:pt x="220384" y="216991"/>
                  <a:pt x="234047" y="212527"/>
                </a:cubicBezTo>
                <a:cubicBezTo>
                  <a:pt x="239762" y="210651"/>
                  <a:pt x="245834" y="207615"/>
                  <a:pt x="250299" y="203330"/>
                </a:cubicBezTo>
                <a:cubicBezTo>
                  <a:pt x="254138" y="199579"/>
                  <a:pt x="257175" y="194399"/>
                  <a:pt x="257175" y="185826"/>
                </a:cubicBezTo>
                <a:cubicBezTo>
                  <a:pt x="257175" y="170021"/>
                  <a:pt x="244406" y="157251"/>
                  <a:pt x="228600" y="157251"/>
                </a:cubicBezTo>
                <a:close/>
                <a:moveTo>
                  <a:pt x="200025" y="328613"/>
                </a:moveTo>
                <a:cubicBezTo>
                  <a:pt x="200025" y="312842"/>
                  <a:pt x="212829" y="300037"/>
                  <a:pt x="228600" y="300037"/>
                </a:cubicBezTo>
                <a:cubicBezTo>
                  <a:pt x="244371" y="300037"/>
                  <a:pt x="257175" y="312842"/>
                  <a:pt x="257175" y="328613"/>
                </a:cubicBezTo>
                <a:cubicBezTo>
                  <a:pt x="257175" y="344383"/>
                  <a:pt x="244371" y="357187"/>
                  <a:pt x="228600" y="357187"/>
                </a:cubicBezTo>
                <a:cubicBezTo>
                  <a:pt x="212829" y="357187"/>
                  <a:pt x="200025" y="344383"/>
                  <a:pt x="200025" y="328613"/>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7696037" y="4076538"/>
            <a:ext cx="5715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问答</a:t>
            </a:r>
            <a:endParaRPr lang="en-US" sz="1100"/>
          </a:p>
        </p:txBody>
      </p:sp>
      <p:sp>
        <p:nvSpPr>
          <p:cNvPr id="12" name="AutoShape 12"/>
          <p:cNvSpPr/>
          <p:nvPr/>
        </p:nvSpPr>
        <p:spPr>
          <a:xfrm>
            <a:off x="304800" y="6019827"/>
            <a:ext cx="11582400" cy="4572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2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但它们只是"会对话"的AI</a:t>
            </a:r>
            <a:endParaRPr lang="en-US" sz="1100"/>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07800" cy="533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800" b="0" i="0" u="none" strike="noStrike">
                <a:solidFill>
                  <a:srgbClr val="5B92E5"/>
                </a:solidFill>
                <a:latin typeface="Alimama ShuHeiTi"/>
                <a:ea typeface="Alimama ShuHeiTi"/>
                <a:cs typeface="Alimama ShuHeiTi"/>
                <a:sym typeface="Alimama ShuHeiTi"/>
              </a:rPr>
              <a:t>案例1：深夜办公室的对话助手</a:t>
            </a:r>
            <a:endParaRPr lang="en-US" sz="1100"/>
          </a:p>
        </p:txBody>
      </p:sp>
      <p:sp>
        <p:nvSpPr>
          <p:cNvPr id="3" name="Freeform 3"/>
          <p:cNvSpPr/>
          <p:nvPr/>
        </p:nvSpPr>
        <p:spPr>
          <a:xfrm>
            <a:off x="409575" y="1161806"/>
            <a:ext cx="197659" cy="228600"/>
          </a:xfrm>
          <a:custGeom>
            <a:avLst/>
            <a:gdLst/>
            <a:ahLst/>
            <a:cxnLst/>
            <a:rect l="l" t="t" r="r" b="b"/>
            <a:pathLst>
              <a:path w="197659" h="228600">
                <a:moveTo>
                  <a:pt x="114300" y="0"/>
                </a:moveTo>
                <a:cubicBezTo>
                  <a:pt x="51167" y="0"/>
                  <a:pt x="0" y="51167"/>
                  <a:pt x="0" y="114300"/>
                </a:cubicBezTo>
                <a:cubicBezTo>
                  <a:pt x="0" y="177433"/>
                  <a:pt x="51167" y="228600"/>
                  <a:pt x="114300" y="228600"/>
                </a:cubicBezTo>
                <a:cubicBezTo>
                  <a:pt x="145017" y="228600"/>
                  <a:pt x="172923" y="216456"/>
                  <a:pt x="193462" y="196720"/>
                </a:cubicBezTo>
                <a:cubicBezTo>
                  <a:pt x="196720" y="193596"/>
                  <a:pt x="197659" y="188730"/>
                  <a:pt x="195828" y="184621"/>
                </a:cubicBezTo>
                <a:cubicBezTo>
                  <a:pt x="193998" y="180514"/>
                  <a:pt x="189711" y="177969"/>
                  <a:pt x="185202" y="178326"/>
                </a:cubicBezTo>
                <a:cubicBezTo>
                  <a:pt x="183015" y="178504"/>
                  <a:pt x="180826" y="178594"/>
                  <a:pt x="178594" y="178594"/>
                </a:cubicBezTo>
                <a:cubicBezTo>
                  <a:pt x="133231" y="178594"/>
                  <a:pt x="96441" y="141803"/>
                  <a:pt x="96441" y="96441"/>
                </a:cubicBezTo>
                <a:cubicBezTo>
                  <a:pt x="96441" y="64249"/>
                  <a:pt x="114971" y="36344"/>
                  <a:pt x="142027" y="22860"/>
                </a:cubicBezTo>
                <a:cubicBezTo>
                  <a:pt x="146089" y="20851"/>
                  <a:pt x="148411" y="16474"/>
                  <a:pt x="147876" y="11966"/>
                </a:cubicBezTo>
                <a:cubicBezTo>
                  <a:pt x="147340" y="7456"/>
                  <a:pt x="144036" y="3795"/>
                  <a:pt x="139616" y="2813"/>
                </a:cubicBezTo>
                <a:cubicBezTo>
                  <a:pt x="131445" y="982"/>
                  <a:pt x="122961" y="0"/>
                  <a:pt x="1143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780942" y="1142865"/>
            <a:ext cx="6953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深夜2点</a:t>
            </a:r>
            <a:endParaRPr lang="en-US" sz="1100"/>
          </a:p>
        </p:txBody>
      </p:sp>
      <p:sp>
        <p:nvSpPr>
          <p:cNvPr id="5" name="Freeform 5"/>
          <p:cNvSpPr/>
          <p:nvPr/>
        </p:nvSpPr>
        <p:spPr>
          <a:xfrm>
            <a:off x="2455664" y="2214833"/>
            <a:ext cx="7283160" cy="901410"/>
          </a:xfrm>
          <a:custGeom>
            <a:avLst/>
            <a:gdLst/>
            <a:ahLst/>
            <a:cxnLst/>
            <a:rect l="l" t="t" r="r" b="b"/>
            <a:pathLst>
              <a:path w="7283160" h="901410">
                <a:moveTo>
                  <a:pt x="152403" y="0"/>
                </a:moveTo>
                <a:lnTo>
                  <a:pt x="7130760" y="0"/>
                </a:lnTo>
                <a:cubicBezTo>
                  <a:pt x="7214928" y="0"/>
                  <a:pt x="7283160" y="68233"/>
                  <a:pt x="7283160" y="152403"/>
                </a:cubicBezTo>
                <a:lnTo>
                  <a:pt x="7283160" y="749010"/>
                </a:lnTo>
                <a:cubicBezTo>
                  <a:pt x="7283160" y="833178"/>
                  <a:pt x="7214928" y="901410"/>
                  <a:pt x="7130760" y="901410"/>
                </a:cubicBezTo>
                <a:lnTo>
                  <a:pt x="152403" y="901410"/>
                </a:lnTo>
                <a:cubicBezTo>
                  <a:pt x="68233" y="901410"/>
                  <a:pt x="0" y="833178"/>
                  <a:pt x="0" y="749010"/>
                </a:cubicBezTo>
                <a:lnTo>
                  <a:pt x="0" y="152403"/>
                </a:lnTo>
                <a:cubicBezTo>
                  <a:pt x="0" y="68289"/>
                  <a:pt x="68289" y="0"/>
                  <a:pt x="152403" y="0"/>
                </a:cubicBezTo>
                <a:close/>
              </a:path>
            </a:pathLst>
          </a:custGeom>
          <a:solidFill>
            <a:srgbClr val="FFFFFF">
              <a:alpha val="100000"/>
            </a:srgbClr>
          </a:solidFill>
          <a:ln w="38100">
            <a:solidFill>
              <a:srgbClr val="1E90FF">
                <a:alpha val="100000"/>
              </a:srgbClr>
            </a:solidFill>
            <a:prstDash val="solid"/>
          </a:ln>
        </p:spPr>
        <p:txBody>
          <a:bodyPr wrap="square" lIns="91440" tIns="45720" rIns="91440" bIns="45720" rtlCol="0" anchor="t">
            <a:noAutofit/>
          </a:bodyPr>
          <a:lstStyle/>
          <a:p>
            <a:pPr algn="ctr">
              <a:defRPr/>
            </a:pPr>
          </a:p>
        </p:txBody>
      </p:sp>
      <p:sp>
        <p:nvSpPr>
          <p:cNvPr id="6" name="AutoShape 6"/>
          <p:cNvSpPr/>
          <p:nvPr/>
        </p:nvSpPr>
        <p:spPr>
          <a:xfrm>
            <a:off x="2638001" y="2460671"/>
            <a:ext cx="6918325" cy="409575"/>
          </a:xfrm>
          <a:prstGeom prst="rect">
            <a:avLst/>
          </a:prstGeom>
          <a:noFill/>
          <a:ln w="12700">
            <a:noFill/>
            <a:prstDash val="solid"/>
          </a:ln>
        </p:spPr>
        <p:txBody>
          <a:bodyPr wrap="square" lIns="0" tIns="0" rIns="0" bIns="0" rtlCol="0" anchor="ctr">
            <a:noAutofit/>
          </a:bodyPr>
          <a:lstStyle/>
          <a:p>
            <a:pPr indent="0" algn="ctr">
              <a:lnSpc>
                <a:spcPct val="142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"帮我生成一份完整的汇报材料，包括PPT大纲和数据分析"</a:t>
            </a:r>
            <a:endParaRPr lang="en-US" sz="1100"/>
          </a:p>
        </p:txBody>
      </p:sp>
      <p:sp>
        <p:nvSpPr>
          <p:cNvPr id="7" name="Freeform 7"/>
          <p:cNvSpPr/>
          <p:nvPr/>
        </p:nvSpPr>
        <p:spPr>
          <a:xfrm>
            <a:off x="2438346" y="3365004"/>
            <a:ext cx="7315200" cy="1638300"/>
          </a:xfrm>
          <a:custGeom>
            <a:avLst/>
            <a:gdLst/>
            <a:ahLst/>
            <a:cxnLst/>
            <a:rect l="l" t="t" r="r" b="b"/>
            <a:pathLst>
              <a:path w="7315200" h="1638300">
                <a:moveTo>
                  <a:pt x="114304" y="0"/>
                </a:moveTo>
                <a:lnTo>
                  <a:pt x="7200896" y="0"/>
                </a:lnTo>
                <a:cubicBezTo>
                  <a:pt x="7264024" y="0"/>
                  <a:pt x="7315200" y="51176"/>
                  <a:pt x="7315200" y="114304"/>
                </a:cubicBezTo>
                <a:lnTo>
                  <a:pt x="7315200" y="1523996"/>
                </a:lnTo>
                <a:cubicBezTo>
                  <a:pt x="7315200" y="1587124"/>
                  <a:pt x="7264024" y="1638300"/>
                  <a:pt x="7200896" y="1638300"/>
                </a:cubicBezTo>
                <a:lnTo>
                  <a:pt x="114304" y="1638300"/>
                </a:lnTo>
                <a:cubicBezTo>
                  <a:pt x="51176" y="1638300"/>
                  <a:pt x="0" y="1587124"/>
                  <a:pt x="0" y="1523996"/>
                </a:cubicBezTo>
                <a:lnTo>
                  <a:pt x="0" y="114304"/>
                </a:lnTo>
                <a:cubicBezTo>
                  <a:pt x="0" y="51218"/>
                  <a:pt x="51218" y="0"/>
                  <a:pt x="114304"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3177562" y="3593523"/>
            <a:ext cx="2143125" cy="9144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48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10分钟</a:t>
            </a:r>
            <a:endParaRPr lang="en-US" sz="1100"/>
          </a:p>
        </p:txBody>
      </p:sp>
      <p:sp>
        <p:nvSpPr>
          <p:cNvPr id="9" name="AutoShape 9"/>
          <p:cNvSpPr/>
          <p:nvPr/>
        </p:nvSpPr>
        <p:spPr>
          <a:xfrm>
            <a:off x="3287099" y="4508004"/>
            <a:ext cx="19240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完成材料生成</a:t>
            </a:r>
            <a:endParaRPr lang="en-US" sz="1100"/>
          </a:p>
        </p:txBody>
      </p:sp>
      <p:sp>
        <p:nvSpPr>
          <p:cNvPr id="10" name="Freeform 10"/>
          <p:cNvSpPr/>
          <p:nvPr/>
        </p:nvSpPr>
        <p:spPr>
          <a:xfrm>
            <a:off x="6497295" y="3802966"/>
            <a:ext cx="9525" cy="762000"/>
          </a:xfrm>
          <a:custGeom>
            <a:avLst/>
            <a:gdLst/>
            <a:ahLst/>
            <a:cxnLst/>
            <a:rect l="l" t="t" r="r" b="b"/>
            <a:pathLst>
              <a:path w="9525" h="762000">
                <a:moveTo>
                  <a:pt x="0" y="0"/>
                </a:moveTo>
                <a:lnTo>
                  <a:pt x="9525" y="0"/>
                </a:lnTo>
                <a:lnTo>
                  <a:pt x="9525" y="762000"/>
                </a:lnTo>
                <a:lnTo>
                  <a:pt x="0" y="762000"/>
                </a:lnTo>
                <a:lnTo>
                  <a:pt x="0" y="0"/>
                </a:lnTo>
                <a:close/>
              </a:path>
            </a:pathLst>
          </a:custGeom>
          <a:solidFill>
            <a:srgbClr val="CCCCCC">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7756759" y="3822176"/>
            <a:ext cx="1181100" cy="4572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24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6封</a:t>
            </a:r>
            <a:endParaRPr lang="en-US" sz="1100"/>
          </a:p>
        </p:txBody>
      </p:sp>
      <p:sp>
        <p:nvSpPr>
          <p:cNvPr id="12" name="AutoShape 12"/>
          <p:cNvSpPr/>
          <p:nvPr/>
        </p:nvSpPr>
        <p:spPr>
          <a:xfrm>
            <a:off x="7790097" y="4279350"/>
            <a:ext cx="11144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邮件回复草稿</a:t>
            </a:r>
            <a:endParaRPr lang="en-US" sz="1100"/>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58600" cy="6858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3600" b="0" i="0" u="none" strike="noStrike">
                <a:solidFill>
                  <a:srgbClr val="5B92E5"/>
                </a:solidFill>
                <a:latin typeface="Alimama ShuHeiTi"/>
                <a:ea typeface="Alimama ShuHeiTi"/>
                <a:cs typeface="Alimama ShuHeiTi"/>
                <a:sym typeface="Alimama ShuHeiTi"/>
              </a:rPr>
              <a:t>对话的局限：只能给建议，不能动手做</a:t>
            </a:r>
            <a:endParaRPr lang="en-US" sz="1100"/>
          </a:p>
        </p:txBody>
      </p:sp>
      <p:sp>
        <p:nvSpPr>
          <p:cNvPr id="3" name="Freeform 3"/>
          <p:cNvSpPr/>
          <p:nvPr/>
        </p:nvSpPr>
        <p:spPr>
          <a:xfrm>
            <a:off x="1989020" y="1795274"/>
            <a:ext cx="3206460" cy="3206460"/>
          </a:xfrm>
          <a:custGeom>
            <a:avLst/>
            <a:gdLst/>
            <a:ahLst/>
            <a:cxnLst/>
            <a:rect l="l" t="t" r="r" b="b"/>
            <a:pathLst>
              <a:path w="3206460" h="3206460">
                <a:moveTo>
                  <a:pt x="228589" y="0"/>
                </a:moveTo>
                <a:lnTo>
                  <a:pt x="2977873" y="0"/>
                </a:lnTo>
                <a:cubicBezTo>
                  <a:pt x="3104119" y="0"/>
                  <a:pt x="3206460" y="102343"/>
                  <a:pt x="3206460" y="228589"/>
                </a:cubicBezTo>
                <a:lnTo>
                  <a:pt x="3206460" y="2977873"/>
                </a:lnTo>
                <a:cubicBezTo>
                  <a:pt x="3206460" y="3104119"/>
                  <a:pt x="3104119" y="3206460"/>
                  <a:pt x="2977873" y="3206460"/>
                </a:cubicBezTo>
                <a:lnTo>
                  <a:pt x="228589" y="3206460"/>
                </a:lnTo>
                <a:cubicBezTo>
                  <a:pt x="102343" y="3206460"/>
                  <a:pt x="0" y="3104119"/>
                  <a:pt x="0" y="2977873"/>
                </a:cubicBezTo>
                <a:lnTo>
                  <a:pt x="0" y="228589"/>
                </a:lnTo>
                <a:cubicBezTo>
                  <a:pt x="0" y="102427"/>
                  <a:pt x="102427" y="0"/>
                  <a:pt x="228589" y="0"/>
                </a:cubicBezTo>
                <a:close/>
              </a:path>
            </a:pathLst>
          </a:custGeom>
          <a:solidFill>
            <a:srgbClr val="F5F5F5">
              <a:alpha val="100000"/>
            </a:srgbClr>
          </a:solidFill>
          <a:ln w="38100">
            <a:solidFill>
              <a:srgbClr val="5B92E5">
                <a:alpha val="100000"/>
              </a:srgbClr>
            </a:solidFill>
            <a:prstDash val="solid"/>
          </a:ln>
        </p:spPr>
        <p:txBody>
          <a:bodyPr wrap="square" lIns="91440" tIns="45720" rIns="91440" bIns="45720" rtlCol="0" anchor="t">
            <a:noAutofit/>
          </a:bodyPr>
          <a:lstStyle/>
          <a:p>
            <a:pPr algn="ctr">
              <a:defRPr/>
            </a:pPr>
          </a:p>
        </p:txBody>
      </p:sp>
      <p:sp>
        <p:nvSpPr>
          <p:cNvPr id="4" name="Freeform 4"/>
          <p:cNvSpPr/>
          <p:nvPr/>
        </p:nvSpPr>
        <p:spPr>
          <a:xfrm>
            <a:off x="3130179" y="2482995"/>
            <a:ext cx="917973" cy="918150"/>
          </a:xfrm>
          <a:custGeom>
            <a:avLst/>
            <a:gdLst/>
            <a:ahLst/>
            <a:cxnLst/>
            <a:rect l="l" t="t" r="r" b="b"/>
            <a:pathLst>
              <a:path w="917973" h="918150">
                <a:moveTo>
                  <a:pt x="460773" y="857250"/>
                </a:moveTo>
                <a:cubicBezTo>
                  <a:pt x="713305" y="857250"/>
                  <a:pt x="917973" y="665262"/>
                  <a:pt x="917973" y="428625"/>
                </a:cubicBezTo>
                <a:cubicBezTo>
                  <a:pt x="917973" y="191988"/>
                  <a:pt x="713305" y="0"/>
                  <a:pt x="460773" y="0"/>
                </a:cubicBezTo>
                <a:cubicBezTo>
                  <a:pt x="208241" y="0"/>
                  <a:pt x="3573" y="191988"/>
                  <a:pt x="3573" y="428625"/>
                </a:cubicBezTo>
                <a:cubicBezTo>
                  <a:pt x="3573" y="525601"/>
                  <a:pt x="37863" y="614898"/>
                  <a:pt x="95727" y="686693"/>
                </a:cubicBezTo>
                <a:lnTo>
                  <a:pt x="8574" y="851535"/>
                </a:lnTo>
                <a:cubicBezTo>
                  <a:pt x="0" y="867608"/>
                  <a:pt x="2680" y="887254"/>
                  <a:pt x="15003" y="900648"/>
                </a:cubicBezTo>
                <a:cubicBezTo>
                  <a:pt x="27326" y="914043"/>
                  <a:pt x="46792" y="918150"/>
                  <a:pt x="63401" y="911007"/>
                </a:cubicBezTo>
                <a:lnTo>
                  <a:pt x="274856" y="820459"/>
                </a:lnTo>
                <a:cubicBezTo>
                  <a:pt x="331650" y="844034"/>
                  <a:pt x="394515" y="857250"/>
                  <a:pt x="460773" y="857250"/>
                </a:cubicBezTo>
                <a:close/>
                <a:moveTo>
                  <a:pt x="232173" y="371475"/>
                </a:moveTo>
                <a:cubicBezTo>
                  <a:pt x="263715" y="371475"/>
                  <a:pt x="289323" y="397083"/>
                  <a:pt x="289323" y="428625"/>
                </a:cubicBezTo>
                <a:cubicBezTo>
                  <a:pt x="289323" y="460167"/>
                  <a:pt x="263715" y="485775"/>
                  <a:pt x="232173" y="485775"/>
                </a:cubicBezTo>
                <a:cubicBezTo>
                  <a:pt x="200631" y="485775"/>
                  <a:pt x="175023" y="460167"/>
                  <a:pt x="175023" y="428625"/>
                </a:cubicBezTo>
                <a:cubicBezTo>
                  <a:pt x="175023" y="397083"/>
                  <a:pt x="200631" y="371475"/>
                  <a:pt x="232173" y="371475"/>
                </a:cubicBezTo>
                <a:close/>
                <a:moveTo>
                  <a:pt x="460773" y="371475"/>
                </a:moveTo>
                <a:cubicBezTo>
                  <a:pt x="492315" y="371475"/>
                  <a:pt x="517923" y="397083"/>
                  <a:pt x="517923" y="428625"/>
                </a:cubicBezTo>
                <a:cubicBezTo>
                  <a:pt x="517923" y="460167"/>
                  <a:pt x="492315" y="485775"/>
                  <a:pt x="460773" y="485775"/>
                </a:cubicBezTo>
                <a:cubicBezTo>
                  <a:pt x="429231" y="485775"/>
                  <a:pt x="403623" y="460167"/>
                  <a:pt x="403623" y="428625"/>
                </a:cubicBezTo>
                <a:cubicBezTo>
                  <a:pt x="403623" y="397083"/>
                  <a:pt x="429231" y="371475"/>
                  <a:pt x="460773" y="371475"/>
                </a:cubicBezTo>
                <a:close/>
                <a:moveTo>
                  <a:pt x="632223" y="428625"/>
                </a:moveTo>
                <a:cubicBezTo>
                  <a:pt x="632223" y="397083"/>
                  <a:pt x="657831" y="371475"/>
                  <a:pt x="689373" y="371475"/>
                </a:cubicBezTo>
                <a:cubicBezTo>
                  <a:pt x="720915" y="371475"/>
                  <a:pt x="746523" y="397083"/>
                  <a:pt x="746523" y="428625"/>
                </a:cubicBezTo>
                <a:cubicBezTo>
                  <a:pt x="746523" y="460167"/>
                  <a:pt x="720915" y="485775"/>
                  <a:pt x="689373" y="485775"/>
                </a:cubicBezTo>
                <a:cubicBezTo>
                  <a:pt x="657831" y="485775"/>
                  <a:pt x="632223" y="460167"/>
                  <a:pt x="632223" y="428625"/>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3145685" y="3625859"/>
            <a:ext cx="100012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对话式AI</a:t>
            </a:r>
            <a:endParaRPr lang="en-US" sz="1100"/>
          </a:p>
        </p:txBody>
      </p:sp>
      <p:sp>
        <p:nvSpPr>
          <p:cNvPr id="6" name="AutoShape 6"/>
          <p:cNvSpPr/>
          <p:nvPr/>
        </p:nvSpPr>
        <p:spPr>
          <a:xfrm>
            <a:off x="3247971" y="4044879"/>
            <a:ext cx="771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提供建议</a:t>
            </a:r>
            <a:endParaRPr lang="en-US" sz="1100"/>
          </a:p>
        </p:txBody>
      </p:sp>
      <p:sp>
        <p:nvSpPr>
          <p:cNvPr id="7" name="Freeform 7"/>
          <p:cNvSpPr/>
          <p:nvPr/>
        </p:nvSpPr>
        <p:spPr>
          <a:xfrm>
            <a:off x="5753100" y="3135663"/>
            <a:ext cx="689952" cy="522922"/>
          </a:xfrm>
          <a:custGeom>
            <a:avLst/>
            <a:gdLst/>
            <a:ahLst/>
            <a:cxnLst/>
            <a:rect l="l" t="t" r="r" b="b"/>
            <a:pathLst>
              <a:path w="689952" h="522922">
                <a:moveTo>
                  <a:pt x="673209" y="291733"/>
                </a:moveTo>
                <a:cubicBezTo>
                  <a:pt x="689952" y="274989"/>
                  <a:pt x="689952" y="247800"/>
                  <a:pt x="673209" y="231055"/>
                </a:cubicBezTo>
                <a:lnTo>
                  <a:pt x="458897" y="16743"/>
                </a:lnTo>
                <a:cubicBezTo>
                  <a:pt x="442153" y="0"/>
                  <a:pt x="414964" y="0"/>
                  <a:pt x="398219" y="16743"/>
                </a:cubicBezTo>
                <a:cubicBezTo>
                  <a:pt x="381476" y="33486"/>
                  <a:pt x="381476" y="60677"/>
                  <a:pt x="398219" y="77420"/>
                </a:cubicBezTo>
                <a:lnTo>
                  <a:pt x="539398" y="218599"/>
                </a:lnTo>
                <a:lnTo>
                  <a:pt x="42862" y="218599"/>
                </a:lnTo>
                <a:cubicBezTo>
                  <a:pt x="19154" y="218599"/>
                  <a:pt x="0" y="237753"/>
                  <a:pt x="0" y="261461"/>
                </a:cubicBezTo>
                <a:cubicBezTo>
                  <a:pt x="0" y="285169"/>
                  <a:pt x="19154" y="304324"/>
                  <a:pt x="42862" y="304324"/>
                </a:cubicBezTo>
                <a:lnTo>
                  <a:pt x="539398" y="304324"/>
                </a:lnTo>
                <a:lnTo>
                  <a:pt x="398219" y="445502"/>
                </a:lnTo>
                <a:cubicBezTo>
                  <a:pt x="381476" y="462245"/>
                  <a:pt x="381476" y="489436"/>
                  <a:pt x="398219" y="506179"/>
                </a:cubicBezTo>
                <a:cubicBezTo>
                  <a:pt x="414964" y="522922"/>
                  <a:pt x="442153" y="522922"/>
                  <a:pt x="458897" y="506179"/>
                </a:cubicBezTo>
                <a:lnTo>
                  <a:pt x="673209" y="291867"/>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6999116" y="1795274"/>
            <a:ext cx="3206460" cy="3206460"/>
          </a:xfrm>
          <a:custGeom>
            <a:avLst/>
            <a:gdLst/>
            <a:ahLst/>
            <a:cxnLst/>
            <a:rect l="l" t="t" r="r" b="b"/>
            <a:pathLst>
              <a:path w="3206460" h="3206460">
                <a:moveTo>
                  <a:pt x="228589" y="0"/>
                </a:moveTo>
                <a:lnTo>
                  <a:pt x="2977873" y="0"/>
                </a:lnTo>
                <a:cubicBezTo>
                  <a:pt x="3104119" y="0"/>
                  <a:pt x="3206460" y="102343"/>
                  <a:pt x="3206460" y="228589"/>
                </a:cubicBezTo>
                <a:lnTo>
                  <a:pt x="3206460" y="2977873"/>
                </a:lnTo>
                <a:cubicBezTo>
                  <a:pt x="3206460" y="3104119"/>
                  <a:pt x="3104119" y="3206460"/>
                  <a:pt x="2977873" y="3206460"/>
                </a:cubicBezTo>
                <a:lnTo>
                  <a:pt x="228589" y="3206460"/>
                </a:lnTo>
                <a:cubicBezTo>
                  <a:pt x="102343" y="3206460"/>
                  <a:pt x="0" y="3104119"/>
                  <a:pt x="0" y="2977873"/>
                </a:cubicBezTo>
                <a:lnTo>
                  <a:pt x="0" y="228589"/>
                </a:lnTo>
                <a:cubicBezTo>
                  <a:pt x="0" y="102427"/>
                  <a:pt x="102427" y="0"/>
                  <a:pt x="228589" y="0"/>
                </a:cubicBezTo>
                <a:close/>
              </a:path>
            </a:pathLst>
          </a:custGeom>
          <a:solidFill>
            <a:srgbClr val="FFFFFF">
              <a:alpha val="100000"/>
            </a:srgbClr>
          </a:solidFill>
          <a:ln w="38100">
            <a:solidFill>
              <a:srgbClr val="1E90FF">
                <a:alpha val="100000"/>
              </a:srgbClr>
            </a:solidFill>
            <a:prstDash val="solid"/>
          </a:ln>
        </p:spPr>
        <p:txBody>
          <a:bodyPr wrap="square" lIns="91440" tIns="45720" rIns="91440" bIns="45720" rtlCol="0" anchor="t">
            <a:noAutofit/>
          </a:bodyPr>
          <a:lstStyle/>
          <a:p>
            <a:pPr algn="ctr">
              <a:defRPr/>
            </a:pPr>
          </a:p>
        </p:txBody>
      </p:sp>
      <p:sp>
        <p:nvSpPr>
          <p:cNvPr id="9" name="Freeform 9"/>
          <p:cNvSpPr/>
          <p:nvPr/>
        </p:nvSpPr>
        <p:spPr>
          <a:xfrm>
            <a:off x="8143848" y="2482995"/>
            <a:ext cx="914400" cy="857250"/>
          </a:xfrm>
          <a:custGeom>
            <a:avLst/>
            <a:gdLst/>
            <a:ahLst/>
            <a:cxnLst/>
            <a:rect l="l" t="t" r="r" b="b"/>
            <a:pathLst>
              <a:path w="914400" h="857250">
                <a:moveTo>
                  <a:pt x="314325" y="100013"/>
                </a:moveTo>
                <a:lnTo>
                  <a:pt x="314325" y="171450"/>
                </a:lnTo>
                <a:lnTo>
                  <a:pt x="600075" y="171450"/>
                </a:lnTo>
                <a:lnTo>
                  <a:pt x="600075" y="100013"/>
                </a:lnTo>
                <a:cubicBezTo>
                  <a:pt x="600075" y="92154"/>
                  <a:pt x="593646" y="85725"/>
                  <a:pt x="585788" y="85725"/>
                </a:cubicBezTo>
                <a:lnTo>
                  <a:pt x="328612" y="85725"/>
                </a:lnTo>
                <a:cubicBezTo>
                  <a:pt x="320754" y="85725"/>
                  <a:pt x="314325" y="92154"/>
                  <a:pt x="314325" y="100013"/>
                </a:cubicBezTo>
                <a:close/>
                <a:moveTo>
                  <a:pt x="228600" y="171450"/>
                </a:moveTo>
                <a:lnTo>
                  <a:pt x="228600" y="100013"/>
                </a:lnTo>
                <a:cubicBezTo>
                  <a:pt x="228600" y="44827"/>
                  <a:pt x="273427" y="0"/>
                  <a:pt x="328612" y="0"/>
                </a:cubicBezTo>
                <a:lnTo>
                  <a:pt x="585788" y="0"/>
                </a:lnTo>
                <a:cubicBezTo>
                  <a:pt x="640973" y="0"/>
                  <a:pt x="685800" y="44827"/>
                  <a:pt x="685800" y="100013"/>
                </a:cubicBezTo>
                <a:lnTo>
                  <a:pt x="685800" y="171450"/>
                </a:lnTo>
                <a:lnTo>
                  <a:pt x="735985" y="171450"/>
                </a:lnTo>
                <a:cubicBezTo>
                  <a:pt x="758666" y="171450"/>
                  <a:pt x="780454" y="180558"/>
                  <a:pt x="796527" y="196632"/>
                </a:cubicBezTo>
                <a:lnTo>
                  <a:pt x="889218" y="289323"/>
                </a:lnTo>
                <a:cubicBezTo>
                  <a:pt x="905292" y="305396"/>
                  <a:pt x="914400" y="327184"/>
                  <a:pt x="914400" y="349865"/>
                </a:cubicBezTo>
                <a:lnTo>
                  <a:pt x="914400" y="485775"/>
                </a:lnTo>
                <a:lnTo>
                  <a:pt x="671512" y="485775"/>
                </a:lnTo>
                <a:lnTo>
                  <a:pt x="671512" y="457200"/>
                </a:lnTo>
                <a:cubicBezTo>
                  <a:pt x="671512" y="433447"/>
                  <a:pt x="652403" y="414337"/>
                  <a:pt x="628650" y="414337"/>
                </a:cubicBezTo>
                <a:cubicBezTo>
                  <a:pt x="604897" y="414337"/>
                  <a:pt x="585788" y="433447"/>
                  <a:pt x="585788" y="457200"/>
                </a:cubicBezTo>
                <a:lnTo>
                  <a:pt x="585788" y="485775"/>
                </a:lnTo>
                <a:lnTo>
                  <a:pt x="328612" y="485775"/>
                </a:lnTo>
                <a:lnTo>
                  <a:pt x="328612" y="457200"/>
                </a:lnTo>
                <a:cubicBezTo>
                  <a:pt x="328612" y="433447"/>
                  <a:pt x="309503" y="414337"/>
                  <a:pt x="285750" y="414337"/>
                </a:cubicBezTo>
                <a:cubicBezTo>
                  <a:pt x="261997" y="414337"/>
                  <a:pt x="242888" y="433447"/>
                  <a:pt x="242888" y="457200"/>
                </a:cubicBezTo>
                <a:lnTo>
                  <a:pt x="242888" y="485775"/>
                </a:lnTo>
                <a:lnTo>
                  <a:pt x="0" y="485775"/>
                </a:lnTo>
                <a:lnTo>
                  <a:pt x="0" y="349865"/>
                </a:lnTo>
                <a:cubicBezTo>
                  <a:pt x="0" y="327184"/>
                  <a:pt x="9108" y="305396"/>
                  <a:pt x="25182" y="289323"/>
                </a:cubicBezTo>
                <a:lnTo>
                  <a:pt x="117873" y="196632"/>
                </a:lnTo>
                <a:cubicBezTo>
                  <a:pt x="133946" y="180558"/>
                  <a:pt x="155734" y="171450"/>
                  <a:pt x="178415" y="171450"/>
                </a:cubicBezTo>
                <a:lnTo>
                  <a:pt x="228600" y="171450"/>
                </a:lnTo>
                <a:close/>
                <a:moveTo>
                  <a:pt x="0" y="742950"/>
                </a:moveTo>
                <a:lnTo>
                  <a:pt x="0" y="571500"/>
                </a:lnTo>
                <a:lnTo>
                  <a:pt x="242888" y="571500"/>
                </a:lnTo>
                <a:lnTo>
                  <a:pt x="242888" y="600075"/>
                </a:lnTo>
                <a:cubicBezTo>
                  <a:pt x="242888" y="623828"/>
                  <a:pt x="261997" y="642937"/>
                  <a:pt x="285750" y="642937"/>
                </a:cubicBezTo>
                <a:cubicBezTo>
                  <a:pt x="309503" y="642937"/>
                  <a:pt x="328612" y="623828"/>
                  <a:pt x="328612" y="600075"/>
                </a:cubicBezTo>
                <a:lnTo>
                  <a:pt x="328612" y="571500"/>
                </a:lnTo>
                <a:lnTo>
                  <a:pt x="585788" y="571500"/>
                </a:lnTo>
                <a:lnTo>
                  <a:pt x="585788" y="600075"/>
                </a:lnTo>
                <a:cubicBezTo>
                  <a:pt x="585788" y="623828"/>
                  <a:pt x="604897" y="642937"/>
                  <a:pt x="628650" y="642937"/>
                </a:cubicBezTo>
                <a:cubicBezTo>
                  <a:pt x="652403" y="642937"/>
                  <a:pt x="671512" y="623828"/>
                  <a:pt x="671512" y="600075"/>
                </a:cubicBezTo>
                <a:lnTo>
                  <a:pt x="671512" y="571500"/>
                </a:lnTo>
                <a:lnTo>
                  <a:pt x="914400" y="571500"/>
                </a:lnTo>
                <a:lnTo>
                  <a:pt x="914400" y="742950"/>
                </a:lnTo>
                <a:cubicBezTo>
                  <a:pt x="914400" y="805994"/>
                  <a:pt x="863144" y="857250"/>
                  <a:pt x="800100" y="857250"/>
                </a:cubicBezTo>
                <a:lnTo>
                  <a:pt x="114300" y="857250"/>
                </a:lnTo>
                <a:cubicBezTo>
                  <a:pt x="51256" y="857250"/>
                  <a:pt x="0" y="805994"/>
                  <a:pt x="0" y="74295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8155781" y="3625859"/>
            <a:ext cx="100012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行动派AI</a:t>
            </a:r>
            <a:endParaRPr lang="en-US" sz="1100"/>
          </a:p>
        </p:txBody>
      </p:sp>
      <p:sp>
        <p:nvSpPr>
          <p:cNvPr id="11" name="AutoShape 11"/>
          <p:cNvSpPr/>
          <p:nvPr/>
        </p:nvSpPr>
        <p:spPr>
          <a:xfrm>
            <a:off x="8258066" y="4044879"/>
            <a:ext cx="771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自动执行</a:t>
            </a:r>
            <a:endParaRPr lang="en-US" sz="1100"/>
          </a:p>
        </p:txBody>
      </p:sp>
      <p:sp>
        <p:nvSpPr>
          <p:cNvPr id="12" name="AutoShape 12"/>
          <p:cNvSpPr/>
          <p:nvPr/>
        </p:nvSpPr>
        <p:spPr>
          <a:xfrm>
            <a:off x="317500" y="5651681"/>
            <a:ext cx="11557000" cy="828675"/>
          </a:xfrm>
          <a:prstGeom prst="rect">
            <a:avLst/>
          </a:prstGeom>
          <a:noFill/>
          <a:ln w="12700">
            <a:noFill/>
            <a:prstDash val="solid"/>
          </a:ln>
        </p:spPr>
        <p:txBody>
          <a:bodyPr wrap="square" lIns="0" tIns="0" rIns="0" bIns="0" rtlCol="0" anchor="ctr">
            <a:noAutofit/>
          </a:bodyPr>
          <a:lstStyle/>
          <a:p>
            <a:pPr indent="0" algn="ctr">
              <a:lnSpc>
                <a:spcPct val="142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从"问AI怎么写邮件"</a:t>
            </a:r>
            <a:endParaRPr lang="en-US" sz="1100"/>
          </a:p>
          <a:p>
            <a:pPr indent="0" algn="ctr">
              <a:lnSpc>
                <a:spcPct val="142000"/>
              </a:lnSpc>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到"AI </a:t>
            </a:r>
            <a:r>
              <a:rPr lang="en-US" sz="20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自己</a:t>
            </a: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发邮件、订会议室、整理数据, ..."</a:t>
            </a:r>
            <a:endPar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endParaRPr>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66700" y="381000"/>
            <a:ext cx="11658600" cy="6858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36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案例2：OpenClaw为代表的智能体</a:t>
            </a:r>
            <a:endParaRPr lang="en-US" sz="1100"/>
          </a:p>
        </p:txBody>
      </p:sp>
      <p:sp>
        <p:nvSpPr>
          <p:cNvPr id="3" name="Freeform 3"/>
          <p:cNvSpPr/>
          <p:nvPr/>
        </p:nvSpPr>
        <p:spPr>
          <a:xfrm>
            <a:off x="381000" y="1371565"/>
            <a:ext cx="3657600" cy="1638300"/>
          </a:xfrm>
          <a:custGeom>
            <a:avLst/>
            <a:gdLst/>
            <a:ahLst/>
            <a:cxnLst/>
            <a:rect l="l" t="t" r="r" b="b"/>
            <a:pathLst>
              <a:path w="3657600" h="1638300">
                <a:moveTo>
                  <a:pt x="114304" y="0"/>
                </a:moveTo>
                <a:lnTo>
                  <a:pt x="3543296" y="0"/>
                </a:lnTo>
                <a:cubicBezTo>
                  <a:pt x="3606424" y="0"/>
                  <a:pt x="3657600" y="51176"/>
                  <a:pt x="3657600" y="114304"/>
                </a:cubicBezTo>
                <a:lnTo>
                  <a:pt x="3657600" y="1523996"/>
                </a:lnTo>
                <a:cubicBezTo>
                  <a:pt x="3657600" y="1587124"/>
                  <a:pt x="3606424" y="1638300"/>
                  <a:pt x="3543296" y="1638300"/>
                </a:cubicBezTo>
                <a:lnTo>
                  <a:pt x="114304" y="1638300"/>
                </a:lnTo>
                <a:cubicBezTo>
                  <a:pt x="51176" y="1638300"/>
                  <a:pt x="0" y="1587124"/>
                  <a:pt x="0" y="1523996"/>
                </a:cubicBezTo>
                <a:lnTo>
                  <a:pt x="0" y="114304"/>
                </a:lnTo>
                <a:cubicBezTo>
                  <a:pt x="0" y="51218"/>
                  <a:pt x="51218" y="0"/>
                  <a:pt x="114304"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1981182" y="1600128"/>
            <a:ext cx="459969" cy="460057"/>
          </a:xfrm>
          <a:custGeom>
            <a:avLst/>
            <a:gdLst/>
            <a:ahLst/>
            <a:cxnLst/>
            <a:rect l="l" t="t" r="r" b="b"/>
            <a:pathLst>
              <a:path w="459969" h="460057">
                <a:moveTo>
                  <a:pt x="371475" y="185738"/>
                </a:moveTo>
                <a:cubicBezTo>
                  <a:pt x="371475" y="226725"/>
                  <a:pt x="358170" y="264587"/>
                  <a:pt x="335756" y="295305"/>
                </a:cubicBezTo>
                <a:lnTo>
                  <a:pt x="448807" y="408443"/>
                </a:lnTo>
                <a:cubicBezTo>
                  <a:pt x="459969" y="419605"/>
                  <a:pt x="459969" y="437733"/>
                  <a:pt x="448807" y="448895"/>
                </a:cubicBezTo>
                <a:cubicBezTo>
                  <a:pt x="437645" y="460058"/>
                  <a:pt x="419517" y="460058"/>
                  <a:pt x="408355" y="448895"/>
                </a:cubicBezTo>
                <a:lnTo>
                  <a:pt x="295305" y="335756"/>
                </a:lnTo>
                <a:cubicBezTo>
                  <a:pt x="264587" y="358170"/>
                  <a:pt x="226725" y="371475"/>
                  <a:pt x="185738" y="371475"/>
                </a:cubicBezTo>
                <a:cubicBezTo>
                  <a:pt x="83135" y="371475"/>
                  <a:pt x="0" y="288340"/>
                  <a:pt x="0" y="185738"/>
                </a:cubicBezTo>
                <a:cubicBezTo>
                  <a:pt x="0" y="83135"/>
                  <a:pt x="83135" y="0"/>
                  <a:pt x="185738" y="0"/>
                </a:cubicBezTo>
                <a:cubicBezTo>
                  <a:pt x="288340" y="0"/>
                  <a:pt x="371475" y="83135"/>
                  <a:pt x="371475" y="185738"/>
                </a:cubicBezTo>
                <a:close/>
                <a:moveTo>
                  <a:pt x="185738" y="314325"/>
                </a:moveTo>
                <a:cubicBezTo>
                  <a:pt x="256706" y="314325"/>
                  <a:pt x="314325" y="256706"/>
                  <a:pt x="314325" y="185738"/>
                </a:cubicBezTo>
                <a:cubicBezTo>
                  <a:pt x="314325" y="114769"/>
                  <a:pt x="256706" y="57150"/>
                  <a:pt x="185738" y="57150"/>
                </a:cubicBezTo>
                <a:cubicBezTo>
                  <a:pt x="114769" y="57150"/>
                  <a:pt x="57150" y="114769"/>
                  <a:pt x="57150" y="185738"/>
                </a:cubicBezTo>
                <a:cubicBezTo>
                  <a:pt x="57150" y="256706"/>
                  <a:pt x="114769" y="314325"/>
                  <a:pt x="185738" y="314325"/>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561939" y="2209693"/>
            <a:ext cx="3295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步骤1：搜索</a:t>
            </a:r>
            <a:endParaRPr lang="en-US" sz="1100"/>
          </a:p>
        </p:txBody>
      </p:sp>
      <p:sp>
        <p:nvSpPr>
          <p:cNvPr id="6" name="AutoShape 6"/>
          <p:cNvSpPr/>
          <p:nvPr/>
        </p:nvSpPr>
        <p:spPr>
          <a:xfrm>
            <a:off x="571464" y="2552447"/>
            <a:ext cx="32766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查找相关资料</a:t>
            </a:r>
            <a:endParaRPr lang="en-US" sz="1100"/>
          </a:p>
        </p:txBody>
      </p:sp>
      <p:sp>
        <p:nvSpPr>
          <p:cNvPr id="7" name="Freeform 7"/>
          <p:cNvSpPr/>
          <p:nvPr/>
        </p:nvSpPr>
        <p:spPr>
          <a:xfrm>
            <a:off x="4267128" y="1371565"/>
            <a:ext cx="3657600" cy="1638300"/>
          </a:xfrm>
          <a:custGeom>
            <a:avLst/>
            <a:gdLst/>
            <a:ahLst/>
            <a:cxnLst/>
            <a:rect l="l" t="t" r="r" b="b"/>
            <a:pathLst>
              <a:path w="3657600" h="1638300">
                <a:moveTo>
                  <a:pt x="114304" y="0"/>
                </a:moveTo>
                <a:lnTo>
                  <a:pt x="3543296" y="0"/>
                </a:lnTo>
                <a:cubicBezTo>
                  <a:pt x="3606424" y="0"/>
                  <a:pt x="3657600" y="51176"/>
                  <a:pt x="3657600" y="114304"/>
                </a:cubicBezTo>
                <a:lnTo>
                  <a:pt x="3657600" y="1523996"/>
                </a:lnTo>
                <a:cubicBezTo>
                  <a:pt x="3657600" y="1587124"/>
                  <a:pt x="3606424" y="1638300"/>
                  <a:pt x="3543296" y="1638300"/>
                </a:cubicBezTo>
                <a:lnTo>
                  <a:pt x="114304" y="1638300"/>
                </a:lnTo>
                <a:cubicBezTo>
                  <a:pt x="51176" y="1638300"/>
                  <a:pt x="0" y="1587124"/>
                  <a:pt x="0" y="1523996"/>
                </a:cubicBezTo>
                <a:lnTo>
                  <a:pt x="0" y="114304"/>
                </a:lnTo>
                <a:cubicBezTo>
                  <a:pt x="0" y="51218"/>
                  <a:pt x="51218" y="0"/>
                  <a:pt x="114304"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5864987" y="1657278"/>
            <a:ext cx="461753" cy="402281"/>
          </a:xfrm>
          <a:custGeom>
            <a:avLst/>
            <a:gdLst/>
            <a:ahLst/>
            <a:cxnLst/>
            <a:rect l="l" t="t" r="r" b="b"/>
            <a:pathLst>
              <a:path w="461753" h="402281">
                <a:moveTo>
                  <a:pt x="30897" y="0"/>
                </a:moveTo>
                <a:cubicBezTo>
                  <a:pt x="19378" y="0"/>
                  <a:pt x="8930" y="6965"/>
                  <a:pt x="4464" y="17681"/>
                </a:cubicBezTo>
                <a:cubicBezTo>
                  <a:pt x="0" y="28396"/>
                  <a:pt x="2501" y="40630"/>
                  <a:pt x="10715" y="48757"/>
                </a:cubicBezTo>
                <a:lnTo>
                  <a:pt x="173772" y="211901"/>
                </a:lnTo>
                <a:lnTo>
                  <a:pt x="173772" y="314325"/>
                </a:lnTo>
                <a:cubicBezTo>
                  <a:pt x="173772" y="321915"/>
                  <a:pt x="176809" y="329148"/>
                  <a:pt x="182165" y="334507"/>
                </a:cubicBezTo>
                <a:lnTo>
                  <a:pt x="239315" y="391657"/>
                </a:lnTo>
                <a:cubicBezTo>
                  <a:pt x="247531" y="399871"/>
                  <a:pt x="259765" y="402281"/>
                  <a:pt x="270481" y="397819"/>
                </a:cubicBezTo>
                <a:cubicBezTo>
                  <a:pt x="281196" y="393353"/>
                  <a:pt x="288072" y="382994"/>
                  <a:pt x="288072" y="371475"/>
                </a:cubicBezTo>
                <a:lnTo>
                  <a:pt x="288072" y="211901"/>
                </a:lnTo>
                <a:lnTo>
                  <a:pt x="451129" y="48845"/>
                </a:lnTo>
                <a:cubicBezTo>
                  <a:pt x="459343" y="40630"/>
                  <a:pt x="461753" y="28396"/>
                  <a:pt x="457291" y="17681"/>
                </a:cubicBezTo>
                <a:cubicBezTo>
                  <a:pt x="452825" y="6965"/>
                  <a:pt x="442466" y="0"/>
                  <a:pt x="430947" y="0"/>
                </a:cubicBezTo>
                <a:lnTo>
                  <a:pt x="30897"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4448067" y="2209693"/>
            <a:ext cx="3295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步骤2：筛选</a:t>
            </a:r>
            <a:endParaRPr lang="en-US" sz="1100"/>
          </a:p>
        </p:txBody>
      </p:sp>
      <p:sp>
        <p:nvSpPr>
          <p:cNvPr id="10" name="AutoShape 10"/>
          <p:cNvSpPr/>
          <p:nvPr/>
        </p:nvSpPr>
        <p:spPr>
          <a:xfrm>
            <a:off x="4457592" y="2552447"/>
            <a:ext cx="32766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提取关键信息</a:t>
            </a:r>
            <a:endParaRPr lang="en-US" sz="1100"/>
          </a:p>
        </p:txBody>
      </p:sp>
      <p:sp>
        <p:nvSpPr>
          <p:cNvPr id="11" name="Freeform 11"/>
          <p:cNvSpPr/>
          <p:nvPr/>
        </p:nvSpPr>
        <p:spPr>
          <a:xfrm>
            <a:off x="8153345" y="1371565"/>
            <a:ext cx="3657600" cy="1638300"/>
          </a:xfrm>
          <a:custGeom>
            <a:avLst/>
            <a:gdLst/>
            <a:ahLst/>
            <a:cxnLst/>
            <a:rect l="l" t="t" r="r" b="b"/>
            <a:pathLst>
              <a:path w="3657600" h="1638300">
                <a:moveTo>
                  <a:pt x="114304" y="0"/>
                </a:moveTo>
                <a:lnTo>
                  <a:pt x="3543296" y="0"/>
                </a:lnTo>
                <a:cubicBezTo>
                  <a:pt x="3606424" y="0"/>
                  <a:pt x="3657600" y="51176"/>
                  <a:pt x="3657600" y="114304"/>
                </a:cubicBezTo>
                <a:lnTo>
                  <a:pt x="3657600" y="1523996"/>
                </a:lnTo>
                <a:cubicBezTo>
                  <a:pt x="3657600" y="1587124"/>
                  <a:pt x="3606424" y="1638300"/>
                  <a:pt x="3543296" y="1638300"/>
                </a:cubicBezTo>
                <a:lnTo>
                  <a:pt x="114304" y="1638300"/>
                </a:lnTo>
                <a:cubicBezTo>
                  <a:pt x="51176" y="1638300"/>
                  <a:pt x="0" y="1587124"/>
                  <a:pt x="0" y="1523996"/>
                </a:cubicBezTo>
                <a:lnTo>
                  <a:pt x="0" y="114304"/>
                </a:lnTo>
                <a:cubicBezTo>
                  <a:pt x="0" y="51218"/>
                  <a:pt x="51218" y="0"/>
                  <a:pt x="114304"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9810677" y="1600128"/>
            <a:ext cx="342900" cy="457200"/>
          </a:xfrm>
          <a:custGeom>
            <a:avLst/>
            <a:gdLst/>
            <a:ahLst/>
            <a:cxnLst/>
            <a:rect l="l" t="t" r="r" b="b"/>
            <a:pathLst>
              <a:path w="342900" h="457200">
                <a:moveTo>
                  <a:pt x="0" y="57150"/>
                </a:moveTo>
                <a:cubicBezTo>
                  <a:pt x="0" y="25629"/>
                  <a:pt x="25629" y="0"/>
                  <a:pt x="57150" y="0"/>
                </a:cubicBezTo>
                <a:lnTo>
                  <a:pt x="190649" y="0"/>
                </a:lnTo>
                <a:cubicBezTo>
                  <a:pt x="205829" y="0"/>
                  <a:pt x="220384" y="5983"/>
                  <a:pt x="231101" y="16699"/>
                </a:cubicBezTo>
                <a:lnTo>
                  <a:pt x="326201" y="111890"/>
                </a:lnTo>
                <a:cubicBezTo>
                  <a:pt x="336917" y="122605"/>
                  <a:pt x="342900" y="137160"/>
                  <a:pt x="342900" y="152340"/>
                </a:cubicBezTo>
                <a:lnTo>
                  <a:pt x="342900" y="400050"/>
                </a:lnTo>
                <a:cubicBezTo>
                  <a:pt x="342900" y="431571"/>
                  <a:pt x="317271" y="457200"/>
                  <a:pt x="285750" y="457200"/>
                </a:cubicBezTo>
                <a:lnTo>
                  <a:pt x="57150" y="457200"/>
                </a:lnTo>
                <a:cubicBezTo>
                  <a:pt x="25629" y="457200"/>
                  <a:pt x="0" y="431571"/>
                  <a:pt x="0" y="400050"/>
                </a:cubicBezTo>
                <a:lnTo>
                  <a:pt x="0" y="57150"/>
                </a:lnTo>
                <a:close/>
                <a:moveTo>
                  <a:pt x="185737" y="52239"/>
                </a:moveTo>
                <a:lnTo>
                  <a:pt x="185737" y="135731"/>
                </a:lnTo>
                <a:cubicBezTo>
                  <a:pt x="185737" y="147608"/>
                  <a:pt x="195292" y="157163"/>
                  <a:pt x="207169" y="157163"/>
                </a:cubicBezTo>
                <a:lnTo>
                  <a:pt x="290661" y="157163"/>
                </a:lnTo>
                <a:lnTo>
                  <a:pt x="185737" y="52239"/>
                </a:lnTo>
                <a:close/>
                <a:moveTo>
                  <a:pt x="107156" y="228600"/>
                </a:moveTo>
                <a:cubicBezTo>
                  <a:pt x="95280" y="228600"/>
                  <a:pt x="85725" y="238155"/>
                  <a:pt x="85725" y="250031"/>
                </a:cubicBezTo>
                <a:cubicBezTo>
                  <a:pt x="85725" y="261908"/>
                  <a:pt x="95280" y="271463"/>
                  <a:pt x="107156" y="271463"/>
                </a:cubicBezTo>
                <a:lnTo>
                  <a:pt x="235744" y="271463"/>
                </a:lnTo>
                <a:cubicBezTo>
                  <a:pt x="247620" y="271463"/>
                  <a:pt x="257175" y="261908"/>
                  <a:pt x="257175" y="250031"/>
                </a:cubicBezTo>
                <a:cubicBezTo>
                  <a:pt x="257175" y="238155"/>
                  <a:pt x="247620" y="228600"/>
                  <a:pt x="235744" y="228600"/>
                </a:cubicBezTo>
                <a:lnTo>
                  <a:pt x="107156" y="228600"/>
                </a:lnTo>
                <a:close/>
                <a:moveTo>
                  <a:pt x="107156" y="314325"/>
                </a:moveTo>
                <a:cubicBezTo>
                  <a:pt x="95280" y="314325"/>
                  <a:pt x="85725" y="323880"/>
                  <a:pt x="85725" y="335756"/>
                </a:cubicBezTo>
                <a:cubicBezTo>
                  <a:pt x="85725" y="347633"/>
                  <a:pt x="95280" y="357188"/>
                  <a:pt x="107156" y="357188"/>
                </a:cubicBezTo>
                <a:lnTo>
                  <a:pt x="235744" y="357188"/>
                </a:lnTo>
                <a:cubicBezTo>
                  <a:pt x="247620" y="357188"/>
                  <a:pt x="257175" y="347633"/>
                  <a:pt x="257175" y="335756"/>
                </a:cubicBezTo>
                <a:cubicBezTo>
                  <a:pt x="257175" y="323880"/>
                  <a:pt x="247620" y="314325"/>
                  <a:pt x="235744" y="314325"/>
                </a:cubicBezTo>
                <a:lnTo>
                  <a:pt x="107156" y="314325"/>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8334284" y="2209693"/>
            <a:ext cx="3295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步骤3：生成</a:t>
            </a:r>
            <a:endParaRPr lang="en-US" sz="1100"/>
          </a:p>
        </p:txBody>
      </p:sp>
      <p:sp>
        <p:nvSpPr>
          <p:cNvPr id="14" name="AutoShape 14"/>
          <p:cNvSpPr/>
          <p:nvPr/>
        </p:nvSpPr>
        <p:spPr>
          <a:xfrm>
            <a:off x="8343809" y="2552447"/>
            <a:ext cx="32766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撰写完整报告</a:t>
            </a:r>
            <a:endParaRPr lang="en-US" sz="1100"/>
          </a:p>
        </p:txBody>
      </p:sp>
      <p:sp>
        <p:nvSpPr>
          <p:cNvPr id="15" name="Freeform 15"/>
          <p:cNvSpPr/>
          <p:nvPr/>
        </p:nvSpPr>
        <p:spPr>
          <a:xfrm>
            <a:off x="381000" y="3238228"/>
            <a:ext cx="3657600" cy="1638300"/>
          </a:xfrm>
          <a:custGeom>
            <a:avLst/>
            <a:gdLst/>
            <a:ahLst/>
            <a:cxnLst/>
            <a:rect l="l" t="t" r="r" b="b"/>
            <a:pathLst>
              <a:path w="3657600" h="1638300">
                <a:moveTo>
                  <a:pt x="114304" y="0"/>
                </a:moveTo>
                <a:lnTo>
                  <a:pt x="3543296" y="0"/>
                </a:lnTo>
                <a:cubicBezTo>
                  <a:pt x="3606424" y="0"/>
                  <a:pt x="3657600" y="51176"/>
                  <a:pt x="3657600" y="114304"/>
                </a:cubicBezTo>
                <a:lnTo>
                  <a:pt x="3657600" y="1523996"/>
                </a:lnTo>
                <a:cubicBezTo>
                  <a:pt x="3657600" y="1587124"/>
                  <a:pt x="3606424" y="1638300"/>
                  <a:pt x="3543296" y="1638300"/>
                </a:cubicBezTo>
                <a:lnTo>
                  <a:pt x="114304" y="1638300"/>
                </a:lnTo>
                <a:cubicBezTo>
                  <a:pt x="51176" y="1638300"/>
                  <a:pt x="0" y="1587124"/>
                  <a:pt x="0" y="1523996"/>
                </a:cubicBezTo>
                <a:lnTo>
                  <a:pt x="0" y="114304"/>
                </a:lnTo>
                <a:cubicBezTo>
                  <a:pt x="0" y="51218"/>
                  <a:pt x="51218" y="0"/>
                  <a:pt x="114304"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1981182" y="3495370"/>
            <a:ext cx="457200" cy="400050"/>
          </a:xfrm>
          <a:custGeom>
            <a:avLst/>
            <a:gdLst/>
            <a:ahLst/>
            <a:cxnLst/>
            <a:rect l="l" t="t" r="r" b="b"/>
            <a:pathLst>
              <a:path w="457200" h="400050">
                <a:moveTo>
                  <a:pt x="57150" y="28575"/>
                </a:moveTo>
                <a:cubicBezTo>
                  <a:pt x="57150" y="12769"/>
                  <a:pt x="44381" y="0"/>
                  <a:pt x="28575" y="0"/>
                </a:cubicBezTo>
                <a:cubicBezTo>
                  <a:pt x="12769" y="0"/>
                  <a:pt x="0" y="12769"/>
                  <a:pt x="0" y="28575"/>
                </a:cubicBezTo>
                <a:lnTo>
                  <a:pt x="0" y="328612"/>
                </a:lnTo>
                <a:cubicBezTo>
                  <a:pt x="0" y="368082"/>
                  <a:pt x="31968" y="400050"/>
                  <a:pt x="71438" y="400050"/>
                </a:cubicBezTo>
                <a:lnTo>
                  <a:pt x="428625" y="400050"/>
                </a:lnTo>
                <a:cubicBezTo>
                  <a:pt x="444431" y="400050"/>
                  <a:pt x="457200" y="387281"/>
                  <a:pt x="457200" y="371475"/>
                </a:cubicBezTo>
                <a:cubicBezTo>
                  <a:pt x="457200" y="355669"/>
                  <a:pt x="444431" y="342900"/>
                  <a:pt x="428625" y="342900"/>
                </a:cubicBezTo>
                <a:lnTo>
                  <a:pt x="71438" y="342900"/>
                </a:lnTo>
                <a:cubicBezTo>
                  <a:pt x="63579" y="342900"/>
                  <a:pt x="57150" y="336471"/>
                  <a:pt x="57150" y="328612"/>
                </a:cubicBezTo>
                <a:lnTo>
                  <a:pt x="57150" y="28575"/>
                </a:lnTo>
                <a:close/>
                <a:moveTo>
                  <a:pt x="420232" y="105907"/>
                </a:moveTo>
                <a:cubicBezTo>
                  <a:pt x="431394" y="94745"/>
                  <a:pt x="431394" y="76617"/>
                  <a:pt x="420232" y="65455"/>
                </a:cubicBezTo>
                <a:cubicBezTo>
                  <a:pt x="409070" y="54292"/>
                  <a:pt x="390942" y="54292"/>
                  <a:pt x="379780" y="65455"/>
                </a:cubicBezTo>
                <a:lnTo>
                  <a:pt x="285750" y="159574"/>
                </a:lnTo>
                <a:lnTo>
                  <a:pt x="234494" y="108406"/>
                </a:lnTo>
                <a:cubicBezTo>
                  <a:pt x="223331" y="97244"/>
                  <a:pt x="205204" y="97244"/>
                  <a:pt x="194042" y="108406"/>
                </a:cubicBezTo>
                <a:lnTo>
                  <a:pt x="108317" y="194131"/>
                </a:lnTo>
                <a:cubicBezTo>
                  <a:pt x="97155" y="205294"/>
                  <a:pt x="97155" y="223421"/>
                  <a:pt x="108317" y="234583"/>
                </a:cubicBezTo>
                <a:cubicBezTo>
                  <a:pt x="119479" y="245745"/>
                  <a:pt x="137606" y="245745"/>
                  <a:pt x="148769" y="234583"/>
                </a:cubicBezTo>
                <a:lnTo>
                  <a:pt x="214312" y="169040"/>
                </a:lnTo>
                <a:lnTo>
                  <a:pt x="265568" y="220295"/>
                </a:lnTo>
                <a:cubicBezTo>
                  <a:pt x="276730" y="231458"/>
                  <a:pt x="294858" y="231458"/>
                  <a:pt x="306020" y="220295"/>
                </a:cubicBezTo>
                <a:lnTo>
                  <a:pt x="420320" y="105995"/>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561939" y="4076358"/>
            <a:ext cx="3295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步骤4：分析</a:t>
            </a:r>
            <a:endParaRPr lang="en-US" sz="1100"/>
          </a:p>
        </p:txBody>
      </p:sp>
      <p:sp>
        <p:nvSpPr>
          <p:cNvPr id="18" name="AutoShape 18"/>
          <p:cNvSpPr/>
          <p:nvPr/>
        </p:nvSpPr>
        <p:spPr>
          <a:xfrm>
            <a:off x="571464" y="4419114"/>
            <a:ext cx="32766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数据可视化</a:t>
            </a:r>
            <a:endParaRPr lang="en-US" sz="1100"/>
          </a:p>
        </p:txBody>
      </p:sp>
      <p:sp>
        <p:nvSpPr>
          <p:cNvPr id="19" name="Freeform 19"/>
          <p:cNvSpPr/>
          <p:nvPr/>
        </p:nvSpPr>
        <p:spPr>
          <a:xfrm>
            <a:off x="4267128" y="3238228"/>
            <a:ext cx="3657600" cy="1638300"/>
          </a:xfrm>
          <a:custGeom>
            <a:avLst/>
            <a:gdLst/>
            <a:ahLst/>
            <a:cxnLst/>
            <a:rect l="l" t="t" r="r" b="b"/>
            <a:pathLst>
              <a:path w="3657600" h="1638300">
                <a:moveTo>
                  <a:pt x="114304" y="0"/>
                </a:moveTo>
                <a:lnTo>
                  <a:pt x="3543296" y="0"/>
                </a:lnTo>
                <a:cubicBezTo>
                  <a:pt x="3606424" y="0"/>
                  <a:pt x="3657600" y="51176"/>
                  <a:pt x="3657600" y="114304"/>
                </a:cubicBezTo>
                <a:lnTo>
                  <a:pt x="3657600" y="1523996"/>
                </a:lnTo>
                <a:cubicBezTo>
                  <a:pt x="3657600" y="1587124"/>
                  <a:pt x="3606424" y="1638300"/>
                  <a:pt x="3543296" y="1638300"/>
                </a:cubicBezTo>
                <a:lnTo>
                  <a:pt x="114304" y="1638300"/>
                </a:lnTo>
                <a:cubicBezTo>
                  <a:pt x="51176" y="1638300"/>
                  <a:pt x="0" y="1587124"/>
                  <a:pt x="0" y="1523996"/>
                </a:cubicBezTo>
                <a:lnTo>
                  <a:pt x="0" y="114304"/>
                </a:lnTo>
                <a:cubicBezTo>
                  <a:pt x="0" y="51218"/>
                  <a:pt x="51218" y="0"/>
                  <a:pt x="114304"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5867309" y="3523945"/>
            <a:ext cx="457200" cy="342900"/>
          </a:xfrm>
          <a:custGeom>
            <a:avLst/>
            <a:gdLst/>
            <a:ahLst/>
            <a:cxnLst/>
            <a:rect l="l" t="t" r="r" b="b"/>
            <a:pathLst>
              <a:path w="457200" h="342900">
                <a:moveTo>
                  <a:pt x="42863" y="0"/>
                </a:moveTo>
                <a:cubicBezTo>
                  <a:pt x="19199" y="0"/>
                  <a:pt x="0" y="19199"/>
                  <a:pt x="0" y="42863"/>
                </a:cubicBezTo>
                <a:cubicBezTo>
                  <a:pt x="0" y="56346"/>
                  <a:pt x="6340" y="69026"/>
                  <a:pt x="17145" y="77153"/>
                </a:cubicBezTo>
                <a:lnTo>
                  <a:pt x="202883" y="216456"/>
                </a:lnTo>
                <a:cubicBezTo>
                  <a:pt x="218152" y="227886"/>
                  <a:pt x="239048" y="227886"/>
                  <a:pt x="254317" y="216456"/>
                </a:cubicBezTo>
                <a:lnTo>
                  <a:pt x="440055" y="77153"/>
                </a:lnTo>
                <a:cubicBezTo>
                  <a:pt x="450860" y="69026"/>
                  <a:pt x="457200" y="56346"/>
                  <a:pt x="457200" y="42863"/>
                </a:cubicBezTo>
                <a:cubicBezTo>
                  <a:pt x="457200" y="19199"/>
                  <a:pt x="438001" y="0"/>
                  <a:pt x="414337" y="0"/>
                </a:cubicBezTo>
                <a:lnTo>
                  <a:pt x="42863" y="0"/>
                </a:lnTo>
                <a:close/>
                <a:moveTo>
                  <a:pt x="0" y="117873"/>
                </a:moveTo>
                <a:lnTo>
                  <a:pt x="0" y="285750"/>
                </a:lnTo>
                <a:cubicBezTo>
                  <a:pt x="0" y="317271"/>
                  <a:pt x="25629" y="342900"/>
                  <a:pt x="57150" y="342900"/>
                </a:cubicBezTo>
                <a:lnTo>
                  <a:pt x="400050" y="342900"/>
                </a:lnTo>
                <a:cubicBezTo>
                  <a:pt x="431571" y="342900"/>
                  <a:pt x="457200" y="317271"/>
                  <a:pt x="457200" y="285750"/>
                </a:cubicBezTo>
                <a:lnTo>
                  <a:pt x="457200" y="117873"/>
                </a:lnTo>
                <a:lnTo>
                  <a:pt x="280035" y="250746"/>
                </a:lnTo>
                <a:cubicBezTo>
                  <a:pt x="249585" y="273606"/>
                  <a:pt x="207615" y="273606"/>
                  <a:pt x="177165" y="250746"/>
                </a:cubicBezTo>
                <a:lnTo>
                  <a:pt x="0" y="117873"/>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4448067" y="4076358"/>
            <a:ext cx="3295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步骤5：发送</a:t>
            </a:r>
            <a:endParaRPr lang="en-US" sz="1100"/>
          </a:p>
        </p:txBody>
      </p:sp>
      <p:sp>
        <p:nvSpPr>
          <p:cNvPr id="22" name="AutoShape 22"/>
          <p:cNvSpPr/>
          <p:nvPr/>
        </p:nvSpPr>
        <p:spPr>
          <a:xfrm>
            <a:off x="4457592" y="4419114"/>
            <a:ext cx="32766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自动邮件通知</a:t>
            </a:r>
            <a:endParaRPr lang="en-US" sz="1100"/>
          </a:p>
        </p:txBody>
      </p:sp>
      <p:sp>
        <p:nvSpPr>
          <p:cNvPr id="23" name="Freeform 23"/>
          <p:cNvSpPr/>
          <p:nvPr/>
        </p:nvSpPr>
        <p:spPr>
          <a:xfrm>
            <a:off x="8153345" y="3238228"/>
            <a:ext cx="3657600" cy="1638300"/>
          </a:xfrm>
          <a:custGeom>
            <a:avLst/>
            <a:gdLst/>
            <a:ahLst/>
            <a:cxnLst/>
            <a:rect l="l" t="t" r="r" b="b"/>
            <a:pathLst>
              <a:path w="3657600" h="1638300">
                <a:moveTo>
                  <a:pt x="114304" y="0"/>
                </a:moveTo>
                <a:lnTo>
                  <a:pt x="3543296" y="0"/>
                </a:lnTo>
                <a:cubicBezTo>
                  <a:pt x="3606424" y="0"/>
                  <a:pt x="3657600" y="51176"/>
                  <a:pt x="3657600" y="114304"/>
                </a:cubicBezTo>
                <a:lnTo>
                  <a:pt x="3657600" y="1523996"/>
                </a:lnTo>
                <a:cubicBezTo>
                  <a:pt x="3657600" y="1587124"/>
                  <a:pt x="3606424" y="1638300"/>
                  <a:pt x="3543296" y="1638300"/>
                </a:cubicBezTo>
                <a:lnTo>
                  <a:pt x="114304" y="1638300"/>
                </a:lnTo>
                <a:cubicBezTo>
                  <a:pt x="51176" y="1638300"/>
                  <a:pt x="0" y="1587124"/>
                  <a:pt x="0" y="1523996"/>
                </a:cubicBezTo>
                <a:lnTo>
                  <a:pt x="0" y="114304"/>
                </a:lnTo>
                <a:cubicBezTo>
                  <a:pt x="0" y="51218"/>
                  <a:pt x="51218" y="0"/>
                  <a:pt x="114304"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4" name="Freeform 24"/>
          <p:cNvSpPr/>
          <p:nvPr/>
        </p:nvSpPr>
        <p:spPr>
          <a:xfrm>
            <a:off x="9753527" y="3466795"/>
            <a:ext cx="457200" cy="457200"/>
          </a:xfrm>
          <a:custGeom>
            <a:avLst/>
            <a:gdLst/>
            <a:ahLst/>
            <a:cxnLst/>
            <a:rect l="l" t="t" r="r" b="b"/>
            <a:pathLst>
              <a:path w="457200" h="457200">
                <a:moveTo>
                  <a:pt x="228600" y="457200"/>
                </a:moveTo>
                <a:cubicBezTo>
                  <a:pt x="354768" y="457200"/>
                  <a:pt x="457200" y="354768"/>
                  <a:pt x="457200" y="228600"/>
                </a:cubicBezTo>
                <a:cubicBezTo>
                  <a:pt x="457200" y="102432"/>
                  <a:pt x="354768" y="0"/>
                  <a:pt x="228600" y="0"/>
                </a:cubicBezTo>
                <a:cubicBezTo>
                  <a:pt x="102432" y="0"/>
                  <a:pt x="0" y="102432"/>
                  <a:pt x="0" y="228600"/>
                </a:cubicBezTo>
                <a:cubicBezTo>
                  <a:pt x="0" y="354768"/>
                  <a:pt x="102432" y="457200"/>
                  <a:pt x="228600" y="457200"/>
                </a:cubicBezTo>
                <a:close/>
                <a:moveTo>
                  <a:pt x="303967" y="189934"/>
                </a:moveTo>
                <a:lnTo>
                  <a:pt x="232529" y="304234"/>
                </a:lnTo>
                <a:cubicBezTo>
                  <a:pt x="228779" y="310217"/>
                  <a:pt x="222349" y="313968"/>
                  <a:pt x="215295" y="314325"/>
                </a:cubicBezTo>
                <a:cubicBezTo>
                  <a:pt x="208241" y="314682"/>
                  <a:pt x="201454" y="311467"/>
                  <a:pt x="197256" y="305753"/>
                </a:cubicBezTo>
                <a:lnTo>
                  <a:pt x="154394" y="248603"/>
                </a:lnTo>
                <a:cubicBezTo>
                  <a:pt x="147251" y="239137"/>
                  <a:pt x="149215" y="225742"/>
                  <a:pt x="158681" y="218599"/>
                </a:cubicBezTo>
                <a:cubicBezTo>
                  <a:pt x="168145" y="211455"/>
                  <a:pt x="181541" y="213420"/>
                  <a:pt x="188684" y="222885"/>
                </a:cubicBezTo>
                <a:lnTo>
                  <a:pt x="212794" y="255033"/>
                </a:lnTo>
                <a:lnTo>
                  <a:pt x="267623" y="167253"/>
                </a:lnTo>
                <a:cubicBezTo>
                  <a:pt x="273874" y="157251"/>
                  <a:pt x="287089" y="154126"/>
                  <a:pt x="297180" y="160466"/>
                </a:cubicBezTo>
                <a:cubicBezTo>
                  <a:pt x="307271" y="166807"/>
                  <a:pt x="310307" y="179934"/>
                  <a:pt x="303967" y="190024"/>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5" name="AutoShape 25"/>
          <p:cNvSpPr/>
          <p:nvPr/>
        </p:nvSpPr>
        <p:spPr>
          <a:xfrm>
            <a:off x="8334284" y="4076358"/>
            <a:ext cx="3295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步骤6：完成</a:t>
            </a:r>
            <a:endParaRPr lang="en-US" sz="1100"/>
          </a:p>
        </p:txBody>
      </p:sp>
      <p:sp>
        <p:nvSpPr>
          <p:cNvPr id="26" name="AutoShape 26"/>
          <p:cNvSpPr/>
          <p:nvPr/>
        </p:nvSpPr>
        <p:spPr>
          <a:xfrm>
            <a:off x="8343809" y="4419114"/>
            <a:ext cx="32766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任务闭环</a:t>
            </a:r>
            <a:endParaRPr lang="en-US" sz="1100"/>
          </a:p>
        </p:txBody>
      </p:sp>
      <p:sp>
        <p:nvSpPr>
          <p:cNvPr id="27" name="Freeform 27"/>
          <p:cNvSpPr/>
          <p:nvPr/>
        </p:nvSpPr>
        <p:spPr>
          <a:xfrm>
            <a:off x="381000" y="5181114"/>
            <a:ext cx="11430000" cy="1143000"/>
          </a:xfrm>
          <a:custGeom>
            <a:avLst/>
            <a:gdLst/>
            <a:ahLst/>
            <a:cxnLst/>
            <a:rect l="l" t="t" r="r" b="b"/>
            <a:pathLst>
              <a:path w="11430000" h="1143000">
                <a:moveTo>
                  <a:pt x="114300" y="0"/>
                </a:moveTo>
                <a:lnTo>
                  <a:pt x="11315700" y="0"/>
                </a:lnTo>
                <a:cubicBezTo>
                  <a:pt x="11378783" y="0"/>
                  <a:pt x="11430000" y="51217"/>
                  <a:pt x="11430000" y="114300"/>
                </a:cubicBezTo>
                <a:lnTo>
                  <a:pt x="11430000" y="1028700"/>
                </a:lnTo>
                <a:cubicBezTo>
                  <a:pt x="11430000" y="1091783"/>
                  <a:pt x="11378783" y="1143000"/>
                  <a:pt x="11315700" y="1143000"/>
                </a:cubicBezTo>
                <a:lnTo>
                  <a:pt x="114300" y="1143000"/>
                </a:lnTo>
                <a:cubicBezTo>
                  <a:pt x="51217" y="1143000"/>
                  <a:pt x="0" y="1091783"/>
                  <a:pt x="0" y="1028700"/>
                </a:cubicBezTo>
                <a:lnTo>
                  <a:pt x="0" y="114300"/>
                </a:lnTo>
                <a:cubicBezTo>
                  <a:pt x="0" y="51217"/>
                  <a:pt x="51217" y="0"/>
                  <a:pt x="114300"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algn="ctr">
              <a:defRPr/>
            </a:pPr>
          </a:p>
        </p:txBody>
      </p:sp>
      <p:sp>
        <p:nvSpPr>
          <p:cNvPr id="28" name="Freeform 28"/>
          <p:cNvSpPr/>
          <p:nvPr/>
        </p:nvSpPr>
        <p:spPr>
          <a:xfrm>
            <a:off x="2903519" y="5475630"/>
            <a:ext cx="200025" cy="142875"/>
          </a:xfrm>
          <a:custGeom>
            <a:avLst/>
            <a:gdLst/>
            <a:ahLst/>
            <a:cxnLst/>
            <a:rect l="l" t="t" r="r" b="b"/>
            <a:pathLst>
              <a:path w="200025" h="142875">
                <a:moveTo>
                  <a:pt x="0" y="53579"/>
                </a:moveTo>
                <a:cubicBezTo>
                  <a:pt x="0" y="23977"/>
                  <a:pt x="23976" y="0"/>
                  <a:pt x="53577" y="0"/>
                </a:cubicBezTo>
                <a:lnTo>
                  <a:pt x="57150" y="0"/>
                </a:lnTo>
                <a:cubicBezTo>
                  <a:pt x="65053" y="0"/>
                  <a:pt x="71437" y="6385"/>
                  <a:pt x="71437" y="14288"/>
                </a:cubicBezTo>
                <a:cubicBezTo>
                  <a:pt x="71437" y="22191"/>
                  <a:pt x="65053" y="28576"/>
                  <a:pt x="57150" y="28576"/>
                </a:cubicBezTo>
                <a:lnTo>
                  <a:pt x="53577" y="28576"/>
                </a:lnTo>
                <a:cubicBezTo>
                  <a:pt x="39781" y="28576"/>
                  <a:pt x="28575" y="39782"/>
                  <a:pt x="28575" y="53579"/>
                </a:cubicBezTo>
                <a:lnTo>
                  <a:pt x="28575" y="57150"/>
                </a:lnTo>
                <a:lnTo>
                  <a:pt x="57150" y="57150"/>
                </a:lnTo>
                <a:cubicBezTo>
                  <a:pt x="72911" y="57150"/>
                  <a:pt x="85725" y="69965"/>
                  <a:pt x="85725" y="85726"/>
                </a:cubicBezTo>
                <a:lnTo>
                  <a:pt x="85725" y="114300"/>
                </a:lnTo>
                <a:cubicBezTo>
                  <a:pt x="85725" y="130061"/>
                  <a:pt x="72911" y="142876"/>
                  <a:pt x="57150" y="142876"/>
                </a:cubicBezTo>
                <a:lnTo>
                  <a:pt x="28575" y="142876"/>
                </a:lnTo>
                <a:cubicBezTo>
                  <a:pt x="12814" y="142876"/>
                  <a:pt x="0" y="130061"/>
                  <a:pt x="0" y="114300"/>
                </a:cubicBezTo>
                <a:lnTo>
                  <a:pt x="0" y="53579"/>
                </a:lnTo>
                <a:close/>
                <a:moveTo>
                  <a:pt x="114300" y="53579"/>
                </a:moveTo>
                <a:cubicBezTo>
                  <a:pt x="114300" y="23977"/>
                  <a:pt x="138276" y="0"/>
                  <a:pt x="167877" y="0"/>
                </a:cubicBezTo>
                <a:lnTo>
                  <a:pt x="171450" y="0"/>
                </a:lnTo>
                <a:cubicBezTo>
                  <a:pt x="179353" y="0"/>
                  <a:pt x="185737" y="6385"/>
                  <a:pt x="185737" y="14288"/>
                </a:cubicBezTo>
                <a:cubicBezTo>
                  <a:pt x="185737" y="22191"/>
                  <a:pt x="179353" y="28576"/>
                  <a:pt x="171450" y="28576"/>
                </a:cubicBezTo>
                <a:lnTo>
                  <a:pt x="167877" y="28576"/>
                </a:lnTo>
                <a:cubicBezTo>
                  <a:pt x="154081" y="28576"/>
                  <a:pt x="142875" y="39782"/>
                  <a:pt x="142875" y="53579"/>
                </a:cubicBezTo>
                <a:lnTo>
                  <a:pt x="142875" y="57150"/>
                </a:lnTo>
                <a:lnTo>
                  <a:pt x="171450" y="57150"/>
                </a:lnTo>
                <a:cubicBezTo>
                  <a:pt x="187211" y="57150"/>
                  <a:pt x="200025" y="69965"/>
                  <a:pt x="200025" y="85726"/>
                </a:cubicBezTo>
                <a:lnTo>
                  <a:pt x="200025" y="114300"/>
                </a:lnTo>
                <a:cubicBezTo>
                  <a:pt x="200025" y="130061"/>
                  <a:pt x="187211" y="142876"/>
                  <a:pt x="171450" y="142876"/>
                </a:cubicBezTo>
                <a:lnTo>
                  <a:pt x="142875" y="142876"/>
                </a:lnTo>
                <a:cubicBezTo>
                  <a:pt x="127114" y="142876"/>
                  <a:pt x="114300" y="130061"/>
                  <a:pt x="114300" y="114300"/>
                </a:cubicBezTo>
                <a:lnTo>
                  <a:pt x="114300" y="5357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9" name="AutoShape 29"/>
          <p:cNvSpPr/>
          <p:nvPr/>
        </p:nvSpPr>
        <p:spPr>
          <a:xfrm>
            <a:off x="895314" y="5409677"/>
            <a:ext cx="107442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"帮我调研AI行业最新动态，生成一份报告并发送给团队"</a:t>
            </a:r>
            <a:endParaRPr lang="en-US" sz="1100"/>
          </a:p>
        </p:txBody>
      </p:sp>
      <p:sp>
        <p:nvSpPr>
          <p:cNvPr id="30" name="AutoShape 30"/>
          <p:cNvSpPr/>
          <p:nvPr/>
        </p:nvSpPr>
        <p:spPr>
          <a:xfrm>
            <a:off x="566701" y="5828651"/>
            <a:ext cx="11058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AI Agent自动完成全流程</a:t>
            </a:r>
            <a:endParaRPr lang="en-US" sz="1100"/>
          </a:p>
        </p:txBody>
      </p:sp>
      <p:sp>
        <p:nvSpPr>
          <p:cNvPr id="31" name="Freeform 31"/>
          <p:cNvSpPr/>
          <p:nvPr/>
        </p:nvSpPr>
        <p:spPr>
          <a:xfrm>
            <a:off x="381000" y="5714998"/>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2" name="AutoShape 32"/>
          <p:cNvSpPr/>
          <p:nvPr/>
        </p:nvSpPr>
        <p:spPr>
          <a:xfrm>
            <a:off x="381000" y="5714998"/>
            <a:ext cx="11518900" cy="762000"/>
          </a:xfrm>
          <a:prstGeom prst="rect">
            <a:avLst/>
          </a:prstGeom>
          <a:noFill/>
          <a:ln w="12700">
            <a:noFill/>
            <a:prstDash val="solid"/>
          </a:ln>
        </p:spPr>
        <p:txBody>
          <a:bodyPr wrap="square" lIns="190500" tIns="114300" rIns="190500" bIns="11430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AI Agent（智能体）</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能自主执行任务的AI，不只是聊天，能调用工具完成动作</a:t>
            </a:r>
            <a:endParaRPr lang="en-US" sz="1100"/>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AI 的大脑</a:t>
            </a:r>
            <a:endParaRPr lang="en-US" sz="1100"/>
          </a:p>
        </p:txBody>
      </p:sp>
      <p:sp>
        <p:nvSpPr>
          <p:cNvPr id="3" name="Freeform 3"/>
          <p:cNvSpPr/>
          <p:nvPr/>
        </p:nvSpPr>
        <p:spPr>
          <a:xfrm>
            <a:off x="2709935" y="1395444"/>
            <a:ext cx="3048000" cy="2179493"/>
          </a:xfrm>
          <a:custGeom>
            <a:avLst/>
            <a:gdLst/>
            <a:ahLst/>
            <a:cxnLst/>
            <a:rect l="l" t="t" r="r" b="b"/>
            <a:pathLst>
              <a:path w="3048000" h="2179493">
                <a:moveTo>
                  <a:pt x="152390" y="0"/>
                </a:moveTo>
                <a:lnTo>
                  <a:pt x="2895610" y="0"/>
                </a:lnTo>
                <a:cubicBezTo>
                  <a:pt x="2979773" y="0"/>
                  <a:pt x="3048000" y="68227"/>
                  <a:pt x="3048000" y="152390"/>
                </a:cubicBezTo>
                <a:lnTo>
                  <a:pt x="3048000" y="2144857"/>
                </a:lnTo>
                <a:cubicBezTo>
                  <a:pt x="3048000" y="2163986"/>
                  <a:pt x="3032493" y="2179493"/>
                  <a:pt x="3013365" y="2179493"/>
                </a:cubicBezTo>
                <a:lnTo>
                  <a:pt x="34635" y="2179493"/>
                </a:lnTo>
                <a:cubicBezTo>
                  <a:pt x="15507" y="2179493"/>
                  <a:pt x="0" y="2163986"/>
                  <a:pt x="0" y="2144857"/>
                </a:cubicBezTo>
                <a:lnTo>
                  <a:pt x="0" y="152390"/>
                </a:lnTo>
                <a:cubicBezTo>
                  <a:pt x="0" y="68227"/>
                  <a:pt x="68227" y="0"/>
                  <a:pt x="15239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2709935" y="3574937"/>
            <a:ext cx="3048000" cy="34635"/>
          </a:xfrm>
          <a:custGeom>
            <a:avLst/>
            <a:gdLst/>
            <a:ahLst/>
            <a:cxnLst/>
            <a:rect l="l" t="t" r="r" b="b"/>
            <a:pathLst>
              <a:path w="3048000" h="34635">
                <a:moveTo>
                  <a:pt x="0" y="0"/>
                </a:moveTo>
                <a:lnTo>
                  <a:pt x="3048000" y="0"/>
                </a:lnTo>
                <a:lnTo>
                  <a:pt x="3048000" y="0"/>
                </a:lnTo>
                <a:cubicBezTo>
                  <a:pt x="3048000" y="19129"/>
                  <a:pt x="3032493" y="34635"/>
                  <a:pt x="3013365" y="34635"/>
                </a:cubicBezTo>
                <a:lnTo>
                  <a:pt x="34635" y="34635"/>
                </a:lnTo>
                <a:cubicBezTo>
                  <a:pt x="15507" y="34635"/>
                  <a:pt x="0" y="19129"/>
                  <a:pt x="0" y="0"/>
                </a:cubicBezTo>
                <a:lnTo>
                  <a:pt x="0" y="0"/>
                </a:lnTo>
                <a:close/>
              </a:path>
            </a:pathLst>
          </a:custGeom>
          <a:solidFill>
            <a:srgbClr val="CCCCCC">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4039580" y="1602581"/>
            <a:ext cx="388642" cy="387236"/>
          </a:xfrm>
          <a:custGeom>
            <a:avLst/>
            <a:gdLst/>
            <a:ahLst/>
            <a:cxnLst/>
            <a:rect l="l" t="t" r="r" b="b"/>
            <a:pathLst>
              <a:path w="388642" h="387236">
                <a:moveTo>
                  <a:pt x="258648" y="117872"/>
                </a:moveTo>
                <a:cubicBezTo>
                  <a:pt x="258648" y="182969"/>
                  <a:pt x="201052" y="235743"/>
                  <a:pt x="130060" y="235743"/>
                </a:cubicBezTo>
                <a:cubicBezTo>
                  <a:pt x="112179" y="235743"/>
                  <a:pt x="95169" y="232395"/>
                  <a:pt x="79697" y="226367"/>
                </a:cubicBezTo>
                <a:lnTo>
                  <a:pt x="25047" y="255300"/>
                </a:lnTo>
                <a:cubicBezTo>
                  <a:pt x="18819" y="258581"/>
                  <a:pt x="11183" y="257443"/>
                  <a:pt x="6161" y="252487"/>
                </a:cubicBezTo>
                <a:cubicBezTo>
                  <a:pt x="1138" y="247530"/>
                  <a:pt x="0" y="239829"/>
                  <a:pt x="3348" y="233600"/>
                </a:cubicBezTo>
                <a:lnTo>
                  <a:pt x="27190" y="188595"/>
                </a:lnTo>
                <a:cubicBezTo>
                  <a:pt x="11050" y="168905"/>
                  <a:pt x="1473" y="144392"/>
                  <a:pt x="1473" y="117872"/>
                </a:cubicBezTo>
                <a:cubicBezTo>
                  <a:pt x="1473" y="52775"/>
                  <a:pt x="59069" y="0"/>
                  <a:pt x="130060" y="0"/>
                </a:cubicBezTo>
                <a:cubicBezTo>
                  <a:pt x="201052" y="0"/>
                  <a:pt x="258648" y="52775"/>
                  <a:pt x="258648" y="117872"/>
                </a:cubicBezTo>
                <a:close/>
                <a:moveTo>
                  <a:pt x="258648" y="364331"/>
                </a:moveTo>
                <a:cubicBezTo>
                  <a:pt x="195627" y="364331"/>
                  <a:pt x="143187" y="322741"/>
                  <a:pt x="132204" y="267890"/>
                </a:cubicBezTo>
                <a:cubicBezTo>
                  <a:pt x="212571" y="266886"/>
                  <a:pt x="282422" y="209691"/>
                  <a:pt x="290125" y="132137"/>
                </a:cubicBezTo>
                <a:cubicBezTo>
                  <a:pt x="345914" y="144996"/>
                  <a:pt x="387236" y="191274"/>
                  <a:pt x="387236" y="246458"/>
                </a:cubicBezTo>
                <a:cubicBezTo>
                  <a:pt x="387236" y="272980"/>
                  <a:pt x="377658" y="297492"/>
                  <a:pt x="361518" y="317182"/>
                </a:cubicBezTo>
                <a:lnTo>
                  <a:pt x="385360" y="362189"/>
                </a:lnTo>
                <a:cubicBezTo>
                  <a:pt x="388641" y="368417"/>
                  <a:pt x="387503" y="376051"/>
                  <a:pt x="382547" y="381073"/>
                </a:cubicBezTo>
                <a:cubicBezTo>
                  <a:pt x="377591" y="386098"/>
                  <a:pt x="369890" y="387235"/>
                  <a:pt x="363660" y="383886"/>
                </a:cubicBezTo>
                <a:lnTo>
                  <a:pt x="309011" y="354955"/>
                </a:lnTo>
                <a:cubicBezTo>
                  <a:pt x="293541" y="360982"/>
                  <a:pt x="276530" y="364331"/>
                  <a:pt x="258648" y="364331"/>
                </a:cubicBezTo>
                <a:close/>
              </a:path>
            </a:pathLst>
          </a:custGeom>
          <a:solidFill>
            <a:srgbClr val="666666">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2862299" y="2149328"/>
            <a:ext cx="2743200" cy="4572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2400" b="1"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对话式应用</a:t>
            </a:r>
            <a:endParaRPr lang="en-US" sz="1100"/>
          </a:p>
        </p:txBody>
      </p:sp>
      <p:sp>
        <p:nvSpPr>
          <p:cNvPr id="7" name="AutoShape 7"/>
          <p:cNvSpPr/>
          <p:nvPr/>
        </p:nvSpPr>
        <p:spPr>
          <a:xfrm>
            <a:off x="2900399" y="2720740"/>
            <a:ext cx="26670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DeepSeek/ChatGPT/写报告</a:t>
            </a:r>
            <a:endParaRPr lang="en-US" sz="1100"/>
          </a:p>
        </p:txBody>
      </p:sp>
      <p:sp>
        <p:nvSpPr>
          <p:cNvPr id="8" name="AutoShape 8"/>
          <p:cNvSpPr/>
          <p:nvPr/>
        </p:nvSpPr>
        <p:spPr>
          <a:xfrm>
            <a:off x="3833848" y="3136375"/>
            <a:ext cx="800172" cy="178955"/>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应用层·已讲</a:t>
            </a:r>
            <a:endParaRPr lang="en-US" sz="1100"/>
          </a:p>
        </p:txBody>
      </p:sp>
      <p:sp>
        <p:nvSpPr>
          <p:cNvPr id="9" name="Freeform 9"/>
          <p:cNvSpPr/>
          <p:nvPr/>
        </p:nvSpPr>
        <p:spPr>
          <a:xfrm>
            <a:off x="6019836" y="2385579"/>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6580909" y="1357380"/>
            <a:ext cx="3027218" cy="2264352"/>
          </a:xfrm>
          <a:custGeom>
            <a:avLst/>
            <a:gdLst/>
            <a:ahLst/>
            <a:cxnLst/>
            <a:rect l="l" t="t" r="r" b="b"/>
            <a:pathLst>
              <a:path w="3027218" h="2264352">
                <a:moveTo>
                  <a:pt x="152391" y="0"/>
                </a:moveTo>
                <a:lnTo>
                  <a:pt x="2874827" y="0"/>
                </a:lnTo>
                <a:cubicBezTo>
                  <a:pt x="2958934" y="0"/>
                  <a:pt x="3027218" y="68284"/>
                  <a:pt x="3027218" y="152391"/>
                </a:cubicBezTo>
                <a:lnTo>
                  <a:pt x="3027218" y="2111960"/>
                </a:lnTo>
                <a:cubicBezTo>
                  <a:pt x="3027218" y="2196125"/>
                  <a:pt x="2958990" y="2264352"/>
                  <a:pt x="2874827" y="2264352"/>
                </a:cubicBezTo>
                <a:lnTo>
                  <a:pt x="152391" y="2264352"/>
                </a:lnTo>
                <a:cubicBezTo>
                  <a:pt x="68284" y="2264352"/>
                  <a:pt x="0" y="2196067"/>
                  <a:pt x="0" y="2111960"/>
                </a:cubicBezTo>
                <a:lnTo>
                  <a:pt x="0" y="152391"/>
                </a:lnTo>
                <a:cubicBezTo>
                  <a:pt x="0" y="68228"/>
                  <a:pt x="68228" y="0"/>
                  <a:pt x="152391"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1" name="Freeform 11"/>
          <p:cNvSpPr/>
          <p:nvPr/>
        </p:nvSpPr>
        <p:spPr>
          <a:xfrm>
            <a:off x="7881937" y="1573173"/>
            <a:ext cx="428625" cy="342900"/>
          </a:xfrm>
          <a:custGeom>
            <a:avLst/>
            <a:gdLst/>
            <a:ahLst/>
            <a:cxnLst/>
            <a:rect l="l" t="t" r="r" b="b"/>
            <a:pathLst>
              <a:path w="428625" h="342900">
                <a:moveTo>
                  <a:pt x="235744" y="21431"/>
                </a:moveTo>
                <a:cubicBezTo>
                  <a:pt x="235744" y="9577"/>
                  <a:pt x="226167" y="0"/>
                  <a:pt x="214313" y="0"/>
                </a:cubicBezTo>
                <a:cubicBezTo>
                  <a:pt x="202458" y="0"/>
                  <a:pt x="192881" y="9577"/>
                  <a:pt x="192881" y="21431"/>
                </a:cubicBezTo>
                <a:lnTo>
                  <a:pt x="192881" y="64293"/>
                </a:lnTo>
                <a:lnTo>
                  <a:pt x="128587" y="64293"/>
                </a:lnTo>
                <a:cubicBezTo>
                  <a:pt x="93092" y="64293"/>
                  <a:pt x="64294" y="93092"/>
                  <a:pt x="64294" y="128587"/>
                </a:cubicBezTo>
                <a:lnTo>
                  <a:pt x="64294" y="278606"/>
                </a:lnTo>
                <a:cubicBezTo>
                  <a:pt x="64294" y="314102"/>
                  <a:pt x="93092" y="342900"/>
                  <a:pt x="128587" y="342900"/>
                </a:cubicBezTo>
                <a:lnTo>
                  <a:pt x="300037" y="342900"/>
                </a:lnTo>
                <a:cubicBezTo>
                  <a:pt x="335533" y="342900"/>
                  <a:pt x="364331" y="314102"/>
                  <a:pt x="364331" y="278606"/>
                </a:cubicBezTo>
                <a:lnTo>
                  <a:pt x="364331" y="128587"/>
                </a:lnTo>
                <a:cubicBezTo>
                  <a:pt x="364331" y="93092"/>
                  <a:pt x="335533" y="64293"/>
                  <a:pt x="300037" y="64293"/>
                </a:cubicBezTo>
                <a:lnTo>
                  <a:pt x="235744" y="64293"/>
                </a:lnTo>
                <a:lnTo>
                  <a:pt x="235744" y="21431"/>
                </a:lnTo>
                <a:close/>
                <a:moveTo>
                  <a:pt x="107156" y="267890"/>
                </a:moveTo>
                <a:cubicBezTo>
                  <a:pt x="107156" y="258983"/>
                  <a:pt x="114322" y="251817"/>
                  <a:pt x="123229" y="251817"/>
                </a:cubicBezTo>
                <a:lnTo>
                  <a:pt x="144661" y="251817"/>
                </a:lnTo>
                <a:cubicBezTo>
                  <a:pt x="153568" y="251817"/>
                  <a:pt x="160734" y="258983"/>
                  <a:pt x="160734" y="267890"/>
                </a:cubicBezTo>
                <a:cubicBezTo>
                  <a:pt x="160734" y="276798"/>
                  <a:pt x="153568" y="283964"/>
                  <a:pt x="144661" y="283964"/>
                </a:cubicBezTo>
                <a:lnTo>
                  <a:pt x="123229" y="283964"/>
                </a:lnTo>
                <a:cubicBezTo>
                  <a:pt x="114322" y="283964"/>
                  <a:pt x="107156" y="276798"/>
                  <a:pt x="107156" y="267890"/>
                </a:cubicBezTo>
                <a:close/>
                <a:moveTo>
                  <a:pt x="187523" y="267890"/>
                </a:moveTo>
                <a:cubicBezTo>
                  <a:pt x="187523" y="258983"/>
                  <a:pt x="194690" y="251817"/>
                  <a:pt x="203598" y="251817"/>
                </a:cubicBezTo>
                <a:lnTo>
                  <a:pt x="225027" y="251817"/>
                </a:lnTo>
                <a:cubicBezTo>
                  <a:pt x="233935" y="251817"/>
                  <a:pt x="241102" y="258983"/>
                  <a:pt x="241102" y="267890"/>
                </a:cubicBezTo>
                <a:cubicBezTo>
                  <a:pt x="241102" y="276798"/>
                  <a:pt x="233935" y="283964"/>
                  <a:pt x="225027" y="283964"/>
                </a:cubicBezTo>
                <a:lnTo>
                  <a:pt x="203598" y="283964"/>
                </a:lnTo>
                <a:cubicBezTo>
                  <a:pt x="194690" y="283964"/>
                  <a:pt x="187523" y="276798"/>
                  <a:pt x="187523" y="267890"/>
                </a:cubicBezTo>
                <a:close/>
                <a:moveTo>
                  <a:pt x="267891" y="267890"/>
                </a:moveTo>
                <a:cubicBezTo>
                  <a:pt x="267891" y="258983"/>
                  <a:pt x="275057" y="251817"/>
                  <a:pt x="283964" y="251817"/>
                </a:cubicBezTo>
                <a:lnTo>
                  <a:pt x="305396" y="251817"/>
                </a:lnTo>
                <a:cubicBezTo>
                  <a:pt x="314303" y="251817"/>
                  <a:pt x="321469" y="258983"/>
                  <a:pt x="321469" y="267890"/>
                </a:cubicBezTo>
                <a:cubicBezTo>
                  <a:pt x="321469" y="276798"/>
                  <a:pt x="314303" y="283964"/>
                  <a:pt x="305396" y="283964"/>
                </a:cubicBezTo>
                <a:lnTo>
                  <a:pt x="283964" y="283964"/>
                </a:lnTo>
                <a:cubicBezTo>
                  <a:pt x="275057" y="283964"/>
                  <a:pt x="267891" y="276798"/>
                  <a:pt x="267891" y="267890"/>
                </a:cubicBezTo>
                <a:close/>
                <a:moveTo>
                  <a:pt x="150019" y="139304"/>
                </a:moveTo>
                <a:cubicBezTo>
                  <a:pt x="167761" y="139304"/>
                  <a:pt x="182166" y="153707"/>
                  <a:pt x="182166" y="171450"/>
                </a:cubicBezTo>
                <a:cubicBezTo>
                  <a:pt x="182166" y="189192"/>
                  <a:pt x="167761" y="203597"/>
                  <a:pt x="150019" y="203597"/>
                </a:cubicBezTo>
                <a:cubicBezTo>
                  <a:pt x="132276" y="203597"/>
                  <a:pt x="117873" y="189192"/>
                  <a:pt x="117873" y="171450"/>
                </a:cubicBezTo>
                <a:cubicBezTo>
                  <a:pt x="117873" y="153707"/>
                  <a:pt x="132276" y="139304"/>
                  <a:pt x="150019" y="139304"/>
                </a:cubicBezTo>
                <a:close/>
                <a:moveTo>
                  <a:pt x="246459" y="171450"/>
                </a:moveTo>
                <a:cubicBezTo>
                  <a:pt x="246459" y="153707"/>
                  <a:pt x="260864" y="139304"/>
                  <a:pt x="278606" y="139304"/>
                </a:cubicBezTo>
                <a:cubicBezTo>
                  <a:pt x="296349" y="139304"/>
                  <a:pt x="310752" y="153707"/>
                  <a:pt x="310752" y="171450"/>
                </a:cubicBezTo>
                <a:cubicBezTo>
                  <a:pt x="310752" y="189192"/>
                  <a:pt x="296349" y="203597"/>
                  <a:pt x="278606" y="203597"/>
                </a:cubicBezTo>
                <a:cubicBezTo>
                  <a:pt x="260864" y="203597"/>
                  <a:pt x="246459" y="189192"/>
                  <a:pt x="246459" y="171450"/>
                </a:cubicBezTo>
                <a:close/>
                <a:moveTo>
                  <a:pt x="42863" y="171450"/>
                </a:moveTo>
                <a:cubicBezTo>
                  <a:pt x="42863" y="159596"/>
                  <a:pt x="33285" y="150019"/>
                  <a:pt x="21431" y="150019"/>
                </a:cubicBezTo>
                <a:cubicBezTo>
                  <a:pt x="9577" y="150019"/>
                  <a:pt x="0" y="159596"/>
                  <a:pt x="0" y="171450"/>
                </a:cubicBezTo>
                <a:lnTo>
                  <a:pt x="0" y="235743"/>
                </a:lnTo>
                <a:cubicBezTo>
                  <a:pt x="0" y="247598"/>
                  <a:pt x="9577" y="257175"/>
                  <a:pt x="21431" y="257175"/>
                </a:cubicBezTo>
                <a:cubicBezTo>
                  <a:pt x="33285" y="257175"/>
                  <a:pt x="42863" y="247598"/>
                  <a:pt x="42863" y="235743"/>
                </a:cubicBezTo>
                <a:lnTo>
                  <a:pt x="42863" y="171450"/>
                </a:lnTo>
                <a:close/>
                <a:moveTo>
                  <a:pt x="407194" y="150019"/>
                </a:moveTo>
                <a:cubicBezTo>
                  <a:pt x="395340" y="150019"/>
                  <a:pt x="385763" y="159596"/>
                  <a:pt x="385763" y="171450"/>
                </a:cubicBezTo>
                <a:lnTo>
                  <a:pt x="385763" y="235743"/>
                </a:lnTo>
                <a:cubicBezTo>
                  <a:pt x="385763" y="247598"/>
                  <a:pt x="395340" y="257175"/>
                  <a:pt x="407194" y="257175"/>
                </a:cubicBezTo>
                <a:cubicBezTo>
                  <a:pt x="419048" y="257175"/>
                  <a:pt x="428625" y="247598"/>
                  <a:pt x="428625" y="235743"/>
                </a:cubicBezTo>
                <a:lnTo>
                  <a:pt x="428625" y="171450"/>
                </a:lnTo>
                <a:cubicBezTo>
                  <a:pt x="428625" y="159596"/>
                  <a:pt x="419048" y="150019"/>
                  <a:pt x="407194" y="150019"/>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6729232" y="2119925"/>
            <a:ext cx="2730500" cy="5334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28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AI Agent</a:t>
            </a:r>
            <a:endParaRPr lang="en-US" sz="1100"/>
          </a:p>
        </p:txBody>
      </p:sp>
      <p:sp>
        <p:nvSpPr>
          <p:cNvPr id="13" name="AutoShape 13"/>
          <p:cNvSpPr/>
          <p:nvPr/>
        </p:nvSpPr>
        <p:spPr>
          <a:xfrm>
            <a:off x="6780032" y="2767551"/>
            <a:ext cx="26289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OpenClaw/数字员工/自动执行</a:t>
            </a:r>
            <a:endParaRPr lang="en-US" sz="1100"/>
          </a:p>
        </p:txBody>
      </p:sp>
      <p:sp>
        <p:nvSpPr>
          <p:cNvPr id="14" name="AutoShape 14"/>
          <p:cNvSpPr/>
          <p:nvPr/>
        </p:nvSpPr>
        <p:spPr>
          <a:xfrm>
            <a:off x="7696163" y="3183186"/>
            <a:ext cx="800172" cy="178955"/>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进阶层·当前</a:t>
            </a:r>
            <a:endParaRPr lang="en-US" sz="1100"/>
          </a:p>
        </p:txBody>
      </p:sp>
      <p:sp>
        <p:nvSpPr>
          <p:cNvPr id="15" name="AutoShape 15"/>
          <p:cNvSpPr/>
          <p:nvPr/>
        </p:nvSpPr>
        <p:spPr>
          <a:xfrm>
            <a:off x="247650" y="4048710"/>
            <a:ext cx="115570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无论对话还是行动，背后都是同一个</a:t>
            </a:r>
            <a:r>
              <a:rPr lang="en-US" sz="20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"大脑"</a:t>
            </a:r>
            <a:endParaRPr lang="en-US" sz="1100"/>
          </a:p>
        </p:txBody>
      </p:sp>
      <p:grpSp>
        <p:nvGrpSpPr>
          <p:cNvPr id="16" name="Group 16"/>
          <p:cNvGrpSpPr/>
          <p:nvPr/>
        </p:nvGrpSpPr>
        <p:grpSpPr>
          <a:xfrm>
            <a:off x="4930775" y="4570095"/>
            <a:ext cx="2185670" cy="287480"/>
            <a:chOff x="4930775" y="4570095"/>
            <a:chExt cx="2185670" cy="287480"/>
          </a:xfrm>
        </p:grpSpPr>
        <p:sp>
          <p:nvSpPr>
            <p:cNvPr id="17" name="Freeform 17"/>
            <p:cNvSpPr/>
            <p:nvPr/>
          </p:nvSpPr>
          <p:spPr>
            <a:xfrm>
              <a:off x="4930775" y="469392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5917047" y="4570095"/>
              <a:ext cx="218206" cy="287480"/>
            </a:xfrm>
            <a:custGeom>
              <a:avLst/>
              <a:gdLst/>
              <a:ahLst/>
              <a:cxnLst/>
              <a:rect l="l" t="t" r="r" b="b"/>
              <a:pathLst>
                <a:path w="218206" h="287480">
                  <a:moveTo>
                    <a:pt x="96470" y="280504"/>
                  </a:moveTo>
                  <a:cubicBezTo>
                    <a:pt x="103457" y="287480"/>
                    <a:pt x="114804" y="287480"/>
                    <a:pt x="121790" y="280504"/>
                  </a:cubicBezTo>
                  <a:lnTo>
                    <a:pt x="211220" y="191207"/>
                  </a:lnTo>
                  <a:cubicBezTo>
                    <a:pt x="218206" y="184231"/>
                    <a:pt x="218206" y="172902"/>
                    <a:pt x="211220" y="165925"/>
                  </a:cubicBezTo>
                  <a:cubicBezTo>
                    <a:pt x="204234" y="158948"/>
                    <a:pt x="192886" y="158948"/>
                    <a:pt x="185900" y="165925"/>
                  </a:cubicBezTo>
                  <a:lnTo>
                    <a:pt x="126988" y="224749"/>
                  </a:lnTo>
                  <a:lnTo>
                    <a:pt x="126988" y="17859"/>
                  </a:lnTo>
                  <a:cubicBezTo>
                    <a:pt x="126988" y="7981"/>
                    <a:pt x="118996" y="0"/>
                    <a:pt x="109103" y="0"/>
                  </a:cubicBezTo>
                  <a:cubicBezTo>
                    <a:pt x="99210" y="0"/>
                    <a:pt x="91218" y="7981"/>
                    <a:pt x="91218" y="17859"/>
                  </a:cubicBezTo>
                  <a:lnTo>
                    <a:pt x="91218" y="224749"/>
                  </a:lnTo>
                  <a:lnTo>
                    <a:pt x="32306" y="165925"/>
                  </a:lnTo>
                  <a:cubicBezTo>
                    <a:pt x="25319" y="158948"/>
                    <a:pt x="13972" y="158948"/>
                    <a:pt x="6986" y="165925"/>
                  </a:cubicBezTo>
                  <a:cubicBezTo>
                    <a:pt x="0" y="172902"/>
                    <a:pt x="0" y="184231"/>
                    <a:pt x="6986" y="191207"/>
                  </a:cubicBezTo>
                  <a:lnTo>
                    <a:pt x="96414" y="280504"/>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6354445" y="469392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grpSp>
      <p:sp>
        <p:nvSpPr>
          <p:cNvPr id="20" name="AutoShape 20"/>
          <p:cNvSpPr/>
          <p:nvPr/>
        </p:nvSpPr>
        <p:spPr>
          <a:xfrm>
            <a:off x="5223510" y="5116195"/>
            <a:ext cx="1892935" cy="76835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44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大模型</a:t>
            </a:r>
            <a:endParaRPr lang="en-US" sz="1100"/>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58600" cy="6858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3600" b="0" i="0" u="none" strike="noStrike">
                <a:solidFill>
                  <a:srgbClr val="5B92E5"/>
                </a:solidFill>
                <a:latin typeface="Alimama ShuHeiTi"/>
                <a:ea typeface="Alimama ShuHeiTi"/>
                <a:cs typeface="Alimama ShuHeiTi"/>
                <a:sym typeface="Alimama ShuHeiTi"/>
              </a:rPr>
              <a:t>课程结构</a:t>
            </a:r>
            <a:endParaRPr lang="en-US" sz="1100"/>
          </a:p>
        </p:txBody>
      </p:sp>
      <p:sp>
        <p:nvSpPr>
          <p:cNvPr id="3" name="Freeform 3"/>
          <p:cNvSpPr/>
          <p:nvPr/>
        </p:nvSpPr>
        <p:spPr>
          <a:xfrm>
            <a:off x="381000" y="1447693"/>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02619" y="1561886"/>
            <a:ext cx="20002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5" name="AutoShape 5"/>
          <p:cNvSpPr/>
          <p:nvPr/>
        </p:nvSpPr>
        <p:spPr>
          <a:xfrm>
            <a:off x="1066692" y="1523865"/>
            <a:ext cx="4895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"无所不能"的AI</a:t>
            </a:r>
            <a:endParaRPr lang="en-US" sz="1100"/>
          </a:p>
        </p:txBody>
      </p:sp>
      <p:sp>
        <p:nvSpPr>
          <p:cNvPr id="6" name="AutoShape 6"/>
          <p:cNvSpPr/>
          <p:nvPr/>
        </p:nvSpPr>
        <p:spPr>
          <a:xfrm>
            <a:off x="1066692" y="1828558"/>
            <a:ext cx="4876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大模型时代来临</a:t>
            </a:r>
            <a:endParaRPr lang="en-US" sz="1100"/>
          </a:p>
        </p:txBody>
      </p:sp>
      <p:sp>
        <p:nvSpPr>
          <p:cNvPr id="7" name="Freeform 7"/>
          <p:cNvSpPr/>
          <p:nvPr/>
        </p:nvSpPr>
        <p:spPr>
          <a:xfrm>
            <a:off x="6324519" y="1447693"/>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6526925" y="1561886"/>
            <a:ext cx="23812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9" name="AutoShape 9"/>
          <p:cNvSpPr/>
          <p:nvPr/>
        </p:nvSpPr>
        <p:spPr>
          <a:xfrm>
            <a:off x="7010210" y="1523865"/>
            <a:ext cx="4895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AI究竟怎么做到的？</a:t>
            </a:r>
            <a:endParaRPr lang="en-US" sz="1100"/>
          </a:p>
        </p:txBody>
      </p:sp>
      <p:sp>
        <p:nvSpPr>
          <p:cNvPr id="10" name="AutoShape 10"/>
          <p:cNvSpPr/>
          <p:nvPr/>
        </p:nvSpPr>
        <p:spPr>
          <a:xfrm>
            <a:off x="7010210" y="1828558"/>
            <a:ext cx="4876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大模型推理</a:t>
            </a:r>
            <a:endParaRPr lang="en-US" sz="1100"/>
          </a:p>
        </p:txBody>
      </p:sp>
      <p:sp>
        <p:nvSpPr>
          <p:cNvPr id="11" name="Freeform 11"/>
          <p:cNvSpPr/>
          <p:nvPr/>
        </p:nvSpPr>
        <p:spPr>
          <a:xfrm>
            <a:off x="381000" y="2752646"/>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580430" y="2866839"/>
            <a:ext cx="24765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3</a:t>
            </a:r>
            <a:endParaRPr lang="en-US" sz="1100"/>
          </a:p>
        </p:txBody>
      </p:sp>
      <p:sp>
        <p:nvSpPr>
          <p:cNvPr id="13" name="AutoShape 13"/>
          <p:cNvSpPr/>
          <p:nvPr/>
        </p:nvSpPr>
        <p:spPr>
          <a:xfrm>
            <a:off x="1066692" y="2828818"/>
            <a:ext cx="4895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如何成为"无所不能"的AI？</a:t>
            </a:r>
            <a:endParaRPr lang="en-US" sz="1100"/>
          </a:p>
        </p:txBody>
      </p:sp>
      <p:sp>
        <p:nvSpPr>
          <p:cNvPr id="14" name="AutoShape 14"/>
          <p:cNvSpPr/>
          <p:nvPr/>
        </p:nvSpPr>
        <p:spPr>
          <a:xfrm>
            <a:off x="1066692" y="3133511"/>
            <a:ext cx="4876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大模型训练</a:t>
            </a:r>
            <a:endParaRPr lang="en-US" sz="1100"/>
          </a:p>
        </p:txBody>
      </p:sp>
      <p:sp>
        <p:nvSpPr>
          <p:cNvPr id="15" name="Freeform 15"/>
          <p:cNvSpPr/>
          <p:nvPr/>
        </p:nvSpPr>
        <p:spPr>
          <a:xfrm>
            <a:off x="6324519" y="2752646"/>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6524084" y="2866839"/>
            <a:ext cx="24765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4</a:t>
            </a:r>
            <a:endParaRPr lang="en-US" sz="1100"/>
          </a:p>
        </p:txBody>
      </p:sp>
      <p:sp>
        <p:nvSpPr>
          <p:cNvPr id="17" name="AutoShape 17"/>
          <p:cNvSpPr/>
          <p:nvPr/>
        </p:nvSpPr>
        <p:spPr>
          <a:xfrm>
            <a:off x="7010210" y="2828818"/>
            <a:ext cx="4895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大模型背后的算力</a:t>
            </a:r>
            <a:endParaRPr lang="en-US" sz="1100"/>
          </a:p>
        </p:txBody>
      </p:sp>
      <p:sp>
        <p:nvSpPr>
          <p:cNvPr id="18" name="AutoShape 18"/>
          <p:cNvSpPr/>
          <p:nvPr/>
        </p:nvSpPr>
        <p:spPr>
          <a:xfrm>
            <a:off x="7010210" y="3133511"/>
            <a:ext cx="4876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开源AI系统软件栈：FlagOS</a:t>
            </a:r>
            <a:endParaRPr lang="en-US" sz="1100"/>
          </a:p>
        </p:txBody>
      </p:sp>
      <p:sp>
        <p:nvSpPr>
          <p:cNvPr id="19" name="Freeform 19"/>
          <p:cNvSpPr/>
          <p:nvPr/>
        </p:nvSpPr>
        <p:spPr>
          <a:xfrm>
            <a:off x="381000" y="4057599"/>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579347" y="4171787"/>
            <a:ext cx="24765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5</a:t>
            </a:r>
            <a:endParaRPr lang="en-US" sz="1100"/>
          </a:p>
        </p:txBody>
      </p:sp>
      <p:sp>
        <p:nvSpPr>
          <p:cNvPr id="21" name="AutoShape 21"/>
          <p:cNvSpPr/>
          <p:nvPr/>
        </p:nvSpPr>
        <p:spPr>
          <a:xfrm>
            <a:off x="1066692" y="4133771"/>
            <a:ext cx="4895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实操演示</a:t>
            </a:r>
            <a:endParaRPr lang="en-US" sz="1100"/>
          </a:p>
        </p:txBody>
      </p:sp>
      <p:sp>
        <p:nvSpPr>
          <p:cNvPr id="22" name="AutoShape 22"/>
          <p:cNvSpPr/>
          <p:nvPr/>
        </p:nvSpPr>
        <p:spPr>
          <a:xfrm>
            <a:off x="1066692" y="4438464"/>
            <a:ext cx="4876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如何基于FlagOS本地运行大模型</a:t>
            </a:r>
            <a:endParaRPr lang="en-US" sz="1100"/>
          </a:p>
        </p:txBody>
      </p:sp>
      <p:sp>
        <p:nvSpPr>
          <p:cNvPr id="23" name="Freeform 23"/>
          <p:cNvSpPr/>
          <p:nvPr/>
        </p:nvSpPr>
        <p:spPr>
          <a:xfrm>
            <a:off x="6324519" y="4057599"/>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4" name="Freeform 24"/>
          <p:cNvSpPr/>
          <p:nvPr/>
        </p:nvSpPr>
        <p:spPr>
          <a:xfrm>
            <a:off x="6507848" y="4229021"/>
            <a:ext cx="166688" cy="190500"/>
          </a:xfrm>
          <a:custGeom>
            <a:avLst/>
            <a:gdLst/>
            <a:ahLst/>
            <a:cxnLst/>
            <a:rect l="l" t="t" r="r" b="b"/>
            <a:pathLst>
              <a:path w="166688" h="190500">
                <a:moveTo>
                  <a:pt x="142875" y="190500"/>
                </a:moveTo>
                <a:lnTo>
                  <a:pt x="35719" y="190500"/>
                </a:lnTo>
                <a:cubicBezTo>
                  <a:pt x="15999" y="190500"/>
                  <a:pt x="0" y="174501"/>
                  <a:pt x="0" y="154781"/>
                </a:cubicBezTo>
                <a:lnTo>
                  <a:pt x="0" y="35719"/>
                </a:lnTo>
                <a:cubicBezTo>
                  <a:pt x="0" y="15999"/>
                  <a:pt x="15999" y="0"/>
                  <a:pt x="35719" y="0"/>
                </a:cubicBezTo>
                <a:lnTo>
                  <a:pt x="148827" y="0"/>
                </a:lnTo>
                <a:cubicBezTo>
                  <a:pt x="158688" y="0"/>
                  <a:pt x="166688" y="8000"/>
                  <a:pt x="166688" y="17859"/>
                </a:cubicBezTo>
                <a:lnTo>
                  <a:pt x="166688" y="125016"/>
                </a:lnTo>
                <a:cubicBezTo>
                  <a:pt x="166688" y="132792"/>
                  <a:pt x="161701" y="139416"/>
                  <a:pt x="154781" y="141870"/>
                </a:cubicBezTo>
                <a:lnTo>
                  <a:pt x="154781" y="166687"/>
                </a:lnTo>
                <a:cubicBezTo>
                  <a:pt x="161367" y="166687"/>
                  <a:pt x="166688" y="172008"/>
                  <a:pt x="166688" y="178594"/>
                </a:cubicBezTo>
                <a:cubicBezTo>
                  <a:pt x="166688" y="185179"/>
                  <a:pt x="161367" y="190500"/>
                  <a:pt x="154781" y="190500"/>
                </a:cubicBezTo>
                <a:lnTo>
                  <a:pt x="142875" y="190500"/>
                </a:lnTo>
                <a:close/>
                <a:moveTo>
                  <a:pt x="35719" y="142875"/>
                </a:moveTo>
                <a:cubicBezTo>
                  <a:pt x="29133" y="142875"/>
                  <a:pt x="23812" y="148196"/>
                  <a:pt x="23812" y="154781"/>
                </a:cubicBezTo>
                <a:cubicBezTo>
                  <a:pt x="23812" y="161367"/>
                  <a:pt x="29133" y="166687"/>
                  <a:pt x="35719" y="166687"/>
                </a:cubicBezTo>
                <a:lnTo>
                  <a:pt x="130969" y="166687"/>
                </a:lnTo>
                <a:lnTo>
                  <a:pt x="130969" y="142875"/>
                </a:lnTo>
                <a:lnTo>
                  <a:pt x="35719" y="142875"/>
                </a:lnTo>
                <a:close/>
                <a:moveTo>
                  <a:pt x="47625" y="56554"/>
                </a:moveTo>
                <a:cubicBezTo>
                  <a:pt x="47625" y="61504"/>
                  <a:pt x="51606" y="65484"/>
                  <a:pt x="56554" y="65484"/>
                </a:cubicBezTo>
                <a:lnTo>
                  <a:pt x="122039" y="65484"/>
                </a:lnTo>
                <a:cubicBezTo>
                  <a:pt x="126989" y="65484"/>
                  <a:pt x="130969" y="61504"/>
                  <a:pt x="130969" y="56554"/>
                </a:cubicBezTo>
                <a:cubicBezTo>
                  <a:pt x="130969" y="51606"/>
                  <a:pt x="126989" y="47625"/>
                  <a:pt x="122039" y="47625"/>
                </a:cubicBezTo>
                <a:lnTo>
                  <a:pt x="56554" y="47625"/>
                </a:lnTo>
                <a:cubicBezTo>
                  <a:pt x="51606" y="47625"/>
                  <a:pt x="47625" y="51606"/>
                  <a:pt x="47625" y="56554"/>
                </a:cubicBezTo>
                <a:close/>
                <a:moveTo>
                  <a:pt x="56554" y="83344"/>
                </a:moveTo>
                <a:cubicBezTo>
                  <a:pt x="51606" y="83344"/>
                  <a:pt x="47625" y="87325"/>
                  <a:pt x="47625" y="92273"/>
                </a:cubicBezTo>
                <a:cubicBezTo>
                  <a:pt x="47625" y="97222"/>
                  <a:pt x="51606" y="101202"/>
                  <a:pt x="56554" y="101202"/>
                </a:cubicBezTo>
                <a:lnTo>
                  <a:pt x="122039" y="101202"/>
                </a:lnTo>
                <a:cubicBezTo>
                  <a:pt x="126989" y="101202"/>
                  <a:pt x="130969" y="97222"/>
                  <a:pt x="130969" y="92273"/>
                </a:cubicBezTo>
                <a:cubicBezTo>
                  <a:pt x="130969" y="87325"/>
                  <a:pt x="126989" y="83344"/>
                  <a:pt x="122039" y="83344"/>
                </a:cubicBezTo>
                <a:lnTo>
                  <a:pt x="56554" y="83344"/>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5" name="AutoShape 25"/>
          <p:cNvSpPr/>
          <p:nvPr/>
        </p:nvSpPr>
        <p:spPr>
          <a:xfrm>
            <a:off x="7010210" y="4133771"/>
            <a:ext cx="4895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附录</a:t>
            </a:r>
            <a:endParaRPr lang="en-US" sz="1100"/>
          </a:p>
        </p:txBody>
      </p:sp>
      <p:sp>
        <p:nvSpPr>
          <p:cNvPr id="26" name="AutoShape 26"/>
          <p:cNvSpPr/>
          <p:nvPr/>
        </p:nvSpPr>
        <p:spPr>
          <a:xfrm>
            <a:off x="7010210" y="4438464"/>
            <a:ext cx="4876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参考和学习资源</a:t>
            </a:r>
            <a:endParaRPr lang="en-US" sz="1100"/>
          </a:p>
        </p:txBody>
      </p:sp>
      <p:sp>
        <p:nvSpPr>
          <p:cNvPr id="27" name="Freeform 27"/>
          <p:cNvSpPr/>
          <p:nvPr/>
        </p:nvSpPr>
        <p:spPr>
          <a:xfrm>
            <a:off x="381000" y="5362547"/>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8" name="Freeform 28"/>
          <p:cNvSpPr/>
          <p:nvPr/>
        </p:nvSpPr>
        <p:spPr>
          <a:xfrm>
            <a:off x="552423" y="5545880"/>
            <a:ext cx="190500" cy="166688"/>
          </a:xfrm>
          <a:custGeom>
            <a:avLst/>
            <a:gdLst/>
            <a:ahLst/>
            <a:cxnLst/>
            <a:rect l="l" t="t" r="r" b="b"/>
            <a:pathLst>
              <a:path w="190500" h="166688">
                <a:moveTo>
                  <a:pt x="89670" y="20501"/>
                </a:moveTo>
                <a:lnTo>
                  <a:pt x="95250" y="28203"/>
                </a:lnTo>
                <a:lnTo>
                  <a:pt x="100830" y="20501"/>
                </a:lnTo>
                <a:cubicBezTo>
                  <a:pt x="110133" y="7628"/>
                  <a:pt x="125090" y="0"/>
                  <a:pt x="140978" y="0"/>
                </a:cubicBezTo>
                <a:cubicBezTo>
                  <a:pt x="168325" y="0"/>
                  <a:pt x="190500" y="22176"/>
                  <a:pt x="190500" y="49523"/>
                </a:cubicBezTo>
                <a:lnTo>
                  <a:pt x="190500" y="50490"/>
                </a:lnTo>
                <a:cubicBezTo>
                  <a:pt x="190500" y="92237"/>
                  <a:pt x="138447" y="140718"/>
                  <a:pt x="111286" y="161441"/>
                </a:cubicBezTo>
                <a:cubicBezTo>
                  <a:pt x="106672" y="164939"/>
                  <a:pt x="101017" y="166688"/>
                  <a:pt x="95250" y="166688"/>
                </a:cubicBezTo>
                <a:cubicBezTo>
                  <a:pt x="89483" y="166688"/>
                  <a:pt x="83790" y="164976"/>
                  <a:pt x="79214" y="161441"/>
                </a:cubicBezTo>
                <a:cubicBezTo>
                  <a:pt x="52053" y="140718"/>
                  <a:pt x="0" y="92237"/>
                  <a:pt x="0" y="50490"/>
                </a:cubicBezTo>
                <a:lnTo>
                  <a:pt x="0" y="49523"/>
                </a:lnTo>
                <a:cubicBezTo>
                  <a:pt x="0" y="22176"/>
                  <a:pt x="22175" y="0"/>
                  <a:pt x="49522" y="0"/>
                </a:cubicBezTo>
                <a:cubicBezTo>
                  <a:pt x="65410" y="0"/>
                  <a:pt x="80367" y="7628"/>
                  <a:pt x="89670" y="20501"/>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9" name="AutoShape 29"/>
          <p:cNvSpPr/>
          <p:nvPr/>
        </p:nvSpPr>
        <p:spPr>
          <a:xfrm>
            <a:off x="1066692" y="5438724"/>
            <a:ext cx="4895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致谢</a:t>
            </a:r>
            <a:endParaRPr lang="en-US" sz="1100"/>
          </a:p>
        </p:txBody>
      </p:sp>
      <p:sp>
        <p:nvSpPr>
          <p:cNvPr id="30" name="AutoShape 30"/>
          <p:cNvSpPr/>
          <p:nvPr/>
        </p:nvSpPr>
        <p:spPr>
          <a:xfrm>
            <a:off x="1066692" y="5743412"/>
            <a:ext cx="4876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感谢支持本课程的人员</a:t>
            </a:r>
            <a:endParaRPr lang="en-US" sz="1100"/>
          </a:p>
        </p:txBody>
      </p:sp>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5B92E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610414" y="2247984"/>
            <a:ext cx="1123950" cy="4572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4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PART 1</a:t>
            </a:r>
            <a:endParaRPr lang="en-US" sz="1100"/>
          </a:p>
        </p:txBody>
      </p:sp>
      <p:sp>
        <p:nvSpPr>
          <p:cNvPr id="3" name="AutoShape 3"/>
          <p:cNvSpPr/>
          <p:nvPr/>
        </p:nvSpPr>
        <p:spPr>
          <a:xfrm>
            <a:off x="4008618" y="2933672"/>
            <a:ext cx="4476750" cy="914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4800" b="1" i="0" u="none" strike="noStrike">
                <a:solidFill>
                  <a:srgbClr val="FFFFFF"/>
                </a:solidFill>
                <a:latin typeface="Alimama ShuHeiTi"/>
                <a:ea typeface="Alimama ShuHeiTi"/>
                <a:cs typeface="Alimama ShuHeiTi"/>
                <a:sym typeface="Alimama ShuHeiTi"/>
              </a:rPr>
              <a:t>"无所不能"的AI</a:t>
            </a:r>
            <a:endParaRPr lang="en-US" sz="1100"/>
          </a:p>
        </p:txBody>
      </p:sp>
      <p:sp>
        <p:nvSpPr>
          <p:cNvPr id="4" name="AutoShape 4"/>
          <p:cNvSpPr/>
          <p:nvPr/>
        </p:nvSpPr>
        <p:spPr>
          <a:xfrm>
            <a:off x="4851526" y="4076672"/>
            <a:ext cx="2663825" cy="533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800" b="0" i="0" u="none" strike="noStrike">
                <a:solidFill>
                  <a:srgbClr val="87CEEB"/>
                </a:solidFill>
                <a:latin typeface="MiSans" panose="00000500000000000000" charset="-122"/>
                <a:ea typeface="MiSans" panose="00000500000000000000" charset="-122"/>
                <a:cs typeface="MiSans" panose="00000500000000000000" charset="-122"/>
                <a:sym typeface="MiSans" panose="00000500000000000000" charset="-122"/>
              </a:rPr>
              <a:t>大模型时代来临</a:t>
            </a:r>
            <a:endParaRPr lang="en-US" sz="1100"/>
          </a:p>
        </p:txBody>
      </p:sp>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什么是大模型？</a:t>
            </a:r>
            <a:endParaRPr lang="en-US" sz="1100"/>
          </a:p>
        </p:txBody>
      </p:sp>
      <p:sp>
        <p:nvSpPr>
          <p:cNvPr id="3" name="AutoShape 3"/>
          <p:cNvSpPr/>
          <p:nvPr/>
        </p:nvSpPr>
        <p:spPr>
          <a:xfrm>
            <a:off x="381000" y="1711523"/>
            <a:ext cx="5619750" cy="61912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想象一个 </a:t>
            </a: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超级图书馆</a:t>
            </a: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，里面存储了人类历史上几乎所有的知识和信息。</a:t>
            </a:r>
            <a:endParaRPr lang="en-US" sz="1100"/>
          </a:p>
        </p:txBody>
      </p:sp>
      <p:sp>
        <p:nvSpPr>
          <p:cNvPr id="4" name="AutoShape 4"/>
          <p:cNvSpPr/>
          <p:nvPr/>
        </p:nvSpPr>
        <p:spPr>
          <a:xfrm>
            <a:off x="381000" y="2635341"/>
            <a:ext cx="5619750" cy="61912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大模型就像这个图书馆的管理员，不仅记住了所有内容，还理解了它们之间的 </a:t>
            </a:r>
            <a:r>
              <a:rPr lang="en-US" sz="15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关联和规律</a:t>
            </a: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endParaRPr lang="en-US" sz="1100"/>
          </a:p>
        </p:txBody>
      </p:sp>
      <p:sp>
        <p:nvSpPr>
          <p:cNvPr id="5" name="Freeform 5"/>
          <p:cNvSpPr/>
          <p:nvPr/>
        </p:nvSpPr>
        <p:spPr>
          <a:xfrm>
            <a:off x="381000" y="3559159"/>
            <a:ext cx="3629025" cy="1514475"/>
          </a:xfrm>
          <a:custGeom>
            <a:avLst/>
            <a:gdLst/>
            <a:ahLst/>
            <a:cxnLst/>
            <a:rect l="l" t="t" r="r" b="b"/>
            <a:pathLst>
              <a:path w="3629025" h="1514475">
                <a:moveTo>
                  <a:pt x="152403" y="0"/>
                </a:moveTo>
                <a:lnTo>
                  <a:pt x="3476622" y="0"/>
                </a:lnTo>
                <a:cubicBezTo>
                  <a:pt x="3560792" y="0"/>
                  <a:pt x="3629025" y="68233"/>
                  <a:pt x="3629025" y="152403"/>
                </a:cubicBezTo>
                <a:lnTo>
                  <a:pt x="3629025" y="1362072"/>
                </a:lnTo>
                <a:cubicBezTo>
                  <a:pt x="3629025" y="1446242"/>
                  <a:pt x="3560792" y="1514475"/>
                  <a:pt x="3476622" y="1514475"/>
                </a:cubicBezTo>
                <a:lnTo>
                  <a:pt x="152403" y="1514475"/>
                </a:lnTo>
                <a:cubicBezTo>
                  <a:pt x="68233" y="1514475"/>
                  <a:pt x="0" y="1446242"/>
                  <a:pt x="0" y="1362072"/>
                </a:cubicBezTo>
                <a:lnTo>
                  <a:pt x="0" y="152403"/>
                </a:lnTo>
                <a:cubicBezTo>
                  <a:pt x="0" y="68233"/>
                  <a:pt x="68233" y="0"/>
                  <a:pt x="152403"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689885" y="4028912"/>
            <a:ext cx="553641" cy="571500"/>
          </a:xfrm>
          <a:custGeom>
            <a:avLst/>
            <a:gdLst/>
            <a:ahLst/>
            <a:cxnLst/>
            <a:rect l="l" t="t" r="r" b="b"/>
            <a:pathLst>
              <a:path w="553641" h="571500">
                <a:moveTo>
                  <a:pt x="125017" y="62508"/>
                </a:moveTo>
                <a:cubicBezTo>
                  <a:pt x="125017" y="28017"/>
                  <a:pt x="153033" y="0"/>
                  <a:pt x="187523" y="0"/>
                </a:cubicBezTo>
                <a:lnTo>
                  <a:pt x="214313" y="0"/>
                </a:lnTo>
                <a:cubicBezTo>
                  <a:pt x="234070" y="0"/>
                  <a:pt x="250032" y="15963"/>
                  <a:pt x="250032" y="35719"/>
                </a:cubicBezTo>
                <a:lnTo>
                  <a:pt x="250032" y="535781"/>
                </a:lnTo>
                <a:cubicBezTo>
                  <a:pt x="250032" y="555537"/>
                  <a:pt x="234070" y="571500"/>
                  <a:pt x="214313" y="571500"/>
                </a:cubicBezTo>
                <a:lnTo>
                  <a:pt x="178594" y="571500"/>
                </a:lnTo>
                <a:cubicBezTo>
                  <a:pt x="145332" y="571500"/>
                  <a:pt x="117314" y="548729"/>
                  <a:pt x="109389" y="517923"/>
                </a:cubicBezTo>
                <a:cubicBezTo>
                  <a:pt x="108608" y="517923"/>
                  <a:pt x="107938" y="517923"/>
                  <a:pt x="107157" y="517923"/>
                </a:cubicBezTo>
                <a:cubicBezTo>
                  <a:pt x="57820" y="517923"/>
                  <a:pt x="17860" y="477962"/>
                  <a:pt x="17860" y="428625"/>
                </a:cubicBezTo>
                <a:cubicBezTo>
                  <a:pt x="17860" y="408534"/>
                  <a:pt x="24557" y="390004"/>
                  <a:pt x="35719" y="375048"/>
                </a:cubicBezTo>
                <a:cubicBezTo>
                  <a:pt x="14066" y="358750"/>
                  <a:pt x="0" y="332854"/>
                  <a:pt x="0" y="303609"/>
                </a:cubicBezTo>
                <a:cubicBezTo>
                  <a:pt x="0" y="269118"/>
                  <a:pt x="19646" y="239091"/>
                  <a:pt x="48221" y="224246"/>
                </a:cubicBezTo>
                <a:cubicBezTo>
                  <a:pt x="40296" y="210852"/>
                  <a:pt x="35719" y="195224"/>
                  <a:pt x="35719" y="178594"/>
                </a:cubicBezTo>
                <a:cubicBezTo>
                  <a:pt x="35719" y="129257"/>
                  <a:pt x="75680" y="89298"/>
                  <a:pt x="125017" y="89298"/>
                </a:cubicBezTo>
                <a:lnTo>
                  <a:pt x="125017" y="62508"/>
                </a:lnTo>
                <a:close/>
                <a:moveTo>
                  <a:pt x="428625" y="62508"/>
                </a:moveTo>
                <a:lnTo>
                  <a:pt x="428625" y="89298"/>
                </a:lnTo>
                <a:cubicBezTo>
                  <a:pt x="477962" y="89298"/>
                  <a:pt x="517923" y="129257"/>
                  <a:pt x="517923" y="178594"/>
                </a:cubicBezTo>
                <a:cubicBezTo>
                  <a:pt x="517923" y="195337"/>
                  <a:pt x="513346" y="210964"/>
                  <a:pt x="505421" y="224246"/>
                </a:cubicBezTo>
                <a:cubicBezTo>
                  <a:pt x="534108" y="239091"/>
                  <a:pt x="553642" y="269008"/>
                  <a:pt x="553642" y="303609"/>
                </a:cubicBezTo>
                <a:cubicBezTo>
                  <a:pt x="553642" y="332854"/>
                  <a:pt x="539576" y="358750"/>
                  <a:pt x="517923" y="375048"/>
                </a:cubicBezTo>
                <a:cubicBezTo>
                  <a:pt x="529085" y="390004"/>
                  <a:pt x="535782" y="408534"/>
                  <a:pt x="535782" y="428625"/>
                </a:cubicBezTo>
                <a:cubicBezTo>
                  <a:pt x="535782" y="477962"/>
                  <a:pt x="495822" y="517923"/>
                  <a:pt x="446485" y="517923"/>
                </a:cubicBezTo>
                <a:cubicBezTo>
                  <a:pt x="445704" y="517923"/>
                  <a:pt x="445034" y="517923"/>
                  <a:pt x="444253" y="517923"/>
                </a:cubicBezTo>
                <a:cubicBezTo>
                  <a:pt x="436328" y="548729"/>
                  <a:pt x="408310" y="571500"/>
                  <a:pt x="375048" y="571500"/>
                </a:cubicBezTo>
                <a:lnTo>
                  <a:pt x="339329" y="571500"/>
                </a:lnTo>
                <a:cubicBezTo>
                  <a:pt x="319572" y="571500"/>
                  <a:pt x="303610" y="555537"/>
                  <a:pt x="303610" y="535781"/>
                </a:cubicBezTo>
                <a:lnTo>
                  <a:pt x="303610" y="35719"/>
                </a:lnTo>
                <a:cubicBezTo>
                  <a:pt x="303610" y="15963"/>
                  <a:pt x="319572" y="0"/>
                  <a:pt x="339329" y="0"/>
                </a:cubicBezTo>
                <a:lnTo>
                  <a:pt x="366119" y="0"/>
                </a:lnTo>
                <a:cubicBezTo>
                  <a:pt x="400609" y="0"/>
                  <a:pt x="428625" y="28017"/>
                  <a:pt x="428625" y="62508"/>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1552413" y="3787676"/>
            <a:ext cx="23145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参数规模</a:t>
            </a:r>
            <a:endParaRPr lang="en-US" sz="1100"/>
          </a:p>
        </p:txBody>
      </p:sp>
      <p:sp>
        <p:nvSpPr>
          <p:cNvPr id="8" name="AutoShape 8"/>
          <p:cNvSpPr/>
          <p:nvPr/>
        </p:nvSpPr>
        <p:spPr>
          <a:xfrm>
            <a:off x="1552413" y="4130385"/>
            <a:ext cx="2584450" cy="714375"/>
          </a:xfrm>
          <a:prstGeom prst="rect">
            <a:avLst/>
          </a:prstGeom>
          <a:noFill/>
          <a:ln w="12700">
            <a:noFill/>
            <a:prstDash val="solid"/>
          </a:ln>
        </p:spPr>
        <p:txBody>
          <a:bodyPr wrap="square" lIns="0" tIns="0" rIns="0" bIns="0" rtlCol="0" anchor="ctr">
            <a:noAutofit/>
          </a:bodyPr>
          <a:lstStyle/>
          <a:p>
            <a:pPr indent="0" algn="l">
              <a:lnSpc>
                <a:spcPct val="83000"/>
              </a:lnSpc>
              <a:defRPr/>
            </a:pPr>
            <a:r>
              <a:rPr lang="en-US" sz="56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6710亿</a:t>
            </a:r>
            <a:endParaRPr lang="en-US" sz="1100"/>
          </a:p>
        </p:txBody>
      </p:sp>
      <p:pic>
        <p:nvPicPr>
          <p:cNvPr id="9" name="Picture 9"/>
          <p:cNvPicPr>
            <a:picLocks noChangeAspect="1"/>
          </p:cNvPicPr>
          <p:nvPr/>
        </p:nvPicPr>
        <p:blipFill>
          <a:blip r:embed="rId1"/>
          <a:srcRect/>
          <a:stretch>
            <a:fillRect/>
          </a:stretch>
        </p:blipFill>
        <p:spPr>
          <a:xfrm>
            <a:off x="6915095" y="2171672"/>
            <a:ext cx="4267200" cy="2438400"/>
          </a:xfrm>
          <a:prstGeom prst="roundRect">
            <a:avLst>
              <a:gd name="adj" fmla="val 6250"/>
            </a:avLst>
          </a:prstGeom>
          <a:ln w="12700">
            <a:noFill/>
            <a:prstDash val="solid"/>
          </a:ln>
        </p:spPr>
      </p:pic>
      <p:sp>
        <p:nvSpPr>
          <p:cNvPr id="10" name="Freeform 10"/>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609519" y="5962594"/>
            <a:ext cx="59848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参数（Parameters）</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模型中的可调变量，类似大脑的神经元连接强度</a:t>
            </a:r>
            <a:endParaRPr lang="en-US" sz="1100"/>
          </a:p>
        </p:txBody>
      </p:sp>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生成式AI的魔法</a:t>
            </a:r>
            <a:endParaRPr lang="en-US" sz="1100"/>
          </a:p>
        </p:txBody>
      </p:sp>
      <p:sp>
        <p:nvSpPr>
          <p:cNvPr id="3" name="Freeform 3"/>
          <p:cNvSpPr/>
          <p:nvPr/>
        </p:nvSpPr>
        <p:spPr>
          <a:xfrm>
            <a:off x="381000" y="1295344"/>
            <a:ext cx="5600700" cy="2057400"/>
          </a:xfrm>
          <a:custGeom>
            <a:avLst/>
            <a:gdLst/>
            <a:ahLst/>
            <a:cxnLst/>
            <a:rect l="l" t="t" r="r" b="b"/>
            <a:pathLst>
              <a:path w="5600700" h="2057400">
                <a:moveTo>
                  <a:pt x="152392" y="0"/>
                </a:moveTo>
                <a:lnTo>
                  <a:pt x="5448308" y="0"/>
                </a:lnTo>
                <a:cubicBezTo>
                  <a:pt x="5532472" y="0"/>
                  <a:pt x="5600700" y="68228"/>
                  <a:pt x="5600700" y="152392"/>
                </a:cubicBezTo>
                <a:lnTo>
                  <a:pt x="5600700" y="1905008"/>
                </a:lnTo>
                <a:cubicBezTo>
                  <a:pt x="5600700" y="1989172"/>
                  <a:pt x="5532472" y="2057400"/>
                  <a:pt x="5448308" y="2057400"/>
                </a:cubicBezTo>
                <a:lnTo>
                  <a:pt x="152392" y="2057400"/>
                </a:lnTo>
                <a:cubicBezTo>
                  <a:pt x="68228" y="2057400"/>
                  <a:pt x="0" y="1989172"/>
                  <a:pt x="0" y="1905008"/>
                </a:cubicBezTo>
                <a:lnTo>
                  <a:pt x="0" y="152392"/>
                </a:lnTo>
                <a:cubicBezTo>
                  <a:pt x="0" y="68284"/>
                  <a:pt x="68284" y="0"/>
                  <a:pt x="152392"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2966956" y="1600042"/>
            <a:ext cx="428625" cy="571500"/>
          </a:xfrm>
          <a:custGeom>
            <a:avLst/>
            <a:gdLst/>
            <a:ahLst/>
            <a:cxnLst/>
            <a:rect l="l" t="t" r="r" b="b"/>
            <a:pathLst>
              <a:path w="428625" h="571500">
                <a:moveTo>
                  <a:pt x="0" y="71438"/>
                </a:moveTo>
                <a:cubicBezTo>
                  <a:pt x="0" y="32034"/>
                  <a:pt x="32034" y="0"/>
                  <a:pt x="71438" y="0"/>
                </a:cubicBezTo>
                <a:lnTo>
                  <a:pt x="238310" y="0"/>
                </a:lnTo>
                <a:cubicBezTo>
                  <a:pt x="257287" y="0"/>
                  <a:pt x="275481" y="7479"/>
                  <a:pt x="288875" y="20872"/>
                </a:cubicBezTo>
                <a:lnTo>
                  <a:pt x="407753" y="139861"/>
                </a:lnTo>
                <a:cubicBezTo>
                  <a:pt x="421146" y="153256"/>
                  <a:pt x="428625" y="171450"/>
                  <a:pt x="428625" y="190426"/>
                </a:cubicBezTo>
                <a:lnTo>
                  <a:pt x="428625" y="500062"/>
                </a:lnTo>
                <a:cubicBezTo>
                  <a:pt x="428625" y="539466"/>
                  <a:pt x="396591" y="571500"/>
                  <a:pt x="357188" y="571500"/>
                </a:cubicBezTo>
                <a:lnTo>
                  <a:pt x="71438" y="571500"/>
                </a:lnTo>
                <a:cubicBezTo>
                  <a:pt x="32034" y="571500"/>
                  <a:pt x="0" y="539466"/>
                  <a:pt x="0" y="500062"/>
                </a:cubicBezTo>
                <a:lnTo>
                  <a:pt x="0" y="71438"/>
                </a:lnTo>
                <a:close/>
                <a:moveTo>
                  <a:pt x="232173" y="65298"/>
                </a:moveTo>
                <a:lnTo>
                  <a:pt x="232173" y="169664"/>
                </a:lnTo>
                <a:cubicBezTo>
                  <a:pt x="232173" y="184509"/>
                  <a:pt x="244116" y="196452"/>
                  <a:pt x="258961" y="196452"/>
                </a:cubicBezTo>
                <a:lnTo>
                  <a:pt x="363327" y="196452"/>
                </a:lnTo>
                <a:lnTo>
                  <a:pt x="232173" y="65298"/>
                </a:lnTo>
                <a:close/>
                <a:moveTo>
                  <a:pt x="133946" y="285750"/>
                </a:moveTo>
                <a:cubicBezTo>
                  <a:pt x="119101" y="285750"/>
                  <a:pt x="107156" y="297693"/>
                  <a:pt x="107156" y="312539"/>
                </a:cubicBezTo>
                <a:cubicBezTo>
                  <a:pt x="107156" y="327384"/>
                  <a:pt x="119101" y="339327"/>
                  <a:pt x="133946" y="339327"/>
                </a:cubicBezTo>
                <a:lnTo>
                  <a:pt x="294679" y="339327"/>
                </a:lnTo>
                <a:cubicBezTo>
                  <a:pt x="309524" y="339327"/>
                  <a:pt x="321469" y="327384"/>
                  <a:pt x="321469" y="312539"/>
                </a:cubicBezTo>
                <a:cubicBezTo>
                  <a:pt x="321469" y="297693"/>
                  <a:pt x="309524" y="285750"/>
                  <a:pt x="294679" y="285750"/>
                </a:cubicBezTo>
                <a:lnTo>
                  <a:pt x="133946" y="285750"/>
                </a:lnTo>
                <a:close/>
                <a:moveTo>
                  <a:pt x="133946" y="392906"/>
                </a:moveTo>
                <a:cubicBezTo>
                  <a:pt x="119101" y="392906"/>
                  <a:pt x="107156" y="404851"/>
                  <a:pt x="107156" y="419696"/>
                </a:cubicBezTo>
                <a:cubicBezTo>
                  <a:pt x="107156" y="434541"/>
                  <a:pt x="119101" y="446484"/>
                  <a:pt x="133946" y="446484"/>
                </a:cubicBezTo>
                <a:lnTo>
                  <a:pt x="294679" y="446484"/>
                </a:lnTo>
                <a:cubicBezTo>
                  <a:pt x="309524" y="446484"/>
                  <a:pt x="321469" y="434541"/>
                  <a:pt x="321469" y="419696"/>
                </a:cubicBezTo>
                <a:cubicBezTo>
                  <a:pt x="321469" y="404851"/>
                  <a:pt x="309524" y="392906"/>
                  <a:pt x="294679" y="392906"/>
                </a:cubicBezTo>
                <a:lnTo>
                  <a:pt x="133946" y="392906"/>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2724096" y="2362042"/>
            <a:ext cx="10287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文字生成</a:t>
            </a:r>
            <a:endParaRPr lang="en-US" sz="1100"/>
          </a:p>
        </p:txBody>
      </p:sp>
      <p:sp>
        <p:nvSpPr>
          <p:cNvPr id="6" name="AutoShape 6"/>
          <p:cNvSpPr/>
          <p:nvPr/>
        </p:nvSpPr>
        <p:spPr>
          <a:xfrm>
            <a:off x="2133140" y="2781058"/>
            <a:ext cx="209550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文章、代码、诗歌、邮件...</a:t>
            </a:r>
            <a:endParaRPr lang="en-US" sz="1100"/>
          </a:p>
        </p:txBody>
      </p:sp>
      <p:sp>
        <p:nvSpPr>
          <p:cNvPr id="7" name="Freeform 7"/>
          <p:cNvSpPr/>
          <p:nvPr/>
        </p:nvSpPr>
        <p:spPr>
          <a:xfrm>
            <a:off x="6198126" y="1295344"/>
            <a:ext cx="5600700" cy="2057400"/>
          </a:xfrm>
          <a:custGeom>
            <a:avLst/>
            <a:gdLst/>
            <a:ahLst/>
            <a:cxnLst/>
            <a:rect l="l" t="t" r="r" b="b"/>
            <a:pathLst>
              <a:path w="5600700" h="2057400">
                <a:moveTo>
                  <a:pt x="152392" y="0"/>
                </a:moveTo>
                <a:lnTo>
                  <a:pt x="5448308" y="0"/>
                </a:lnTo>
                <a:cubicBezTo>
                  <a:pt x="5532472" y="0"/>
                  <a:pt x="5600700" y="68228"/>
                  <a:pt x="5600700" y="152392"/>
                </a:cubicBezTo>
                <a:lnTo>
                  <a:pt x="5600700" y="1905008"/>
                </a:lnTo>
                <a:cubicBezTo>
                  <a:pt x="5600700" y="1989172"/>
                  <a:pt x="5532472" y="2057400"/>
                  <a:pt x="5448308" y="2057400"/>
                </a:cubicBezTo>
                <a:lnTo>
                  <a:pt x="152392" y="2057400"/>
                </a:lnTo>
                <a:cubicBezTo>
                  <a:pt x="68228" y="2057400"/>
                  <a:pt x="0" y="1989172"/>
                  <a:pt x="0" y="1905008"/>
                </a:cubicBezTo>
                <a:lnTo>
                  <a:pt x="0" y="152392"/>
                </a:lnTo>
                <a:cubicBezTo>
                  <a:pt x="0" y="68284"/>
                  <a:pt x="68284" y="0"/>
                  <a:pt x="152392" y="0"/>
                </a:cubicBezTo>
                <a:close/>
              </a:path>
            </a:pathLst>
          </a:custGeom>
          <a:solidFill>
            <a:srgbClr val="00BFFF">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8760564" y="1635761"/>
            <a:ext cx="500062" cy="500062"/>
          </a:xfrm>
          <a:custGeom>
            <a:avLst/>
            <a:gdLst/>
            <a:ahLst/>
            <a:cxnLst/>
            <a:rect l="l" t="t" r="r" b="b"/>
            <a:pathLst>
              <a:path w="500062" h="500062">
                <a:moveTo>
                  <a:pt x="71438" y="0"/>
                </a:moveTo>
                <a:cubicBezTo>
                  <a:pt x="32034" y="0"/>
                  <a:pt x="0" y="32036"/>
                  <a:pt x="0" y="71437"/>
                </a:cubicBezTo>
                <a:lnTo>
                  <a:pt x="0" y="428625"/>
                </a:lnTo>
                <a:cubicBezTo>
                  <a:pt x="0" y="468027"/>
                  <a:pt x="32034" y="500062"/>
                  <a:pt x="71438" y="500062"/>
                </a:cubicBezTo>
                <a:lnTo>
                  <a:pt x="428625" y="500062"/>
                </a:lnTo>
                <a:cubicBezTo>
                  <a:pt x="468027" y="500062"/>
                  <a:pt x="500062" y="468027"/>
                  <a:pt x="500062" y="428625"/>
                </a:cubicBezTo>
                <a:lnTo>
                  <a:pt x="500062" y="71437"/>
                </a:lnTo>
                <a:cubicBezTo>
                  <a:pt x="500062" y="32036"/>
                  <a:pt x="468027" y="0"/>
                  <a:pt x="428625" y="0"/>
                </a:cubicBezTo>
                <a:lnTo>
                  <a:pt x="71438" y="0"/>
                </a:lnTo>
                <a:close/>
                <a:moveTo>
                  <a:pt x="142875" y="89297"/>
                </a:moveTo>
                <a:cubicBezTo>
                  <a:pt x="172446" y="89297"/>
                  <a:pt x="196452" y="113304"/>
                  <a:pt x="196452" y="142875"/>
                </a:cubicBezTo>
                <a:cubicBezTo>
                  <a:pt x="196452" y="172445"/>
                  <a:pt x="172446" y="196454"/>
                  <a:pt x="142875" y="196454"/>
                </a:cubicBezTo>
                <a:cubicBezTo>
                  <a:pt x="113304" y="196454"/>
                  <a:pt x="89298" y="172445"/>
                  <a:pt x="89298" y="142875"/>
                </a:cubicBezTo>
                <a:cubicBezTo>
                  <a:pt x="89298" y="113304"/>
                  <a:pt x="113304" y="89297"/>
                  <a:pt x="142875" y="89297"/>
                </a:cubicBezTo>
                <a:close/>
                <a:moveTo>
                  <a:pt x="303609" y="214312"/>
                </a:moveTo>
                <a:cubicBezTo>
                  <a:pt x="312986" y="214312"/>
                  <a:pt x="321581" y="219225"/>
                  <a:pt x="326492" y="227149"/>
                </a:cubicBezTo>
                <a:lnTo>
                  <a:pt x="424718" y="387883"/>
                </a:lnTo>
                <a:cubicBezTo>
                  <a:pt x="429741" y="396143"/>
                  <a:pt x="429964" y="406524"/>
                  <a:pt x="425276" y="415007"/>
                </a:cubicBezTo>
                <a:cubicBezTo>
                  <a:pt x="420588" y="423490"/>
                  <a:pt x="411547" y="428625"/>
                  <a:pt x="401836" y="428625"/>
                </a:cubicBezTo>
                <a:lnTo>
                  <a:pt x="98227" y="428625"/>
                </a:lnTo>
                <a:cubicBezTo>
                  <a:pt x="88292" y="428625"/>
                  <a:pt x="79028" y="423044"/>
                  <a:pt x="74451" y="414225"/>
                </a:cubicBezTo>
                <a:cubicBezTo>
                  <a:pt x="69875" y="405408"/>
                  <a:pt x="70545" y="394692"/>
                  <a:pt x="76237" y="386545"/>
                </a:cubicBezTo>
                <a:lnTo>
                  <a:pt x="138745" y="297247"/>
                </a:lnTo>
                <a:cubicBezTo>
                  <a:pt x="143768" y="290103"/>
                  <a:pt x="151916" y="285862"/>
                  <a:pt x="160734" y="285862"/>
                </a:cubicBezTo>
                <a:cubicBezTo>
                  <a:pt x="169553" y="285862"/>
                  <a:pt x="177701" y="290103"/>
                  <a:pt x="182724" y="297247"/>
                </a:cubicBezTo>
                <a:lnTo>
                  <a:pt x="212192" y="339439"/>
                </a:lnTo>
                <a:lnTo>
                  <a:pt x="280727" y="227260"/>
                </a:lnTo>
                <a:cubicBezTo>
                  <a:pt x="285638" y="219335"/>
                  <a:pt x="294234" y="214424"/>
                  <a:pt x="303609" y="214424"/>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8553287" y="2362042"/>
            <a:ext cx="10287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图片生成</a:t>
            </a:r>
            <a:endParaRPr lang="en-US" sz="1100"/>
          </a:p>
        </p:txBody>
      </p:sp>
      <p:sp>
        <p:nvSpPr>
          <p:cNvPr id="10" name="AutoShape 10"/>
          <p:cNvSpPr/>
          <p:nvPr/>
        </p:nvSpPr>
        <p:spPr>
          <a:xfrm>
            <a:off x="7962467" y="2781058"/>
            <a:ext cx="209550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绘画、设计、摄影、插画...</a:t>
            </a:r>
            <a:endParaRPr lang="en-US" sz="1100"/>
          </a:p>
        </p:txBody>
      </p:sp>
      <p:sp>
        <p:nvSpPr>
          <p:cNvPr id="11" name="Freeform 11"/>
          <p:cNvSpPr/>
          <p:nvPr/>
        </p:nvSpPr>
        <p:spPr>
          <a:xfrm>
            <a:off x="381000" y="3580805"/>
            <a:ext cx="5600700" cy="2095500"/>
          </a:xfrm>
          <a:custGeom>
            <a:avLst/>
            <a:gdLst/>
            <a:ahLst/>
            <a:cxnLst/>
            <a:rect l="l" t="t" r="r" b="b"/>
            <a:pathLst>
              <a:path w="5600700" h="2095500">
                <a:moveTo>
                  <a:pt x="152406" y="0"/>
                </a:moveTo>
                <a:lnTo>
                  <a:pt x="5448294" y="0"/>
                </a:lnTo>
                <a:cubicBezTo>
                  <a:pt x="5532410" y="0"/>
                  <a:pt x="5600700" y="68290"/>
                  <a:pt x="5600700" y="152406"/>
                </a:cubicBezTo>
                <a:lnTo>
                  <a:pt x="5600700" y="1943094"/>
                </a:lnTo>
                <a:cubicBezTo>
                  <a:pt x="5600700" y="2027210"/>
                  <a:pt x="5532410" y="2095500"/>
                  <a:pt x="5448294" y="2095500"/>
                </a:cubicBezTo>
                <a:lnTo>
                  <a:pt x="152406" y="2095500"/>
                </a:lnTo>
                <a:cubicBezTo>
                  <a:pt x="68290" y="2095500"/>
                  <a:pt x="0" y="2027210"/>
                  <a:pt x="0" y="1943094"/>
                </a:cubicBezTo>
                <a:lnTo>
                  <a:pt x="0" y="152406"/>
                </a:lnTo>
                <a:cubicBezTo>
                  <a:pt x="0" y="68290"/>
                  <a:pt x="68290" y="0"/>
                  <a:pt x="152406"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2895519" y="3901361"/>
            <a:ext cx="535781" cy="537233"/>
          </a:xfrm>
          <a:custGeom>
            <a:avLst/>
            <a:gdLst/>
            <a:ahLst/>
            <a:cxnLst/>
            <a:rect l="l" t="t" r="r" b="b"/>
            <a:pathLst>
              <a:path w="535781" h="537233">
                <a:moveTo>
                  <a:pt x="522387" y="9265"/>
                </a:moveTo>
                <a:cubicBezTo>
                  <a:pt x="530870" y="16074"/>
                  <a:pt x="535781" y="26344"/>
                  <a:pt x="535781" y="37171"/>
                </a:cubicBezTo>
                <a:lnTo>
                  <a:pt x="535781" y="376500"/>
                </a:lnTo>
                <a:cubicBezTo>
                  <a:pt x="535781" y="425835"/>
                  <a:pt x="487784" y="465796"/>
                  <a:pt x="428625" y="465796"/>
                </a:cubicBezTo>
                <a:cubicBezTo>
                  <a:pt x="369466" y="465796"/>
                  <a:pt x="321469" y="425835"/>
                  <a:pt x="321469" y="376500"/>
                </a:cubicBezTo>
                <a:cubicBezTo>
                  <a:pt x="321469" y="327163"/>
                  <a:pt x="369466" y="287202"/>
                  <a:pt x="428625" y="287202"/>
                </a:cubicBezTo>
                <a:cubicBezTo>
                  <a:pt x="441127" y="287202"/>
                  <a:pt x="453182" y="288988"/>
                  <a:pt x="464344" y="292337"/>
                </a:cubicBezTo>
                <a:lnTo>
                  <a:pt x="464344" y="162075"/>
                </a:lnTo>
                <a:lnTo>
                  <a:pt x="214313" y="217662"/>
                </a:lnTo>
                <a:lnTo>
                  <a:pt x="214313" y="447936"/>
                </a:lnTo>
                <a:cubicBezTo>
                  <a:pt x="214313" y="497273"/>
                  <a:pt x="166315" y="537233"/>
                  <a:pt x="107156" y="537233"/>
                </a:cubicBezTo>
                <a:cubicBezTo>
                  <a:pt x="47997" y="537233"/>
                  <a:pt x="0" y="497273"/>
                  <a:pt x="0" y="447936"/>
                </a:cubicBezTo>
                <a:cubicBezTo>
                  <a:pt x="0" y="398600"/>
                  <a:pt x="47997" y="358639"/>
                  <a:pt x="107156" y="358639"/>
                </a:cubicBezTo>
                <a:cubicBezTo>
                  <a:pt x="119658" y="358639"/>
                  <a:pt x="131713" y="360425"/>
                  <a:pt x="142875" y="363774"/>
                </a:cubicBezTo>
                <a:lnTo>
                  <a:pt x="142875" y="108608"/>
                </a:lnTo>
                <a:cubicBezTo>
                  <a:pt x="142875" y="91865"/>
                  <a:pt x="154484" y="77354"/>
                  <a:pt x="170892" y="73782"/>
                </a:cubicBezTo>
                <a:lnTo>
                  <a:pt x="492361" y="2345"/>
                </a:lnTo>
                <a:cubicBezTo>
                  <a:pt x="502964" y="0"/>
                  <a:pt x="514015" y="2568"/>
                  <a:pt x="522498" y="9377"/>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2724096" y="4664813"/>
            <a:ext cx="10287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声音生成</a:t>
            </a:r>
            <a:endParaRPr lang="en-US" sz="1100"/>
          </a:p>
        </p:txBody>
      </p:sp>
      <p:sp>
        <p:nvSpPr>
          <p:cNvPr id="14" name="AutoShape 14"/>
          <p:cNvSpPr/>
          <p:nvPr/>
        </p:nvSpPr>
        <p:spPr>
          <a:xfrm>
            <a:off x="2133140" y="5083829"/>
            <a:ext cx="209550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音乐、配音、音效、语音...</a:t>
            </a:r>
            <a:endParaRPr lang="en-US" sz="1100"/>
          </a:p>
        </p:txBody>
      </p:sp>
      <p:sp>
        <p:nvSpPr>
          <p:cNvPr id="15" name="Freeform 15"/>
          <p:cNvSpPr/>
          <p:nvPr/>
        </p:nvSpPr>
        <p:spPr>
          <a:xfrm>
            <a:off x="6218850" y="3589464"/>
            <a:ext cx="5579918" cy="2074718"/>
          </a:xfrm>
          <a:custGeom>
            <a:avLst/>
            <a:gdLst/>
            <a:ahLst/>
            <a:cxnLst/>
            <a:rect l="l" t="t" r="r" b="b"/>
            <a:pathLst>
              <a:path w="5579918" h="2074718">
                <a:moveTo>
                  <a:pt x="152409" y="0"/>
                </a:moveTo>
                <a:lnTo>
                  <a:pt x="5427509" y="0"/>
                </a:lnTo>
                <a:cubicBezTo>
                  <a:pt x="5511682" y="0"/>
                  <a:pt x="5579918" y="68236"/>
                  <a:pt x="5579918" y="152409"/>
                </a:cubicBezTo>
                <a:lnTo>
                  <a:pt x="5579918" y="1922309"/>
                </a:lnTo>
                <a:cubicBezTo>
                  <a:pt x="5579918" y="2006482"/>
                  <a:pt x="5511682" y="2074718"/>
                  <a:pt x="5427509" y="2074718"/>
                </a:cubicBezTo>
                <a:lnTo>
                  <a:pt x="152409" y="2074718"/>
                </a:lnTo>
                <a:cubicBezTo>
                  <a:pt x="68236" y="2074718"/>
                  <a:pt x="0" y="2006482"/>
                  <a:pt x="0" y="1922309"/>
                </a:cubicBezTo>
                <a:lnTo>
                  <a:pt x="0" y="152409"/>
                </a:lnTo>
                <a:cubicBezTo>
                  <a:pt x="0" y="68292"/>
                  <a:pt x="68292" y="0"/>
                  <a:pt x="152409"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6" name="Freeform 16"/>
          <p:cNvSpPr/>
          <p:nvPr/>
        </p:nvSpPr>
        <p:spPr>
          <a:xfrm>
            <a:off x="8724846" y="3974251"/>
            <a:ext cx="607219" cy="428625"/>
          </a:xfrm>
          <a:custGeom>
            <a:avLst/>
            <a:gdLst/>
            <a:ahLst/>
            <a:cxnLst/>
            <a:rect l="l" t="t" r="r" b="b"/>
            <a:pathLst>
              <a:path w="607219" h="428625">
                <a:moveTo>
                  <a:pt x="71437" y="0"/>
                </a:moveTo>
                <a:cubicBezTo>
                  <a:pt x="32036" y="0"/>
                  <a:pt x="0" y="32035"/>
                  <a:pt x="0" y="71437"/>
                </a:cubicBezTo>
                <a:lnTo>
                  <a:pt x="0" y="357187"/>
                </a:lnTo>
                <a:cubicBezTo>
                  <a:pt x="0" y="396589"/>
                  <a:pt x="32036" y="428625"/>
                  <a:pt x="71437" y="428625"/>
                </a:cubicBezTo>
                <a:lnTo>
                  <a:pt x="357187" y="428625"/>
                </a:lnTo>
                <a:cubicBezTo>
                  <a:pt x="396589" y="428625"/>
                  <a:pt x="428625" y="396589"/>
                  <a:pt x="428625" y="357187"/>
                </a:cubicBezTo>
                <a:lnTo>
                  <a:pt x="428625" y="71437"/>
                </a:lnTo>
                <a:cubicBezTo>
                  <a:pt x="428625" y="32035"/>
                  <a:pt x="396589" y="0"/>
                  <a:pt x="357187" y="0"/>
                </a:cubicBezTo>
                <a:lnTo>
                  <a:pt x="71437" y="0"/>
                </a:lnTo>
                <a:close/>
                <a:moveTo>
                  <a:pt x="482204" y="303610"/>
                </a:moveTo>
                <a:lnTo>
                  <a:pt x="564244" y="369242"/>
                </a:lnTo>
                <a:cubicBezTo>
                  <a:pt x="568932" y="373037"/>
                  <a:pt x="574737" y="375046"/>
                  <a:pt x="580764" y="375046"/>
                </a:cubicBezTo>
                <a:cubicBezTo>
                  <a:pt x="595387" y="375046"/>
                  <a:pt x="607218" y="363214"/>
                  <a:pt x="607218" y="348592"/>
                </a:cubicBezTo>
                <a:lnTo>
                  <a:pt x="607218" y="80032"/>
                </a:lnTo>
                <a:cubicBezTo>
                  <a:pt x="607218" y="65410"/>
                  <a:pt x="595387" y="53578"/>
                  <a:pt x="580764" y="53578"/>
                </a:cubicBezTo>
                <a:cubicBezTo>
                  <a:pt x="574737" y="53578"/>
                  <a:pt x="568932" y="55587"/>
                  <a:pt x="564244" y="59382"/>
                </a:cubicBezTo>
                <a:lnTo>
                  <a:pt x="482204" y="125014"/>
                </a:lnTo>
                <a:lnTo>
                  <a:pt x="482204" y="30361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8553287" y="4664813"/>
            <a:ext cx="10287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视频生成</a:t>
            </a:r>
            <a:endParaRPr lang="en-US" sz="1100"/>
          </a:p>
        </p:txBody>
      </p:sp>
      <p:sp>
        <p:nvSpPr>
          <p:cNvPr id="18" name="AutoShape 18"/>
          <p:cNvSpPr/>
          <p:nvPr/>
        </p:nvSpPr>
        <p:spPr>
          <a:xfrm>
            <a:off x="7962467" y="5083829"/>
            <a:ext cx="209550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动画、短片、特效、剪辑...</a:t>
            </a:r>
            <a:endParaRPr lang="en-US" sz="1100"/>
          </a:p>
        </p:txBody>
      </p:sp>
      <p:sp>
        <p:nvSpPr>
          <p:cNvPr id="19" name="Freeform 19"/>
          <p:cNvSpPr/>
          <p:nvPr/>
        </p:nvSpPr>
        <p:spPr>
          <a:xfrm>
            <a:off x="381000" y="5900896"/>
            <a:ext cx="11430000" cy="571500"/>
          </a:xfrm>
          <a:custGeom>
            <a:avLst/>
            <a:gdLst/>
            <a:ahLst/>
            <a:cxnLst/>
            <a:rect l="l" t="t" r="r" b="b"/>
            <a:pathLst>
              <a:path w="11430000" h="571500">
                <a:moveTo>
                  <a:pt x="76197" y="0"/>
                </a:moveTo>
                <a:lnTo>
                  <a:pt x="11353803" y="0"/>
                </a:lnTo>
                <a:cubicBezTo>
                  <a:pt x="11395885" y="0"/>
                  <a:pt x="11430000" y="34115"/>
                  <a:pt x="11430000" y="76197"/>
                </a:cubicBezTo>
                <a:lnTo>
                  <a:pt x="11430000" y="495303"/>
                </a:lnTo>
                <a:cubicBezTo>
                  <a:pt x="11430000" y="537385"/>
                  <a:pt x="11395885" y="571500"/>
                  <a:pt x="11353803" y="571500"/>
                </a:cubicBezTo>
                <a:lnTo>
                  <a:pt x="76197" y="571500"/>
                </a:lnTo>
                <a:cubicBezTo>
                  <a:pt x="34115" y="571500"/>
                  <a:pt x="0" y="537385"/>
                  <a:pt x="0" y="495303"/>
                </a:cubicBezTo>
                <a:lnTo>
                  <a:pt x="0" y="76197"/>
                </a:lnTo>
                <a:cubicBezTo>
                  <a:pt x="0" y="34115"/>
                  <a:pt x="34115" y="0"/>
                  <a:pt x="76197"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609519" y="6055547"/>
            <a:ext cx="66706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多模态（Multimodal）</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能同时理解并生成文字、图片、声音、视频等多种内容</a:t>
            </a:r>
            <a:endParaRPr lang="en-US" sz="1100"/>
          </a:p>
        </p:txBody>
      </p:sp>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核心原理：预测游戏</a:t>
            </a:r>
            <a:endParaRPr lang="en-US" sz="1100"/>
          </a:p>
        </p:txBody>
      </p:sp>
      <p:sp>
        <p:nvSpPr>
          <p:cNvPr id="3" name="AutoShape 3"/>
          <p:cNvSpPr/>
          <p:nvPr/>
        </p:nvSpPr>
        <p:spPr>
          <a:xfrm>
            <a:off x="3317920" y="1853319"/>
            <a:ext cx="5553075"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大模型的核心能力就是"词语接龙"——预测下一个最可能出现的词</a:t>
            </a:r>
            <a:endParaRPr lang="en-US" sz="1100"/>
          </a:p>
        </p:txBody>
      </p:sp>
      <p:sp>
        <p:nvSpPr>
          <p:cNvPr id="4" name="Freeform 4"/>
          <p:cNvSpPr/>
          <p:nvPr/>
        </p:nvSpPr>
        <p:spPr>
          <a:xfrm>
            <a:off x="2109030" y="2554570"/>
            <a:ext cx="1181100" cy="723900"/>
          </a:xfrm>
          <a:custGeom>
            <a:avLst/>
            <a:gdLst/>
            <a:ahLst/>
            <a:cxnLst/>
            <a:rect l="l" t="t" r="r" b="b"/>
            <a:pathLst>
              <a:path w="1181100" h="723900">
                <a:moveTo>
                  <a:pt x="114297" y="0"/>
                </a:moveTo>
                <a:lnTo>
                  <a:pt x="1066803" y="0"/>
                </a:lnTo>
                <a:cubicBezTo>
                  <a:pt x="1129928" y="0"/>
                  <a:pt x="1181100" y="51172"/>
                  <a:pt x="1181100" y="114297"/>
                </a:cubicBezTo>
                <a:lnTo>
                  <a:pt x="1181100" y="609603"/>
                </a:lnTo>
                <a:cubicBezTo>
                  <a:pt x="1181100" y="672728"/>
                  <a:pt x="1129928" y="723900"/>
                  <a:pt x="1066803" y="723900"/>
                </a:cubicBezTo>
                <a:lnTo>
                  <a:pt x="114297" y="723900"/>
                </a:lnTo>
                <a:cubicBezTo>
                  <a:pt x="51172" y="723900"/>
                  <a:pt x="0" y="672728"/>
                  <a:pt x="0" y="609603"/>
                </a:cubicBezTo>
                <a:lnTo>
                  <a:pt x="0" y="114297"/>
                </a:lnTo>
                <a:cubicBezTo>
                  <a:pt x="0" y="51172"/>
                  <a:pt x="51172" y="0"/>
                  <a:pt x="114297"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2109030" y="2554570"/>
            <a:ext cx="1323975" cy="723900"/>
          </a:xfrm>
          <a:prstGeom prst="rect">
            <a:avLst/>
          </a:prstGeom>
          <a:noFill/>
          <a:ln w="12700">
            <a:noFill/>
            <a:prstDash val="solid"/>
          </a:ln>
        </p:spPr>
        <p:txBody>
          <a:bodyPr wrap="square" lIns="304800" tIns="190500" rIns="304800" bIns="190500" rtlCol="0" anchor="ctr">
            <a:noAutofit/>
          </a:bodyPr>
          <a:lstStyle/>
          <a:p>
            <a:pPr indent="0" algn="l">
              <a:lnSpc>
                <a:spcPct val="100000"/>
              </a:lnSpc>
              <a:defRPr/>
            </a:pPr>
            <a:r>
              <a:rPr lang="en-US" sz="2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人工</a:t>
            </a:r>
            <a:endParaRPr lang="en-US" sz="1100"/>
          </a:p>
        </p:txBody>
      </p:sp>
      <p:sp>
        <p:nvSpPr>
          <p:cNvPr id="6" name="Freeform 6"/>
          <p:cNvSpPr/>
          <p:nvPr/>
        </p:nvSpPr>
        <p:spPr>
          <a:xfrm>
            <a:off x="3480359" y="2807550"/>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5" y="6976"/>
                </a:cubicBezTo>
                <a:cubicBezTo>
                  <a:pt x="158948" y="13952"/>
                  <a:pt x="158948" y="25282"/>
                  <a:pt x="165925" y="32258"/>
                </a:cubicBezTo>
                <a:lnTo>
                  <a:pt x="224749" y="91083"/>
                </a:lnTo>
                <a:lnTo>
                  <a:pt x="17859" y="91083"/>
                </a:lnTo>
                <a:cubicBezTo>
                  <a:pt x="7981" y="91083"/>
                  <a:pt x="0" y="99064"/>
                  <a:pt x="0" y="108942"/>
                </a:cubicBezTo>
                <a:cubicBezTo>
                  <a:pt x="0" y="118820"/>
                  <a:pt x="7981" y="126801"/>
                  <a:pt x="17859" y="126801"/>
                </a:cubicBezTo>
                <a:lnTo>
                  <a:pt x="224749" y="126801"/>
                </a:lnTo>
                <a:lnTo>
                  <a:pt x="165925" y="185626"/>
                </a:lnTo>
                <a:cubicBezTo>
                  <a:pt x="158948" y="192602"/>
                  <a:pt x="158948" y="203932"/>
                  <a:pt x="165925"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3951793" y="2554570"/>
            <a:ext cx="1181100" cy="723900"/>
          </a:xfrm>
          <a:custGeom>
            <a:avLst/>
            <a:gdLst/>
            <a:ahLst/>
            <a:cxnLst/>
            <a:rect l="l" t="t" r="r" b="b"/>
            <a:pathLst>
              <a:path w="1181100" h="723900">
                <a:moveTo>
                  <a:pt x="114297" y="0"/>
                </a:moveTo>
                <a:lnTo>
                  <a:pt x="1066803" y="0"/>
                </a:lnTo>
                <a:cubicBezTo>
                  <a:pt x="1129928" y="0"/>
                  <a:pt x="1181100" y="51172"/>
                  <a:pt x="1181100" y="114297"/>
                </a:cubicBezTo>
                <a:lnTo>
                  <a:pt x="1181100" y="609603"/>
                </a:lnTo>
                <a:cubicBezTo>
                  <a:pt x="1181100" y="672728"/>
                  <a:pt x="1129928" y="723900"/>
                  <a:pt x="1066803" y="723900"/>
                </a:cubicBezTo>
                <a:lnTo>
                  <a:pt x="114297" y="723900"/>
                </a:lnTo>
                <a:cubicBezTo>
                  <a:pt x="51172" y="723900"/>
                  <a:pt x="0" y="672728"/>
                  <a:pt x="0" y="609603"/>
                </a:cubicBezTo>
                <a:lnTo>
                  <a:pt x="0" y="114297"/>
                </a:lnTo>
                <a:cubicBezTo>
                  <a:pt x="0" y="51172"/>
                  <a:pt x="51172" y="0"/>
                  <a:pt x="114297"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3951793" y="2554570"/>
            <a:ext cx="1323975" cy="723900"/>
          </a:xfrm>
          <a:prstGeom prst="rect">
            <a:avLst/>
          </a:prstGeom>
          <a:noFill/>
          <a:ln w="12700">
            <a:noFill/>
            <a:prstDash val="solid"/>
          </a:ln>
        </p:spPr>
        <p:txBody>
          <a:bodyPr wrap="square" lIns="304800" tIns="190500" rIns="304800" bIns="190500" rtlCol="0" anchor="ctr">
            <a:noAutofit/>
          </a:bodyPr>
          <a:lstStyle/>
          <a:p>
            <a:pPr indent="0" algn="l">
              <a:lnSpc>
                <a:spcPct val="100000"/>
              </a:lnSpc>
              <a:defRPr/>
            </a:pPr>
            <a:r>
              <a:rPr lang="en-US" sz="2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智能</a:t>
            </a:r>
            <a:endParaRPr lang="en-US" sz="1100"/>
          </a:p>
        </p:txBody>
      </p:sp>
      <p:sp>
        <p:nvSpPr>
          <p:cNvPr id="9" name="Freeform 9"/>
          <p:cNvSpPr/>
          <p:nvPr/>
        </p:nvSpPr>
        <p:spPr>
          <a:xfrm>
            <a:off x="5323122" y="2807550"/>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5794555" y="2554570"/>
            <a:ext cx="895350" cy="723900"/>
          </a:xfrm>
          <a:custGeom>
            <a:avLst/>
            <a:gdLst/>
            <a:ahLst/>
            <a:cxnLst/>
            <a:rect l="l" t="t" r="r" b="b"/>
            <a:pathLst>
              <a:path w="895350" h="723900">
                <a:moveTo>
                  <a:pt x="114297" y="0"/>
                </a:moveTo>
                <a:lnTo>
                  <a:pt x="781053" y="0"/>
                </a:lnTo>
                <a:cubicBezTo>
                  <a:pt x="844178" y="0"/>
                  <a:pt x="895350" y="51172"/>
                  <a:pt x="895350" y="114297"/>
                </a:cubicBezTo>
                <a:lnTo>
                  <a:pt x="895350" y="609603"/>
                </a:lnTo>
                <a:cubicBezTo>
                  <a:pt x="895350" y="672728"/>
                  <a:pt x="844178" y="723900"/>
                  <a:pt x="781053" y="723900"/>
                </a:cubicBezTo>
                <a:lnTo>
                  <a:pt x="114297" y="723900"/>
                </a:lnTo>
                <a:cubicBezTo>
                  <a:pt x="51172" y="723900"/>
                  <a:pt x="0" y="672728"/>
                  <a:pt x="0" y="609603"/>
                </a:cubicBezTo>
                <a:lnTo>
                  <a:pt x="0" y="114297"/>
                </a:lnTo>
                <a:cubicBezTo>
                  <a:pt x="0" y="51172"/>
                  <a:pt x="51172" y="0"/>
                  <a:pt x="114297"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5794555" y="2554570"/>
            <a:ext cx="1038225" cy="723900"/>
          </a:xfrm>
          <a:prstGeom prst="rect">
            <a:avLst/>
          </a:prstGeom>
          <a:noFill/>
          <a:ln w="12700">
            <a:noFill/>
            <a:prstDash val="solid"/>
          </a:ln>
        </p:spPr>
        <p:txBody>
          <a:bodyPr wrap="square" lIns="304800" tIns="190500" rIns="304800" bIns="190500" rtlCol="0" anchor="ctr">
            <a:noAutofit/>
          </a:bodyPr>
          <a:lstStyle/>
          <a:p>
            <a:pPr indent="0" algn="l">
              <a:lnSpc>
                <a:spcPct val="100000"/>
              </a:lnSpc>
              <a:defRPr/>
            </a:pPr>
            <a:r>
              <a:rPr lang="en-US" sz="2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是</a:t>
            </a:r>
            <a:endParaRPr lang="en-US" sz="1100"/>
          </a:p>
        </p:txBody>
      </p:sp>
      <p:sp>
        <p:nvSpPr>
          <p:cNvPr id="12" name="Freeform 12"/>
          <p:cNvSpPr/>
          <p:nvPr/>
        </p:nvSpPr>
        <p:spPr>
          <a:xfrm>
            <a:off x="6880135" y="2807550"/>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7351568" y="2554570"/>
            <a:ext cx="895350" cy="723900"/>
          </a:xfrm>
          <a:custGeom>
            <a:avLst/>
            <a:gdLst/>
            <a:ahLst/>
            <a:cxnLst/>
            <a:rect l="l" t="t" r="r" b="b"/>
            <a:pathLst>
              <a:path w="895350" h="723900">
                <a:moveTo>
                  <a:pt x="114297" y="0"/>
                </a:moveTo>
                <a:lnTo>
                  <a:pt x="781053" y="0"/>
                </a:lnTo>
                <a:cubicBezTo>
                  <a:pt x="844178" y="0"/>
                  <a:pt x="895350" y="51172"/>
                  <a:pt x="895350" y="114297"/>
                </a:cubicBezTo>
                <a:lnTo>
                  <a:pt x="895350" y="609603"/>
                </a:lnTo>
                <a:cubicBezTo>
                  <a:pt x="895350" y="672728"/>
                  <a:pt x="844178" y="723900"/>
                  <a:pt x="781053" y="723900"/>
                </a:cubicBezTo>
                <a:lnTo>
                  <a:pt x="114297" y="723900"/>
                </a:lnTo>
                <a:cubicBezTo>
                  <a:pt x="51172" y="723900"/>
                  <a:pt x="0" y="672728"/>
                  <a:pt x="0" y="609603"/>
                </a:cubicBezTo>
                <a:lnTo>
                  <a:pt x="0" y="114297"/>
                </a:lnTo>
                <a:cubicBezTo>
                  <a:pt x="0" y="51172"/>
                  <a:pt x="51172" y="0"/>
                  <a:pt x="114297"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7351568" y="2554570"/>
            <a:ext cx="1038225" cy="723900"/>
          </a:xfrm>
          <a:prstGeom prst="rect">
            <a:avLst/>
          </a:prstGeom>
          <a:noFill/>
          <a:ln w="12700">
            <a:noFill/>
            <a:prstDash val="solid"/>
          </a:ln>
        </p:spPr>
        <p:txBody>
          <a:bodyPr wrap="square" lIns="304800" tIns="190500" rIns="304800" bIns="190500" rtlCol="0" anchor="ctr">
            <a:noAutofit/>
          </a:bodyPr>
          <a:lstStyle/>
          <a:p>
            <a:pPr indent="0" algn="l">
              <a:lnSpc>
                <a:spcPct val="100000"/>
              </a:lnSpc>
              <a:defRPr/>
            </a:pPr>
            <a:r>
              <a:rPr lang="en-US" sz="2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指</a:t>
            </a:r>
            <a:endParaRPr lang="en-US" sz="1100"/>
          </a:p>
        </p:txBody>
      </p:sp>
      <p:sp>
        <p:nvSpPr>
          <p:cNvPr id="15" name="Freeform 15"/>
          <p:cNvSpPr/>
          <p:nvPr/>
        </p:nvSpPr>
        <p:spPr>
          <a:xfrm>
            <a:off x="8437147" y="2807550"/>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5" y="6976"/>
                </a:cubicBezTo>
                <a:cubicBezTo>
                  <a:pt x="158948" y="13952"/>
                  <a:pt x="158948" y="25282"/>
                  <a:pt x="165925" y="32258"/>
                </a:cubicBezTo>
                <a:lnTo>
                  <a:pt x="224749" y="91083"/>
                </a:lnTo>
                <a:lnTo>
                  <a:pt x="17859" y="91083"/>
                </a:lnTo>
                <a:cubicBezTo>
                  <a:pt x="7981" y="91083"/>
                  <a:pt x="0" y="99064"/>
                  <a:pt x="0" y="108942"/>
                </a:cubicBezTo>
                <a:cubicBezTo>
                  <a:pt x="0" y="118820"/>
                  <a:pt x="7981" y="126801"/>
                  <a:pt x="17859" y="126801"/>
                </a:cubicBezTo>
                <a:lnTo>
                  <a:pt x="224749" y="126801"/>
                </a:lnTo>
                <a:lnTo>
                  <a:pt x="165925" y="185626"/>
                </a:lnTo>
                <a:cubicBezTo>
                  <a:pt x="158948" y="192602"/>
                  <a:pt x="158948" y="203932"/>
                  <a:pt x="165925"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8925899" y="2518310"/>
            <a:ext cx="1139535" cy="796635"/>
          </a:xfrm>
          <a:custGeom>
            <a:avLst/>
            <a:gdLst/>
            <a:ahLst/>
            <a:cxnLst/>
            <a:rect l="l" t="t" r="r" b="b"/>
            <a:pathLst>
              <a:path w="1139535" h="796635">
                <a:moveTo>
                  <a:pt x="114301" y="0"/>
                </a:moveTo>
                <a:lnTo>
                  <a:pt x="1025235" y="0"/>
                </a:lnTo>
                <a:cubicBezTo>
                  <a:pt x="1088362" y="0"/>
                  <a:pt x="1139535" y="51173"/>
                  <a:pt x="1139535" y="114301"/>
                </a:cubicBezTo>
                <a:lnTo>
                  <a:pt x="1139535" y="682335"/>
                </a:lnTo>
                <a:cubicBezTo>
                  <a:pt x="1139535" y="745462"/>
                  <a:pt x="1088362" y="796635"/>
                  <a:pt x="1025235" y="796635"/>
                </a:cubicBezTo>
                <a:lnTo>
                  <a:pt x="114301" y="796635"/>
                </a:lnTo>
                <a:cubicBezTo>
                  <a:pt x="51173" y="796635"/>
                  <a:pt x="0" y="745462"/>
                  <a:pt x="0" y="682335"/>
                </a:cubicBezTo>
                <a:lnTo>
                  <a:pt x="0" y="114301"/>
                </a:lnTo>
                <a:cubicBezTo>
                  <a:pt x="0" y="51173"/>
                  <a:pt x="51173" y="0"/>
                  <a:pt x="114301" y="0"/>
                </a:cubicBezTo>
                <a:close/>
              </a:path>
            </a:pathLst>
          </a:custGeom>
          <a:solidFill>
            <a:srgbClr val="1E90FF">
              <a:alpha val="100000"/>
            </a:srgbClr>
          </a:solidFill>
          <a:ln w="38100">
            <a:solidFill>
              <a:srgbClr val="1E90FF">
                <a:alpha val="100000"/>
              </a:srgbClr>
            </a:solidFill>
            <a:prstDash val="solid"/>
          </a:ln>
        </p:spPr>
        <p:txBody>
          <a:bodyPr wrap="square" lIns="91440" tIns="45720" rIns="91440" bIns="45720" rtlCol="0" anchor="t">
            <a:noAutofit/>
          </a:bodyPr>
          <a:lstStyle/>
          <a:p>
            <a:pPr algn="ctr">
              <a:defRPr/>
            </a:pPr>
          </a:p>
        </p:txBody>
      </p:sp>
      <p:sp>
        <p:nvSpPr>
          <p:cNvPr id="17" name="AutoShape 17"/>
          <p:cNvSpPr/>
          <p:nvPr/>
        </p:nvSpPr>
        <p:spPr>
          <a:xfrm>
            <a:off x="8908581" y="2500992"/>
            <a:ext cx="1276350" cy="762000"/>
          </a:xfrm>
          <a:prstGeom prst="rect">
            <a:avLst/>
          </a:prstGeom>
          <a:noFill/>
          <a:ln w="12700">
            <a:noFill/>
            <a:prstDash val="solid"/>
          </a:ln>
        </p:spPr>
        <p:txBody>
          <a:bodyPr wrap="square" lIns="381000" tIns="190500" rIns="381000" bIns="190500" rtlCol="0" anchor="ctr">
            <a:noAutofit/>
          </a:bodyPr>
          <a:lstStyle/>
          <a:p>
            <a:pPr indent="0" algn="l">
              <a:lnSpc>
                <a:spcPct val="92000"/>
              </a:lnSpc>
              <a:defRPr/>
            </a:pPr>
            <a:r>
              <a:rPr lang="en-US" sz="27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18" name="Freeform 18"/>
          <p:cNvSpPr/>
          <p:nvPr/>
        </p:nvSpPr>
        <p:spPr>
          <a:xfrm>
            <a:off x="4052860" y="3806614"/>
            <a:ext cx="1152525" cy="1104900"/>
          </a:xfrm>
          <a:custGeom>
            <a:avLst/>
            <a:gdLst/>
            <a:ahLst/>
            <a:cxnLst/>
            <a:rect l="l" t="t" r="r" b="b"/>
            <a:pathLst>
              <a:path w="1152525" h="1104900">
                <a:moveTo>
                  <a:pt x="114303" y="0"/>
                </a:moveTo>
                <a:lnTo>
                  <a:pt x="1038222" y="0"/>
                </a:lnTo>
                <a:cubicBezTo>
                  <a:pt x="1101350" y="0"/>
                  <a:pt x="1152525" y="51175"/>
                  <a:pt x="1152525" y="114303"/>
                </a:cubicBezTo>
                <a:lnTo>
                  <a:pt x="1152525" y="990597"/>
                </a:lnTo>
                <a:cubicBezTo>
                  <a:pt x="1152525" y="1053725"/>
                  <a:pt x="1101350" y="1104900"/>
                  <a:pt x="1038222" y="1104900"/>
                </a:cubicBezTo>
                <a:lnTo>
                  <a:pt x="114303" y="1104900"/>
                </a:lnTo>
                <a:cubicBezTo>
                  <a:pt x="51175" y="1104900"/>
                  <a:pt x="0" y="1053725"/>
                  <a:pt x="0" y="990597"/>
                </a:cubicBezTo>
                <a:lnTo>
                  <a:pt x="0" y="114303"/>
                </a:lnTo>
                <a:cubicBezTo>
                  <a:pt x="0" y="51217"/>
                  <a:pt x="51217" y="0"/>
                  <a:pt x="114303"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4281170" y="3959225"/>
            <a:ext cx="90678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候选词1 </a:t>
            </a:r>
            <a:r>
              <a:rPr lang="en-US" sz="16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20" name="AutoShape 20"/>
          <p:cNvSpPr/>
          <p:nvPr/>
        </p:nvSpPr>
        <p:spPr>
          <a:xfrm>
            <a:off x="4281379" y="4225500"/>
            <a:ext cx="80962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计算机</a:t>
            </a:r>
            <a:endParaRPr lang="en-US" sz="1100"/>
          </a:p>
        </p:txBody>
      </p:sp>
      <p:sp>
        <p:nvSpPr>
          <p:cNvPr id="21" name="AutoShape 21"/>
          <p:cNvSpPr/>
          <p:nvPr/>
        </p:nvSpPr>
        <p:spPr>
          <a:xfrm>
            <a:off x="4281379" y="4530328"/>
            <a:ext cx="771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概率: 45%</a:t>
            </a:r>
            <a:endParaRPr lang="en-US" sz="1100"/>
          </a:p>
        </p:txBody>
      </p:sp>
      <p:sp>
        <p:nvSpPr>
          <p:cNvPr id="22" name="Freeform 22"/>
          <p:cNvSpPr/>
          <p:nvPr/>
        </p:nvSpPr>
        <p:spPr>
          <a:xfrm>
            <a:off x="5429520" y="3806614"/>
            <a:ext cx="1152525" cy="1104900"/>
          </a:xfrm>
          <a:custGeom>
            <a:avLst/>
            <a:gdLst/>
            <a:ahLst/>
            <a:cxnLst/>
            <a:rect l="l" t="t" r="r" b="b"/>
            <a:pathLst>
              <a:path w="1152525" h="1104900">
                <a:moveTo>
                  <a:pt x="114303" y="0"/>
                </a:moveTo>
                <a:lnTo>
                  <a:pt x="1038222" y="0"/>
                </a:lnTo>
                <a:cubicBezTo>
                  <a:pt x="1101350" y="0"/>
                  <a:pt x="1152525" y="51175"/>
                  <a:pt x="1152525" y="114303"/>
                </a:cubicBezTo>
                <a:lnTo>
                  <a:pt x="1152525" y="990597"/>
                </a:lnTo>
                <a:cubicBezTo>
                  <a:pt x="1152525" y="1053725"/>
                  <a:pt x="1101350" y="1104900"/>
                  <a:pt x="1038222" y="1104900"/>
                </a:cubicBezTo>
                <a:lnTo>
                  <a:pt x="114303" y="1104900"/>
                </a:lnTo>
                <a:cubicBezTo>
                  <a:pt x="51175" y="1104900"/>
                  <a:pt x="0" y="1053725"/>
                  <a:pt x="0" y="990597"/>
                </a:cubicBezTo>
                <a:lnTo>
                  <a:pt x="0" y="114303"/>
                </a:lnTo>
                <a:cubicBezTo>
                  <a:pt x="0" y="51217"/>
                  <a:pt x="51217" y="0"/>
                  <a:pt x="114303"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5658039" y="3958968"/>
            <a:ext cx="78105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候选词2</a:t>
            </a:r>
            <a:endParaRPr lang="en-US" sz="1100"/>
          </a:p>
        </p:txBody>
      </p:sp>
      <p:sp>
        <p:nvSpPr>
          <p:cNvPr id="24" name="AutoShape 24"/>
          <p:cNvSpPr/>
          <p:nvPr/>
        </p:nvSpPr>
        <p:spPr>
          <a:xfrm>
            <a:off x="5658039" y="4225500"/>
            <a:ext cx="80962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一种</a:t>
            </a:r>
            <a:endParaRPr lang="en-US" sz="1100"/>
          </a:p>
        </p:txBody>
      </p:sp>
      <p:sp>
        <p:nvSpPr>
          <p:cNvPr id="25" name="AutoShape 25"/>
          <p:cNvSpPr/>
          <p:nvPr/>
        </p:nvSpPr>
        <p:spPr>
          <a:xfrm>
            <a:off x="5658039" y="4530328"/>
            <a:ext cx="771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概率: 30%</a:t>
            </a:r>
            <a:endParaRPr lang="en-US" sz="1100"/>
          </a:p>
        </p:txBody>
      </p:sp>
      <p:sp>
        <p:nvSpPr>
          <p:cNvPr id="26" name="Freeform 26"/>
          <p:cNvSpPr/>
          <p:nvPr/>
        </p:nvSpPr>
        <p:spPr>
          <a:xfrm>
            <a:off x="6819710" y="3797963"/>
            <a:ext cx="1312718" cy="1122218"/>
          </a:xfrm>
          <a:custGeom>
            <a:avLst/>
            <a:gdLst/>
            <a:ahLst/>
            <a:cxnLst/>
            <a:rect l="l" t="t" r="r" b="b"/>
            <a:pathLst>
              <a:path w="1312718" h="1122218">
                <a:moveTo>
                  <a:pt x="114297" y="0"/>
                </a:moveTo>
                <a:lnTo>
                  <a:pt x="1198420" y="0"/>
                </a:lnTo>
                <a:cubicBezTo>
                  <a:pt x="1261546" y="0"/>
                  <a:pt x="1312718" y="51173"/>
                  <a:pt x="1312718" y="114297"/>
                </a:cubicBezTo>
                <a:lnTo>
                  <a:pt x="1312718" y="1007920"/>
                </a:lnTo>
                <a:cubicBezTo>
                  <a:pt x="1312718" y="1071046"/>
                  <a:pt x="1261546" y="1122218"/>
                  <a:pt x="1198420" y="1122218"/>
                </a:cubicBezTo>
                <a:lnTo>
                  <a:pt x="114297" y="1122218"/>
                </a:lnTo>
                <a:cubicBezTo>
                  <a:pt x="51173" y="1122218"/>
                  <a:pt x="0" y="1071046"/>
                  <a:pt x="0" y="1007920"/>
                </a:cubicBezTo>
                <a:lnTo>
                  <a:pt x="0" y="114297"/>
                </a:lnTo>
                <a:cubicBezTo>
                  <a:pt x="0" y="51215"/>
                  <a:pt x="51215" y="0"/>
                  <a:pt x="114297"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7" name="AutoShape 27"/>
          <p:cNvSpPr/>
          <p:nvPr/>
        </p:nvSpPr>
        <p:spPr>
          <a:xfrm>
            <a:off x="7056888" y="3958968"/>
            <a:ext cx="9239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候选词3 </a:t>
            </a:r>
            <a:endParaRPr lang="en-US" sz="1100"/>
          </a:p>
        </p:txBody>
      </p:sp>
      <p:sp>
        <p:nvSpPr>
          <p:cNvPr id="28" name="AutoShape 28"/>
          <p:cNvSpPr/>
          <p:nvPr/>
        </p:nvSpPr>
        <p:spPr>
          <a:xfrm>
            <a:off x="7056888" y="4225500"/>
            <a:ext cx="9525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由</a:t>
            </a:r>
            <a:endParaRPr lang="en-US" sz="1100"/>
          </a:p>
        </p:txBody>
      </p:sp>
      <p:sp>
        <p:nvSpPr>
          <p:cNvPr id="29" name="AutoShape 29"/>
          <p:cNvSpPr/>
          <p:nvPr/>
        </p:nvSpPr>
        <p:spPr>
          <a:xfrm>
            <a:off x="7056888" y="4530328"/>
            <a:ext cx="9144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概率: 25%</a:t>
            </a:r>
            <a:endParaRPr lang="en-US" sz="1100"/>
          </a:p>
        </p:txBody>
      </p:sp>
      <p:sp>
        <p:nvSpPr>
          <p:cNvPr id="30" name="Freeform 30"/>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609519" y="5962594"/>
            <a:ext cx="66897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Autoregressive Generation（自回归生成）</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每次基于已生成内容预测下一个词</a:t>
            </a:r>
            <a:endParaRPr lang="en-US" sz="1100"/>
          </a:p>
        </p:txBody>
      </p:sp>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长距离依赖理解</a:t>
            </a:r>
            <a:endParaRPr lang="en-US" sz="1100"/>
          </a:p>
        </p:txBody>
      </p:sp>
      <p:sp>
        <p:nvSpPr>
          <p:cNvPr id="3" name="Freeform 3"/>
          <p:cNvSpPr/>
          <p:nvPr/>
        </p:nvSpPr>
        <p:spPr>
          <a:xfrm>
            <a:off x="381000" y="1603828"/>
            <a:ext cx="11430000" cy="1514475"/>
          </a:xfrm>
          <a:custGeom>
            <a:avLst/>
            <a:gdLst/>
            <a:ahLst/>
            <a:cxnLst/>
            <a:rect l="l" t="t" r="r" b="b"/>
            <a:pathLst>
              <a:path w="11430000" h="1514475">
                <a:moveTo>
                  <a:pt x="152403" y="0"/>
                </a:moveTo>
                <a:lnTo>
                  <a:pt x="11277597" y="0"/>
                </a:lnTo>
                <a:cubicBezTo>
                  <a:pt x="11361767" y="0"/>
                  <a:pt x="11430000" y="68233"/>
                  <a:pt x="11430000" y="152403"/>
                </a:cubicBezTo>
                <a:lnTo>
                  <a:pt x="11430000" y="1362072"/>
                </a:lnTo>
                <a:cubicBezTo>
                  <a:pt x="11430000" y="1446242"/>
                  <a:pt x="11361767" y="1514475"/>
                  <a:pt x="11277597" y="1514475"/>
                </a:cubicBezTo>
                <a:lnTo>
                  <a:pt x="152403" y="1514475"/>
                </a:lnTo>
                <a:cubicBezTo>
                  <a:pt x="68233" y="1514475"/>
                  <a:pt x="0" y="1446242"/>
                  <a:pt x="0" y="1362072"/>
                </a:cubicBezTo>
                <a:lnTo>
                  <a:pt x="0" y="152403"/>
                </a:lnTo>
                <a:cubicBezTo>
                  <a:pt x="0" y="68233"/>
                  <a:pt x="68233" y="0"/>
                  <a:pt x="152403"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85692" y="1908516"/>
            <a:ext cx="10960100" cy="90487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他养了一只 </a:t>
            </a:r>
            <a:r>
              <a:rPr lang="en-US" sz="2200" b="1" i="0" u="none" strike="noStrike">
                <a:solidFill>
                  <a:srgbClr val="FFFFFF"/>
                </a:solidFill>
                <a:highlight>
                  <a:srgbClr val="5B92E5">
                    <a:alpha val="100000"/>
                  </a:srgbClr>
                </a:highlight>
                <a:latin typeface="MiSans" panose="00000500000000000000" charset="-122"/>
                <a:ea typeface="MiSans" panose="00000500000000000000" charset="-122"/>
                <a:cs typeface="MiSans" panose="00000500000000000000" charset="-122"/>
                <a:sym typeface="MiSans" panose="00000500000000000000" charset="-122"/>
              </a:rPr>
              <a:t>猫 </a:t>
            </a: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，那只 </a:t>
            </a:r>
            <a:r>
              <a:rPr lang="en-US" sz="2200" b="1" i="0" u="none" strike="noStrike">
                <a:solidFill>
                  <a:srgbClr val="FFFFFF"/>
                </a:solidFill>
                <a:highlight>
                  <a:srgbClr val="5B92E5">
                    <a:alpha val="100000"/>
                  </a:srgbClr>
                </a:highlight>
                <a:latin typeface="MiSans" panose="00000500000000000000" charset="-122"/>
                <a:ea typeface="MiSans" panose="00000500000000000000" charset="-122"/>
                <a:cs typeface="MiSans" panose="00000500000000000000" charset="-122"/>
                <a:sym typeface="MiSans" panose="00000500000000000000" charset="-122"/>
              </a:rPr>
              <a:t>猫 </a:t>
            </a: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在他最孤独的、每天加班到深夜的、几乎要抑郁的那段日子里，一直默默地陪着他，真的很 </a:t>
            </a:r>
            <a:r>
              <a:rPr lang="en-US" sz="2200" b="1" i="0" u="none" strike="noStrike">
                <a:solidFill>
                  <a:srgbClr val="FFFFFF"/>
                </a:solidFill>
                <a:highlight>
                  <a:srgbClr val="1E90FF">
                    <a:alpha val="100000"/>
                  </a:srgbClr>
                </a:highlight>
                <a:latin typeface="MiSans" panose="00000500000000000000" charset="-122"/>
                <a:ea typeface="MiSans" panose="00000500000000000000" charset="-122"/>
                <a:cs typeface="MiSans" panose="00000500000000000000" charset="-122"/>
                <a:sym typeface="MiSans" panose="00000500000000000000" charset="-122"/>
              </a:rPr>
              <a:t>可爱 </a:t>
            </a: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5" name="Freeform 5"/>
          <p:cNvSpPr/>
          <p:nvPr/>
        </p:nvSpPr>
        <p:spPr>
          <a:xfrm>
            <a:off x="3610029" y="3425754"/>
            <a:ext cx="762000" cy="762000"/>
          </a:xfrm>
          <a:custGeom>
            <a:avLst/>
            <a:gdLst/>
            <a:ahLst/>
            <a:cxnLst/>
            <a:rect l="l" t="t" r="r" b="b"/>
            <a:pathLst>
              <a:path w="762000" h="762000">
                <a:moveTo>
                  <a:pt x="381000" y="0"/>
                </a:moveTo>
                <a:lnTo>
                  <a:pt x="381000" y="0"/>
                </a:lnTo>
                <a:cubicBezTo>
                  <a:pt x="591280" y="0"/>
                  <a:pt x="762000" y="170720"/>
                  <a:pt x="762000" y="381000"/>
                </a:cubicBezTo>
                <a:lnTo>
                  <a:pt x="762000" y="381000"/>
                </a:lnTo>
                <a:cubicBezTo>
                  <a:pt x="762000" y="591280"/>
                  <a:pt x="591280" y="762000"/>
                  <a:pt x="381000" y="762000"/>
                </a:cubicBezTo>
                <a:lnTo>
                  <a:pt x="381000" y="762000"/>
                </a:lnTo>
                <a:cubicBezTo>
                  <a:pt x="170720" y="762000"/>
                  <a:pt x="0" y="591280"/>
                  <a:pt x="0" y="381000"/>
                </a:cubicBezTo>
                <a:lnTo>
                  <a:pt x="0" y="381000"/>
                </a:lnTo>
                <a:cubicBezTo>
                  <a:pt x="0" y="170720"/>
                  <a:pt x="170720" y="0"/>
                  <a:pt x="3810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3819552" y="3654270"/>
            <a:ext cx="3429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猫</a:t>
            </a:r>
            <a:endParaRPr lang="en-US" sz="1100"/>
          </a:p>
        </p:txBody>
      </p:sp>
      <p:sp>
        <p:nvSpPr>
          <p:cNvPr id="7" name="AutoShape 7"/>
          <p:cNvSpPr/>
          <p:nvPr/>
        </p:nvSpPr>
        <p:spPr>
          <a:xfrm>
            <a:off x="3571929" y="4301942"/>
            <a:ext cx="8382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主语</a:t>
            </a:r>
            <a:endParaRPr lang="en-US" sz="1100"/>
          </a:p>
        </p:txBody>
      </p:sp>
      <p:sp>
        <p:nvSpPr>
          <p:cNvPr id="8" name="Freeform 8"/>
          <p:cNvSpPr/>
          <p:nvPr/>
        </p:nvSpPr>
        <p:spPr>
          <a:xfrm>
            <a:off x="4869988" y="3804873"/>
            <a:ext cx="347119" cy="346315"/>
          </a:xfrm>
          <a:custGeom>
            <a:avLst/>
            <a:gdLst/>
            <a:ahLst/>
            <a:cxnLst/>
            <a:rect l="l" t="t" r="r" b="b"/>
            <a:pathLst>
              <a:path w="347119" h="346315">
                <a:moveTo>
                  <a:pt x="338681" y="274052"/>
                </a:moveTo>
                <a:lnTo>
                  <a:pt x="274387" y="338346"/>
                </a:lnTo>
                <a:cubicBezTo>
                  <a:pt x="268225" y="344506"/>
                  <a:pt x="259050" y="346315"/>
                  <a:pt x="251013" y="342967"/>
                </a:cubicBezTo>
                <a:cubicBezTo>
                  <a:pt x="242977" y="339618"/>
                  <a:pt x="237820" y="331850"/>
                  <a:pt x="237820" y="323210"/>
                </a:cubicBezTo>
                <a:lnTo>
                  <a:pt x="237820" y="280347"/>
                </a:lnTo>
                <a:lnTo>
                  <a:pt x="23507" y="280347"/>
                </a:lnTo>
                <a:cubicBezTo>
                  <a:pt x="11653" y="280347"/>
                  <a:pt x="2076" y="270770"/>
                  <a:pt x="2076" y="258916"/>
                </a:cubicBezTo>
                <a:cubicBezTo>
                  <a:pt x="2076" y="247062"/>
                  <a:pt x="11653" y="237485"/>
                  <a:pt x="23507" y="237485"/>
                </a:cubicBezTo>
                <a:lnTo>
                  <a:pt x="237820" y="237485"/>
                </a:lnTo>
                <a:lnTo>
                  <a:pt x="237820" y="194622"/>
                </a:lnTo>
                <a:cubicBezTo>
                  <a:pt x="237820" y="185982"/>
                  <a:pt x="243045" y="178147"/>
                  <a:pt x="251080" y="174798"/>
                </a:cubicBezTo>
                <a:cubicBezTo>
                  <a:pt x="259116" y="171450"/>
                  <a:pt x="268292" y="173326"/>
                  <a:pt x="274454" y="179419"/>
                </a:cubicBezTo>
                <a:lnTo>
                  <a:pt x="338748" y="243713"/>
                </a:lnTo>
                <a:cubicBezTo>
                  <a:pt x="347118" y="252085"/>
                  <a:pt x="347118" y="265680"/>
                  <a:pt x="338748" y="274052"/>
                </a:cubicBezTo>
                <a:close/>
                <a:moveTo>
                  <a:pt x="8371" y="102602"/>
                </a:moveTo>
                <a:cubicBezTo>
                  <a:pt x="0" y="94230"/>
                  <a:pt x="0" y="80635"/>
                  <a:pt x="8371" y="72263"/>
                </a:cubicBezTo>
                <a:lnTo>
                  <a:pt x="72665" y="7969"/>
                </a:lnTo>
                <a:cubicBezTo>
                  <a:pt x="78827" y="1808"/>
                  <a:pt x="88002" y="0"/>
                  <a:pt x="96039" y="3348"/>
                </a:cubicBezTo>
                <a:cubicBezTo>
                  <a:pt x="104075" y="6697"/>
                  <a:pt x="109232" y="14532"/>
                  <a:pt x="109232" y="23172"/>
                </a:cubicBezTo>
                <a:lnTo>
                  <a:pt x="109232" y="66035"/>
                </a:lnTo>
                <a:lnTo>
                  <a:pt x="323545" y="66035"/>
                </a:lnTo>
                <a:cubicBezTo>
                  <a:pt x="335399" y="66035"/>
                  <a:pt x="344976" y="75612"/>
                  <a:pt x="344976" y="87466"/>
                </a:cubicBezTo>
                <a:cubicBezTo>
                  <a:pt x="344976" y="99320"/>
                  <a:pt x="335399" y="108897"/>
                  <a:pt x="323545" y="108897"/>
                </a:cubicBezTo>
                <a:lnTo>
                  <a:pt x="109232" y="108897"/>
                </a:lnTo>
                <a:lnTo>
                  <a:pt x="109232" y="151760"/>
                </a:lnTo>
                <a:cubicBezTo>
                  <a:pt x="109232" y="160400"/>
                  <a:pt x="104007" y="168235"/>
                  <a:pt x="95972" y="171584"/>
                </a:cubicBezTo>
                <a:cubicBezTo>
                  <a:pt x="87936" y="174932"/>
                  <a:pt x="78760" y="173056"/>
                  <a:pt x="72598" y="166963"/>
                </a:cubicBezTo>
                <a:lnTo>
                  <a:pt x="8304" y="10266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5715000" y="3425754"/>
            <a:ext cx="762000" cy="762000"/>
          </a:xfrm>
          <a:custGeom>
            <a:avLst/>
            <a:gdLst/>
            <a:ahLst/>
            <a:cxnLst/>
            <a:rect l="l" t="t" r="r" b="b"/>
            <a:pathLst>
              <a:path w="762000" h="762000">
                <a:moveTo>
                  <a:pt x="381000" y="0"/>
                </a:moveTo>
                <a:lnTo>
                  <a:pt x="381000" y="0"/>
                </a:lnTo>
                <a:cubicBezTo>
                  <a:pt x="591280" y="0"/>
                  <a:pt x="762000" y="170720"/>
                  <a:pt x="762000" y="381000"/>
                </a:cubicBezTo>
                <a:lnTo>
                  <a:pt x="762000" y="381000"/>
                </a:lnTo>
                <a:cubicBezTo>
                  <a:pt x="762000" y="591280"/>
                  <a:pt x="591280" y="762000"/>
                  <a:pt x="381000" y="762000"/>
                </a:cubicBezTo>
                <a:lnTo>
                  <a:pt x="381000" y="762000"/>
                </a:lnTo>
                <a:cubicBezTo>
                  <a:pt x="170720" y="762000"/>
                  <a:pt x="0" y="591280"/>
                  <a:pt x="0" y="381000"/>
                </a:cubicBezTo>
                <a:lnTo>
                  <a:pt x="0" y="381000"/>
                </a:lnTo>
                <a:cubicBezTo>
                  <a:pt x="0" y="170720"/>
                  <a:pt x="170720" y="0"/>
                  <a:pt x="3810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5924523" y="3654270"/>
            <a:ext cx="3429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猫</a:t>
            </a:r>
            <a:endParaRPr lang="en-US" sz="1100"/>
          </a:p>
        </p:txBody>
      </p:sp>
      <p:sp>
        <p:nvSpPr>
          <p:cNvPr id="11" name="AutoShape 11"/>
          <p:cNvSpPr/>
          <p:nvPr/>
        </p:nvSpPr>
        <p:spPr>
          <a:xfrm>
            <a:off x="5676900" y="4301942"/>
            <a:ext cx="8382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指代</a:t>
            </a:r>
            <a:endParaRPr lang="en-US" sz="1100"/>
          </a:p>
        </p:txBody>
      </p:sp>
      <p:sp>
        <p:nvSpPr>
          <p:cNvPr id="12" name="Freeform 12"/>
          <p:cNvSpPr/>
          <p:nvPr/>
        </p:nvSpPr>
        <p:spPr>
          <a:xfrm>
            <a:off x="6974959" y="3804873"/>
            <a:ext cx="347119" cy="346315"/>
          </a:xfrm>
          <a:custGeom>
            <a:avLst/>
            <a:gdLst/>
            <a:ahLst/>
            <a:cxnLst/>
            <a:rect l="l" t="t" r="r" b="b"/>
            <a:pathLst>
              <a:path w="347119" h="346315">
                <a:moveTo>
                  <a:pt x="338681" y="274052"/>
                </a:moveTo>
                <a:lnTo>
                  <a:pt x="274387" y="338346"/>
                </a:lnTo>
                <a:cubicBezTo>
                  <a:pt x="268225" y="344506"/>
                  <a:pt x="259050" y="346315"/>
                  <a:pt x="251013" y="342967"/>
                </a:cubicBezTo>
                <a:cubicBezTo>
                  <a:pt x="242977" y="339618"/>
                  <a:pt x="237820" y="331850"/>
                  <a:pt x="237820" y="323210"/>
                </a:cubicBezTo>
                <a:lnTo>
                  <a:pt x="237820" y="280347"/>
                </a:lnTo>
                <a:lnTo>
                  <a:pt x="23507" y="280347"/>
                </a:lnTo>
                <a:cubicBezTo>
                  <a:pt x="11653" y="280347"/>
                  <a:pt x="2076" y="270770"/>
                  <a:pt x="2076" y="258916"/>
                </a:cubicBezTo>
                <a:cubicBezTo>
                  <a:pt x="2076" y="247062"/>
                  <a:pt x="11653" y="237485"/>
                  <a:pt x="23507" y="237485"/>
                </a:cubicBezTo>
                <a:lnTo>
                  <a:pt x="237820" y="237485"/>
                </a:lnTo>
                <a:lnTo>
                  <a:pt x="237820" y="194622"/>
                </a:lnTo>
                <a:cubicBezTo>
                  <a:pt x="237820" y="185982"/>
                  <a:pt x="243045" y="178147"/>
                  <a:pt x="251080" y="174798"/>
                </a:cubicBezTo>
                <a:cubicBezTo>
                  <a:pt x="259116" y="171450"/>
                  <a:pt x="268292" y="173326"/>
                  <a:pt x="274454" y="179419"/>
                </a:cubicBezTo>
                <a:lnTo>
                  <a:pt x="338748" y="243713"/>
                </a:lnTo>
                <a:cubicBezTo>
                  <a:pt x="347118" y="252085"/>
                  <a:pt x="347118" y="265680"/>
                  <a:pt x="338748" y="274052"/>
                </a:cubicBezTo>
                <a:close/>
                <a:moveTo>
                  <a:pt x="8371" y="102602"/>
                </a:moveTo>
                <a:cubicBezTo>
                  <a:pt x="0" y="94230"/>
                  <a:pt x="0" y="80635"/>
                  <a:pt x="8371" y="72263"/>
                </a:cubicBezTo>
                <a:lnTo>
                  <a:pt x="72665" y="7969"/>
                </a:lnTo>
                <a:cubicBezTo>
                  <a:pt x="78827" y="1808"/>
                  <a:pt x="88002" y="0"/>
                  <a:pt x="96039" y="3348"/>
                </a:cubicBezTo>
                <a:cubicBezTo>
                  <a:pt x="104075" y="6697"/>
                  <a:pt x="109232" y="14532"/>
                  <a:pt x="109232" y="23172"/>
                </a:cubicBezTo>
                <a:lnTo>
                  <a:pt x="109232" y="66035"/>
                </a:lnTo>
                <a:lnTo>
                  <a:pt x="323545" y="66035"/>
                </a:lnTo>
                <a:cubicBezTo>
                  <a:pt x="335399" y="66035"/>
                  <a:pt x="344976" y="75612"/>
                  <a:pt x="344976" y="87466"/>
                </a:cubicBezTo>
                <a:cubicBezTo>
                  <a:pt x="344976" y="99320"/>
                  <a:pt x="335399" y="108897"/>
                  <a:pt x="323545" y="108897"/>
                </a:cubicBezTo>
                <a:lnTo>
                  <a:pt x="109232" y="108897"/>
                </a:lnTo>
                <a:lnTo>
                  <a:pt x="109232" y="151760"/>
                </a:lnTo>
                <a:cubicBezTo>
                  <a:pt x="109232" y="160400"/>
                  <a:pt x="104007" y="168235"/>
                  <a:pt x="95972" y="171584"/>
                </a:cubicBezTo>
                <a:cubicBezTo>
                  <a:pt x="87936" y="174932"/>
                  <a:pt x="78760" y="173056"/>
                  <a:pt x="72598" y="166963"/>
                </a:cubicBezTo>
                <a:lnTo>
                  <a:pt x="8304" y="10266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7819970" y="3425754"/>
            <a:ext cx="762000" cy="762000"/>
          </a:xfrm>
          <a:custGeom>
            <a:avLst/>
            <a:gdLst/>
            <a:ahLst/>
            <a:cxnLst/>
            <a:rect l="l" t="t" r="r" b="b"/>
            <a:pathLst>
              <a:path w="762000" h="762000">
                <a:moveTo>
                  <a:pt x="381000" y="0"/>
                </a:moveTo>
                <a:lnTo>
                  <a:pt x="381000" y="0"/>
                </a:lnTo>
                <a:cubicBezTo>
                  <a:pt x="591280" y="0"/>
                  <a:pt x="762000" y="170720"/>
                  <a:pt x="762000" y="381000"/>
                </a:cubicBezTo>
                <a:lnTo>
                  <a:pt x="762000" y="381000"/>
                </a:lnTo>
                <a:cubicBezTo>
                  <a:pt x="762000" y="591280"/>
                  <a:pt x="591280" y="762000"/>
                  <a:pt x="381000" y="762000"/>
                </a:cubicBezTo>
                <a:lnTo>
                  <a:pt x="381000" y="762000"/>
                </a:lnTo>
                <a:cubicBezTo>
                  <a:pt x="170720" y="762000"/>
                  <a:pt x="0" y="591280"/>
                  <a:pt x="0" y="381000"/>
                </a:cubicBezTo>
                <a:lnTo>
                  <a:pt x="0" y="381000"/>
                </a:lnTo>
                <a:cubicBezTo>
                  <a:pt x="0" y="170720"/>
                  <a:pt x="170720" y="0"/>
                  <a:pt x="3810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7915166" y="3654270"/>
            <a:ext cx="5715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可爱</a:t>
            </a:r>
            <a:endParaRPr lang="en-US" sz="1100"/>
          </a:p>
        </p:txBody>
      </p:sp>
      <p:sp>
        <p:nvSpPr>
          <p:cNvPr id="15" name="AutoShape 15"/>
          <p:cNvSpPr/>
          <p:nvPr/>
        </p:nvSpPr>
        <p:spPr>
          <a:xfrm>
            <a:off x="7781870" y="4301942"/>
            <a:ext cx="8382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描述</a:t>
            </a:r>
            <a:endParaRPr lang="en-US" sz="1100"/>
          </a:p>
        </p:txBody>
      </p:sp>
      <p:sp>
        <p:nvSpPr>
          <p:cNvPr id="16" name="AutoShape 16"/>
          <p:cNvSpPr/>
          <p:nvPr/>
        </p:nvSpPr>
        <p:spPr>
          <a:xfrm>
            <a:off x="338138" y="4835156"/>
            <a:ext cx="115157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模型能够理解长距离的语义关联</a:t>
            </a:r>
            <a:endParaRPr lang="en-US" sz="1100"/>
          </a:p>
        </p:txBody>
      </p:sp>
      <p:sp>
        <p:nvSpPr>
          <p:cNvPr id="17" name="Freeform 17"/>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609518" y="5962594"/>
            <a:ext cx="6968009" cy="213354"/>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自注意力机制（Self-Attention</a:t>
            </a:r>
            <a:r>
              <a:rPr lang="en-US" sz="1400"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t>
            </a: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a:t>
            </a:r>
            <a:r>
              <a:rPr lang="en-US" sz="14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让模型在看每个词时，自动关联上下文词汇</a:t>
            </a:r>
            <a:endParaRPr lang="en-US" sz="1100" dirty="0"/>
          </a:p>
        </p:txBody>
      </p:sp>
    </p:spTree>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多层堆叠：Transformer架构</a:t>
            </a:r>
            <a:endParaRPr lang="en-US" sz="1100"/>
          </a:p>
        </p:txBody>
      </p:sp>
      <p:sp>
        <p:nvSpPr>
          <p:cNvPr id="3" name="Freeform 3"/>
          <p:cNvSpPr/>
          <p:nvPr/>
        </p:nvSpPr>
        <p:spPr>
          <a:xfrm>
            <a:off x="3714750" y="1470831"/>
            <a:ext cx="4762500" cy="800100"/>
          </a:xfrm>
          <a:custGeom>
            <a:avLst/>
            <a:gdLst/>
            <a:ahLst/>
            <a:cxnLst/>
            <a:rect l="l" t="t" r="r" b="b"/>
            <a:pathLst>
              <a:path w="4762500" h="800100">
                <a:moveTo>
                  <a:pt x="114303" y="0"/>
                </a:moveTo>
                <a:lnTo>
                  <a:pt x="4648197" y="0"/>
                </a:lnTo>
                <a:cubicBezTo>
                  <a:pt x="4711283" y="0"/>
                  <a:pt x="4762500" y="51217"/>
                  <a:pt x="4762500" y="114303"/>
                </a:cubicBezTo>
                <a:lnTo>
                  <a:pt x="4762500" y="800100"/>
                </a:lnTo>
                <a:lnTo>
                  <a:pt x="0" y="800100"/>
                </a:lnTo>
                <a:lnTo>
                  <a:pt x="0" y="114303"/>
                </a:lnTo>
                <a:cubicBezTo>
                  <a:pt x="0" y="51217"/>
                  <a:pt x="51217" y="0"/>
                  <a:pt x="114303"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3819471" y="1623175"/>
            <a:ext cx="45529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第1层：表层特征</a:t>
            </a:r>
            <a:endParaRPr lang="en-US" sz="1100"/>
          </a:p>
        </p:txBody>
      </p:sp>
      <p:sp>
        <p:nvSpPr>
          <p:cNvPr id="5" name="AutoShape 5"/>
          <p:cNvSpPr/>
          <p:nvPr/>
        </p:nvSpPr>
        <p:spPr>
          <a:xfrm>
            <a:off x="3828996" y="1889847"/>
            <a:ext cx="45339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词性、语法结构</a:t>
            </a:r>
            <a:endParaRPr lang="en-US" sz="1100"/>
          </a:p>
        </p:txBody>
      </p:sp>
      <p:sp>
        <p:nvSpPr>
          <p:cNvPr id="6" name="Freeform 6"/>
          <p:cNvSpPr/>
          <p:nvPr/>
        </p:nvSpPr>
        <p:spPr>
          <a:xfrm>
            <a:off x="3714750" y="2270708"/>
            <a:ext cx="4762500" cy="800100"/>
          </a:xfrm>
          <a:custGeom>
            <a:avLst/>
            <a:gdLst/>
            <a:ahLst/>
            <a:cxnLst/>
            <a:rect l="l" t="t" r="r" b="b"/>
            <a:pathLst>
              <a:path w="4762500" h="800100">
                <a:moveTo>
                  <a:pt x="0" y="0"/>
                </a:moveTo>
                <a:lnTo>
                  <a:pt x="4762500" y="0"/>
                </a:lnTo>
                <a:lnTo>
                  <a:pt x="4762500" y="800100"/>
                </a:lnTo>
                <a:lnTo>
                  <a:pt x="0" y="800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3819471" y="2423061"/>
            <a:ext cx="45529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第5层：短语理解</a:t>
            </a:r>
            <a:endParaRPr lang="en-US" sz="1100"/>
          </a:p>
        </p:txBody>
      </p:sp>
      <p:sp>
        <p:nvSpPr>
          <p:cNvPr id="8" name="AutoShape 8"/>
          <p:cNvSpPr/>
          <p:nvPr/>
        </p:nvSpPr>
        <p:spPr>
          <a:xfrm>
            <a:off x="3828996" y="2689733"/>
            <a:ext cx="45339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短语义单元</a:t>
            </a:r>
            <a:endParaRPr lang="en-US" sz="1100"/>
          </a:p>
        </p:txBody>
      </p:sp>
      <p:sp>
        <p:nvSpPr>
          <p:cNvPr id="9" name="Freeform 9"/>
          <p:cNvSpPr/>
          <p:nvPr/>
        </p:nvSpPr>
        <p:spPr>
          <a:xfrm>
            <a:off x="3714750" y="3070594"/>
            <a:ext cx="4762500" cy="800100"/>
          </a:xfrm>
          <a:custGeom>
            <a:avLst/>
            <a:gdLst/>
            <a:ahLst/>
            <a:cxnLst/>
            <a:rect l="l" t="t" r="r" b="b"/>
            <a:pathLst>
              <a:path w="4762500" h="800100">
                <a:moveTo>
                  <a:pt x="0" y="0"/>
                </a:moveTo>
                <a:lnTo>
                  <a:pt x="4762500" y="0"/>
                </a:lnTo>
                <a:lnTo>
                  <a:pt x="4762500" y="800100"/>
                </a:lnTo>
                <a:lnTo>
                  <a:pt x="0" y="800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3819471" y="3222938"/>
            <a:ext cx="45529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第10层：句子理解</a:t>
            </a:r>
            <a:endParaRPr lang="en-US" sz="1100"/>
          </a:p>
        </p:txBody>
      </p:sp>
      <p:sp>
        <p:nvSpPr>
          <p:cNvPr id="11" name="AutoShape 11"/>
          <p:cNvSpPr/>
          <p:nvPr/>
        </p:nvSpPr>
        <p:spPr>
          <a:xfrm>
            <a:off x="3828996" y="3489610"/>
            <a:ext cx="45339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完整语义</a:t>
            </a:r>
            <a:endParaRPr lang="en-US" sz="1100"/>
          </a:p>
        </p:txBody>
      </p:sp>
      <p:sp>
        <p:nvSpPr>
          <p:cNvPr id="12" name="Freeform 12"/>
          <p:cNvSpPr/>
          <p:nvPr/>
        </p:nvSpPr>
        <p:spPr>
          <a:xfrm>
            <a:off x="3732068" y="3887798"/>
            <a:ext cx="4730460" cy="910935"/>
          </a:xfrm>
          <a:custGeom>
            <a:avLst/>
            <a:gdLst/>
            <a:ahLst/>
            <a:cxnLst/>
            <a:rect l="l" t="t" r="r" b="b"/>
            <a:pathLst>
              <a:path w="4730460" h="910935">
                <a:moveTo>
                  <a:pt x="0" y="0"/>
                </a:moveTo>
                <a:lnTo>
                  <a:pt x="4730460" y="0"/>
                </a:lnTo>
                <a:lnTo>
                  <a:pt x="4730460" y="796632"/>
                </a:lnTo>
                <a:cubicBezTo>
                  <a:pt x="4730460" y="859761"/>
                  <a:pt x="4679286" y="910935"/>
                  <a:pt x="4616157" y="910935"/>
                </a:cubicBezTo>
                <a:lnTo>
                  <a:pt x="114304" y="910935"/>
                </a:lnTo>
                <a:cubicBezTo>
                  <a:pt x="51218" y="910935"/>
                  <a:pt x="0" y="859718"/>
                  <a:pt x="0" y="796632"/>
                </a:cubicBezTo>
                <a:lnTo>
                  <a:pt x="0" y="0"/>
                </a:lnTo>
                <a:close/>
              </a:path>
            </a:pathLst>
          </a:custGeom>
          <a:solidFill>
            <a:srgbClr val="5B92E5">
              <a:alpha val="100000"/>
            </a:srgbClr>
          </a:solidFill>
          <a:ln w="38100">
            <a:solidFill>
              <a:srgbClr val="00CED1">
                <a:alpha val="100000"/>
              </a:srgbClr>
            </a:solidFill>
            <a:prstDash val="solid"/>
          </a:ln>
        </p:spPr>
        <p:txBody>
          <a:bodyPr wrap="square" lIns="91440" tIns="45720" rIns="91440" bIns="45720" rtlCol="0" anchor="t">
            <a:noAutofit/>
          </a:bodyPr>
          <a:lstStyle/>
          <a:p>
            <a:pPr algn="ctr">
              <a:defRPr/>
            </a:pPr>
          </a:p>
        </p:txBody>
      </p:sp>
      <p:sp>
        <p:nvSpPr>
          <p:cNvPr id="13" name="AutoShape 13"/>
          <p:cNvSpPr/>
          <p:nvPr/>
        </p:nvSpPr>
        <p:spPr>
          <a:xfrm>
            <a:off x="3892261" y="4095610"/>
            <a:ext cx="4410075"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第20层：抽象推理</a:t>
            </a:r>
            <a:endParaRPr lang="en-US" sz="1100"/>
          </a:p>
        </p:txBody>
      </p:sp>
      <p:sp>
        <p:nvSpPr>
          <p:cNvPr id="14" name="AutoShape 14"/>
          <p:cNvSpPr/>
          <p:nvPr/>
        </p:nvSpPr>
        <p:spPr>
          <a:xfrm>
            <a:off x="3901786" y="4362292"/>
            <a:ext cx="439102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逻辑、情感、意图</a:t>
            </a:r>
            <a:endParaRPr lang="en-US" sz="1100"/>
          </a:p>
        </p:txBody>
      </p:sp>
      <p:sp>
        <p:nvSpPr>
          <p:cNvPr id="15" name="AutoShape 15"/>
          <p:cNvSpPr/>
          <p:nvPr/>
        </p:nvSpPr>
        <p:spPr>
          <a:xfrm>
            <a:off x="338138" y="5219942"/>
            <a:ext cx="115157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每一层都在前一层的基础上提取更高级的特征</a:t>
            </a:r>
            <a:endParaRPr lang="en-US" sz="1100"/>
          </a:p>
        </p:txBody>
      </p:sp>
      <p:sp>
        <p:nvSpPr>
          <p:cNvPr id="16" name="Freeform 16"/>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609519" y="5962594"/>
            <a:ext cx="64039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Transformer</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大模型的核心架构，每一层由多层注意力与前馈网络堆叠而成</a:t>
            </a:r>
            <a:endParaRPr lang="en-US" sz="1100"/>
          </a:p>
        </p:txBody>
      </p:sp>
    </p:spTree>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184678" y="1175203"/>
            <a:ext cx="5819775" cy="6858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3600" b="0" i="0" u="none" strike="noStrike">
                <a:solidFill>
                  <a:srgbClr val="5B92E5"/>
                </a:solidFill>
                <a:latin typeface="Alimama ShuHeiTi"/>
                <a:ea typeface="Alimama ShuHeiTi"/>
                <a:cs typeface="Alimama ShuHeiTi"/>
                <a:sym typeface="Alimama ShuHeiTi"/>
              </a:rPr>
              <a:t>大模型如何工作？</a:t>
            </a:r>
            <a:endParaRPr lang="en-US" sz="1100"/>
          </a:p>
        </p:txBody>
      </p:sp>
      <p:sp>
        <p:nvSpPr>
          <p:cNvPr id="3" name="AutoShape 3"/>
          <p:cNvSpPr/>
          <p:nvPr/>
        </p:nvSpPr>
        <p:spPr>
          <a:xfrm>
            <a:off x="3229128" y="2241891"/>
            <a:ext cx="5730875" cy="457200"/>
          </a:xfrm>
          <a:prstGeom prst="rect">
            <a:avLst/>
          </a:prstGeom>
          <a:noFill/>
          <a:ln w="12700">
            <a:noFill/>
            <a:prstDash val="solid"/>
          </a:ln>
        </p:spPr>
        <p:txBody>
          <a:bodyPr wrap="square" lIns="0" tIns="0" rIns="0" bIns="0" rtlCol="0" anchor="ctr">
            <a:noAutofit/>
          </a:bodyPr>
          <a:lstStyle/>
          <a:p>
            <a:pPr indent="0" algn="ctr">
              <a:lnSpc>
                <a:spcPct val="142000"/>
              </a:lnSpc>
              <a:defRPr/>
            </a:pP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刚才我们了解了大模型的 </a:t>
            </a:r>
            <a:r>
              <a:rPr lang="en-US" sz="22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能力</a:t>
            </a: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endParaRPr lang="en-US" sz="1100"/>
          </a:p>
        </p:txBody>
      </p:sp>
      <p:sp>
        <p:nvSpPr>
          <p:cNvPr id="4" name="Freeform 4"/>
          <p:cNvSpPr/>
          <p:nvPr/>
        </p:nvSpPr>
        <p:spPr>
          <a:xfrm>
            <a:off x="3298978" y="2924333"/>
            <a:ext cx="1066800" cy="419100"/>
          </a:xfrm>
          <a:custGeom>
            <a:avLst/>
            <a:gdLst/>
            <a:ahLst/>
            <a:cxnLst/>
            <a:rect l="l" t="t" r="r" b="b"/>
            <a:pathLst>
              <a:path w="1066800" h="419100">
                <a:moveTo>
                  <a:pt x="209550" y="0"/>
                </a:moveTo>
                <a:lnTo>
                  <a:pt x="857250" y="0"/>
                </a:lnTo>
                <a:cubicBezTo>
                  <a:pt x="972904" y="0"/>
                  <a:pt x="1066800" y="93896"/>
                  <a:pt x="1066800" y="209550"/>
                </a:cubicBezTo>
                <a:lnTo>
                  <a:pt x="1066800" y="209550"/>
                </a:lnTo>
                <a:cubicBezTo>
                  <a:pt x="1066800" y="325204"/>
                  <a:pt x="972904" y="419100"/>
                  <a:pt x="857250" y="419100"/>
                </a:cubicBezTo>
                <a:lnTo>
                  <a:pt x="209550" y="419100"/>
                </a:lnTo>
                <a:cubicBezTo>
                  <a:pt x="93896" y="419100"/>
                  <a:pt x="0" y="325204"/>
                  <a:pt x="0" y="209550"/>
                </a:cubicBezTo>
                <a:lnTo>
                  <a:pt x="0" y="209550"/>
                </a:lnTo>
                <a:cubicBezTo>
                  <a:pt x="0" y="93896"/>
                  <a:pt x="93896" y="0"/>
                  <a:pt x="20955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3298978" y="2924333"/>
            <a:ext cx="1152525" cy="419100"/>
          </a:xfrm>
          <a:prstGeom prst="rect">
            <a:avLst/>
          </a:prstGeom>
          <a:noFill/>
          <a:ln w="12700">
            <a:noFill/>
            <a:prstDash val="solid"/>
          </a:ln>
        </p:spPr>
        <p:txBody>
          <a:bodyPr wrap="square" lIns="190500" tIns="76200" rIns="190500" bIns="76200" rtlCol="0" anchor="ctr">
            <a:noAutofit/>
          </a:bodyPr>
          <a:lstStyle/>
          <a:p>
            <a:pPr indent="0" algn="l">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文本生成</a:t>
            </a:r>
            <a:endParaRPr lang="en-US" sz="1100"/>
          </a:p>
        </p:txBody>
      </p:sp>
      <p:sp>
        <p:nvSpPr>
          <p:cNvPr id="6" name="Freeform 6"/>
          <p:cNvSpPr/>
          <p:nvPr/>
        </p:nvSpPr>
        <p:spPr>
          <a:xfrm>
            <a:off x="4594324" y="2924333"/>
            <a:ext cx="1238250" cy="419100"/>
          </a:xfrm>
          <a:custGeom>
            <a:avLst/>
            <a:gdLst/>
            <a:ahLst/>
            <a:cxnLst/>
            <a:rect l="l" t="t" r="r" b="b"/>
            <a:pathLst>
              <a:path w="1238250" h="419100">
                <a:moveTo>
                  <a:pt x="209550" y="0"/>
                </a:moveTo>
                <a:lnTo>
                  <a:pt x="1028700" y="0"/>
                </a:lnTo>
                <a:cubicBezTo>
                  <a:pt x="1144354" y="0"/>
                  <a:pt x="1238250" y="93896"/>
                  <a:pt x="1238250" y="209550"/>
                </a:cubicBezTo>
                <a:lnTo>
                  <a:pt x="1238250" y="209550"/>
                </a:lnTo>
                <a:cubicBezTo>
                  <a:pt x="1238250" y="325204"/>
                  <a:pt x="1144354" y="419100"/>
                  <a:pt x="1028700" y="419100"/>
                </a:cubicBezTo>
                <a:lnTo>
                  <a:pt x="209550" y="419100"/>
                </a:lnTo>
                <a:cubicBezTo>
                  <a:pt x="93896" y="419100"/>
                  <a:pt x="0" y="325204"/>
                  <a:pt x="0" y="209550"/>
                </a:cubicBezTo>
                <a:lnTo>
                  <a:pt x="0" y="209550"/>
                </a:lnTo>
                <a:cubicBezTo>
                  <a:pt x="0" y="93896"/>
                  <a:pt x="93896" y="0"/>
                  <a:pt x="20955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4594324" y="2924333"/>
            <a:ext cx="1323975" cy="419100"/>
          </a:xfrm>
          <a:prstGeom prst="rect">
            <a:avLst/>
          </a:prstGeom>
          <a:noFill/>
          <a:ln w="12700">
            <a:noFill/>
            <a:prstDash val="solid"/>
          </a:ln>
        </p:spPr>
        <p:txBody>
          <a:bodyPr wrap="square" lIns="190500" tIns="76200" rIns="190500" bIns="76200" rtlCol="0" anchor="ctr">
            <a:noAutofit/>
          </a:bodyPr>
          <a:lstStyle/>
          <a:p>
            <a:pPr indent="0" algn="l">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多模态能力</a:t>
            </a:r>
            <a:endParaRPr lang="en-US" sz="1100"/>
          </a:p>
        </p:txBody>
      </p:sp>
      <p:sp>
        <p:nvSpPr>
          <p:cNvPr id="8" name="Freeform 8"/>
          <p:cNvSpPr/>
          <p:nvPr/>
        </p:nvSpPr>
        <p:spPr>
          <a:xfrm>
            <a:off x="6061093" y="2924333"/>
            <a:ext cx="1238250" cy="419100"/>
          </a:xfrm>
          <a:custGeom>
            <a:avLst/>
            <a:gdLst/>
            <a:ahLst/>
            <a:cxnLst/>
            <a:rect l="l" t="t" r="r" b="b"/>
            <a:pathLst>
              <a:path w="1238250" h="419100">
                <a:moveTo>
                  <a:pt x="209550" y="0"/>
                </a:moveTo>
                <a:lnTo>
                  <a:pt x="1028700" y="0"/>
                </a:lnTo>
                <a:cubicBezTo>
                  <a:pt x="1144354" y="0"/>
                  <a:pt x="1238250" y="93896"/>
                  <a:pt x="1238250" y="209550"/>
                </a:cubicBezTo>
                <a:lnTo>
                  <a:pt x="1238250" y="209550"/>
                </a:lnTo>
                <a:cubicBezTo>
                  <a:pt x="1238250" y="325204"/>
                  <a:pt x="1144354" y="419100"/>
                  <a:pt x="1028700" y="419100"/>
                </a:cubicBezTo>
                <a:lnTo>
                  <a:pt x="209550" y="419100"/>
                </a:lnTo>
                <a:cubicBezTo>
                  <a:pt x="93896" y="419100"/>
                  <a:pt x="0" y="325204"/>
                  <a:pt x="0" y="209550"/>
                </a:cubicBezTo>
                <a:lnTo>
                  <a:pt x="0" y="209550"/>
                </a:lnTo>
                <a:cubicBezTo>
                  <a:pt x="0" y="93896"/>
                  <a:pt x="93896" y="0"/>
                  <a:pt x="20955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6061093" y="2924333"/>
            <a:ext cx="1323975" cy="419100"/>
          </a:xfrm>
          <a:prstGeom prst="rect">
            <a:avLst/>
          </a:prstGeom>
          <a:noFill/>
          <a:ln w="12700">
            <a:noFill/>
            <a:prstDash val="solid"/>
          </a:ln>
        </p:spPr>
        <p:txBody>
          <a:bodyPr wrap="square" lIns="190500" tIns="76200" rIns="190500" bIns="76200" rtlCol="0" anchor="ctr">
            <a:noAutofit/>
          </a:bodyPr>
          <a:lstStyle/>
          <a:p>
            <a:pPr indent="0" algn="l">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对话式应用</a:t>
            </a:r>
            <a:endParaRPr lang="en-US" sz="1100"/>
          </a:p>
        </p:txBody>
      </p:sp>
      <p:sp>
        <p:nvSpPr>
          <p:cNvPr id="10" name="Freeform 10"/>
          <p:cNvSpPr/>
          <p:nvPr/>
        </p:nvSpPr>
        <p:spPr>
          <a:xfrm>
            <a:off x="7527861" y="2924333"/>
            <a:ext cx="1362075" cy="419100"/>
          </a:xfrm>
          <a:custGeom>
            <a:avLst/>
            <a:gdLst/>
            <a:ahLst/>
            <a:cxnLst/>
            <a:rect l="l" t="t" r="r" b="b"/>
            <a:pathLst>
              <a:path w="1362075" h="419100">
                <a:moveTo>
                  <a:pt x="209550" y="0"/>
                </a:moveTo>
                <a:lnTo>
                  <a:pt x="1152525" y="0"/>
                </a:lnTo>
                <a:cubicBezTo>
                  <a:pt x="1268179" y="0"/>
                  <a:pt x="1362075" y="93896"/>
                  <a:pt x="1362075" y="209550"/>
                </a:cubicBezTo>
                <a:lnTo>
                  <a:pt x="1362075" y="209550"/>
                </a:lnTo>
                <a:cubicBezTo>
                  <a:pt x="1362075" y="325204"/>
                  <a:pt x="1268179" y="419100"/>
                  <a:pt x="1152525" y="419100"/>
                </a:cubicBezTo>
                <a:lnTo>
                  <a:pt x="209550" y="419100"/>
                </a:lnTo>
                <a:cubicBezTo>
                  <a:pt x="93896" y="419100"/>
                  <a:pt x="0" y="325204"/>
                  <a:pt x="0" y="209550"/>
                </a:cubicBezTo>
                <a:lnTo>
                  <a:pt x="0" y="209550"/>
                </a:lnTo>
                <a:cubicBezTo>
                  <a:pt x="0" y="93896"/>
                  <a:pt x="93896" y="0"/>
                  <a:pt x="20955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7527861" y="2924333"/>
            <a:ext cx="1447800" cy="419100"/>
          </a:xfrm>
          <a:prstGeom prst="rect">
            <a:avLst/>
          </a:prstGeom>
          <a:noFill/>
          <a:ln w="12700">
            <a:noFill/>
            <a:prstDash val="solid"/>
          </a:ln>
        </p:spPr>
        <p:txBody>
          <a:bodyPr wrap="square" lIns="190500" tIns="76200" rIns="190500" bIns="76200" rtlCol="0" anchor="ctr">
            <a:noAutofit/>
          </a:bodyPr>
          <a:lstStyle/>
          <a:p>
            <a:pPr indent="0" algn="l">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Agent工作流</a:t>
            </a:r>
            <a:endParaRPr lang="en-US" sz="1100"/>
          </a:p>
        </p:txBody>
      </p:sp>
      <p:sp>
        <p:nvSpPr>
          <p:cNvPr id="12" name="Freeform 12"/>
          <p:cNvSpPr/>
          <p:nvPr/>
        </p:nvSpPr>
        <p:spPr>
          <a:xfrm>
            <a:off x="5002925" y="3771714"/>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5989304" y="3647908"/>
            <a:ext cx="217884" cy="287480"/>
          </a:xfrm>
          <a:custGeom>
            <a:avLst/>
            <a:gdLst/>
            <a:ahLst/>
            <a:cxnLst/>
            <a:rect l="l" t="t" r="r" b="b"/>
            <a:pathLst>
              <a:path w="217884" h="287480">
                <a:moveTo>
                  <a:pt x="96329" y="280504"/>
                </a:moveTo>
                <a:cubicBezTo>
                  <a:pt x="103305" y="287480"/>
                  <a:pt x="114634" y="287480"/>
                  <a:pt x="121610" y="280504"/>
                </a:cubicBezTo>
                <a:lnTo>
                  <a:pt x="210908" y="191207"/>
                </a:lnTo>
                <a:cubicBezTo>
                  <a:pt x="217884" y="184231"/>
                  <a:pt x="217884" y="172902"/>
                  <a:pt x="210908" y="165925"/>
                </a:cubicBezTo>
                <a:cubicBezTo>
                  <a:pt x="203932" y="158948"/>
                  <a:pt x="192602" y="158948"/>
                  <a:pt x="185626" y="165925"/>
                </a:cubicBezTo>
                <a:lnTo>
                  <a:pt x="126802" y="224749"/>
                </a:lnTo>
                <a:lnTo>
                  <a:pt x="126802" y="17859"/>
                </a:lnTo>
                <a:cubicBezTo>
                  <a:pt x="126802" y="7981"/>
                  <a:pt x="118822" y="0"/>
                  <a:pt x="108942" y="0"/>
                </a:cubicBezTo>
                <a:cubicBezTo>
                  <a:pt x="99064" y="0"/>
                  <a:pt x="91084" y="7981"/>
                  <a:pt x="91084" y="17859"/>
                </a:cubicBezTo>
                <a:lnTo>
                  <a:pt x="91084" y="224749"/>
                </a:lnTo>
                <a:lnTo>
                  <a:pt x="32258" y="165925"/>
                </a:lnTo>
                <a:cubicBezTo>
                  <a:pt x="25282" y="158948"/>
                  <a:pt x="13953" y="158948"/>
                  <a:pt x="6976" y="165925"/>
                </a:cubicBezTo>
                <a:cubicBezTo>
                  <a:pt x="0" y="172902"/>
                  <a:pt x="0" y="184231"/>
                  <a:pt x="6976" y="191207"/>
                </a:cubicBezTo>
                <a:lnTo>
                  <a:pt x="96273" y="280504"/>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6426804" y="3771714"/>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3229128" y="4238355"/>
            <a:ext cx="5730875" cy="457200"/>
          </a:xfrm>
          <a:prstGeom prst="rect">
            <a:avLst/>
          </a:prstGeom>
          <a:noFill/>
          <a:ln w="12700">
            <a:noFill/>
            <a:prstDash val="solid"/>
          </a:ln>
        </p:spPr>
        <p:txBody>
          <a:bodyPr wrap="square" lIns="0" tIns="0" rIns="0" bIns="0" rtlCol="0" anchor="ctr">
            <a:noAutofit/>
          </a:bodyPr>
          <a:lstStyle/>
          <a:p>
            <a:pPr indent="0" algn="ctr">
              <a:lnSpc>
                <a:spcPct val="142000"/>
              </a:lnSpc>
              <a:defRPr/>
            </a:pP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那么，大模型到底是如何 </a:t>
            </a:r>
            <a:r>
              <a:rPr lang="en-US" sz="22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工作</a:t>
            </a: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的呢？</a:t>
            </a:r>
            <a:endParaRPr lang="en-US" sz="1100"/>
          </a:p>
        </p:txBody>
      </p:sp>
      <p:sp>
        <p:nvSpPr>
          <p:cNvPr id="16" name="AutoShape 16"/>
          <p:cNvSpPr/>
          <p:nvPr/>
        </p:nvSpPr>
        <p:spPr>
          <a:xfrm>
            <a:off x="3251353" y="4920797"/>
            <a:ext cx="5686425"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大模型应用的过程其实就是 </a:t>
            </a: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大模型推理</a:t>
            </a:r>
            <a:r>
              <a:rPr lang="en-US" sz="15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的过程</a:t>
            </a:r>
            <a:endParaRPr lang="en-US" sz="1100"/>
          </a:p>
        </p:txBody>
      </p:sp>
      <p:sp>
        <p:nvSpPr>
          <p:cNvPr id="17" name="AutoShape 17"/>
          <p:cNvSpPr/>
          <p:nvPr/>
        </p:nvSpPr>
        <p:spPr>
          <a:xfrm>
            <a:off x="3251353" y="5415986"/>
            <a:ext cx="5686425"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让我们通过实际的例子来 </a:t>
            </a:r>
            <a:r>
              <a:rPr lang="en-US" sz="15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拆解</a:t>
            </a:r>
            <a:r>
              <a:rPr lang="en-US" sz="15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一下</a:t>
            </a:r>
            <a:endParaRPr lang="en-US" sz="1100"/>
          </a:p>
        </p:txBody>
      </p:sp>
    </p:spTree>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5B92E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352692" y="2590828"/>
            <a:ext cx="5791200" cy="914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4800" b="1" i="0" u="none" strike="noStrike">
                <a:solidFill>
                  <a:srgbClr val="FFFFFF"/>
                </a:solidFill>
                <a:latin typeface="Alimama ShuHeiTi"/>
                <a:ea typeface="Alimama ShuHeiTi"/>
                <a:cs typeface="Alimama ShuHeiTi"/>
                <a:sym typeface="Alimama ShuHeiTi"/>
              </a:rPr>
              <a:t>AI究竟怎么做到的？</a:t>
            </a:r>
            <a:endParaRPr lang="en-US" sz="1100"/>
          </a:p>
        </p:txBody>
      </p:sp>
      <p:sp>
        <p:nvSpPr>
          <p:cNvPr id="3" name="AutoShape 3"/>
          <p:cNvSpPr/>
          <p:nvPr/>
        </p:nvSpPr>
        <p:spPr>
          <a:xfrm>
            <a:off x="5207090" y="3733828"/>
            <a:ext cx="1958975" cy="533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800" b="0" i="0" u="none" strike="noStrike">
                <a:solidFill>
                  <a:srgbClr val="87CEEB"/>
                </a:solidFill>
                <a:latin typeface="MiSans" panose="00000500000000000000" charset="-122"/>
                <a:ea typeface="MiSans" panose="00000500000000000000" charset="-122"/>
                <a:cs typeface="MiSans" panose="00000500000000000000" charset="-122"/>
                <a:sym typeface="MiSans" panose="00000500000000000000" charset="-122"/>
              </a:rPr>
              <a:t>大模型推理</a:t>
            </a:r>
            <a:endParaRPr lang="en-US" sz="1100"/>
          </a:p>
        </p:txBody>
      </p:sp>
      <p:sp>
        <p:nvSpPr>
          <p:cNvPr id="4" name="AutoShape 4"/>
          <p:cNvSpPr/>
          <p:nvPr/>
        </p:nvSpPr>
        <p:spPr>
          <a:xfrm>
            <a:off x="5534214" y="1905084"/>
            <a:ext cx="1123950" cy="4572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4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PART 2</a:t>
            </a:r>
            <a:endParaRPr lang="en-US" sz="1100"/>
          </a:p>
        </p:txBody>
      </p:sp>
    </p:spTree>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大模型推理流程总览</a:t>
            </a:r>
            <a:endParaRPr lang="en-US" sz="1100"/>
          </a:p>
        </p:txBody>
      </p:sp>
      <p:sp>
        <p:nvSpPr>
          <p:cNvPr id="3" name="Freeform 3"/>
          <p:cNvSpPr/>
          <p:nvPr/>
        </p:nvSpPr>
        <p:spPr>
          <a:xfrm>
            <a:off x="381000" y="3259466"/>
            <a:ext cx="11430000" cy="114300"/>
          </a:xfrm>
          <a:custGeom>
            <a:avLst/>
            <a:gdLst/>
            <a:ahLst/>
            <a:cxnLst/>
            <a:rect l="l" t="t" r="r" b="b"/>
            <a:pathLst>
              <a:path w="11430000" h="114300">
                <a:moveTo>
                  <a:pt x="0" y="0"/>
                </a:moveTo>
                <a:lnTo>
                  <a:pt x="11430000" y="0"/>
                </a:lnTo>
                <a:lnTo>
                  <a:pt x="11430000" y="114300"/>
                </a:lnTo>
                <a:lnTo>
                  <a:pt x="0" y="1143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98318" y="2476768"/>
            <a:ext cx="1034760" cy="1034760"/>
          </a:xfrm>
          <a:custGeom>
            <a:avLst/>
            <a:gdLst/>
            <a:ahLst/>
            <a:cxnLst/>
            <a:rect l="l" t="t" r="r" b="b"/>
            <a:pathLst>
              <a:path w="1034760" h="1034760">
                <a:moveTo>
                  <a:pt x="517381" y="0"/>
                </a:moveTo>
                <a:lnTo>
                  <a:pt x="517381" y="0"/>
                </a:lnTo>
                <a:cubicBezTo>
                  <a:pt x="802931" y="0"/>
                  <a:pt x="1034760" y="231831"/>
                  <a:pt x="1034760" y="517381"/>
                </a:cubicBezTo>
                <a:lnTo>
                  <a:pt x="1034760" y="517381"/>
                </a:lnTo>
                <a:cubicBezTo>
                  <a:pt x="1034760" y="802931"/>
                  <a:pt x="802931" y="1034760"/>
                  <a:pt x="517381" y="1034760"/>
                </a:cubicBezTo>
                <a:lnTo>
                  <a:pt x="517381" y="1034760"/>
                </a:lnTo>
                <a:cubicBezTo>
                  <a:pt x="231831" y="1034760"/>
                  <a:pt x="0" y="802931"/>
                  <a:pt x="0" y="517381"/>
                </a:cubicBezTo>
                <a:lnTo>
                  <a:pt x="0" y="517381"/>
                </a:lnTo>
                <a:cubicBezTo>
                  <a:pt x="0" y="231831"/>
                  <a:pt x="231831" y="0"/>
                  <a:pt x="517381" y="0"/>
                </a:cubicBezTo>
                <a:close/>
              </a:path>
            </a:pathLst>
          </a:custGeom>
          <a:solidFill>
            <a:srgbClr val="00CED1">
              <a:alpha val="100000"/>
            </a:srgbClr>
          </a:solidFill>
          <a:ln w="38100">
            <a:solidFill>
              <a:srgbClr val="FFFFFF">
                <a:alpha val="100000"/>
              </a:srgbClr>
            </a:solidFill>
            <a:prstDash val="solid"/>
          </a:ln>
          <a:effectLst>
            <a:outerShdw blurRad="228600" dist="1905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5" name="AutoShape 5"/>
          <p:cNvSpPr/>
          <p:nvPr/>
        </p:nvSpPr>
        <p:spPr>
          <a:xfrm>
            <a:off x="858062" y="2821372"/>
            <a:ext cx="257175"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6" name="AutoShape 6"/>
          <p:cNvSpPr/>
          <p:nvPr/>
        </p:nvSpPr>
        <p:spPr>
          <a:xfrm>
            <a:off x="533346" y="3678492"/>
            <a:ext cx="8572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输入处理</a:t>
            </a:r>
            <a:endParaRPr lang="en-US" sz="1100"/>
          </a:p>
        </p:txBody>
      </p:sp>
      <p:sp>
        <p:nvSpPr>
          <p:cNvPr id="7" name="AutoShape 7"/>
          <p:cNvSpPr/>
          <p:nvPr/>
        </p:nvSpPr>
        <p:spPr>
          <a:xfrm>
            <a:off x="533346" y="3945164"/>
            <a:ext cx="8382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文字→数字</a:t>
            </a:r>
            <a:endParaRPr lang="en-US" sz="1100"/>
          </a:p>
        </p:txBody>
      </p:sp>
      <p:sp>
        <p:nvSpPr>
          <p:cNvPr id="8" name="Freeform 8"/>
          <p:cNvSpPr/>
          <p:nvPr/>
        </p:nvSpPr>
        <p:spPr>
          <a:xfrm>
            <a:off x="4005100" y="2552940"/>
            <a:ext cx="882360" cy="882360"/>
          </a:xfrm>
          <a:custGeom>
            <a:avLst/>
            <a:gdLst/>
            <a:ahLst/>
            <a:cxnLst/>
            <a:rect l="l" t="t" r="r" b="b"/>
            <a:pathLst>
              <a:path w="882360" h="882360">
                <a:moveTo>
                  <a:pt x="441181" y="0"/>
                </a:moveTo>
                <a:lnTo>
                  <a:pt x="441181" y="0"/>
                </a:lnTo>
                <a:cubicBezTo>
                  <a:pt x="684675" y="0"/>
                  <a:pt x="882360" y="197686"/>
                  <a:pt x="882360" y="441181"/>
                </a:cubicBezTo>
                <a:lnTo>
                  <a:pt x="882360" y="441181"/>
                </a:lnTo>
                <a:cubicBezTo>
                  <a:pt x="882360" y="684675"/>
                  <a:pt x="684675" y="882360"/>
                  <a:pt x="441181" y="882360"/>
                </a:cubicBezTo>
                <a:lnTo>
                  <a:pt x="441181" y="882360"/>
                </a:lnTo>
                <a:cubicBezTo>
                  <a:pt x="197686" y="882360"/>
                  <a:pt x="0" y="684675"/>
                  <a:pt x="0" y="441181"/>
                </a:cubicBezTo>
                <a:lnTo>
                  <a:pt x="0" y="441181"/>
                </a:lnTo>
                <a:cubicBezTo>
                  <a:pt x="0" y="197686"/>
                  <a:pt x="197686" y="0"/>
                  <a:pt x="441181" y="0"/>
                </a:cubicBezTo>
                <a:close/>
              </a:path>
            </a:pathLst>
          </a:custGeom>
          <a:solidFill>
            <a:srgbClr val="FFFFFF">
              <a:alpha val="100000"/>
            </a:srgbClr>
          </a:solidFill>
          <a:ln w="38100">
            <a:solidFill>
              <a:srgbClr val="5B92E5">
                <a:alpha val="100000"/>
              </a:srgbClr>
            </a:solid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9" name="AutoShape 9"/>
          <p:cNvSpPr/>
          <p:nvPr/>
        </p:nvSpPr>
        <p:spPr>
          <a:xfrm>
            <a:off x="4380688" y="2840320"/>
            <a:ext cx="23812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10" name="AutoShape 10"/>
          <p:cNvSpPr/>
          <p:nvPr/>
        </p:nvSpPr>
        <p:spPr>
          <a:xfrm>
            <a:off x="4063955" y="3602320"/>
            <a:ext cx="8572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逐层计算</a:t>
            </a:r>
            <a:endParaRPr lang="en-US" sz="1100"/>
          </a:p>
        </p:txBody>
      </p:sp>
      <p:sp>
        <p:nvSpPr>
          <p:cNvPr id="11" name="AutoShape 11"/>
          <p:cNvSpPr/>
          <p:nvPr/>
        </p:nvSpPr>
        <p:spPr>
          <a:xfrm>
            <a:off x="4140128" y="3868992"/>
            <a:ext cx="685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理解语义</a:t>
            </a:r>
            <a:endParaRPr lang="en-US" sz="1100"/>
          </a:p>
        </p:txBody>
      </p:sp>
      <p:sp>
        <p:nvSpPr>
          <p:cNvPr id="12" name="Freeform 12"/>
          <p:cNvSpPr/>
          <p:nvPr/>
        </p:nvSpPr>
        <p:spPr>
          <a:xfrm>
            <a:off x="7459536" y="2552940"/>
            <a:ext cx="882360" cy="882360"/>
          </a:xfrm>
          <a:custGeom>
            <a:avLst/>
            <a:gdLst/>
            <a:ahLst/>
            <a:cxnLst/>
            <a:rect l="l" t="t" r="r" b="b"/>
            <a:pathLst>
              <a:path w="882360" h="882360">
                <a:moveTo>
                  <a:pt x="441181" y="0"/>
                </a:moveTo>
                <a:lnTo>
                  <a:pt x="441181" y="0"/>
                </a:lnTo>
                <a:cubicBezTo>
                  <a:pt x="684675" y="0"/>
                  <a:pt x="882360" y="197686"/>
                  <a:pt x="882360" y="441181"/>
                </a:cubicBezTo>
                <a:lnTo>
                  <a:pt x="882360" y="441181"/>
                </a:lnTo>
                <a:cubicBezTo>
                  <a:pt x="882360" y="684675"/>
                  <a:pt x="684675" y="882360"/>
                  <a:pt x="441181" y="882360"/>
                </a:cubicBezTo>
                <a:lnTo>
                  <a:pt x="441181" y="882360"/>
                </a:lnTo>
                <a:cubicBezTo>
                  <a:pt x="197686" y="882360"/>
                  <a:pt x="0" y="684675"/>
                  <a:pt x="0" y="441181"/>
                </a:cubicBezTo>
                <a:lnTo>
                  <a:pt x="0" y="441181"/>
                </a:lnTo>
                <a:cubicBezTo>
                  <a:pt x="0" y="197686"/>
                  <a:pt x="197686" y="0"/>
                  <a:pt x="441181" y="0"/>
                </a:cubicBezTo>
                <a:close/>
              </a:path>
            </a:pathLst>
          </a:custGeom>
          <a:solidFill>
            <a:srgbClr val="FFFFFF">
              <a:alpha val="100000"/>
            </a:srgbClr>
          </a:solidFill>
          <a:ln w="38100">
            <a:solidFill>
              <a:srgbClr val="5B92E5">
                <a:alpha val="100000"/>
              </a:srgbClr>
            </a:solid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3" name="AutoShape 13"/>
          <p:cNvSpPr/>
          <p:nvPr/>
        </p:nvSpPr>
        <p:spPr>
          <a:xfrm>
            <a:off x="7832148" y="2840320"/>
            <a:ext cx="24765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3</a:t>
            </a:r>
            <a:endParaRPr lang="en-US" sz="1100"/>
          </a:p>
        </p:txBody>
      </p:sp>
      <p:sp>
        <p:nvSpPr>
          <p:cNvPr id="14" name="AutoShape 14"/>
          <p:cNvSpPr/>
          <p:nvPr/>
        </p:nvSpPr>
        <p:spPr>
          <a:xfrm>
            <a:off x="7708891" y="3602320"/>
            <a:ext cx="4762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预测</a:t>
            </a:r>
            <a:endParaRPr lang="en-US" sz="1100"/>
          </a:p>
        </p:txBody>
      </p:sp>
      <p:sp>
        <p:nvSpPr>
          <p:cNvPr id="15" name="AutoShape 15"/>
          <p:cNvSpPr/>
          <p:nvPr/>
        </p:nvSpPr>
        <p:spPr>
          <a:xfrm>
            <a:off x="7594564" y="3868992"/>
            <a:ext cx="685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计算概率</a:t>
            </a:r>
            <a:endParaRPr lang="en-US" sz="1100"/>
          </a:p>
        </p:txBody>
      </p:sp>
      <p:sp>
        <p:nvSpPr>
          <p:cNvPr id="16" name="Freeform 16"/>
          <p:cNvSpPr/>
          <p:nvPr/>
        </p:nvSpPr>
        <p:spPr>
          <a:xfrm>
            <a:off x="10913972" y="2552940"/>
            <a:ext cx="882360" cy="882360"/>
          </a:xfrm>
          <a:custGeom>
            <a:avLst/>
            <a:gdLst/>
            <a:ahLst/>
            <a:cxnLst/>
            <a:rect l="l" t="t" r="r" b="b"/>
            <a:pathLst>
              <a:path w="882360" h="882360">
                <a:moveTo>
                  <a:pt x="441181" y="0"/>
                </a:moveTo>
                <a:lnTo>
                  <a:pt x="441181" y="0"/>
                </a:lnTo>
                <a:cubicBezTo>
                  <a:pt x="684675" y="0"/>
                  <a:pt x="882360" y="197686"/>
                  <a:pt x="882360" y="441181"/>
                </a:cubicBezTo>
                <a:lnTo>
                  <a:pt x="882360" y="441181"/>
                </a:lnTo>
                <a:cubicBezTo>
                  <a:pt x="882360" y="684675"/>
                  <a:pt x="684675" y="882360"/>
                  <a:pt x="441181" y="882360"/>
                </a:cubicBezTo>
                <a:lnTo>
                  <a:pt x="441181" y="882360"/>
                </a:lnTo>
                <a:cubicBezTo>
                  <a:pt x="197686" y="882360"/>
                  <a:pt x="0" y="684675"/>
                  <a:pt x="0" y="441181"/>
                </a:cubicBezTo>
                <a:lnTo>
                  <a:pt x="0" y="441181"/>
                </a:lnTo>
                <a:cubicBezTo>
                  <a:pt x="0" y="197686"/>
                  <a:pt x="197686" y="0"/>
                  <a:pt x="441181" y="0"/>
                </a:cubicBezTo>
                <a:close/>
              </a:path>
            </a:pathLst>
          </a:custGeom>
          <a:solidFill>
            <a:srgbClr val="FFFFFF">
              <a:alpha val="100000"/>
            </a:srgbClr>
          </a:solidFill>
          <a:ln w="38100">
            <a:solidFill>
              <a:srgbClr val="5B92E5">
                <a:alpha val="100000"/>
              </a:srgbClr>
            </a:solid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7" name="AutoShape 17"/>
          <p:cNvSpPr/>
          <p:nvPr/>
        </p:nvSpPr>
        <p:spPr>
          <a:xfrm>
            <a:off x="11286719" y="2840320"/>
            <a:ext cx="24765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4</a:t>
            </a:r>
            <a:endParaRPr lang="en-US" sz="1100"/>
          </a:p>
        </p:txBody>
      </p:sp>
      <p:sp>
        <p:nvSpPr>
          <p:cNvPr id="18" name="AutoShape 18"/>
          <p:cNvSpPr/>
          <p:nvPr/>
        </p:nvSpPr>
        <p:spPr>
          <a:xfrm>
            <a:off x="11163327" y="3602320"/>
            <a:ext cx="4762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生成</a:t>
            </a:r>
            <a:endParaRPr lang="en-US" sz="1100"/>
          </a:p>
        </p:txBody>
      </p:sp>
      <p:sp>
        <p:nvSpPr>
          <p:cNvPr id="19" name="AutoShape 19"/>
          <p:cNvSpPr/>
          <p:nvPr/>
        </p:nvSpPr>
        <p:spPr>
          <a:xfrm>
            <a:off x="11049000" y="3868992"/>
            <a:ext cx="685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循环迭代</a:t>
            </a:r>
            <a:endParaRPr lang="en-US" sz="1100"/>
          </a:p>
        </p:txBody>
      </p:sp>
    </p:spTree>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838033"/>
            <a:ext cx="11658600" cy="6858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3600" b="0" i="0" u="none" strike="noStrike">
                <a:solidFill>
                  <a:srgbClr val="5B92E5"/>
                </a:solidFill>
                <a:latin typeface="Alimama ShuHeiTi"/>
                <a:ea typeface="Alimama ShuHeiTi"/>
                <a:cs typeface="Alimama ShuHeiTi"/>
                <a:sym typeface="Alimama ShuHeiTi"/>
              </a:rPr>
              <a:t>Step 1 输入处理：文字→数字</a:t>
            </a:r>
            <a:endParaRPr lang="en-US" sz="1100"/>
          </a:p>
        </p:txBody>
      </p:sp>
      <p:sp>
        <p:nvSpPr>
          <p:cNvPr id="10" name="Freeform 10"/>
          <p:cNvSpPr/>
          <p:nvPr/>
        </p:nvSpPr>
        <p:spPr>
          <a:xfrm>
            <a:off x="2512760" y="2781328"/>
            <a:ext cx="1066800" cy="1066800"/>
          </a:xfrm>
          <a:custGeom>
            <a:avLst/>
            <a:gdLst/>
            <a:ahLst/>
            <a:cxnLst/>
            <a:rect l="l" t="t" r="r" b="b"/>
            <a:pathLst>
              <a:path w="1066800" h="1066800">
                <a:moveTo>
                  <a:pt x="533400" y="0"/>
                </a:moveTo>
                <a:lnTo>
                  <a:pt x="533400" y="0"/>
                </a:lnTo>
                <a:cubicBezTo>
                  <a:pt x="827791" y="0"/>
                  <a:pt x="1066800" y="239009"/>
                  <a:pt x="1066800" y="533400"/>
                </a:cubicBezTo>
                <a:lnTo>
                  <a:pt x="1066800" y="533400"/>
                </a:lnTo>
                <a:cubicBezTo>
                  <a:pt x="1066800" y="827791"/>
                  <a:pt x="827791" y="1066800"/>
                  <a:pt x="533400" y="1066800"/>
                </a:cubicBezTo>
                <a:lnTo>
                  <a:pt x="533400" y="1066800"/>
                </a:lnTo>
                <a:cubicBezTo>
                  <a:pt x="239009" y="1066800"/>
                  <a:pt x="0" y="827791"/>
                  <a:pt x="0" y="533400"/>
                </a:cubicBezTo>
                <a:lnTo>
                  <a:pt x="0" y="533400"/>
                </a:lnTo>
                <a:cubicBezTo>
                  <a:pt x="0" y="239009"/>
                  <a:pt x="239009" y="0"/>
                  <a:pt x="5334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2874656" y="3143250"/>
            <a:ext cx="339082" cy="342900"/>
          </a:xfrm>
          <a:custGeom>
            <a:avLst/>
            <a:gdLst/>
            <a:ahLst/>
            <a:cxnLst/>
            <a:rect l="l" t="t" r="r" b="b"/>
            <a:pathLst>
              <a:path w="339082" h="342900">
                <a:moveTo>
                  <a:pt x="128588" y="171450"/>
                </a:moveTo>
                <a:lnTo>
                  <a:pt x="102133" y="197904"/>
                </a:lnTo>
                <a:cubicBezTo>
                  <a:pt x="93696" y="194622"/>
                  <a:pt x="84586" y="192881"/>
                  <a:pt x="75009" y="192881"/>
                </a:cubicBezTo>
                <a:cubicBezTo>
                  <a:pt x="33553" y="192881"/>
                  <a:pt x="0" y="226435"/>
                  <a:pt x="0" y="267891"/>
                </a:cubicBezTo>
                <a:cubicBezTo>
                  <a:pt x="0" y="309347"/>
                  <a:pt x="33553" y="342900"/>
                  <a:pt x="75009" y="342900"/>
                </a:cubicBezTo>
                <a:cubicBezTo>
                  <a:pt x="116465" y="342900"/>
                  <a:pt x="150019" y="309347"/>
                  <a:pt x="150019" y="267891"/>
                </a:cubicBezTo>
                <a:cubicBezTo>
                  <a:pt x="150019" y="258314"/>
                  <a:pt x="148210" y="249204"/>
                  <a:pt x="144996" y="240767"/>
                </a:cubicBezTo>
                <a:lnTo>
                  <a:pt x="334328" y="51435"/>
                </a:lnTo>
                <a:cubicBezTo>
                  <a:pt x="339082" y="46680"/>
                  <a:pt x="339082" y="39045"/>
                  <a:pt x="334328" y="34290"/>
                </a:cubicBezTo>
                <a:cubicBezTo>
                  <a:pt x="315374" y="15337"/>
                  <a:pt x="284701" y="15337"/>
                  <a:pt x="265748" y="34290"/>
                </a:cubicBezTo>
                <a:lnTo>
                  <a:pt x="171450" y="128588"/>
                </a:lnTo>
                <a:lnTo>
                  <a:pt x="144996" y="102133"/>
                </a:lnTo>
                <a:cubicBezTo>
                  <a:pt x="148278" y="93696"/>
                  <a:pt x="150019" y="84586"/>
                  <a:pt x="150019" y="75009"/>
                </a:cubicBezTo>
                <a:cubicBezTo>
                  <a:pt x="150019" y="33553"/>
                  <a:pt x="116465" y="0"/>
                  <a:pt x="75009" y="0"/>
                </a:cubicBezTo>
                <a:cubicBezTo>
                  <a:pt x="33553" y="0"/>
                  <a:pt x="0" y="33553"/>
                  <a:pt x="0" y="75009"/>
                </a:cubicBezTo>
                <a:cubicBezTo>
                  <a:pt x="0" y="116465"/>
                  <a:pt x="33553" y="150019"/>
                  <a:pt x="75009" y="150019"/>
                </a:cubicBezTo>
                <a:cubicBezTo>
                  <a:pt x="84586" y="150019"/>
                  <a:pt x="93696" y="148210"/>
                  <a:pt x="102133" y="144996"/>
                </a:cubicBezTo>
                <a:lnTo>
                  <a:pt x="128588" y="171450"/>
                </a:lnTo>
                <a:close/>
                <a:moveTo>
                  <a:pt x="194154" y="237016"/>
                </a:moveTo>
                <a:lnTo>
                  <a:pt x="265748" y="308610"/>
                </a:lnTo>
                <a:cubicBezTo>
                  <a:pt x="284701" y="327563"/>
                  <a:pt x="315374" y="327563"/>
                  <a:pt x="334328" y="308610"/>
                </a:cubicBezTo>
                <a:cubicBezTo>
                  <a:pt x="339082" y="303855"/>
                  <a:pt x="339082" y="296220"/>
                  <a:pt x="334328" y="291465"/>
                </a:cubicBezTo>
                <a:lnTo>
                  <a:pt x="237016" y="194154"/>
                </a:lnTo>
                <a:lnTo>
                  <a:pt x="194154" y="237016"/>
                </a:lnTo>
                <a:close/>
                <a:moveTo>
                  <a:pt x="42862" y="75009"/>
                </a:moveTo>
                <a:cubicBezTo>
                  <a:pt x="42862" y="57267"/>
                  <a:pt x="57267" y="42862"/>
                  <a:pt x="75009" y="42862"/>
                </a:cubicBezTo>
                <a:cubicBezTo>
                  <a:pt x="92752" y="42862"/>
                  <a:pt x="107156" y="57267"/>
                  <a:pt x="107156" y="75009"/>
                </a:cubicBezTo>
                <a:cubicBezTo>
                  <a:pt x="107156" y="92752"/>
                  <a:pt x="92752" y="107156"/>
                  <a:pt x="75009" y="107156"/>
                </a:cubicBezTo>
                <a:cubicBezTo>
                  <a:pt x="57267" y="107156"/>
                  <a:pt x="42862" y="92752"/>
                  <a:pt x="42862" y="75009"/>
                </a:cubicBezTo>
                <a:close/>
                <a:moveTo>
                  <a:pt x="75009" y="235744"/>
                </a:moveTo>
                <a:cubicBezTo>
                  <a:pt x="92752" y="235744"/>
                  <a:pt x="107156" y="250148"/>
                  <a:pt x="107156" y="267891"/>
                </a:cubicBezTo>
                <a:cubicBezTo>
                  <a:pt x="107156" y="285633"/>
                  <a:pt x="92752" y="300038"/>
                  <a:pt x="75009" y="300038"/>
                </a:cubicBezTo>
                <a:cubicBezTo>
                  <a:pt x="57267" y="300038"/>
                  <a:pt x="42862" y="285633"/>
                  <a:pt x="42862" y="267891"/>
                </a:cubicBezTo>
                <a:cubicBezTo>
                  <a:pt x="42862" y="250148"/>
                  <a:pt x="57267" y="235744"/>
                  <a:pt x="75009" y="235744"/>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2728155" y="4000360"/>
            <a:ext cx="7334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1.1 分词</a:t>
            </a:r>
            <a:endParaRPr lang="en-US" sz="1100"/>
          </a:p>
        </p:txBody>
      </p:sp>
      <p:sp>
        <p:nvSpPr>
          <p:cNvPr id="13" name="AutoShape 13"/>
          <p:cNvSpPr/>
          <p:nvPr/>
        </p:nvSpPr>
        <p:spPr>
          <a:xfrm>
            <a:off x="2703179" y="4343205"/>
            <a:ext cx="685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切分文本</a:t>
            </a:r>
            <a:endParaRPr lang="en-US" sz="1100"/>
          </a:p>
        </p:txBody>
      </p:sp>
      <p:sp>
        <p:nvSpPr>
          <p:cNvPr id="14" name="Freeform 14"/>
          <p:cNvSpPr/>
          <p:nvPr/>
        </p:nvSpPr>
        <p:spPr>
          <a:xfrm>
            <a:off x="3922243" y="3567513"/>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5" y="6976"/>
                </a:cubicBezTo>
                <a:cubicBezTo>
                  <a:pt x="158948" y="13952"/>
                  <a:pt x="158948" y="25282"/>
                  <a:pt x="165925" y="32258"/>
                </a:cubicBezTo>
                <a:lnTo>
                  <a:pt x="224749" y="91083"/>
                </a:lnTo>
                <a:lnTo>
                  <a:pt x="17859" y="91083"/>
                </a:lnTo>
                <a:cubicBezTo>
                  <a:pt x="7981" y="91083"/>
                  <a:pt x="0" y="99064"/>
                  <a:pt x="0" y="108942"/>
                </a:cubicBezTo>
                <a:cubicBezTo>
                  <a:pt x="0" y="118820"/>
                  <a:pt x="7981" y="126801"/>
                  <a:pt x="17859" y="126801"/>
                </a:cubicBezTo>
                <a:lnTo>
                  <a:pt x="224749" y="126801"/>
                </a:lnTo>
                <a:lnTo>
                  <a:pt x="165925" y="185626"/>
                </a:lnTo>
                <a:cubicBezTo>
                  <a:pt x="158948" y="192602"/>
                  <a:pt x="158948" y="203932"/>
                  <a:pt x="165925"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4546023" y="2781328"/>
            <a:ext cx="1066800" cy="1066800"/>
          </a:xfrm>
          <a:custGeom>
            <a:avLst/>
            <a:gdLst/>
            <a:ahLst/>
            <a:cxnLst/>
            <a:rect l="l" t="t" r="r" b="b"/>
            <a:pathLst>
              <a:path w="1066800" h="1066800">
                <a:moveTo>
                  <a:pt x="533400" y="0"/>
                </a:moveTo>
                <a:lnTo>
                  <a:pt x="533400" y="0"/>
                </a:lnTo>
                <a:cubicBezTo>
                  <a:pt x="827791" y="0"/>
                  <a:pt x="1066800" y="239009"/>
                  <a:pt x="1066800" y="533400"/>
                </a:cubicBezTo>
                <a:lnTo>
                  <a:pt x="1066800" y="533400"/>
                </a:lnTo>
                <a:cubicBezTo>
                  <a:pt x="1066800" y="827791"/>
                  <a:pt x="827791" y="1066800"/>
                  <a:pt x="533400" y="1066800"/>
                </a:cubicBezTo>
                <a:lnTo>
                  <a:pt x="533400" y="1066800"/>
                </a:lnTo>
                <a:cubicBezTo>
                  <a:pt x="239009" y="1066800"/>
                  <a:pt x="0" y="827791"/>
                  <a:pt x="0" y="533400"/>
                </a:cubicBezTo>
                <a:lnTo>
                  <a:pt x="0" y="533400"/>
                </a:lnTo>
                <a:cubicBezTo>
                  <a:pt x="0" y="239009"/>
                  <a:pt x="239009" y="0"/>
                  <a:pt x="5334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4907851" y="3143250"/>
            <a:ext cx="343035" cy="342900"/>
          </a:xfrm>
          <a:custGeom>
            <a:avLst/>
            <a:gdLst/>
            <a:ahLst/>
            <a:cxnLst/>
            <a:rect l="l" t="t" r="r" b="b"/>
            <a:pathLst>
              <a:path w="343035" h="342900">
                <a:moveTo>
                  <a:pt x="44202" y="153032"/>
                </a:moveTo>
                <a:cubicBezTo>
                  <a:pt x="53109" y="90748"/>
                  <a:pt x="106755" y="42862"/>
                  <a:pt x="171517" y="42862"/>
                </a:cubicBezTo>
                <a:cubicBezTo>
                  <a:pt x="207013" y="42862"/>
                  <a:pt x="239158" y="57262"/>
                  <a:pt x="262466" y="80501"/>
                </a:cubicBezTo>
                <a:cubicBezTo>
                  <a:pt x="262600" y="80635"/>
                  <a:pt x="262733" y="80769"/>
                  <a:pt x="262868" y="80903"/>
                </a:cubicBezTo>
                <a:lnTo>
                  <a:pt x="267958" y="85725"/>
                </a:lnTo>
                <a:lnTo>
                  <a:pt x="235878" y="85725"/>
                </a:lnTo>
                <a:cubicBezTo>
                  <a:pt x="224024" y="85725"/>
                  <a:pt x="214446" y="95302"/>
                  <a:pt x="214446" y="107156"/>
                </a:cubicBezTo>
                <a:cubicBezTo>
                  <a:pt x="214446" y="119010"/>
                  <a:pt x="224024" y="128588"/>
                  <a:pt x="235878" y="128588"/>
                </a:cubicBezTo>
                <a:lnTo>
                  <a:pt x="321603" y="128588"/>
                </a:lnTo>
                <a:cubicBezTo>
                  <a:pt x="333457" y="128588"/>
                  <a:pt x="343034" y="119010"/>
                  <a:pt x="343034" y="107156"/>
                </a:cubicBezTo>
                <a:lnTo>
                  <a:pt x="343034" y="21431"/>
                </a:lnTo>
                <a:cubicBezTo>
                  <a:pt x="343034" y="9577"/>
                  <a:pt x="333457" y="0"/>
                  <a:pt x="321603" y="0"/>
                </a:cubicBezTo>
                <a:cubicBezTo>
                  <a:pt x="309749" y="0"/>
                  <a:pt x="300171" y="9577"/>
                  <a:pt x="300171" y="21431"/>
                </a:cubicBezTo>
                <a:lnTo>
                  <a:pt x="300171" y="57194"/>
                </a:lnTo>
                <a:lnTo>
                  <a:pt x="292604" y="50029"/>
                </a:lnTo>
                <a:cubicBezTo>
                  <a:pt x="261596" y="19154"/>
                  <a:pt x="218733" y="0"/>
                  <a:pt x="171517" y="0"/>
                </a:cubicBezTo>
                <a:cubicBezTo>
                  <a:pt x="85121" y="0"/>
                  <a:pt x="13662" y="63892"/>
                  <a:pt x="1808" y="147005"/>
                </a:cubicBezTo>
                <a:cubicBezTo>
                  <a:pt x="134" y="158725"/>
                  <a:pt x="8238" y="169575"/>
                  <a:pt x="19958" y="171249"/>
                </a:cubicBezTo>
                <a:cubicBezTo>
                  <a:pt x="31679" y="172923"/>
                  <a:pt x="42528" y="164753"/>
                  <a:pt x="44202" y="153098"/>
                </a:cubicBezTo>
                <a:close/>
                <a:moveTo>
                  <a:pt x="341226" y="195895"/>
                </a:moveTo>
                <a:cubicBezTo>
                  <a:pt x="342900" y="184175"/>
                  <a:pt x="334729" y="173325"/>
                  <a:pt x="323076" y="171651"/>
                </a:cubicBezTo>
                <a:cubicBezTo>
                  <a:pt x="311423" y="169977"/>
                  <a:pt x="300506" y="178147"/>
                  <a:pt x="298832" y="189802"/>
                </a:cubicBezTo>
                <a:cubicBezTo>
                  <a:pt x="289925" y="252085"/>
                  <a:pt x="236279" y="299971"/>
                  <a:pt x="171517" y="299971"/>
                </a:cubicBezTo>
                <a:cubicBezTo>
                  <a:pt x="136021" y="299971"/>
                  <a:pt x="103876" y="285571"/>
                  <a:pt x="80568" y="262332"/>
                </a:cubicBezTo>
                <a:cubicBezTo>
                  <a:pt x="80434" y="262198"/>
                  <a:pt x="80301" y="262064"/>
                  <a:pt x="80166" y="261930"/>
                </a:cubicBezTo>
                <a:lnTo>
                  <a:pt x="75076" y="257108"/>
                </a:lnTo>
                <a:lnTo>
                  <a:pt x="107156" y="257108"/>
                </a:lnTo>
                <a:cubicBezTo>
                  <a:pt x="119010" y="257108"/>
                  <a:pt x="128588" y="247531"/>
                  <a:pt x="128588" y="235676"/>
                </a:cubicBezTo>
                <a:cubicBezTo>
                  <a:pt x="128588" y="223824"/>
                  <a:pt x="119010" y="214246"/>
                  <a:pt x="107156" y="214246"/>
                </a:cubicBezTo>
                <a:lnTo>
                  <a:pt x="21498" y="214312"/>
                </a:lnTo>
                <a:cubicBezTo>
                  <a:pt x="15806" y="214312"/>
                  <a:pt x="10315" y="216590"/>
                  <a:pt x="6295" y="220675"/>
                </a:cubicBezTo>
                <a:cubicBezTo>
                  <a:pt x="2277" y="224760"/>
                  <a:pt x="0" y="230185"/>
                  <a:pt x="67" y="235944"/>
                </a:cubicBezTo>
                <a:lnTo>
                  <a:pt x="738" y="321000"/>
                </a:lnTo>
                <a:cubicBezTo>
                  <a:pt x="804" y="332854"/>
                  <a:pt x="10515" y="342364"/>
                  <a:pt x="22369" y="342229"/>
                </a:cubicBezTo>
                <a:cubicBezTo>
                  <a:pt x="34222" y="342096"/>
                  <a:pt x="43733" y="332452"/>
                  <a:pt x="43599" y="320598"/>
                </a:cubicBezTo>
                <a:lnTo>
                  <a:pt x="43331" y="286107"/>
                </a:lnTo>
                <a:lnTo>
                  <a:pt x="50497" y="292871"/>
                </a:lnTo>
                <a:cubicBezTo>
                  <a:pt x="81506" y="323746"/>
                  <a:pt x="124301" y="342900"/>
                  <a:pt x="171517" y="342900"/>
                </a:cubicBezTo>
                <a:cubicBezTo>
                  <a:pt x="257913" y="342900"/>
                  <a:pt x="329372" y="279008"/>
                  <a:pt x="341226" y="195895"/>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4650067" y="4000360"/>
            <a:ext cx="9525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1.2 向量化</a:t>
            </a:r>
            <a:endParaRPr lang="en-US" sz="1100"/>
          </a:p>
        </p:txBody>
      </p:sp>
      <p:sp>
        <p:nvSpPr>
          <p:cNvPr id="18" name="AutoShape 18"/>
          <p:cNvSpPr/>
          <p:nvPr/>
        </p:nvSpPr>
        <p:spPr>
          <a:xfrm>
            <a:off x="4736441" y="4343205"/>
            <a:ext cx="685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转为向量</a:t>
            </a:r>
            <a:endParaRPr lang="en-US" sz="1100"/>
          </a:p>
        </p:txBody>
      </p:sp>
      <p:sp>
        <p:nvSpPr>
          <p:cNvPr id="19" name="Freeform 19"/>
          <p:cNvSpPr/>
          <p:nvPr/>
        </p:nvSpPr>
        <p:spPr>
          <a:xfrm>
            <a:off x="5955506" y="3567513"/>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6579285" y="2781328"/>
            <a:ext cx="1066800" cy="1066800"/>
          </a:xfrm>
          <a:custGeom>
            <a:avLst/>
            <a:gdLst/>
            <a:ahLst/>
            <a:cxnLst/>
            <a:rect l="l" t="t" r="r" b="b"/>
            <a:pathLst>
              <a:path w="1066800" h="1066800">
                <a:moveTo>
                  <a:pt x="533400" y="0"/>
                </a:moveTo>
                <a:lnTo>
                  <a:pt x="533400" y="0"/>
                </a:lnTo>
                <a:cubicBezTo>
                  <a:pt x="827791" y="0"/>
                  <a:pt x="1066800" y="239009"/>
                  <a:pt x="1066800" y="533400"/>
                </a:cubicBezTo>
                <a:lnTo>
                  <a:pt x="1066800" y="533400"/>
                </a:lnTo>
                <a:cubicBezTo>
                  <a:pt x="1066800" y="827791"/>
                  <a:pt x="827791" y="1066800"/>
                  <a:pt x="533400" y="1066800"/>
                </a:cubicBezTo>
                <a:lnTo>
                  <a:pt x="533400" y="1066800"/>
                </a:lnTo>
                <a:cubicBezTo>
                  <a:pt x="239009" y="1066800"/>
                  <a:pt x="0" y="827791"/>
                  <a:pt x="0" y="533400"/>
                </a:cubicBezTo>
                <a:lnTo>
                  <a:pt x="0" y="533400"/>
                </a:lnTo>
                <a:cubicBezTo>
                  <a:pt x="0" y="239009"/>
                  <a:pt x="239009" y="0"/>
                  <a:pt x="5334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6983976" y="3143250"/>
            <a:ext cx="257242" cy="347052"/>
          </a:xfrm>
          <a:custGeom>
            <a:avLst/>
            <a:gdLst/>
            <a:ahLst/>
            <a:cxnLst/>
            <a:rect l="l" t="t" r="r" b="b"/>
            <a:pathLst>
              <a:path w="257242" h="347052">
                <a:moveTo>
                  <a:pt x="67" y="126310"/>
                </a:moveTo>
                <a:cubicBezTo>
                  <a:pt x="67" y="56525"/>
                  <a:pt x="57663" y="0"/>
                  <a:pt x="128654" y="0"/>
                </a:cubicBezTo>
                <a:cubicBezTo>
                  <a:pt x="199646" y="0"/>
                  <a:pt x="257242" y="56525"/>
                  <a:pt x="257242" y="126310"/>
                </a:cubicBezTo>
                <a:cubicBezTo>
                  <a:pt x="257242" y="206209"/>
                  <a:pt x="176741" y="301981"/>
                  <a:pt x="143121" y="338480"/>
                </a:cubicBezTo>
                <a:cubicBezTo>
                  <a:pt x="135218" y="347052"/>
                  <a:pt x="122024" y="347052"/>
                  <a:pt x="114121" y="338480"/>
                </a:cubicBezTo>
                <a:cubicBezTo>
                  <a:pt x="80501" y="301981"/>
                  <a:pt x="0" y="206209"/>
                  <a:pt x="0" y="126310"/>
                </a:cubicBezTo>
                <a:close/>
                <a:moveTo>
                  <a:pt x="128654" y="171450"/>
                </a:moveTo>
                <a:cubicBezTo>
                  <a:pt x="152311" y="171450"/>
                  <a:pt x="171517" y="152244"/>
                  <a:pt x="171517" y="128588"/>
                </a:cubicBezTo>
                <a:cubicBezTo>
                  <a:pt x="171517" y="104931"/>
                  <a:pt x="152311" y="85725"/>
                  <a:pt x="128654" y="85725"/>
                </a:cubicBezTo>
                <a:cubicBezTo>
                  <a:pt x="104998" y="85725"/>
                  <a:pt x="85792" y="104931"/>
                  <a:pt x="85792" y="128588"/>
                </a:cubicBezTo>
                <a:cubicBezTo>
                  <a:pt x="85792" y="152244"/>
                  <a:pt x="104998" y="171450"/>
                  <a:pt x="128654" y="17145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6585509" y="4000360"/>
            <a:ext cx="11525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1.3 位置编码</a:t>
            </a:r>
            <a:endParaRPr lang="en-US" sz="1100"/>
          </a:p>
        </p:txBody>
      </p:sp>
      <p:sp>
        <p:nvSpPr>
          <p:cNvPr id="23" name="AutoShape 23"/>
          <p:cNvSpPr/>
          <p:nvPr/>
        </p:nvSpPr>
        <p:spPr>
          <a:xfrm>
            <a:off x="6769704" y="4343205"/>
            <a:ext cx="685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添加位置</a:t>
            </a:r>
            <a:endParaRPr lang="en-US" sz="1100"/>
          </a:p>
        </p:txBody>
      </p:sp>
      <p:sp>
        <p:nvSpPr>
          <p:cNvPr id="24" name="Freeform 24"/>
          <p:cNvSpPr/>
          <p:nvPr/>
        </p:nvSpPr>
        <p:spPr>
          <a:xfrm>
            <a:off x="7988769" y="3567513"/>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8612548" y="2781328"/>
            <a:ext cx="1066800" cy="1066800"/>
          </a:xfrm>
          <a:custGeom>
            <a:avLst/>
            <a:gdLst/>
            <a:ahLst/>
            <a:cxnLst/>
            <a:rect l="l" t="t" r="r" b="b"/>
            <a:pathLst>
              <a:path w="1066800" h="1066800">
                <a:moveTo>
                  <a:pt x="533400" y="0"/>
                </a:moveTo>
                <a:lnTo>
                  <a:pt x="533400" y="0"/>
                </a:lnTo>
                <a:cubicBezTo>
                  <a:pt x="827791" y="0"/>
                  <a:pt x="1066800" y="239009"/>
                  <a:pt x="1066800" y="533400"/>
                </a:cubicBezTo>
                <a:lnTo>
                  <a:pt x="1066800" y="533400"/>
                </a:lnTo>
                <a:cubicBezTo>
                  <a:pt x="1066800" y="827791"/>
                  <a:pt x="827791" y="1066800"/>
                  <a:pt x="533400" y="1066800"/>
                </a:cubicBezTo>
                <a:lnTo>
                  <a:pt x="533400" y="1066800"/>
                </a:lnTo>
                <a:cubicBezTo>
                  <a:pt x="239009" y="1066800"/>
                  <a:pt x="0" y="827791"/>
                  <a:pt x="0" y="533400"/>
                </a:cubicBezTo>
                <a:lnTo>
                  <a:pt x="0" y="533400"/>
                </a:lnTo>
                <a:cubicBezTo>
                  <a:pt x="0" y="239009"/>
                  <a:pt x="239009" y="0"/>
                  <a:pt x="5334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6" name="Freeform 26"/>
          <p:cNvSpPr/>
          <p:nvPr/>
        </p:nvSpPr>
        <p:spPr>
          <a:xfrm>
            <a:off x="8974444" y="3142111"/>
            <a:ext cx="342900" cy="345178"/>
          </a:xfrm>
          <a:custGeom>
            <a:avLst/>
            <a:gdLst/>
            <a:ahLst/>
            <a:cxnLst/>
            <a:rect l="l" t="t" r="r" b="b"/>
            <a:pathLst>
              <a:path w="342900" h="345178">
                <a:moveTo>
                  <a:pt x="155711" y="4623"/>
                </a:moveTo>
                <a:cubicBezTo>
                  <a:pt x="165691" y="0"/>
                  <a:pt x="177209" y="0"/>
                  <a:pt x="187189" y="4623"/>
                </a:cubicBezTo>
                <a:lnTo>
                  <a:pt x="333591" y="72264"/>
                </a:lnTo>
                <a:cubicBezTo>
                  <a:pt x="339283" y="74876"/>
                  <a:pt x="342900" y="80569"/>
                  <a:pt x="342900" y="86864"/>
                </a:cubicBezTo>
                <a:cubicBezTo>
                  <a:pt x="342900" y="93159"/>
                  <a:pt x="339283" y="98852"/>
                  <a:pt x="333591" y="101464"/>
                </a:cubicBezTo>
                <a:lnTo>
                  <a:pt x="187189" y="169105"/>
                </a:lnTo>
                <a:cubicBezTo>
                  <a:pt x="177209" y="173728"/>
                  <a:pt x="165691" y="173728"/>
                  <a:pt x="155711" y="169105"/>
                </a:cubicBezTo>
                <a:lnTo>
                  <a:pt x="9309" y="101464"/>
                </a:lnTo>
                <a:cubicBezTo>
                  <a:pt x="3617" y="98785"/>
                  <a:pt x="0" y="93092"/>
                  <a:pt x="0" y="86864"/>
                </a:cubicBezTo>
                <a:cubicBezTo>
                  <a:pt x="0" y="80636"/>
                  <a:pt x="3617" y="74876"/>
                  <a:pt x="9309" y="72264"/>
                </a:cubicBezTo>
                <a:lnTo>
                  <a:pt x="155711" y="4623"/>
                </a:lnTo>
                <a:close/>
                <a:moveTo>
                  <a:pt x="32214" y="147407"/>
                </a:moveTo>
                <a:lnTo>
                  <a:pt x="142250" y="198240"/>
                </a:lnTo>
                <a:cubicBezTo>
                  <a:pt x="160801" y="206812"/>
                  <a:pt x="182166" y="206812"/>
                  <a:pt x="200717" y="198240"/>
                </a:cubicBezTo>
                <a:lnTo>
                  <a:pt x="310752" y="147407"/>
                </a:lnTo>
                <a:lnTo>
                  <a:pt x="333591" y="157989"/>
                </a:lnTo>
                <a:cubicBezTo>
                  <a:pt x="339283" y="160601"/>
                  <a:pt x="342900" y="166294"/>
                  <a:pt x="342900" y="172589"/>
                </a:cubicBezTo>
                <a:cubicBezTo>
                  <a:pt x="342900" y="178884"/>
                  <a:pt x="339283" y="184577"/>
                  <a:pt x="333591" y="187189"/>
                </a:cubicBezTo>
                <a:lnTo>
                  <a:pt x="187189" y="254830"/>
                </a:lnTo>
                <a:cubicBezTo>
                  <a:pt x="177209" y="259453"/>
                  <a:pt x="165691" y="259453"/>
                  <a:pt x="155711" y="254830"/>
                </a:cubicBezTo>
                <a:lnTo>
                  <a:pt x="9309" y="187189"/>
                </a:lnTo>
                <a:cubicBezTo>
                  <a:pt x="3617" y="184510"/>
                  <a:pt x="0" y="178817"/>
                  <a:pt x="0" y="172589"/>
                </a:cubicBezTo>
                <a:cubicBezTo>
                  <a:pt x="0" y="166361"/>
                  <a:pt x="3617" y="160601"/>
                  <a:pt x="9309" y="157989"/>
                </a:cubicBezTo>
                <a:lnTo>
                  <a:pt x="32148" y="147407"/>
                </a:lnTo>
                <a:close/>
                <a:moveTo>
                  <a:pt x="9309" y="243714"/>
                </a:moveTo>
                <a:lnTo>
                  <a:pt x="32148" y="233132"/>
                </a:lnTo>
                <a:lnTo>
                  <a:pt x="142183" y="283965"/>
                </a:lnTo>
                <a:cubicBezTo>
                  <a:pt x="160734" y="292537"/>
                  <a:pt x="182099" y="292537"/>
                  <a:pt x="200650" y="283965"/>
                </a:cubicBezTo>
                <a:lnTo>
                  <a:pt x="310686" y="233132"/>
                </a:lnTo>
                <a:lnTo>
                  <a:pt x="333524" y="243714"/>
                </a:lnTo>
                <a:cubicBezTo>
                  <a:pt x="339217" y="246326"/>
                  <a:pt x="342833" y="252019"/>
                  <a:pt x="342833" y="258314"/>
                </a:cubicBezTo>
                <a:cubicBezTo>
                  <a:pt x="342833" y="264609"/>
                  <a:pt x="339217" y="270302"/>
                  <a:pt x="333524" y="272914"/>
                </a:cubicBezTo>
                <a:lnTo>
                  <a:pt x="187122" y="340555"/>
                </a:lnTo>
                <a:cubicBezTo>
                  <a:pt x="177143" y="345178"/>
                  <a:pt x="165623" y="345178"/>
                  <a:pt x="155644" y="340555"/>
                </a:cubicBezTo>
                <a:lnTo>
                  <a:pt x="9309" y="272914"/>
                </a:lnTo>
                <a:cubicBezTo>
                  <a:pt x="3617" y="270235"/>
                  <a:pt x="0" y="264542"/>
                  <a:pt x="0" y="258314"/>
                </a:cubicBezTo>
                <a:cubicBezTo>
                  <a:pt x="0" y="252086"/>
                  <a:pt x="3617" y="246326"/>
                  <a:pt x="9309" y="243714"/>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8619043" y="4000360"/>
            <a:ext cx="11525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1.4 最终表示</a:t>
            </a:r>
            <a:endParaRPr lang="en-US" sz="1100"/>
          </a:p>
        </p:txBody>
      </p:sp>
      <p:sp>
        <p:nvSpPr>
          <p:cNvPr id="28" name="AutoShape 28"/>
          <p:cNvSpPr/>
          <p:nvPr/>
        </p:nvSpPr>
        <p:spPr>
          <a:xfrm>
            <a:off x="8802967" y="4343205"/>
            <a:ext cx="685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向量相加</a:t>
            </a:r>
            <a:endParaRPr lang="en-US" sz="1100"/>
          </a:p>
        </p:txBody>
      </p:sp>
      <p:sp>
        <p:nvSpPr>
          <p:cNvPr id="29" name="Freeform 29"/>
          <p:cNvSpPr/>
          <p:nvPr/>
        </p:nvSpPr>
        <p:spPr>
          <a:xfrm>
            <a:off x="4699451" y="4952730"/>
            <a:ext cx="2790825" cy="571500"/>
          </a:xfrm>
          <a:custGeom>
            <a:avLst/>
            <a:gdLst/>
            <a:ahLst/>
            <a:cxnLst/>
            <a:rect l="l" t="t" r="r" b="b"/>
            <a:pathLst>
              <a:path w="2790825" h="571500">
                <a:moveTo>
                  <a:pt x="114300" y="0"/>
                </a:moveTo>
                <a:lnTo>
                  <a:pt x="2676525" y="0"/>
                </a:lnTo>
                <a:cubicBezTo>
                  <a:pt x="2739608" y="0"/>
                  <a:pt x="2790825" y="51217"/>
                  <a:pt x="2790825" y="114300"/>
                </a:cubicBezTo>
                <a:lnTo>
                  <a:pt x="2790825" y="457200"/>
                </a:lnTo>
                <a:cubicBezTo>
                  <a:pt x="2790825" y="520283"/>
                  <a:pt x="2739608" y="571500"/>
                  <a:pt x="2676525" y="571500"/>
                </a:cubicBezTo>
                <a:lnTo>
                  <a:pt x="114300" y="571500"/>
                </a:lnTo>
                <a:cubicBezTo>
                  <a:pt x="51217" y="571500"/>
                  <a:pt x="0" y="520283"/>
                  <a:pt x="0" y="457200"/>
                </a:cubicBezTo>
                <a:lnTo>
                  <a:pt x="0" y="114300"/>
                </a:lnTo>
                <a:cubicBezTo>
                  <a:pt x="0" y="51217"/>
                  <a:pt x="51217" y="0"/>
                  <a:pt x="1143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0" name="Freeform 30"/>
          <p:cNvSpPr/>
          <p:nvPr/>
        </p:nvSpPr>
        <p:spPr>
          <a:xfrm>
            <a:off x="5049387" y="5139714"/>
            <a:ext cx="128588" cy="176808"/>
          </a:xfrm>
          <a:custGeom>
            <a:avLst/>
            <a:gdLst/>
            <a:ahLst/>
            <a:cxnLst/>
            <a:rect l="l" t="t" r="r" b="b"/>
            <a:pathLst>
              <a:path w="128588" h="176808">
                <a:moveTo>
                  <a:pt x="98081" y="128588"/>
                </a:moveTo>
                <a:cubicBezTo>
                  <a:pt x="100526" y="121120"/>
                  <a:pt x="105415" y="114356"/>
                  <a:pt x="110940" y="108529"/>
                </a:cubicBezTo>
                <a:cubicBezTo>
                  <a:pt x="121890" y="97010"/>
                  <a:pt x="128587" y="81439"/>
                  <a:pt x="128587" y="64294"/>
                </a:cubicBezTo>
                <a:cubicBezTo>
                  <a:pt x="128587" y="28799"/>
                  <a:pt x="99789" y="0"/>
                  <a:pt x="64294" y="0"/>
                </a:cubicBezTo>
                <a:cubicBezTo>
                  <a:pt x="28799" y="0"/>
                  <a:pt x="0" y="28799"/>
                  <a:pt x="0" y="64294"/>
                </a:cubicBezTo>
                <a:cubicBezTo>
                  <a:pt x="0" y="81439"/>
                  <a:pt x="6697" y="97010"/>
                  <a:pt x="17647" y="108529"/>
                </a:cubicBezTo>
                <a:cubicBezTo>
                  <a:pt x="23172" y="114356"/>
                  <a:pt x="28095" y="121120"/>
                  <a:pt x="30505" y="128588"/>
                </a:cubicBezTo>
                <a:lnTo>
                  <a:pt x="98048" y="128588"/>
                </a:lnTo>
                <a:close/>
                <a:moveTo>
                  <a:pt x="96441" y="144661"/>
                </a:moveTo>
                <a:lnTo>
                  <a:pt x="32148" y="144661"/>
                </a:lnTo>
                <a:lnTo>
                  <a:pt x="32148" y="150019"/>
                </a:lnTo>
                <a:cubicBezTo>
                  <a:pt x="32148" y="164821"/>
                  <a:pt x="44135" y="176808"/>
                  <a:pt x="58936" y="176808"/>
                </a:cubicBezTo>
                <a:lnTo>
                  <a:pt x="69652" y="176808"/>
                </a:lnTo>
                <a:cubicBezTo>
                  <a:pt x="84452" y="176808"/>
                  <a:pt x="96441" y="164821"/>
                  <a:pt x="96441" y="150019"/>
                </a:cubicBezTo>
                <a:lnTo>
                  <a:pt x="96441" y="144661"/>
                </a:lnTo>
                <a:close/>
                <a:moveTo>
                  <a:pt x="61615" y="37504"/>
                </a:moveTo>
                <a:cubicBezTo>
                  <a:pt x="48287" y="37504"/>
                  <a:pt x="37504" y="48287"/>
                  <a:pt x="37504" y="61615"/>
                </a:cubicBezTo>
                <a:cubicBezTo>
                  <a:pt x="37504" y="66069"/>
                  <a:pt x="33922" y="69652"/>
                  <a:pt x="29468" y="69652"/>
                </a:cubicBezTo>
                <a:cubicBezTo>
                  <a:pt x="25014" y="69652"/>
                  <a:pt x="21431" y="66069"/>
                  <a:pt x="21431" y="61615"/>
                </a:cubicBezTo>
                <a:cubicBezTo>
                  <a:pt x="21431" y="39413"/>
                  <a:pt x="39413" y="21431"/>
                  <a:pt x="61615" y="21431"/>
                </a:cubicBezTo>
                <a:cubicBezTo>
                  <a:pt x="66069" y="21431"/>
                  <a:pt x="69652" y="25014"/>
                  <a:pt x="69652" y="29468"/>
                </a:cubicBezTo>
                <a:cubicBezTo>
                  <a:pt x="69652" y="33922"/>
                  <a:pt x="66069" y="37504"/>
                  <a:pt x="61615" y="37504"/>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5237505" y="5105074"/>
            <a:ext cx="2217999" cy="211448"/>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dirty="0" err="1">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统一示例</a:t>
            </a:r>
            <a:r>
              <a:rPr lang="en-US" sz="1400" b="0" i="0" u="none" strike="noStrike" dirty="0">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a:t>
            </a:r>
            <a:r>
              <a:rPr lang="en-US" sz="1400" b="1" i="0" u="none" strike="noStrike" dirty="0">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"What is AI?"</a:t>
            </a:r>
            <a:endParaRPr lang="en-US" sz="1100" dirty="0"/>
          </a:p>
        </p:txBody>
      </p:sp>
    </p:spTree>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6186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1.1 分词</a:t>
            </a:r>
            <a:endParaRPr lang="en-US" sz="1100"/>
          </a:p>
        </p:txBody>
      </p:sp>
      <p:sp>
        <p:nvSpPr>
          <p:cNvPr id="10" name="AutoShape 10"/>
          <p:cNvSpPr/>
          <p:nvPr/>
        </p:nvSpPr>
        <p:spPr>
          <a:xfrm>
            <a:off x="333375" y="1792839"/>
            <a:ext cx="11525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将句子切分成Token，并查询词表获得Token ID</a:t>
            </a:r>
            <a:endParaRPr lang="en-US" sz="1100"/>
          </a:p>
        </p:txBody>
      </p:sp>
      <p:sp>
        <p:nvSpPr>
          <p:cNvPr id="11" name="Freeform 11"/>
          <p:cNvSpPr/>
          <p:nvPr/>
        </p:nvSpPr>
        <p:spPr>
          <a:xfrm>
            <a:off x="381000" y="2288028"/>
            <a:ext cx="11430000" cy="1752600"/>
          </a:xfrm>
          <a:custGeom>
            <a:avLst/>
            <a:gdLst/>
            <a:ahLst/>
            <a:cxnLst/>
            <a:rect l="l" t="t" r="r" b="b"/>
            <a:pathLst>
              <a:path w="11430000" h="1752600">
                <a:moveTo>
                  <a:pt x="152406" y="0"/>
                </a:moveTo>
                <a:lnTo>
                  <a:pt x="11277594" y="0"/>
                </a:lnTo>
                <a:cubicBezTo>
                  <a:pt x="11361765" y="0"/>
                  <a:pt x="11430000" y="68235"/>
                  <a:pt x="11430000" y="152406"/>
                </a:cubicBezTo>
                <a:lnTo>
                  <a:pt x="11430000" y="1600194"/>
                </a:lnTo>
                <a:cubicBezTo>
                  <a:pt x="11430000" y="1684365"/>
                  <a:pt x="11361765" y="1752600"/>
                  <a:pt x="11277594" y="1752600"/>
                </a:cubicBezTo>
                <a:lnTo>
                  <a:pt x="152406" y="1752600"/>
                </a:lnTo>
                <a:cubicBezTo>
                  <a:pt x="68235" y="1752600"/>
                  <a:pt x="0" y="1684365"/>
                  <a:pt x="0" y="1600194"/>
                </a:cubicBezTo>
                <a:lnTo>
                  <a:pt x="0" y="152406"/>
                </a:lnTo>
                <a:cubicBezTo>
                  <a:pt x="0" y="68290"/>
                  <a:pt x="68290" y="0"/>
                  <a:pt x="152406"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5002789" y="2516544"/>
            <a:ext cx="142875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"What is AI?"</a:t>
            </a:r>
            <a:endParaRPr lang="en-US" sz="1100"/>
          </a:p>
        </p:txBody>
      </p:sp>
      <p:sp>
        <p:nvSpPr>
          <p:cNvPr id="13" name="Freeform 13"/>
          <p:cNvSpPr/>
          <p:nvPr/>
        </p:nvSpPr>
        <p:spPr>
          <a:xfrm>
            <a:off x="6460520" y="2581716"/>
            <a:ext cx="229984" cy="174308"/>
          </a:xfrm>
          <a:custGeom>
            <a:avLst/>
            <a:gdLst/>
            <a:ahLst/>
            <a:cxnLst/>
            <a:rect l="l" t="t" r="r" b="b"/>
            <a:pathLst>
              <a:path w="229984" h="174308">
                <a:moveTo>
                  <a:pt x="224403" y="97245"/>
                </a:moveTo>
                <a:cubicBezTo>
                  <a:pt x="229984" y="91662"/>
                  <a:pt x="229984" y="82600"/>
                  <a:pt x="224403" y="77019"/>
                </a:cubicBezTo>
                <a:lnTo>
                  <a:pt x="152966" y="5581"/>
                </a:lnTo>
                <a:cubicBezTo>
                  <a:pt x="147384" y="0"/>
                  <a:pt x="138321" y="0"/>
                  <a:pt x="132740" y="5581"/>
                </a:cubicBezTo>
                <a:cubicBezTo>
                  <a:pt x="127159" y="11162"/>
                  <a:pt x="127159" y="20226"/>
                  <a:pt x="132740" y="25807"/>
                </a:cubicBezTo>
                <a:lnTo>
                  <a:pt x="179799" y="72866"/>
                </a:lnTo>
                <a:lnTo>
                  <a:pt x="14288" y="72866"/>
                </a:lnTo>
                <a:cubicBezTo>
                  <a:pt x="6386" y="72866"/>
                  <a:pt x="0" y="79251"/>
                  <a:pt x="0" y="87154"/>
                </a:cubicBezTo>
                <a:cubicBezTo>
                  <a:pt x="0" y="95057"/>
                  <a:pt x="6386" y="101442"/>
                  <a:pt x="14288" y="101442"/>
                </a:cubicBezTo>
                <a:lnTo>
                  <a:pt x="179799" y="101442"/>
                </a:lnTo>
                <a:lnTo>
                  <a:pt x="132740" y="148501"/>
                </a:lnTo>
                <a:cubicBezTo>
                  <a:pt x="127159" y="154082"/>
                  <a:pt x="127159" y="163146"/>
                  <a:pt x="132740" y="168727"/>
                </a:cubicBezTo>
                <a:cubicBezTo>
                  <a:pt x="138321" y="174308"/>
                  <a:pt x="147384" y="174308"/>
                  <a:pt x="152966" y="168727"/>
                </a:cubicBezTo>
                <a:lnTo>
                  <a:pt x="224403" y="9728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6869987" y="2526013"/>
            <a:ext cx="282569" cy="285750"/>
          </a:xfrm>
          <a:custGeom>
            <a:avLst/>
            <a:gdLst/>
            <a:ahLst/>
            <a:cxnLst/>
            <a:rect l="l" t="t" r="r" b="b"/>
            <a:pathLst>
              <a:path w="282569" h="285750">
                <a:moveTo>
                  <a:pt x="107156" y="142875"/>
                </a:moveTo>
                <a:lnTo>
                  <a:pt x="85112" y="164920"/>
                </a:lnTo>
                <a:cubicBezTo>
                  <a:pt x="78080" y="162185"/>
                  <a:pt x="70489" y="160734"/>
                  <a:pt x="62508" y="160734"/>
                </a:cubicBezTo>
                <a:cubicBezTo>
                  <a:pt x="27962" y="160734"/>
                  <a:pt x="0" y="188695"/>
                  <a:pt x="0" y="223242"/>
                </a:cubicBezTo>
                <a:cubicBezTo>
                  <a:pt x="0" y="257788"/>
                  <a:pt x="27962" y="285750"/>
                  <a:pt x="62508" y="285750"/>
                </a:cubicBezTo>
                <a:cubicBezTo>
                  <a:pt x="97055" y="285750"/>
                  <a:pt x="125016" y="257788"/>
                  <a:pt x="125016" y="223242"/>
                </a:cubicBezTo>
                <a:cubicBezTo>
                  <a:pt x="125016" y="215261"/>
                  <a:pt x="123509" y="207670"/>
                  <a:pt x="120830" y="200638"/>
                </a:cubicBezTo>
                <a:lnTo>
                  <a:pt x="278606" y="42863"/>
                </a:lnTo>
                <a:cubicBezTo>
                  <a:pt x="282569" y="38900"/>
                  <a:pt x="282569" y="32537"/>
                  <a:pt x="278606" y="28575"/>
                </a:cubicBezTo>
                <a:cubicBezTo>
                  <a:pt x="262813" y="12781"/>
                  <a:pt x="237251" y="12781"/>
                  <a:pt x="221456" y="28575"/>
                </a:cubicBezTo>
                <a:lnTo>
                  <a:pt x="142875" y="107156"/>
                </a:lnTo>
                <a:lnTo>
                  <a:pt x="120830" y="85112"/>
                </a:lnTo>
                <a:cubicBezTo>
                  <a:pt x="123565" y="78080"/>
                  <a:pt x="125016" y="70489"/>
                  <a:pt x="125016" y="62508"/>
                </a:cubicBezTo>
                <a:cubicBezTo>
                  <a:pt x="125016" y="27962"/>
                  <a:pt x="97055" y="0"/>
                  <a:pt x="62508" y="0"/>
                </a:cubicBezTo>
                <a:cubicBezTo>
                  <a:pt x="27962" y="0"/>
                  <a:pt x="0" y="27962"/>
                  <a:pt x="0" y="62508"/>
                </a:cubicBezTo>
                <a:cubicBezTo>
                  <a:pt x="0" y="97055"/>
                  <a:pt x="27962" y="125016"/>
                  <a:pt x="62508" y="125016"/>
                </a:cubicBezTo>
                <a:cubicBezTo>
                  <a:pt x="70489" y="125016"/>
                  <a:pt x="78080" y="123509"/>
                  <a:pt x="85112" y="120830"/>
                </a:cubicBezTo>
                <a:lnTo>
                  <a:pt x="107156" y="142875"/>
                </a:lnTo>
                <a:close/>
                <a:moveTo>
                  <a:pt x="161795" y="197514"/>
                </a:moveTo>
                <a:lnTo>
                  <a:pt x="221456" y="257175"/>
                </a:lnTo>
                <a:cubicBezTo>
                  <a:pt x="237251" y="272969"/>
                  <a:pt x="262813" y="272969"/>
                  <a:pt x="278606" y="257175"/>
                </a:cubicBezTo>
                <a:cubicBezTo>
                  <a:pt x="282569" y="253213"/>
                  <a:pt x="282569" y="246850"/>
                  <a:pt x="278606" y="242887"/>
                </a:cubicBezTo>
                <a:lnTo>
                  <a:pt x="197514" y="161795"/>
                </a:lnTo>
                <a:lnTo>
                  <a:pt x="161795" y="197514"/>
                </a:lnTo>
                <a:close/>
                <a:moveTo>
                  <a:pt x="35719" y="62508"/>
                </a:moveTo>
                <a:cubicBezTo>
                  <a:pt x="35719" y="47723"/>
                  <a:pt x="47723" y="35719"/>
                  <a:pt x="62508" y="35719"/>
                </a:cubicBezTo>
                <a:cubicBezTo>
                  <a:pt x="77293" y="35719"/>
                  <a:pt x="89298" y="47723"/>
                  <a:pt x="89298" y="62508"/>
                </a:cubicBezTo>
                <a:cubicBezTo>
                  <a:pt x="89298" y="77293"/>
                  <a:pt x="77293" y="89298"/>
                  <a:pt x="62508" y="89298"/>
                </a:cubicBezTo>
                <a:cubicBezTo>
                  <a:pt x="47723" y="89298"/>
                  <a:pt x="35719" y="77293"/>
                  <a:pt x="35719" y="62508"/>
                </a:cubicBezTo>
                <a:close/>
                <a:moveTo>
                  <a:pt x="62508" y="196452"/>
                </a:moveTo>
                <a:cubicBezTo>
                  <a:pt x="77293" y="196452"/>
                  <a:pt x="89298" y="208457"/>
                  <a:pt x="89298" y="223242"/>
                </a:cubicBezTo>
                <a:cubicBezTo>
                  <a:pt x="89298" y="238027"/>
                  <a:pt x="77293" y="250031"/>
                  <a:pt x="62508" y="250031"/>
                </a:cubicBezTo>
                <a:cubicBezTo>
                  <a:pt x="47723" y="250031"/>
                  <a:pt x="35719" y="238027"/>
                  <a:pt x="35719" y="223242"/>
                </a:cubicBezTo>
                <a:cubicBezTo>
                  <a:pt x="35719" y="208457"/>
                  <a:pt x="47723" y="196452"/>
                  <a:pt x="62508" y="196452"/>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3989000" y="3058547"/>
            <a:ext cx="950768" cy="741218"/>
          </a:xfrm>
          <a:custGeom>
            <a:avLst/>
            <a:gdLst/>
            <a:ahLst/>
            <a:cxnLst/>
            <a:rect l="l" t="t" r="r" b="b"/>
            <a:pathLst>
              <a:path w="950768" h="741218">
                <a:moveTo>
                  <a:pt x="114303" y="0"/>
                </a:moveTo>
                <a:lnTo>
                  <a:pt x="836465" y="0"/>
                </a:lnTo>
                <a:cubicBezTo>
                  <a:pt x="899593" y="0"/>
                  <a:pt x="950768" y="51175"/>
                  <a:pt x="950768" y="114303"/>
                </a:cubicBezTo>
                <a:lnTo>
                  <a:pt x="950768" y="626915"/>
                </a:lnTo>
                <a:cubicBezTo>
                  <a:pt x="950768" y="690043"/>
                  <a:pt x="899593" y="741218"/>
                  <a:pt x="836465" y="741218"/>
                </a:cubicBezTo>
                <a:lnTo>
                  <a:pt x="114303" y="741218"/>
                </a:lnTo>
                <a:cubicBezTo>
                  <a:pt x="51218" y="741218"/>
                  <a:pt x="0" y="690001"/>
                  <a:pt x="0" y="626915"/>
                </a:cubicBezTo>
                <a:lnTo>
                  <a:pt x="0" y="114303"/>
                </a:lnTo>
                <a:cubicBezTo>
                  <a:pt x="0" y="51218"/>
                  <a:pt x="51218" y="0"/>
                  <a:pt x="114303"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6" name="AutoShape 16"/>
          <p:cNvSpPr/>
          <p:nvPr/>
        </p:nvSpPr>
        <p:spPr>
          <a:xfrm>
            <a:off x="4140534" y="3181406"/>
            <a:ext cx="64770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What</a:t>
            </a:r>
            <a:endParaRPr lang="en-US" sz="1100"/>
          </a:p>
        </p:txBody>
      </p:sp>
      <p:sp>
        <p:nvSpPr>
          <p:cNvPr id="17" name="AutoShape 17"/>
          <p:cNvSpPr/>
          <p:nvPr/>
        </p:nvSpPr>
        <p:spPr>
          <a:xfrm>
            <a:off x="4150059" y="3448078"/>
            <a:ext cx="62865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1234</a:t>
            </a:r>
            <a:endParaRPr lang="en-US" sz="1100"/>
          </a:p>
        </p:txBody>
      </p:sp>
      <p:sp>
        <p:nvSpPr>
          <p:cNvPr id="18" name="Freeform 18"/>
          <p:cNvSpPr/>
          <p:nvPr/>
        </p:nvSpPr>
        <p:spPr>
          <a:xfrm>
            <a:off x="5111434" y="3058547"/>
            <a:ext cx="893618" cy="741218"/>
          </a:xfrm>
          <a:custGeom>
            <a:avLst/>
            <a:gdLst/>
            <a:ahLst/>
            <a:cxnLst/>
            <a:rect l="l" t="t" r="r" b="b"/>
            <a:pathLst>
              <a:path w="893618" h="741218">
                <a:moveTo>
                  <a:pt x="114303" y="0"/>
                </a:moveTo>
                <a:lnTo>
                  <a:pt x="779315" y="0"/>
                </a:lnTo>
                <a:cubicBezTo>
                  <a:pt x="842401" y="0"/>
                  <a:pt x="893618" y="51218"/>
                  <a:pt x="893618" y="114303"/>
                </a:cubicBezTo>
                <a:lnTo>
                  <a:pt x="893618" y="626915"/>
                </a:lnTo>
                <a:cubicBezTo>
                  <a:pt x="893618" y="690001"/>
                  <a:pt x="842401" y="741218"/>
                  <a:pt x="779315" y="741218"/>
                </a:cubicBezTo>
                <a:lnTo>
                  <a:pt x="114303" y="741218"/>
                </a:lnTo>
                <a:cubicBezTo>
                  <a:pt x="51218" y="741218"/>
                  <a:pt x="0" y="690001"/>
                  <a:pt x="0" y="626915"/>
                </a:cubicBezTo>
                <a:lnTo>
                  <a:pt x="0" y="114303"/>
                </a:lnTo>
                <a:cubicBezTo>
                  <a:pt x="0" y="51218"/>
                  <a:pt x="51218" y="0"/>
                  <a:pt x="114303"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9" name="AutoShape 19"/>
          <p:cNvSpPr/>
          <p:nvPr/>
        </p:nvSpPr>
        <p:spPr>
          <a:xfrm>
            <a:off x="5262968" y="3181406"/>
            <a:ext cx="5905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is</a:t>
            </a:r>
            <a:endParaRPr lang="en-US" sz="1100"/>
          </a:p>
        </p:txBody>
      </p:sp>
      <p:sp>
        <p:nvSpPr>
          <p:cNvPr id="20" name="AutoShape 20"/>
          <p:cNvSpPr/>
          <p:nvPr/>
        </p:nvSpPr>
        <p:spPr>
          <a:xfrm>
            <a:off x="5272493" y="3448078"/>
            <a:ext cx="5715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567</a:t>
            </a:r>
            <a:endParaRPr lang="en-US" sz="1100"/>
          </a:p>
        </p:txBody>
      </p:sp>
      <p:sp>
        <p:nvSpPr>
          <p:cNvPr id="21" name="Freeform 21"/>
          <p:cNvSpPr/>
          <p:nvPr/>
        </p:nvSpPr>
        <p:spPr>
          <a:xfrm>
            <a:off x="6170955" y="3058547"/>
            <a:ext cx="969818" cy="741218"/>
          </a:xfrm>
          <a:custGeom>
            <a:avLst/>
            <a:gdLst/>
            <a:ahLst/>
            <a:cxnLst/>
            <a:rect l="l" t="t" r="r" b="b"/>
            <a:pathLst>
              <a:path w="969818" h="741218">
                <a:moveTo>
                  <a:pt x="114303" y="0"/>
                </a:moveTo>
                <a:lnTo>
                  <a:pt x="855515" y="0"/>
                </a:lnTo>
                <a:cubicBezTo>
                  <a:pt x="918643" y="0"/>
                  <a:pt x="969818" y="51175"/>
                  <a:pt x="969818" y="114303"/>
                </a:cubicBezTo>
                <a:lnTo>
                  <a:pt x="969818" y="626915"/>
                </a:lnTo>
                <a:cubicBezTo>
                  <a:pt x="969818" y="690043"/>
                  <a:pt x="918643" y="741218"/>
                  <a:pt x="855515" y="741218"/>
                </a:cubicBezTo>
                <a:lnTo>
                  <a:pt x="114303" y="741218"/>
                </a:lnTo>
                <a:cubicBezTo>
                  <a:pt x="51218" y="741218"/>
                  <a:pt x="0" y="690001"/>
                  <a:pt x="0" y="626915"/>
                </a:cubicBezTo>
                <a:lnTo>
                  <a:pt x="0" y="114303"/>
                </a:lnTo>
                <a:cubicBezTo>
                  <a:pt x="0" y="51218"/>
                  <a:pt x="51218" y="0"/>
                  <a:pt x="114303" y="0"/>
                </a:cubicBezTo>
                <a:close/>
              </a:path>
            </a:pathLst>
          </a:custGeom>
          <a:solidFill>
            <a:srgbClr val="FFFFFF">
              <a:alpha val="100000"/>
            </a:srgbClr>
          </a:solid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22" name="AutoShape 22"/>
          <p:cNvSpPr/>
          <p:nvPr/>
        </p:nvSpPr>
        <p:spPr>
          <a:xfrm>
            <a:off x="6322489" y="3181406"/>
            <a:ext cx="6667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100"/>
          </a:p>
        </p:txBody>
      </p:sp>
      <p:sp>
        <p:nvSpPr>
          <p:cNvPr id="23" name="AutoShape 23"/>
          <p:cNvSpPr/>
          <p:nvPr/>
        </p:nvSpPr>
        <p:spPr>
          <a:xfrm>
            <a:off x="6332014" y="3448078"/>
            <a:ext cx="647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8901</a:t>
            </a:r>
            <a:endParaRPr lang="en-US" sz="1100"/>
          </a:p>
        </p:txBody>
      </p:sp>
      <p:sp>
        <p:nvSpPr>
          <p:cNvPr id="24" name="Freeform 24"/>
          <p:cNvSpPr/>
          <p:nvPr/>
        </p:nvSpPr>
        <p:spPr>
          <a:xfrm>
            <a:off x="7310031" y="3058547"/>
            <a:ext cx="893618" cy="741218"/>
          </a:xfrm>
          <a:custGeom>
            <a:avLst/>
            <a:gdLst/>
            <a:ahLst/>
            <a:cxnLst/>
            <a:rect l="l" t="t" r="r" b="b"/>
            <a:pathLst>
              <a:path w="893618" h="741218">
                <a:moveTo>
                  <a:pt x="114303" y="0"/>
                </a:moveTo>
                <a:lnTo>
                  <a:pt x="779315" y="0"/>
                </a:lnTo>
                <a:cubicBezTo>
                  <a:pt x="842401" y="0"/>
                  <a:pt x="893618" y="51218"/>
                  <a:pt x="893618" y="114303"/>
                </a:cubicBezTo>
                <a:lnTo>
                  <a:pt x="893618" y="626915"/>
                </a:lnTo>
                <a:cubicBezTo>
                  <a:pt x="893618" y="690001"/>
                  <a:pt x="842401" y="741218"/>
                  <a:pt x="779315" y="741218"/>
                </a:cubicBezTo>
                <a:lnTo>
                  <a:pt x="114303" y="741218"/>
                </a:lnTo>
                <a:cubicBezTo>
                  <a:pt x="51218" y="741218"/>
                  <a:pt x="0" y="690001"/>
                  <a:pt x="0" y="626915"/>
                </a:cubicBezTo>
                <a:lnTo>
                  <a:pt x="0" y="114303"/>
                </a:lnTo>
                <a:cubicBezTo>
                  <a:pt x="0" y="51218"/>
                  <a:pt x="51218" y="0"/>
                  <a:pt x="114303"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25" name="AutoShape 25"/>
          <p:cNvSpPr/>
          <p:nvPr/>
        </p:nvSpPr>
        <p:spPr>
          <a:xfrm>
            <a:off x="7461565" y="3181406"/>
            <a:ext cx="5905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26" name="AutoShape 26"/>
          <p:cNvSpPr/>
          <p:nvPr/>
        </p:nvSpPr>
        <p:spPr>
          <a:xfrm>
            <a:off x="7471090" y="3448078"/>
            <a:ext cx="5715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234</a:t>
            </a:r>
            <a:endParaRPr lang="en-US" sz="1100"/>
          </a:p>
        </p:txBody>
      </p:sp>
      <p:sp>
        <p:nvSpPr>
          <p:cNvPr id="27" name="Freeform 27"/>
          <p:cNvSpPr/>
          <p:nvPr/>
        </p:nvSpPr>
        <p:spPr>
          <a:xfrm>
            <a:off x="1322705" y="4265295"/>
            <a:ext cx="1135380" cy="1104900"/>
          </a:xfrm>
          <a:custGeom>
            <a:avLst/>
            <a:gdLst/>
            <a:ahLst/>
            <a:cxnLst/>
            <a:rect l="l" t="t" r="r" b="b"/>
            <a:pathLst>
              <a:path w="1135380" h="1104900">
                <a:moveTo>
                  <a:pt x="122746" y="0"/>
                </a:moveTo>
                <a:lnTo>
                  <a:pt x="1012635" y="0"/>
                </a:lnTo>
                <a:cubicBezTo>
                  <a:pt x="1080425" y="0"/>
                  <a:pt x="1135380" y="51175"/>
                  <a:pt x="1135380" y="114303"/>
                </a:cubicBezTo>
                <a:lnTo>
                  <a:pt x="1135380" y="990597"/>
                </a:lnTo>
                <a:cubicBezTo>
                  <a:pt x="1135380" y="1053725"/>
                  <a:pt x="1080425" y="1104900"/>
                  <a:pt x="1012635" y="1104900"/>
                </a:cubicBezTo>
                <a:lnTo>
                  <a:pt x="122746" y="1104900"/>
                </a:lnTo>
                <a:cubicBezTo>
                  <a:pt x="54955" y="1104900"/>
                  <a:pt x="0" y="1053725"/>
                  <a:pt x="0" y="990597"/>
                </a:cubicBezTo>
                <a:lnTo>
                  <a:pt x="0" y="114303"/>
                </a:lnTo>
                <a:cubicBezTo>
                  <a:pt x="0" y="51175"/>
                  <a:pt x="54955" y="0"/>
                  <a:pt x="122746"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8" name="AutoShape 28"/>
          <p:cNvSpPr/>
          <p:nvPr/>
        </p:nvSpPr>
        <p:spPr>
          <a:xfrm>
            <a:off x="1403350" y="4418965"/>
            <a:ext cx="10160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主流词表大小</a:t>
            </a:r>
            <a:endParaRPr lang="en-US" sz="1100"/>
          </a:p>
        </p:txBody>
      </p:sp>
      <p:sp>
        <p:nvSpPr>
          <p:cNvPr id="29" name="AutoShape 29"/>
          <p:cNvSpPr/>
          <p:nvPr/>
        </p:nvSpPr>
        <p:spPr>
          <a:xfrm>
            <a:off x="1403530" y="4684021"/>
            <a:ext cx="895350" cy="3429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23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10万+</a:t>
            </a:r>
            <a:endParaRPr lang="en-US" sz="1100"/>
          </a:p>
        </p:txBody>
      </p:sp>
      <p:sp>
        <p:nvSpPr>
          <p:cNvPr id="30" name="AutoShape 30"/>
          <p:cNvSpPr/>
          <p:nvPr/>
        </p:nvSpPr>
        <p:spPr>
          <a:xfrm>
            <a:off x="1441630" y="5026875"/>
            <a:ext cx="81915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Token</a:t>
            </a:r>
            <a:endParaRPr lang="en-US" sz="1100"/>
          </a:p>
        </p:txBody>
      </p:sp>
      <p:sp>
        <p:nvSpPr>
          <p:cNvPr id="31" name="Freeform 31"/>
          <p:cNvSpPr/>
          <p:nvPr/>
        </p:nvSpPr>
        <p:spPr>
          <a:xfrm>
            <a:off x="2584901" y="4674552"/>
            <a:ext cx="250031" cy="285750"/>
          </a:xfrm>
          <a:custGeom>
            <a:avLst/>
            <a:gdLst/>
            <a:ahLst/>
            <a:cxnLst/>
            <a:rect l="l" t="t" r="r" b="b"/>
            <a:pathLst>
              <a:path w="250031" h="285750">
                <a:moveTo>
                  <a:pt x="250031" y="114858"/>
                </a:moveTo>
                <a:cubicBezTo>
                  <a:pt x="241771" y="120327"/>
                  <a:pt x="232283" y="124737"/>
                  <a:pt x="222405" y="128253"/>
                </a:cubicBezTo>
                <a:cubicBezTo>
                  <a:pt x="196174" y="137629"/>
                  <a:pt x="161740" y="142875"/>
                  <a:pt x="125016" y="142875"/>
                </a:cubicBezTo>
                <a:cubicBezTo>
                  <a:pt x="88292" y="142875"/>
                  <a:pt x="53801" y="137573"/>
                  <a:pt x="27626" y="128253"/>
                </a:cubicBezTo>
                <a:cubicBezTo>
                  <a:pt x="17804" y="124737"/>
                  <a:pt x="8260" y="120327"/>
                  <a:pt x="0" y="114858"/>
                </a:cubicBezTo>
                <a:lnTo>
                  <a:pt x="0" y="160734"/>
                </a:lnTo>
                <a:cubicBezTo>
                  <a:pt x="0" y="185403"/>
                  <a:pt x="55978" y="205383"/>
                  <a:pt x="125016" y="205383"/>
                </a:cubicBezTo>
                <a:cubicBezTo>
                  <a:pt x="194053" y="205383"/>
                  <a:pt x="250031" y="185403"/>
                  <a:pt x="250031" y="160734"/>
                </a:cubicBezTo>
                <a:lnTo>
                  <a:pt x="250031" y="114858"/>
                </a:lnTo>
                <a:close/>
                <a:moveTo>
                  <a:pt x="250031" y="71438"/>
                </a:moveTo>
                <a:lnTo>
                  <a:pt x="250031" y="44648"/>
                </a:lnTo>
                <a:cubicBezTo>
                  <a:pt x="250031" y="19980"/>
                  <a:pt x="194053" y="0"/>
                  <a:pt x="125016" y="0"/>
                </a:cubicBezTo>
                <a:cubicBezTo>
                  <a:pt x="55978" y="0"/>
                  <a:pt x="0" y="19980"/>
                  <a:pt x="0" y="44648"/>
                </a:cubicBezTo>
                <a:lnTo>
                  <a:pt x="0" y="71438"/>
                </a:lnTo>
                <a:cubicBezTo>
                  <a:pt x="0" y="96106"/>
                  <a:pt x="55978" y="116086"/>
                  <a:pt x="125016" y="116086"/>
                </a:cubicBezTo>
                <a:cubicBezTo>
                  <a:pt x="194053" y="116086"/>
                  <a:pt x="250031" y="96106"/>
                  <a:pt x="250031" y="71438"/>
                </a:cubicBezTo>
                <a:close/>
                <a:moveTo>
                  <a:pt x="222405" y="217550"/>
                </a:moveTo>
                <a:cubicBezTo>
                  <a:pt x="196230" y="226870"/>
                  <a:pt x="161795" y="232173"/>
                  <a:pt x="125016" y="232173"/>
                </a:cubicBezTo>
                <a:cubicBezTo>
                  <a:pt x="88236" y="232173"/>
                  <a:pt x="53801" y="226870"/>
                  <a:pt x="27626" y="217550"/>
                </a:cubicBezTo>
                <a:cubicBezTo>
                  <a:pt x="17804" y="214033"/>
                  <a:pt x="8260" y="209624"/>
                  <a:pt x="0" y="204155"/>
                </a:cubicBezTo>
                <a:lnTo>
                  <a:pt x="0" y="241102"/>
                </a:lnTo>
                <a:cubicBezTo>
                  <a:pt x="0" y="265770"/>
                  <a:pt x="55978" y="285750"/>
                  <a:pt x="125016" y="285750"/>
                </a:cubicBezTo>
                <a:cubicBezTo>
                  <a:pt x="194053" y="285750"/>
                  <a:pt x="250031" y="265770"/>
                  <a:pt x="250031" y="241102"/>
                </a:cubicBezTo>
                <a:lnTo>
                  <a:pt x="250031" y="204155"/>
                </a:lnTo>
                <a:cubicBezTo>
                  <a:pt x="241771" y="209624"/>
                  <a:pt x="232283" y="214033"/>
                  <a:pt x="222405" y="21755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2" name="AutoShape 32"/>
          <p:cNvSpPr/>
          <p:nvPr/>
        </p:nvSpPr>
        <p:spPr>
          <a:xfrm>
            <a:off x="3038475" y="4684161"/>
            <a:ext cx="22764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每个Token对应唯一的数字ID</a:t>
            </a:r>
            <a:endParaRPr lang="en-US" sz="1100"/>
          </a:p>
        </p:txBody>
      </p:sp>
      <p:sp>
        <p:nvSpPr>
          <p:cNvPr id="33" name="Freeform 33"/>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4" name="AutoShape 34"/>
          <p:cNvSpPr/>
          <p:nvPr/>
        </p:nvSpPr>
        <p:spPr>
          <a:xfrm>
            <a:off x="609519" y="5829328"/>
            <a:ext cx="11061700" cy="5334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Token（词元）</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大模型处理文本的基本单元，可以是单词、子词或字符；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Tokenization（分词）</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将原始文本切分成Token序列的过程；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BBPE（字节级字节对编码）</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一种在字节级别上应用BPE算法的分词方法，能有效处理多语言和特殊字符</a:t>
            </a:r>
            <a:endParaRPr lang="en-US" sz="1100"/>
          </a:p>
        </p:txBody>
      </p:sp>
      <p:sp>
        <p:nvSpPr>
          <p:cNvPr id="35" name="Freeform 35"/>
          <p:cNvSpPr/>
          <p:nvPr/>
        </p:nvSpPr>
        <p:spPr>
          <a:xfrm>
            <a:off x="6170613" y="4219575"/>
            <a:ext cx="5210175" cy="1066800"/>
          </a:xfrm>
          <a:custGeom>
            <a:avLst/>
            <a:gdLst/>
            <a:ahLst/>
            <a:cxnLst/>
            <a:rect l="l" t="t" r="r" b="b"/>
            <a:pathLst>
              <a:path w="5210175" h="1066800">
                <a:moveTo>
                  <a:pt x="114297" y="0"/>
                </a:moveTo>
                <a:lnTo>
                  <a:pt x="5095878" y="0"/>
                </a:lnTo>
                <a:cubicBezTo>
                  <a:pt x="5159003" y="0"/>
                  <a:pt x="5210175" y="51172"/>
                  <a:pt x="5210175" y="114297"/>
                </a:cubicBezTo>
                <a:lnTo>
                  <a:pt x="5210175" y="952503"/>
                </a:lnTo>
                <a:cubicBezTo>
                  <a:pt x="5210175" y="1015628"/>
                  <a:pt x="5159003" y="1066800"/>
                  <a:pt x="5095878" y="1066800"/>
                </a:cubicBezTo>
                <a:lnTo>
                  <a:pt x="114297" y="1066800"/>
                </a:lnTo>
                <a:cubicBezTo>
                  <a:pt x="51172" y="1066800"/>
                  <a:pt x="0" y="1015628"/>
                  <a:pt x="0" y="952503"/>
                </a:cubicBezTo>
                <a:lnTo>
                  <a:pt x="0" y="114297"/>
                </a:lnTo>
                <a:cubicBezTo>
                  <a:pt x="0" y="51172"/>
                  <a:pt x="51172" y="0"/>
                  <a:pt x="114297"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36" name="Freeform 36"/>
          <p:cNvSpPr/>
          <p:nvPr/>
        </p:nvSpPr>
        <p:spPr>
          <a:xfrm>
            <a:off x="6375400" y="4414838"/>
            <a:ext cx="142875" cy="196452"/>
          </a:xfrm>
          <a:custGeom>
            <a:avLst/>
            <a:gdLst/>
            <a:ahLst/>
            <a:cxnLst/>
            <a:rect l="l" t="t" r="r" b="b"/>
            <a:pathLst>
              <a:path w="142875" h="196452">
                <a:moveTo>
                  <a:pt x="108979" y="142875"/>
                </a:moveTo>
                <a:cubicBezTo>
                  <a:pt x="111696" y="134578"/>
                  <a:pt x="117128" y="127062"/>
                  <a:pt x="123267" y="120588"/>
                </a:cubicBezTo>
                <a:cubicBezTo>
                  <a:pt x="135434" y="107789"/>
                  <a:pt x="142875" y="90488"/>
                  <a:pt x="142875" y="71438"/>
                </a:cubicBezTo>
                <a:cubicBezTo>
                  <a:pt x="142875" y="31998"/>
                  <a:pt x="110877" y="0"/>
                  <a:pt x="71438"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2"/>
                  <a:pt x="65484" y="196452"/>
                </a:cubicBezTo>
                <a:lnTo>
                  <a:pt x="77391" y="196452"/>
                </a:lnTo>
                <a:cubicBezTo>
                  <a:pt x="93836" y="196452"/>
                  <a:pt x="107156" y="183133"/>
                  <a:pt x="107156" y="166688"/>
                </a:cubicBezTo>
                <a:lnTo>
                  <a:pt x="107156" y="160734"/>
                </a:lnTo>
                <a:close/>
                <a:moveTo>
                  <a:pt x="68461" y="41673"/>
                </a:moveTo>
                <a:cubicBezTo>
                  <a:pt x="53652" y="41673"/>
                  <a:pt x="41673" y="53652"/>
                  <a:pt x="41673" y="68461"/>
                </a:cubicBezTo>
                <a:cubicBezTo>
                  <a:pt x="41673"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3"/>
                  <a:pt x="68461" y="41673"/>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7" name="AutoShape 37"/>
          <p:cNvSpPr/>
          <p:nvPr/>
        </p:nvSpPr>
        <p:spPr>
          <a:xfrm>
            <a:off x="6680200" y="4376738"/>
            <a:ext cx="3667125" cy="75247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在这个网站体验分词：</a:t>
            </a:r>
            <a:endParaRPr lang="en-US" sz="1100"/>
          </a:p>
          <a:p>
            <a:pPr indent="0" algn="l">
              <a:lnSpc>
                <a:spcPct val="142000"/>
              </a:lnSpc>
            </a:pPr>
            <a:r>
              <a:rPr lang="en-US" sz="1200" b="0" i="0" u="none" strike="noStrike">
                <a:solidFill>
                  <a:srgbClr val="00CED1"/>
                </a:solidFill>
                <a:highlight>
                  <a:srgbClr val="FFFFFF">
                    <a:alpha val="100000"/>
                  </a:srgbClr>
                </a:highlight>
                <a:latin typeface="MiSans" panose="00000500000000000000" charset="-122"/>
                <a:ea typeface="MiSans" panose="00000500000000000000" charset="-122"/>
                <a:cs typeface="MiSans" panose="00000500000000000000" charset="-122"/>
                <a:sym typeface="MiSans" panose="00000500000000000000" charset="-122"/>
              </a:rPr>
              <a:t>https://tiktokenizer.vercel.app/</a:t>
            </a:r>
            <a:endParaRPr lang="en-US" sz="1200" b="0" i="0" u="none" strike="noStrike">
              <a:solidFill>
                <a:srgbClr val="00CED1"/>
              </a:solidFill>
              <a:highlight>
                <a:srgbClr val="FFFFFF">
                  <a:alpha val="100000"/>
                </a:srgbClr>
              </a:highlight>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42000"/>
              </a:lnSpc>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输入任意文本，你就能看到它是如何被切分成token的</a:t>
            </a:r>
            <a:endPar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endParaRPr>
          </a:p>
        </p:txBody>
      </p:sp>
    </p:spTree>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6186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1.2 向量化</a:t>
            </a:r>
            <a:endParaRPr lang="en-US" sz="1100"/>
          </a:p>
        </p:txBody>
      </p:sp>
      <p:sp>
        <p:nvSpPr>
          <p:cNvPr id="10" name="AutoShape 10"/>
          <p:cNvSpPr/>
          <p:nvPr/>
        </p:nvSpPr>
        <p:spPr>
          <a:xfrm>
            <a:off x="333375" y="2324426"/>
            <a:ext cx="11525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将Token映射为高维向量，捕捉语义特征</a:t>
            </a:r>
            <a:endParaRPr lang="en-US" sz="1100"/>
          </a:p>
        </p:txBody>
      </p:sp>
      <p:sp>
        <p:nvSpPr>
          <p:cNvPr id="11" name="Freeform 11"/>
          <p:cNvSpPr/>
          <p:nvPr/>
        </p:nvSpPr>
        <p:spPr>
          <a:xfrm>
            <a:off x="3226053" y="2819614"/>
            <a:ext cx="866775" cy="647700"/>
          </a:xfrm>
          <a:custGeom>
            <a:avLst/>
            <a:gdLst/>
            <a:ahLst/>
            <a:cxnLst/>
            <a:rect l="l" t="t" r="r" b="b"/>
            <a:pathLst>
              <a:path w="866775" h="647700">
                <a:moveTo>
                  <a:pt x="114300" y="0"/>
                </a:moveTo>
                <a:lnTo>
                  <a:pt x="752475" y="0"/>
                </a:lnTo>
                <a:cubicBezTo>
                  <a:pt x="815558" y="0"/>
                  <a:pt x="866775" y="51217"/>
                  <a:pt x="866775" y="114300"/>
                </a:cubicBezTo>
                <a:lnTo>
                  <a:pt x="866775" y="533400"/>
                </a:lnTo>
                <a:cubicBezTo>
                  <a:pt x="866775" y="596527"/>
                  <a:pt x="815602" y="647700"/>
                  <a:pt x="752475" y="647700"/>
                </a:cubicBezTo>
                <a:lnTo>
                  <a:pt x="114300" y="647700"/>
                </a:lnTo>
                <a:cubicBezTo>
                  <a:pt x="51217" y="647700"/>
                  <a:pt x="0" y="596483"/>
                  <a:pt x="0" y="533400"/>
                </a:cubicBezTo>
                <a:lnTo>
                  <a:pt x="0" y="114300"/>
                </a:lnTo>
                <a:cubicBezTo>
                  <a:pt x="0" y="51217"/>
                  <a:pt x="51217" y="0"/>
                  <a:pt x="1143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3226053" y="2819614"/>
            <a:ext cx="1009650" cy="647700"/>
          </a:xfrm>
          <a:prstGeom prst="rect">
            <a:avLst/>
          </a:prstGeom>
          <a:noFill/>
          <a:ln w="12700">
            <a:noFill/>
            <a:prstDash val="solid"/>
          </a:ln>
        </p:spPr>
        <p:txBody>
          <a:bodyPr wrap="square" lIns="304800" tIns="152400" rIns="304800" bIns="152400" rtlCol="0" anchor="ctr">
            <a:noAutofit/>
          </a:bodyPr>
          <a:lstStyle/>
          <a:p>
            <a:pPr indent="0" algn="l">
              <a:lnSpc>
                <a:spcPct val="100000"/>
              </a:lnSpc>
              <a:defRPr/>
            </a:pPr>
            <a:r>
              <a:rPr lang="en-US" sz="2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100"/>
          </a:p>
        </p:txBody>
      </p:sp>
      <p:sp>
        <p:nvSpPr>
          <p:cNvPr id="13" name="AutoShape 13"/>
          <p:cNvSpPr/>
          <p:nvPr/>
        </p:nvSpPr>
        <p:spPr>
          <a:xfrm>
            <a:off x="3417905" y="3619500"/>
            <a:ext cx="57150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Token</a:t>
            </a:r>
            <a:endParaRPr lang="en-US" sz="1100"/>
          </a:p>
        </p:txBody>
      </p:sp>
      <p:sp>
        <p:nvSpPr>
          <p:cNvPr id="14" name="Freeform 14"/>
          <p:cNvSpPr/>
          <p:nvPr/>
        </p:nvSpPr>
        <p:spPr>
          <a:xfrm>
            <a:off x="4515147" y="3222125"/>
            <a:ext cx="344976" cy="261463"/>
          </a:xfrm>
          <a:custGeom>
            <a:avLst/>
            <a:gdLst/>
            <a:ahLst/>
            <a:cxnLst/>
            <a:rect l="l" t="t" r="r" b="b"/>
            <a:pathLst>
              <a:path w="344976" h="261463">
                <a:moveTo>
                  <a:pt x="336605" y="145867"/>
                </a:moveTo>
                <a:cubicBezTo>
                  <a:pt x="344976" y="137495"/>
                  <a:pt x="344976" y="123900"/>
                  <a:pt x="336605" y="115528"/>
                </a:cubicBezTo>
                <a:lnTo>
                  <a:pt x="229448" y="8372"/>
                </a:lnTo>
                <a:cubicBezTo>
                  <a:pt x="221077" y="0"/>
                  <a:pt x="207481" y="0"/>
                  <a:pt x="199111" y="8372"/>
                </a:cubicBezTo>
                <a:cubicBezTo>
                  <a:pt x="190737" y="16743"/>
                  <a:pt x="190737" y="30339"/>
                  <a:pt x="199111" y="38711"/>
                </a:cubicBezTo>
                <a:lnTo>
                  <a:pt x="269698" y="109300"/>
                </a:lnTo>
                <a:lnTo>
                  <a:pt x="21431" y="109300"/>
                </a:lnTo>
                <a:cubicBezTo>
                  <a:pt x="9577" y="109300"/>
                  <a:pt x="0" y="118877"/>
                  <a:pt x="0" y="130731"/>
                </a:cubicBezTo>
                <a:cubicBezTo>
                  <a:pt x="0" y="142585"/>
                  <a:pt x="9577" y="152162"/>
                  <a:pt x="21431" y="152162"/>
                </a:cubicBezTo>
                <a:lnTo>
                  <a:pt x="269698" y="152162"/>
                </a:lnTo>
                <a:lnTo>
                  <a:pt x="199111" y="222751"/>
                </a:lnTo>
                <a:cubicBezTo>
                  <a:pt x="190737" y="231123"/>
                  <a:pt x="190737" y="244719"/>
                  <a:pt x="199111" y="253090"/>
                </a:cubicBezTo>
                <a:cubicBezTo>
                  <a:pt x="207481" y="261462"/>
                  <a:pt x="221077" y="261462"/>
                  <a:pt x="229448" y="253090"/>
                </a:cubicBezTo>
                <a:lnTo>
                  <a:pt x="336605" y="145934"/>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5355512" y="2828273"/>
            <a:ext cx="750743" cy="703118"/>
          </a:xfrm>
          <a:custGeom>
            <a:avLst/>
            <a:gdLst/>
            <a:ahLst/>
            <a:cxnLst/>
            <a:rect l="l" t="t" r="r" b="b"/>
            <a:pathLst>
              <a:path w="750743" h="703118">
                <a:moveTo>
                  <a:pt x="114299" y="0"/>
                </a:moveTo>
                <a:lnTo>
                  <a:pt x="636444" y="0"/>
                </a:lnTo>
                <a:cubicBezTo>
                  <a:pt x="699527" y="0"/>
                  <a:pt x="750743" y="51217"/>
                  <a:pt x="750743" y="114299"/>
                </a:cubicBezTo>
                <a:lnTo>
                  <a:pt x="750743" y="588819"/>
                </a:lnTo>
                <a:cubicBezTo>
                  <a:pt x="750743" y="651902"/>
                  <a:pt x="699527" y="703118"/>
                  <a:pt x="636444" y="703118"/>
                </a:cubicBezTo>
                <a:lnTo>
                  <a:pt x="114299" y="703118"/>
                </a:lnTo>
                <a:cubicBezTo>
                  <a:pt x="51217" y="703118"/>
                  <a:pt x="0" y="651902"/>
                  <a:pt x="0" y="588819"/>
                </a:cubicBezTo>
                <a:lnTo>
                  <a:pt x="0" y="114299"/>
                </a:lnTo>
                <a:cubicBezTo>
                  <a:pt x="0" y="51217"/>
                  <a:pt x="51217" y="0"/>
                  <a:pt x="114299" y="0"/>
                </a:cubicBezTo>
                <a:close/>
              </a:path>
            </a:pathLst>
          </a:custGeom>
          <a:solidFill>
            <a:srgbClr val="5B92E5">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6" name="AutoShape 16"/>
          <p:cNvSpPr/>
          <p:nvPr/>
        </p:nvSpPr>
        <p:spPr>
          <a:xfrm>
            <a:off x="5281910" y="3619500"/>
            <a:ext cx="9810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Embedding</a:t>
            </a:r>
            <a:endParaRPr lang="en-US" sz="1100"/>
          </a:p>
        </p:txBody>
      </p:sp>
      <p:sp>
        <p:nvSpPr>
          <p:cNvPr id="17" name="Freeform 17"/>
          <p:cNvSpPr/>
          <p:nvPr/>
        </p:nvSpPr>
        <p:spPr>
          <a:xfrm>
            <a:off x="6603747" y="3222125"/>
            <a:ext cx="344976" cy="261463"/>
          </a:xfrm>
          <a:custGeom>
            <a:avLst/>
            <a:gdLst/>
            <a:ahLst/>
            <a:cxnLst/>
            <a:rect l="l" t="t" r="r" b="b"/>
            <a:pathLst>
              <a:path w="344976" h="261463">
                <a:moveTo>
                  <a:pt x="336605" y="145867"/>
                </a:moveTo>
                <a:cubicBezTo>
                  <a:pt x="344976" y="137495"/>
                  <a:pt x="344976" y="123900"/>
                  <a:pt x="336605" y="115528"/>
                </a:cubicBezTo>
                <a:lnTo>
                  <a:pt x="229448" y="8372"/>
                </a:lnTo>
                <a:cubicBezTo>
                  <a:pt x="221077" y="0"/>
                  <a:pt x="207481" y="0"/>
                  <a:pt x="199111" y="8372"/>
                </a:cubicBezTo>
                <a:cubicBezTo>
                  <a:pt x="190737" y="16743"/>
                  <a:pt x="190737" y="30339"/>
                  <a:pt x="199111" y="38711"/>
                </a:cubicBezTo>
                <a:lnTo>
                  <a:pt x="269698" y="109300"/>
                </a:lnTo>
                <a:lnTo>
                  <a:pt x="21431" y="109300"/>
                </a:lnTo>
                <a:cubicBezTo>
                  <a:pt x="9577" y="109300"/>
                  <a:pt x="0" y="118877"/>
                  <a:pt x="0" y="130731"/>
                </a:cubicBezTo>
                <a:cubicBezTo>
                  <a:pt x="0" y="142585"/>
                  <a:pt x="9577" y="152162"/>
                  <a:pt x="21431" y="152162"/>
                </a:cubicBezTo>
                <a:lnTo>
                  <a:pt x="269698" y="152162"/>
                </a:lnTo>
                <a:lnTo>
                  <a:pt x="199111" y="222751"/>
                </a:lnTo>
                <a:cubicBezTo>
                  <a:pt x="190737" y="231123"/>
                  <a:pt x="190737" y="244719"/>
                  <a:pt x="199111" y="253090"/>
                </a:cubicBezTo>
                <a:cubicBezTo>
                  <a:pt x="207481" y="261462"/>
                  <a:pt x="221077" y="261462"/>
                  <a:pt x="229448" y="253090"/>
                </a:cubicBezTo>
                <a:lnTo>
                  <a:pt x="336605" y="145934"/>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7379168" y="2849109"/>
            <a:ext cx="1579418" cy="665018"/>
          </a:xfrm>
          <a:custGeom>
            <a:avLst/>
            <a:gdLst/>
            <a:ahLst/>
            <a:cxnLst/>
            <a:rect l="l" t="t" r="r" b="b"/>
            <a:pathLst>
              <a:path w="1579418" h="665018">
                <a:moveTo>
                  <a:pt x="114303" y="0"/>
                </a:moveTo>
                <a:lnTo>
                  <a:pt x="1465115" y="0"/>
                </a:lnTo>
                <a:cubicBezTo>
                  <a:pt x="1528243" y="0"/>
                  <a:pt x="1579418" y="51175"/>
                  <a:pt x="1579418" y="114303"/>
                </a:cubicBezTo>
                <a:lnTo>
                  <a:pt x="1579418" y="550715"/>
                </a:lnTo>
                <a:cubicBezTo>
                  <a:pt x="1579418" y="613843"/>
                  <a:pt x="1528243" y="665018"/>
                  <a:pt x="1465115" y="665018"/>
                </a:cubicBezTo>
                <a:lnTo>
                  <a:pt x="114303" y="665018"/>
                </a:lnTo>
                <a:cubicBezTo>
                  <a:pt x="51175" y="665018"/>
                  <a:pt x="0" y="613843"/>
                  <a:pt x="0" y="550715"/>
                </a:cubicBezTo>
                <a:lnTo>
                  <a:pt x="0" y="114303"/>
                </a:lnTo>
                <a:cubicBezTo>
                  <a:pt x="0" y="51175"/>
                  <a:pt x="51175" y="0"/>
                  <a:pt x="114303" y="0"/>
                </a:cubicBezTo>
                <a:close/>
              </a:path>
            </a:pathLst>
          </a:custGeom>
          <a:noFill/>
          <a:ln w="12700">
            <a:solidFill>
              <a:srgbClr val="00CED1">
                <a:alpha val="100000"/>
              </a:srgbClr>
            </a:solidFill>
            <a:prstDash val="solid"/>
          </a:ln>
        </p:spPr>
        <p:txBody>
          <a:bodyPr wrap="square" lIns="91440" tIns="45720" rIns="91440" bIns="45720" rtlCol="0" anchor="t">
            <a:noAutofit/>
          </a:bodyPr>
          <a:lstStyle/>
          <a:p>
            <a:pPr algn="ctr">
              <a:defRPr/>
            </a:pPr>
          </a:p>
        </p:txBody>
      </p:sp>
      <p:sp>
        <p:nvSpPr>
          <p:cNvPr id="19" name="Freeform 19"/>
          <p:cNvSpPr/>
          <p:nvPr/>
        </p:nvSpPr>
        <p:spPr>
          <a:xfrm>
            <a:off x="7578328" y="3048270"/>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7730539" y="3048270"/>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7882749" y="3048270"/>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2" name="Freeform 22"/>
          <p:cNvSpPr/>
          <p:nvPr/>
        </p:nvSpPr>
        <p:spPr>
          <a:xfrm>
            <a:off x="8034960" y="3048270"/>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3" name="Freeform 23"/>
          <p:cNvSpPr/>
          <p:nvPr/>
        </p:nvSpPr>
        <p:spPr>
          <a:xfrm>
            <a:off x="8187170" y="3048270"/>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4" name="Freeform 24"/>
          <p:cNvSpPr/>
          <p:nvPr/>
        </p:nvSpPr>
        <p:spPr>
          <a:xfrm>
            <a:off x="8339381" y="3048270"/>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8491592" y="3048270"/>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6" name="Freeform 26"/>
          <p:cNvSpPr/>
          <p:nvPr/>
        </p:nvSpPr>
        <p:spPr>
          <a:xfrm>
            <a:off x="8643802" y="3048270"/>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7" name="Freeform 27"/>
          <p:cNvSpPr/>
          <p:nvPr/>
        </p:nvSpPr>
        <p:spPr>
          <a:xfrm>
            <a:off x="7578328" y="3200484"/>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8" name="Freeform 28"/>
          <p:cNvSpPr/>
          <p:nvPr/>
        </p:nvSpPr>
        <p:spPr>
          <a:xfrm>
            <a:off x="7730539" y="3200484"/>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9" name="Freeform 29"/>
          <p:cNvSpPr/>
          <p:nvPr/>
        </p:nvSpPr>
        <p:spPr>
          <a:xfrm>
            <a:off x="7882749" y="3200484"/>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0" name="Freeform 30"/>
          <p:cNvSpPr/>
          <p:nvPr/>
        </p:nvSpPr>
        <p:spPr>
          <a:xfrm>
            <a:off x="8034960" y="3200484"/>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1" name="Freeform 31"/>
          <p:cNvSpPr/>
          <p:nvPr/>
        </p:nvSpPr>
        <p:spPr>
          <a:xfrm>
            <a:off x="8187170" y="3200484"/>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2" name="Freeform 32"/>
          <p:cNvSpPr/>
          <p:nvPr/>
        </p:nvSpPr>
        <p:spPr>
          <a:xfrm>
            <a:off x="8339381" y="3200484"/>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3" name="Freeform 33"/>
          <p:cNvSpPr/>
          <p:nvPr/>
        </p:nvSpPr>
        <p:spPr>
          <a:xfrm>
            <a:off x="8491592" y="3200484"/>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4" name="Freeform 34"/>
          <p:cNvSpPr/>
          <p:nvPr/>
        </p:nvSpPr>
        <p:spPr>
          <a:xfrm>
            <a:off x="8643802" y="3200484"/>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5" name="AutoShape 35"/>
          <p:cNvSpPr/>
          <p:nvPr/>
        </p:nvSpPr>
        <p:spPr>
          <a:xfrm>
            <a:off x="7704426" y="3598664"/>
            <a:ext cx="100965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高维向量</a:t>
            </a:r>
            <a:endParaRPr lang="en-US" sz="1100"/>
          </a:p>
        </p:txBody>
      </p:sp>
      <p:sp>
        <p:nvSpPr>
          <p:cNvPr id="36" name="Freeform 36"/>
          <p:cNvSpPr/>
          <p:nvPr/>
        </p:nvSpPr>
        <p:spPr>
          <a:xfrm>
            <a:off x="3952740" y="4190730"/>
            <a:ext cx="1047750" cy="647700"/>
          </a:xfrm>
          <a:custGeom>
            <a:avLst/>
            <a:gdLst/>
            <a:ahLst/>
            <a:cxnLst/>
            <a:rect l="l" t="t" r="r" b="b"/>
            <a:pathLst>
              <a:path w="1047750" h="647700">
                <a:moveTo>
                  <a:pt x="114300" y="0"/>
                </a:moveTo>
                <a:lnTo>
                  <a:pt x="933450" y="0"/>
                </a:lnTo>
                <a:cubicBezTo>
                  <a:pt x="996577" y="0"/>
                  <a:pt x="1047750" y="51173"/>
                  <a:pt x="1047750" y="114300"/>
                </a:cubicBezTo>
                <a:lnTo>
                  <a:pt x="1047750" y="533400"/>
                </a:lnTo>
                <a:cubicBezTo>
                  <a:pt x="1047750" y="596527"/>
                  <a:pt x="996577" y="647700"/>
                  <a:pt x="933450" y="647700"/>
                </a:cubicBezTo>
                <a:lnTo>
                  <a:pt x="114300" y="647700"/>
                </a:lnTo>
                <a:cubicBezTo>
                  <a:pt x="51217" y="647700"/>
                  <a:pt x="0" y="596483"/>
                  <a:pt x="0" y="533400"/>
                </a:cubicBezTo>
                <a:lnTo>
                  <a:pt x="0" y="114300"/>
                </a:lnTo>
                <a:cubicBezTo>
                  <a:pt x="0" y="51217"/>
                  <a:pt x="51217" y="0"/>
                  <a:pt x="1143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7" name="AutoShape 37"/>
          <p:cNvSpPr/>
          <p:nvPr/>
        </p:nvSpPr>
        <p:spPr>
          <a:xfrm>
            <a:off x="4105140" y="4304919"/>
            <a:ext cx="74295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维度1-512</a:t>
            </a:r>
            <a:endParaRPr lang="en-US" sz="1100"/>
          </a:p>
        </p:txBody>
      </p:sp>
      <p:sp>
        <p:nvSpPr>
          <p:cNvPr id="38" name="AutoShape 38"/>
          <p:cNvSpPr/>
          <p:nvPr/>
        </p:nvSpPr>
        <p:spPr>
          <a:xfrm>
            <a:off x="4109902" y="4533435"/>
            <a:ext cx="73342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语义特征</a:t>
            </a:r>
            <a:endParaRPr lang="en-US" sz="1100"/>
          </a:p>
        </p:txBody>
      </p:sp>
      <p:sp>
        <p:nvSpPr>
          <p:cNvPr id="39" name="Freeform 39"/>
          <p:cNvSpPr/>
          <p:nvPr/>
        </p:nvSpPr>
        <p:spPr>
          <a:xfrm>
            <a:off x="5231985" y="4190730"/>
            <a:ext cx="1323975" cy="647700"/>
          </a:xfrm>
          <a:custGeom>
            <a:avLst/>
            <a:gdLst/>
            <a:ahLst/>
            <a:cxnLst/>
            <a:rect l="l" t="t" r="r" b="b"/>
            <a:pathLst>
              <a:path w="1323975" h="647700">
                <a:moveTo>
                  <a:pt x="114300" y="0"/>
                </a:moveTo>
                <a:lnTo>
                  <a:pt x="1209675" y="0"/>
                </a:lnTo>
                <a:cubicBezTo>
                  <a:pt x="1272802" y="0"/>
                  <a:pt x="1323975" y="51173"/>
                  <a:pt x="1323975" y="114300"/>
                </a:cubicBezTo>
                <a:lnTo>
                  <a:pt x="1323975" y="533400"/>
                </a:lnTo>
                <a:cubicBezTo>
                  <a:pt x="1323975" y="596527"/>
                  <a:pt x="1272802" y="647700"/>
                  <a:pt x="1209675" y="647700"/>
                </a:cubicBezTo>
                <a:lnTo>
                  <a:pt x="114300" y="647700"/>
                </a:lnTo>
                <a:cubicBezTo>
                  <a:pt x="51217" y="647700"/>
                  <a:pt x="0" y="596483"/>
                  <a:pt x="0" y="533400"/>
                </a:cubicBezTo>
                <a:lnTo>
                  <a:pt x="0" y="114300"/>
                </a:lnTo>
                <a:cubicBezTo>
                  <a:pt x="0" y="51217"/>
                  <a:pt x="51217" y="0"/>
                  <a:pt x="1143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0" name="AutoShape 40"/>
          <p:cNvSpPr/>
          <p:nvPr/>
        </p:nvSpPr>
        <p:spPr>
          <a:xfrm>
            <a:off x="5384385" y="4304919"/>
            <a:ext cx="101917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维度513-1024</a:t>
            </a:r>
            <a:endParaRPr lang="en-US" sz="1100"/>
          </a:p>
        </p:txBody>
      </p:sp>
      <p:sp>
        <p:nvSpPr>
          <p:cNvPr id="41" name="AutoShape 41"/>
          <p:cNvSpPr/>
          <p:nvPr/>
        </p:nvSpPr>
        <p:spPr>
          <a:xfrm>
            <a:off x="5389147" y="4533435"/>
            <a:ext cx="100965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语法特征</a:t>
            </a:r>
            <a:endParaRPr lang="en-US" sz="1100"/>
          </a:p>
        </p:txBody>
      </p:sp>
      <p:sp>
        <p:nvSpPr>
          <p:cNvPr id="42" name="Freeform 42"/>
          <p:cNvSpPr/>
          <p:nvPr/>
        </p:nvSpPr>
        <p:spPr>
          <a:xfrm>
            <a:off x="6785750" y="4190730"/>
            <a:ext cx="1457325" cy="647700"/>
          </a:xfrm>
          <a:custGeom>
            <a:avLst/>
            <a:gdLst/>
            <a:ahLst/>
            <a:cxnLst/>
            <a:rect l="l" t="t" r="r" b="b"/>
            <a:pathLst>
              <a:path w="1457325" h="647700">
                <a:moveTo>
                  <a:pt x="114300" y="0"/>
                </a:moveTo>
                <a:lnTo>
                  <a:pt x="1343025" y="0"/>
                </a:lnTo>
                <a:cubicBezTo>
                  <a:pt x="1406152" y="0"/>
                  <a:pt x="1457325" y="51173"/>
                  <a:pt x="1457325" y="114300"/>
                </a:cubicBezTo>
                <a:lnTo>
                  <a:pt x="1457325" y="533400"/>
                </a:lnTo>
                <a:cubicBezTo>
                  <a:pt x="1457325" y="596527"/>
                  <a:pt x="1406152" y="647700"/>
                  <a:pt x="1343025" y="647700"/>
                </a:cubicBezTo>
                <a:lnTo>
                  <a:pt x="114300" y="647700"/>
                </a:lnTo>
                <a:cubicBezTo>
                  <a:pt x="51217" y="647700"/>
                  <a:pt x="0" y="596483"/>
                  <a:pt x="0" y="533400"/>
                </a:cubicBezTo>
                <a:lnTo>
                  <a:pt x="0" y="114300"/>
                </a:lnTo>
                <a:cubicBezTo>
                  <a:pt x="0" y="51217"/>
                  <a:pt x="51217" y="0"/>
                  <a:pt x="1143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3" name="AutoShape 43"/>
          <p:cNvSpPr/>
          <p:nvPr/>
        </p:nvSpPr>
        <p:spPr>
          <a:xfrm>
            <a:off x="6938150" y="4304919"/>
            <a:ext cx="115252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维度1025-4096</a:t>
            </a:r>
            <a:endParaRPr lang="en-US" sz="1100"/>
          </a:p>
        </p:txBody>
      </p:sp>
      <p:sp>
        <p:nvSpPr>
          <p:cNvPr id="44" name="AutoShape 44"/>
          <p:cNvSpPr/>
          <p:nvPr/>
        </p:nvSpPr>
        <p:spPr>
          <a:xfrm>
            <a:off x="6942913" y="4533435"/>
            <a:ext cx="114300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上下文特征</a:t>
            </a:r>
            <a:endParaRPr lang="en-US" sz="1100"/>
          </a:p>
        </p:txBody>
      </p:sp>
      <p:sp>
        <p:nvSpPr>
          <p:cNvPr id="45" name="Freeform 45"/>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6" name="AutoShape 46"/>
          <p:cNvSpPr/>
          <p:nvPr/>
        </p:nvSpPr>
        <p:spPr>
          <a:xfrm>
            <a:off x="609519" y="5962594"/>
            <a:ext cx="80994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Embedding（嵌入）</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将Token映射为数值向量的技术；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Vector（向量）</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一组有序数字表示特征</a:t>
            </a:r>
            <a:endParaRPr lang="en-US" sz="1100"/>
          </a:p>
        </p:txBody>
      </p:sp>
      <p:sp>
        <p:nvSpPr>
          <p:cNvPr id="47" name="Freeform 47"/>
          <p:cNvSpPr/>
          <p:nvPr/>
        </p:nvSpPr>
        <p:spPr>
          <a:xfrm>
            <a:off x="5559380" y="3010709"/>
            <a:ext cx="342900" cy="300038"/>
          </a:xfrm>
          <a:custGeom>
            <a:avLst/>
            <a:gdLst/>
            <a:ahLst/>
            <a:cxnLst/>
            <a:rect l="l" t="t" r="r" b="b"/>
            <a:pathLst>
              <a:path w="342900" h="300038">
                <a:moveTo>
                  <a:pt x="0" y="32146"/>
                </a:moveTo>
                <a:cubicBezTo>
                  <a:pt x="0" y="14400"/>
                  <a:pt x="14399" y="0"/>
                  <a:pt x="32148" y="0"/>
                </a:cubicBezTo>
                <a:lnTo>
                  <a:pt x="96441" y="0"/>
                </a:lnTo>
                <a:cubicBezTo>
                  <a:pt x="114188" y="0"/>
                  <a:pt x="128588" y="14400"/>
                  <a:pt x="128588" y="32146"/>
                </a:cubicBezTo>
                <a:lnTo>
                  <a:pt x="128588" y="42863"/>
                </a:lnTo>
                <a:lnTo>
                  <a:pt x="214312" y="42863"/>
                </a:lnTo>
                <a:lnTo>
                  <a:pt x="214312" y="32146"/>
                </a:lnTo>
                <a:cubicBezTo>
                  <a:pt x="214312" y="14400"/>
                  <a:pt x="228712" y="0"/>
                  <a:pt x="246459" y="0"/>
                </a:cubicBezTo>
                <a:lnTo>
                  <a:pt x="310752" y="0"/>
                </a:lnTo>
                <a:cubicBezTo>
                  <a:pt x="328501" y="0"/>
                  <a:pt x="342900" y="14400"/>
                  <a:pt x="342900" y="32146"/>
                </a:cubicBezTo>
                <a:lnTo>
                  <a:pt x="342900" y="96442"/>
                </a:lnTo>
                <a:cubicBezTo>
                  <a:pt x="342900" y="114188"/>
                  <a:pt x="328501" y="128588"/>
                  <a:pt x="310752" y="128588"/>
                </a:cubicBezTo>
                <a:lnTo>
                  <a:pt x="246459" y="128588"/>
                </a:lnTo>
                <a:cubicBezTo>
                  <a:pt x="228712" y="128588"/>
                  <a:pt x="214312" y="114188"/>
                  <a:pt x="214312" y="96442"/>
                </a:cubicBezTo>
                <a:lnTo>
                  <a:pt x="214312" y="85725"/>
                </a:lnTo>
                <a:lnTo>
                  <a:pt x="128588" y="85725"/>
                </a:lnTo>
                <a:lnTo>
                  <a:pt x="128588" y="96442"/>
                </a:lnTo>
                <a:cubicBezTo>
                  <a:pt x="128588" y="101330"/>
                  <a:pt x="127450" y="106019"/>
                  <a:pt x="125506" y="110170"/>
                </a:cubicBezTo>
                <a:lnTo>
                  <a:pt x="171450" y="171450"/>
                </a:lnTo>
                <a:lnTo>
                  <a:pt x="225027" y="171450"/>
                </a:lnTo>
                <a:cubicBezTo>
                  <a:pt x="242776" y="171450"/>
                  <a:pt x="257175" y="185850"/>
                  <a:pt x="257175" y="203596"/>
                </a:cubicBezTo>
                <a:lnTo>
                  <a:pt x="257175" y="267892"/>
                </a:lnTo>
                <a:cubicBezTo>
                  <a:pt x="257175" y="285638"/>
                  <a:pt x="242776" y="300038"/>
                  <a:pt x="225027" y="300038"/>
                </a:cubicBezTo>
                <a:lnTo>
                  <a:pt x="160734" y="300038"/>
                </a:lnTo>
                <a:cubicBezTo>
                  <a:pt x="142987" y="300038"/>
                  <a:pt x="128588" y="285638"/>
                  <a:pt x="128588" y="267892"/>
                </a:cubicBezTo>
                <a:lnTo>
                  <a:pt x="128588" y="203596"/>
                </a:lnTo>
                <a:cubicBezTo>
                  <a:pt x="128588" y="198708"/>
                  <a:pt x="129725" y="194019"/>
                  <a:pt x="131669" y="189868"/>
                </a:cubicBezTo>
                <a:lnTo>
                  <a:pt x="85725" y="128588"/>
                </a:lnTo>
                <a:lnTo>
                  <a:pt x="32148" y="128588"/>
                </a:lnTo>
                <a:cubicBezTo>
                  <a:pt x="14399" y="128588"/>
                  <a:pt x="0" y="114188"/>
                  <a:pt x="0" y="96442"/>
                </a:cubicBezTo>
                <a:lnTo>
                  <a:pt x="0" y="32146"/>
                </a:lnTo>
                <a:close/>
              </a:path>
            </a:pathLst>
          </a:custGeom>
          <a:solidFill>
            <a:srgbClr val="FFFFFF">
              <a:alpha val="100000"/>
            </a:srgbClr>
          </a:solidFill>
          <a:ln w="12700" cap="flat">
            <a:solidFill>
              <a:srgbClr val="8DAAC2">
                <a:alpha val="100000"/>
              </a:srgbClr>
            </a:solidFill>
            <a:prstDash val="solid"/>
          </a:ln>
        </p:spPr>
        <p:txBody>
          <a:bodyPr wrap="square" lIns="91440" tIns="45720" rIns="91440" bIns="45720" rtlCol="0" anchor="t">
            <a:noAutofit/>
          </a:bodyPr>
          <a:lstStyle/>
          <a:p>
            <a:pPr indent="0" algn="l">
              <a:lnSpc>
                <a:spcPct val="100000"/>
              </a:lnSpc>
              <a:defRPr/>
            </a:pPr>
            <a:r>
              <a:rPr lang="en-US" sz="23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Tree>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6186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1.3 位置编码</a:t>
            </a:r>
            <a:endParaRPr lang="en-US" sz="1100"/>
          </a:p>
        </p:txBody>
      </p:sp>
      <p:sp>
        <p:nvSpPr>
          <p:cNvPr id="10" name="AutoShape 10"/>
          <p:cNvSpPr/>
          <p:nvPr/>
        </p:nvSpPr>
        <p:spPr>
          <a:xfrm>
            <a:off x="333375" y="1831125"/>
            <a:ext cx="11525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为模型提供词语顺序信息，区分不同位置的相同词</a:t>
            </a:r>
            <a:endParaRPr lang="en-US" sz="1100"/>
          </a:p>
        </p:txBody>
      </p:sp>
      <p:sp>
        <p:nvSpPr>
          <p:cNvPr id="11" name="Freeform 11"/>
          <p:cNvSpPr/>
          <p:nvPr/>
        </p:nvSpPr>
        <p:spPr>
          <a:xfrm>
            <a:off x="381000" y="2326314"/>
            <a:ext cx="5562600" cy="2019300"/>
          </a:xfrm>
          <a:custGeom>
            <a:avLst/>
            <a:gdLst/>
            <a:ahLst/>
            <a:cxnLst/>
            <a:rect l="l" t="t" r="r" b="b"/>
            <a:pathLst>
              <a:path w="5562600" h="2019300">
                <a:moveTo>
                  <a:pt x="152397" y="0"/>
                </a:moveTo>
                <a:lnTo>
                  <a:pt x="5410203" y="0"/>
                </a:lnTo>
                <a:cubicBezTo>
                  <a:pt x="5494371" y="0"/>
                  <a:pt x="5562600" y="68229"/>
                  <a:pt x="5562600" y="152397"/>
                </a:cubicBezTo>
                <a:lnTo>
                  <a:pt x="5562600" y="1866903"/>
                </a:lnTo>
                <a:cubicBezTo>
                  <a:pt x="5562600" y="1951071"/>
                  <a:pt x="5494371" y="2019300"/>
                  <a:pt x="5410203" y="2019300"/>
                </a:cubicBezTo>
                <a:lnTo>
                  <a:pt x="152397" y="2019300"/>
                </a:lnTo>
                <a:cubicBezTo>
                  <a:pt x="68229" y="2019300"/>
                  <a:pt x="0" y="1951071"/>
                  <a:pt x="0" y="1866903"/>
                </a:cubicBezTo>
                <a:lnTo>
                  <a:pt x="0" y="152397"/>
                </a:lnTo>
                <a:cubicBezTo>
                  <a:pt x="0" y="68229"/>
                  <a:pt x="68229" y="0"/>
                  <a:pt x="152397"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561894" y="2554839"/>
            <a:ext cx="5200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"What is AI?"</a:t>
            </a:r>
            <a:endParaRPr lang="en-US" sz="1100"/>
          </a:p>
        </p:txBody>
      </p:sp>
      <p:sp>
        <p:nvSpPr>
          <p:cNvPr id="13" name="Freeform 13"/>
          <p:cNvSpPr/>
          <p:nvPr/>
        </p:nvSpPr>
        <p:spPr>
          <a:xfrm>
            <a:off x="609519" y="2973856"/>
            <a:ext cx="762000" cy="304800"/>
          </a:xfrm>
          <a:custGeom>
            <a:avLst/>
            <a:gdLst/>
            <a:ahLst/>
            <a:cxnLst/>
            <a:rect l="l" t="t" r="r" b="b"/>
            <a:pathLst>
              <a:path w="762000" h="304800">
                <a:moveTo>
                  <a:pt x="38100" y="0"/>
                </a:moveTo>
                <a:lnTo>
                  <a:pt x="723900" y="0"/>
                </a:lnTo>
                <a:cubicBezTo>
                  <a:pt x="744927" y="0"/>
                  <a:pt x="762000" y="17073"/>
                  <a:pt x="762000" y="38100"/>
                </a:cubicBezTo>
                <a:lnTo>
                  <a:pt x="762000" y="266700"/>
                </a:lnTo>
                <a:cubicBezTo>
                  <a:pt x="762000" y="287727"/>
                  <a:pt x="744927" y="304800"/>
                  <a:pt x="723900" y="304800"/>
                </a:cubicBezTo>
                <a:lnTo>
                  <a:pt x="38100" y="304800"/>
                </a:lnTo>
                <a:cubicBezTo>
                  <a:pt x="17073" y="304800"/>
                  <a:pt x="0" y="287727"/>
                  <a:pt x="0" y="2667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571419" y="2973856"/>
            <a:ext cx="838200" cy="304800"/>
          </a:xfrm>
          <a:prstGeom prst="rect">
            <a:avLst/>
          </a:prstGeom>
          <a:noFill/>
          <a:ln w="12700">
            <a:noFill/>
            <a:prstDash val="solid"/>
          </a:ln>
        </p:spPr>
        <p:txBody>
          <a:bodyPr wrap="square" lIns="114300" tIns="38100" rIns="114300" bIns="3810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What</a:t>
            </a:r>
            <a:endParaRPr lang="en-US" sz="1100"/>
          </a:p>
        </p:txBody>
      </p:sp>
      <p:sp>
        <p:nvSpPr>
          <p:cNvPr id="15" name="AutoShape 15"/>
          <p:cNvSpPr/>
          <p:nvPr/>
        </p:nvSpPr>
        <p:spPr>
          <a:xfrm>
            <a:off x="1485710" y="3011872"/>
            <a:ext cx="4381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位置1</a:t>
            </a:r>
            <a:endParaRPr lang="en-US" sz="1100"/>
          </a:p>
        </p:txBody>
      </p:sp>
      <p:sp>
        <p:nvSpPr>
          <p:cNvPr id="16" name="Freeform 16"/>
          <p:cNvSpPr/>
          <p:nvPr/>
        </p:nvSpPr>
        <p:spPr>
          <a:xfrm>
            <a:off x="609519" y="3392602"/>
            <a:ext cx="762000" cy="304800"/>
          </a:xfrm>
          <a:custGeom>
            <a:avLst/>
            <a:gdLst/>
            <a:ahLst/>
            <a:cxnLst/>
            <a:rect l="l" t="t" r="r" b="b"/>
            <a:pathLst>
              <a:path w="762000" h="304800">
                <a:moveTo>
                  <a:pt x="38100" y="0"/>
                </a:moveTo>
                <a:lnTo>
                  <a:pt x="723900" y="0"/>
                </a:lnTo>
                <a:cubicBezTo>
                  <a:pt x="744927" y="0"/>
                  <a:pt x="762000" y="17073"/>
                  <a:pt x="762000" y="38100"/>
                </a:cubicBezTo>
                <a:lnTo>
                  <a:pt x="762000" y="266700"/>
                </a:lnTo>
                <a:cubicBezTo>
                  <a:pt x="762000" y="287727"/>
                  <a:pt x="744927" y="304800"/>
                  <a:pt x="723900" y="304800"/>
                </a:cubicBezTo>
                <a:lnTo>
                  <a:pt x="38100" y="304800"/>
                </a:lnTo>
                <a:cubicBezTo>
                  <a:pt x="17073" y="304800"/>
                  <a:pt x="0" y="287727"/>
                  <a:pt x="0" y="2667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571419" y="3392602"/>
            <a:ext cx="838200" cy="304800"/>
          </a:xfrm>
          <a:prstGeom prst="rect">
            <a:avLst/>
          </a:prstGeom>
          <a:noFill/>
          <a:ln w="12700">
            <a:noFill/>
            <a:prstDash val="solid"/>
          </a:ln>
        </p:spPr>
        <p:txBody>
          <a:bodyPr wrap="square" lIns="114300" tIns="38100" rIns="114300" bIns="3810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is</a:t>
            </a:r>
            <a:endParaRPr lang="en-US" sz="1100"/>
          </a:p>
        </p:txBody>
      </p:sp>
      <p:sp>
        <p:nvSpPr>
          <p:cNvPr id="18" name="AutoShape 18"/>
          <p:cNvSpPr/>
          <p:nvPr/>
        </p:nvSpPr>
        <p:spPr>
          <a:xfrm>
            <a:off x="1485710" y="3430619"/>
            <a:ext cx="4667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位置2</a:t>
            </a:r>
            <a:endParaRPr lang="en-US" sz="1100"/>
          </a:p>
        </p:txBody>
      </p:sp>
      <p:sp>
        <p:nvSpPr>
          <p:cNvPr id="19" name="Freeform 19"/>
          <p:cNvSpPr/>
          <p:nvPr/>
        </p:nvSpPr>
        <p:spPr>
          <a:xfrm>
            <a:off x="609519" y="3811358"/>
            <a:ext cx="762000" cy="304800"/>
          </a:xfrm>
          <a:custGeom>
            <a:avLst/>
            <a:gdLst/>
            <a:ahLst/>
            <a:cxnLst/>
            <a:rect l="l" t="t" r="r" b="b"/>
            <a:pathLst>
              <a:path w="762000" h="304800">
                <a:moveTo>
                  <a:pt x="38100" y="0"/>
                </a:moveTo>
                <a:lnTo>
                  <a:pt x="723900" y="0"/>
                </a:lnTo>
                <a:cubicBezTo>
                  <a:pt x="744927" y="0"/>
                  <a:pt x="762000" y="17073"/>
                  <a:pt x="762000" y="38100"/>
                </a:cubicBezTo>
                <a:lnTo>
                  <a:pt x="762000" y="266700"/>
                </a:lnTo>
                <a:cubicBezTo>
                  <a:pt x="762000" y="287727"/>
                  <a:pt x="744927" y="304800"/>
                  <a:pt x="723900" y="304800"/>
                </a:cubicBezTo>
                <a:lnTo>
                  <a:pt x="38100" y="304800"/>
                </a:lnTo>
                <a:cubicBezTo>
                  <a:pt x="17073" y="304800"/>
                  <a:pt x="0" y="287727"/>
                  <a:pt x="0" y="266700"/>
                </a:cubicBezTo>
                <a:lnTo>
                  <a:pt x="0" y="38100"/>
                </a:lnTo>
                <a:cubicBezTo>
                  <a:pt x="0" y="17073"/>
                  <a:pt x="17073" y="0"/>
                  <a:pt x="381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571419" y="3811358"/>
            <a:ext cx="838200" cy="304800"/>
          </a:xfrm>
          <a:prstGeom prst="rect">
            <a:avLst/>
          </a:prstGeom>
          <a:noFill/>
          <a:ln w="12700">
            <a:noFill/>
            <a:prstDash val="solid"/>
          </a:ln>
        </p:spPr>
        <p:txBody>
          <a:bodyPr wrap="square" lIns="114300" tIns="38100" rIns="114300" bIns="3810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100"/>
          </a:p>
        </p:txBody>
      </p:sp>
      <p:sp>
        <p:nvSpPr>
          <p:cNvPr id="21" name="AutoShape 21"/>
          <p:cNvSpPr/>
          <p:nvPr/>
        </p:nvSpPr>
        <p:spPr>
          <a:xfrm>
            <a:off x="1485710" y="3849365"/>
            <a:ext cx="4667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位置3</a:t>
            </a:r>
            <a:endParaRPr lang="en-US" sz="1100"/>
          </a:p>
        </p:txBody>
      </p:sp>
      <p:sp>
        <p:nvSpPr>
          <p:cNvPr id="22" name="Freeform 22"/>
          <p:cNvSpPr/>
          <p:nvPr/>
        </p:nvSpPr>
        <p:spPr>
          <a:xfrm>
            <a:off x="6248346" y="2326314"/>
            <a:ext cx="5562600" cy="2019300"/>
          </a:xfrm>
          <a:custGeom>
            <a:avLst/>
            <a:gdLst/>
            <a:ahLst/>
            <a:cxnLst/>
            <a:rect l="l" t="t" r="r" b="b"/>
            <a:pathLst>
              <a:path w="5562600" h="2019300">
                <a:moveTo>
                  <a:pt x="152397" y="0"/>
                </a:moveTo>
                <a:lnTo>
                  <a:pt x="5410203" y="0"/>
                </a:lnTo>
                <a:cubicBezTo>
                  <a:pt x="5494371" y="0"/>
                  <a:pt x="5562600" y="68229"/>
                  <a:pt x="5562600" y="152397"/>
                </a:cubicBezTo>
                <a:lnTo>
                  <a:pt x="5562600" y="1866903"/>
                </a:lnTo>
                <a:cubicBezTo>
                  <a:pt x="5562600" y="1951071"/>
                  <a:pt x="5494371" y="2019300"/>
                  <a:pt x="5410203" y="2019300"/>
                </a:cubicBezTo>
                <a:lnTo>
                  <a:pt x="152397" y="2019300"/>
                </a:lnTo>
                <a:cubicBezTo>
                  <a:pt x="68229" y="2019300"/>
                  <a:pt x="0" y="1951071"/>
                  <a:pt x="0" y="1866903"/>
                </a:cubicBezTo>
                <a:lnTo>
                  <a:pt x="0" y="152397"/>
                </a:lnTo>
                <a:cubicBezTo>
                  <a:pt x="0" y="68229"/>
                  <a:pt x="68229" y="0"/>
                  <a:pt x="152397"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6429240" y="2554839"/>
            <a:ext cx="5200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"Is What AI"</a:t>
            </a:r>
            <a:endParaRPr lang="en-US" sz="1100"/>
          </a:p>
        </p:txBody>
      </p:sp>
      <p:sp>
        <p:nvSpPr>
          <p:cNvPr id="24" name="Freeform 24"/>
          <p:cNvSpPr/>
          <p:nvPr/>
        </p:nvSpPr>
        <p:spPr>
          <a:xfrm>
            <a:off x="6476865" y="2973856"/>
            <a:ext cx="762000" cy="304800"/>
          </a:xfrm>
          <a:custGeom>
            <a:avLst/>
            <a:gdLst/>
            <a:ahLst/>
            <a:cxnLst/>
            <a:rect l="l" t="t" r="r" b="b"/>
            <a:pathLst>
              <a:path w="762000" h="304800">
                <a:moveTo>
                  <a:pt x="38100" y="0"/>
                </a:moveTo>
                <a:lnTo>
                  <a:pt x="723900" y="0"/>
                </a:lnTo>
                <a:cubicBezTo>
                  <a:pt x="744927" y="0"/>
                  <a:pt x="762000" y="17073"/>
                  <a:pt x="762000" y="38100"/>
                </a:cubicBezTo>
                <a:lnTo>
                  <a:pt x="762000" y="266700"/>
                </a:lnTo>
                <a:cubicBezTo>
                  <a:pt x="762000" y="287727"/>
                  <a:pt x="744927" y="304800"/>
                  <a:pt x="723900" y="304800"/>
                </a:cubicBezTo>
                <a:lnTo>
                  <a:pt x="38100" y="304800"/>
                </a:lnTo>
                <a:cubicBezTo>
                  <a:pt x="17073" y="304800"/>
                  <a:pt x="0" y="287727"/>
                  <a:pt x="0" y="2667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5" name="AutoShape 25"/>
          <p:cNvSpPr/>
          <p:nvPr/>
        </p:nvSpPr>
        <p:spPr>
          <a:xfrm>
            <a:off x="6438765" y="2973856"/>
            <a:ext cx="838200" cy="304800"/>
          </a:xfrm>
          <a:prstGeom prst="rect">
            <a:avLst/>
          </a:prstGeom>
          <a:noFill/>
          <a:ln w="12700">
            <a:noFill/>
            <a:prstDash val="solid"/>
          </a:ln>
        </p:spPr>
        <p:txBody>
          <a:bodyPr wrap="square" lIns="114300" tIns="38100" rIns="114300" bIns="3810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Is</a:t>
            </a:r>
            <a:endParaRPr lang="en-US" sz="1100"/>
          </a:p>
        </p:txBody>
      </p:sp>
      <p:sp>
        <p:nvSpPr>
          <p:cNvPr id="26" name="AutoShape 26"/>
          <p:cNvSpPr/>
          <p:nvPr/>
        </p:nvSpPr>
        <p:spPr>
          <a:xfrm>
            <a:off x="7353056" y="3011872"/>
            <a:ext cx="4381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位置1</a:t>
            </a:r>
            <a:endParaRPr lang="en-US" sz="1100"/>
          </a:p>
        </p:txBody>
      </p:sp>
      <p:sp>
        <p:nvSpPr>
          <p:cNvPr id="27" name="Freeform 27"/>
          <p:cNvSpPr/>
          <p:nvPr/>
        </p:nvSpPr>
        <p:spPr>
          <a:xfrm>
            <a:off x="6476865" y="3392602"/>
            <a:ext cx="762000" cy="304800"/>
          </a:xfrm>
          <a:custGeom>
            <a:avLst/>
            <a:gdLst/>
            <a:ahLst/>
            <a:cxnLst/>
            <a:rect l="l" t="t" r="r" b="b"/>
            <a:pathLst>
              <a:path w="762000" h="304800">
                <a:moveTo>
                  <a:pt x="38100" y="0"/>
                </a:moveTo>
                <a:lnTo>
                  <a:pt x="723900" y="0"/>
                </a:lnTo>
                <a:cubicBezTo>
                  <a:pt x="744927" y="0"/>
                  <a:pt x="762000" y="17073"/>
                  <a:pt x="762000" y="38100"/>
                </a:cubicBezTo>
                <a:lnTo>
                  <a:pt x="762000" y="266700"/>
                </a:lnTo>
                <a:cubicBezTo>
                  <a:pt x="762000" y="287727"/>
                  <a:pt x="744927" y="304800"/>
                  <a:pt x="723900" y="304800"/>
                </a:cubicBezTo>
                <a:lnTo>
                  <a:pt x="38100" y="304800"/>
                </a:lnTo>
                <a:cubicBezTo>
                  <a:pt x="17073" y="304800"/>
                  <a:pt x="0" y="287727"/>
                  <a:pt x="0" y="2667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8" name="AutoShape 28"/>
          <p:cNvSpPr/>
          <p:nvPr/>
        </p:nvSpPr>
        <p:spPr>
          <a:xfrm>
            <a:off x="6438765" y="3392602"/>
            <a:ext cx="838200" cy="304800"/>
          </a:xfrm>
          <a:prstGeom prst="rect">
            <a:avLst/>
          </a:prstGeom>
          <a:noFill/>
          <a:ln w="12700">
            <a:noFill/>
            <a:prstDash val="solid"/>
          </a:ln>
        </p:spPr>
        <p:txBody>
          <a:bodyPr wrap="square" lIns="114300" tIns="38100" rIns="114300" bIns="3810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What</a:t>
            </a:r>
            <a:endParaRPr lang="en-US" sz="1100"/>
          </a:p>
        </p:txBody>
      </p:sp>
      <p:sp>
        <p:nvSpPr>
          <p:cNvPr id="29" name="AutoShape 29"/>
          <p:cNvSpPr/>
          <p:nvPr/>
        </p:nvSpPr>
        <p:spPr>
          <a:xfrm>
            <a:off x="7353056" y="3430619"/>
            <a:ext cx="4667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位置2</a:t>
            </a:r>
            <a:endParaRPr lang="en-US" sz="1100"/>
          </a:p>
        </p:txBody>
      </p:sp>
      <p:sp>
        <p:nvSpPr>
          <p:cNvPr id="30" name="Freeform 30"/>
          <p:cNvSpPr/>
          <p:nvPr/>
        </p:nvSpPr>
        <p:spPr>
          <a:xfrm>
            <a:off x="6476865" y="3811358"/>
            <a:ext cx="762000" cy="304800"/>
          </a:xfrm>
          <a:custGeom>
            <a:avLst/>
            <a:gdLst/>
            <a:ahLst/>
            <a:cxnLst/>
            <a:rect l="l" t="t" r="r" b="b"/>
            <a:pathLst>
              <a:path w="762000" h="304800">
                <a:moveTo>
                  <a:pt x="38100" y="0"/>
                </a:moveTo>
                <a:lnTo>
                  <a:pt x="723900" y="0"/>
                </a:lnTo>
                <a:cubicBezTo>
                  <a:pt x="744927" y="0"/>
                  <a:pt x="762000" y="17073"/>
                  <a:pt x="762000" y="38100"/>
                </a:cubicBezTo>
                <a:lnTo>
                  <a:pt x="762000" y="266700"/>
                </a:lnTo>
                <a:cubicBezTo>
                  <a:pt x="762000" y="287727"/>
                  <a:pt x="744927" y="304800"/>
                  <a:pt x="723900" y="304800"/>
                </a:cubicBezTo>
                <a:lnTo>
                  <a:pt x="38100" y="304800"/>
                </a:lnTo>
                <a:cubicBezTo>
                  <a:pt x="17073" y="304800"/>
                  <a:pt x="0" y="287727"/>
                  <a:pt x="0" y="266700"/>
                </a:cubicBezTo>
                <a:lnTo>
                  <a:pt x="0" y="38100"/>
                </a:lnTo>
                <a:cubicBezTo>
                  <a:pt x="0" y="17073"/>
                  <a:pt x="17073" y="0"/>
                  <a:pt x="381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6438765" y="3811358"/>
            <a:ext cx="838200" cy="304800"/>
          </a:xfrm>
          <a:prstGeom prst="rect">
            <a:avLst/>
          </a:prstGeom>
          <a:noFill/>
          <a:ln w="12700">
            <a:noFill/>
            <a:prstDash val="solid"/>
          </a:ln>
        </p:spPr>
        <p:txBody>
          <a:bodyPr wrap="square" lIns="114300" tIns="38100" rIns="114300" bIns="3810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100"/>
          </a:p>
        </p:txBody>
      </p:sp>
      <p:sp>
        <p:nvSpPr>
          <p:cNvPr id="32" name="AutoShape 32"/>
          <p:cNvSpPr/>
          <p:nvPr/>
        </p:nvSpPr>
        <p:spPr>
          <a:xfrm>
            <a:off x="7353056" y="3849365"/>
            <a:ext cx="4667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位置3</a:t>
            </a:r>
            <a:endParaRPr lang="en-US" sz="1100"/>
          </a:p>
        </p:txBody>
      </p:sp>
      <p:sp>
        <p:nvSpPr>
          <p:cNvPr id="33" name="Freeform 33"/>
          <p:cNvSpPr/>
          <p:nvPr/>
        </p:nvSpPr>
        <p:spPr>
          <a:xfrm>
            <a:off x="389659" y="4581608"/>
            <a:ext cx="11409218" cy="741218"/>
          </a:xfrm>
          <a:custGeom>
            <a:avLst/>
            <a:gdLst/>
            <a:ahLst/>
            <a:cxnLst/>
            <a:rect l="l" t="t" r="r" b="b"/>
            <a:pathLst>
              <a:path w="11409218" h="741218">
                <a:moveTo>
                  <a:pt x="114303" y="0"/>
                </a:moveTo>
                <a:lnTo>
                  <a:pt x="11294915" y="0"/>
                </a:lnTo>
                <a:cubicBezTo>
                  <a:pt x="11358043" y="0"/>
                  <a:pt x="11409218" y="51175"/>
                  <a:pt x="11409218" y="114303"/>
                </a:cubicBezTo>
                <a:lnTo>
                  <a:pt x="11409218" y="626915"/>
                </a:lnTo>
                <a:cubicBezTo>
                  <a:pt x="11409218" y="690043"/>
                  <a:pt x="11358043" y="741218"/>
                  <a:pt x="11294915" y="741218"/>
                </a:cubicBezTo>
                <a:lnTo>
                  <a:pt x="114303" y="741218"/>
                </a:lnTo>
                <a:cubicBezTo>
                  <a:pt x="51218" y="741218"/>
                  <a:pt x="0" y="690001"/>
                  <a:pt x="0" y="626915"/>
                </a:cubicBezTo>
                <a:lnTo>
                  <a:pt x="0" y="114303"/>
                </a:lnTo>
                <a:cubicBezTo>
                  <a:pt x="0" y="51218"/>
                  <a:pt x="51218" y="0"/>
                  <a:pt x="114303" y="0"/>
                </a:cubicBezTo>
                <a:close/>
              </a:path>
            </a:pathLst>
          </a:custGeom>
          <a:noFill/>
          <a:ln w="12700" cap="flat">
            <a:solidFill>
              <a:srgbClr val="8DAAC2">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34" name="AutoShape 34"/>
          <p:cNvSpPr/>
          <p:nvPr/>
        </p:nvSpPr>
        <p:spPr>
          <a:xfrm>
            <a:off x="531668" y="4780769"/>
            <a:ext cx="11125200" cy="3429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词向量 </a:t>
            </a:r>
            <a:r>
              <a:rPr lang="en-US" sz="23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a:t>
            </a: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位置向量 </a:t>
            </a:r>
            <a:r>
              <a:rPr lang="en-US" sz="18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a:t>
            </a: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最终向量</a:t>
            </a:r>
            <a:endParaRPr lang="en-US" sz="1100"/>
          </a:p>
        </p:txBody>
      </p:sp>
      <p:sp>
        <p:nvSpPr>
          <p:cNvPr id="35" name="Freeform 35"/>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6" name="AutoShape 36"/>
          <p:cNvSpPr/>
          <p:nvPr/>
        </p:nvSpPr>
        <p:spPr>
          <a:xfrm>
            <a:off x="609519" y="5962594"/>
            <a:ext cx="6113570" cy="218591"/>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Positional </a:t>
            </a:r>
            <a:r>
              <a:rPr lang="en-US" sz="1400" b="1"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Encoding（位置编码</a:t>
            </a:r>
            <a:r>
              <a:rPr lang="en-US" sz="1400"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t>
            </a: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a:t>
            </a:r>
            <a:r>
              <a:rPr lang="en-US" sz="14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为模型提供词语顺序信息的技术</a:t>
            </a:r>
            <a:endParaRPr lang="en-US" sz="1100" dirty="0"/>
          </a:p>
        </p:txBody>
      </p:sp>
    </p:spTree>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6187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1.4 最终表示</a:t>
            </a:r>
            <a:endParaRPr lang="en-US" sz="1100"/>
          </a:p>
        </p:txBody>
      </p:sp>
      <p:sp>
        <p:nvSpPr>
          <p:cNvPr id="10" name="AutoShape 10"/>
          <p:cNvSpPr/>
          <p:nvPr/>
        </p:nvSpPr>
        <p:spPr>
          <a:xfrm>
            <a:off x="333375" y="2596381"/>
            <a:ext cx="11525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将语义特征和位置信息融合，形成最终的输入表示</a:t>
            </a:r>
            <a:endParaRPr lang="en-US" sz="1100"/>
          </a:p>
        </p:txBody>
      </p:sp>
      <p:sp>
        <p:nvSpPr>
          <p:cNvPr id="11" name="Freeform 11"/>
          <p:cNvSpPr/>
          <p:nvPr/>
        </p:nvSpPr>
        <p:spPr>
          <a:xfrm>
            <a:off x="3266236" y="3193711"/>
            <a:ext cx="1274618" cy="665018"/>
          </a:xfrm>
          <a:custGeom>
            <a:avLst/>
            <a:gdLst/>
            <a:ahLst/>
            <a:cxnLst/>
            <a:rect l="l" t="t" r="r" b="b"/>
            <a:pathLst>
              <a:path w="1274618" h="665018">
                <a:moveTo>
                  <a:pt x="114303" y="0"/>
                </a:moveTo>
                <a:lnTo>
                  <a:pt x="1160315" y="0"/>
                </a:lnTo>
                <a:cubicBezTo>
                  <a:pt x="1223443" y="0"/>
                  <a:pt x="1274618" y="51175"/>
                  <a:pt x="1274618" y="114303"/>
                </a:cubicBezTo>
                <a:lnTo>
                  <a:pt x="1274618" y="550715"/>
                </a:lnTo>
                <a:cubicBezTo>
                  <a:pt x="1274618" y="613843"/>
                  <a:pt x="1223443" y="665018"/>
                  <a:pt x="1160315" y="665018"/>
                </a:cubicBezTo>
                <a:lnTo>
                  <a:pt x="114303" y="665018"/>
                </a:lnTo>
                <a:cubicBezTo>
                  <a:pt x="51175" y="665018"/>
                  <a:pt x="0" y="613843"/>
                  <a:pt x="0" y="550715"/>
                </a:cubicBezTo>
                <a:lnTo>
                  <a:pt x="0" y="114303"/>
                </a:lnTo>
                <a:cubicBezTo>
                  <a:pt x="0" y="51175"/>
                  <a:pt x="51175" y="0"/>
                  <a:pt x="114303" y="0"/>
                </a:cubicBezTo>
                <a:close/>
              </a:path>
            </a:pathLst>
          </a:custGeom>
          <a:no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2" name="Freeform 12"/>
          <p:cNvSpPr/>
          <p:nvPr/>
        </p:nvSpPr>
        <p:spPr>
          <a:xfrm>
            <a:off x="3465395"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3617606"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3769816"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3922027"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4074237"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7" name="Freeform 17"/>
          <p:cNvSpPr/>
          <p:nvPr/>
        </p:nvSpPr>
        <p:spPr>
          <a:xfrm>
            <a:off x="4226448"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3465395"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3617606"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3769816"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3922027"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2" name="Freeform 22"/>
          <p:cNvSpPr/>
          <p:nvPr/>
        </p:nvSpPr>
        <p:spPr>
          <a:xfrm>
            <a:off x="4074237"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3" name="Freeform 23"/>
          <p:cNvSpPr/>
          <p:nvPr/>
        </p:nvSpPr>
        <p:spPr>
          <a:xfrm>
            <a:off x="4226448"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3645748" y="3981283"/>
            <a:ext cx="6000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词向量</a:t>
            </a:r>
            <a:endParaRPr lang="en-US" sz="1100"/>
          </a:p>
        </p:txBody>
      </p:sp>
      <p:sp>
        <p:nvSpPr>
          <p:cNvPr id="25" name="AutoShape 25"/>
          <p:cNvSpPr/>
          <p:nvPr/>
        </p:nvSpPr>
        <p:spPr>
          <a:xfrm>
            <a:off x="3598123" y="4247815"/>
            <a:ext cx="685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语义特征</a:t>
            </a:r>
            <a:endParaRPr lang="en-US" sz="1100"/>
          </a:p>
        </p:txBody>
      </p:sp>
      <p:sp>
        <p:nvSpPr>
          <p:cNvPr id="26" name="AutoShape 26"/>
          <p:cNvSpPr/>
          <p:nvPr/>
        </p:nvSpPr>
        <p:spPr>
          <a:xfrm>
            <a:off x="4853150" y="3602050"/>
            <a:ext cx="504825" cy="457200"/>
          </a:xfrm>
          <a:prstGeom prst="rect">
            <a:avLst/>
          </a:prstGeom>
          <a:noFill/>
          <a:ln w="12700">
            <a:noFill/>
            <a:prstDash val="solid"/>
          </a:ln>
        </p:spPr>
        <p:txBody>
          <a:bodyPr wrap="square" lIns="0" tIns="0" rIns="0" bIns="0" rtlCol="0" anchor="ctr">
            <a:noAutofit/>
          </a:bodyPr>
          <a:lstStyle/>
          <a:p>
            <a:pPr indent="0" algn="l">
              <a:lnSpc>
                <a:spcPct val="83000"/>
              </a:lnSpc>
              <a:defRPr/>
            </a:pPr>
            <a:r>
              <a:rPr lang="en-US" sz="36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27" name="Freeform 27"/>
          <p:cNvSpPr/>
          <p:nvPr/>
        </p:nvSpPr>
        <p:spPr>
          <a:xfrm>
            <a:off x="5441833" y="3193711"/>
            <a:ext cx="1274618" cy="665018"/>
          </a:xfrm>
          <a:custGeom>
            <a:avLst/>
            <a:gdLst/>
            <a:ahLst/>
            <a:cxnLst/>
            <a:rect l="l" t="t" r="r" b="b"/>
            <a:pathLst>
              <a:path w="1274618" h="665018">
                <a:moveTo>
                  <a:pt x="114303" y="0"/>
                </a:moveTo>
                <a:lnTo>
                  <a:pt x="1160315" y="0"/>
                </a:lnTo>
                <a:cubicBezTo>
                  <a:pt x="1223443" y="0"/>
                  <a:pt x="1274618" y="51175"/>
                  <a:pt x="1274618" y="114303"/>
                </a:cubicBezTo>
                <a:lnTo>
                  <a:pt x="1274618" y="550715"/>
                </a:lnTo>
                <a:cubicBezTo>
                  <a:pt x="1274618" y="613843"/>
                  <a:pt x="1223443" y="665018"/>
                  <a:pt x="1160315" y="665018"/>
                </a:cubicBezTo>
                <a:lnTo>
                  <a:pt x="114303" y="665018"/>
                </a:lnTo>
                <a:cubicBezTo>
                  <a:pt x="51175" y="665018"/>
                  <a:pt x="0" y="613843"/>
                  <a:pt x="0" y="550715"/>
                </a:cubicBezTo>
                <a:lnTo>
                  <a:pt x="0" y="114303"/>
                </a:lnTo>
                <a:cubicBezTo>
                  <a:pt x="0" y="51175"/>
                  <a:pt x="51175" y="0"/>
                  <a:pt x="114303" y="0"/>
                </a:cubicBezTo>
                <a:close/>
              </a:path>
            </a:pathLst>
          </a:custGeom>
          <a:solidFill>
            <a:srgbClr val="5B92E5">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28" name="Freeform 28"/>
          <p:cNvSpPr/>
          <p:nvPr/>
        </p:nvSpPr>
        <p:spPr>
          <a:xfrm>
            <a:off x="5640992"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29" name="Freeform 29"/>
          <p:cNvSpPr/>
          <p:nvPr/>
        </p:nvSpPr>
        <p:spPr>
          <a:xfrm>
            <a:off x="5793202"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0" name="Freeform 30"/>
          <p:cNvSpPr/>
          <p:nvPr/>
        </p:nvSpPr>
        <p:spPr>
          <a:xfrm>
            <a:off x="5945413"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1" name="Freeform 31"/>
          <p:cNvSpPr/>
          <p:nvPr/>
        </p:nvSpPr>
        <p:spPr>
          <a:xfrm>
            <a:off x="6097623"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2" name="Freeform 32"/>
          <p:cNvSpPr/>
          <p:nvPr/>
        </p:nvSpPr>
        <p:spPr>
          <a:xfrm>
            <a:off x="6249834"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3" name="Freeform 33"/>
          <p:cNvSpPr/>
          <p:nvPr/>
        </p:nvSpPr>
        <p:spPr>
          <a:xfrm>
            <a:off x="6402045"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4" name="Freeform 34"/>
          <p:cNvSpPr/>
          <p:nvPr/>
        </p:nvSpPr>
        <p:spPr>
          <a:xfrm>
            <a:off x="5640992"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5" name="Freeform 35"/>
          <p:cNvSpPr/>
          <p:nvPr/>
        </p:nvSpPr>
        <p:spPr>
          <a:xfrm>
            <a:off x="5793202"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6" name="Freeform 36"/>
          <p:cNvSpPr/>
          <p:nvPr/>
        </p:nvSpPr>
        <p:spPr>
          <a:xfrm>
            <a:off x="5945413"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7" name="Freeform 37"/>
          <p:cNvSpPr/>
          <p:nvPr/>
        </p:nvSpPr>
        <p:spPr>
          <a:xfrm>
            <a:off x="6097623"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8" name="Freeform 38"/>
          <p:cNvSpPr/>
          <p:nvPr/>
        </p:nvSpPr>
        <p:spPr>
          <a:xfrm>
            <a:off x="6249834"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9" name="Freeform 39"/>
          <p:cNvSpPr/>
          <p:nvPr/>
        </p:nvSpPr>
        <p:spPr>
          <a:xfrm>
            <a:off x="6402045"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40" name="AutoShape 40"/>
          <p:cNvSpPr/>
          <p:nvPr/>
        </p:nvSpPr>
        <p:spPr>
          <a:xfrm>
            <a:off x="5735700" y="3981283"/>
            <a:ext cx="771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87CEEB"/>
                </a:solidFill>
                <a:latin typeface="MiSans" panose="00000500000000000000" charset="-122"/>
                <a:ea typeface="MiSans" panose="00000500000000000000" charset="-122"/>
                <a:cs typeface="MiSans" panose="00000500000000000000" charset="-122"/>
                <a:sym typeface="MiSans" panose="00000500000000000000" charset="-122"/>
              </a:rPr>
              <a:t>位置向量</a:t>
            </a:r>
            <a:endParaRPr lang="en-US" sz="1100"/>
          </a:p>
        </p:txBody>
      </p:sp>
      <p:sp>
        <p:nvSpPr>
          <p:cNvPr id="41" name="AutoShape 41"/>
          <p:cNvSpPr/>
          <p:nvPr/>
        </p:nvSpPr>
        <p:spPr>
          <a:xfrm>
            <a:off x="5773719" y="4247815"/>
            <a:ext cx="685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顺序信息</a:t>
            </a:r>
            <a:endParaRPr lang="en-US" sz="1100"/>
          </a:p>
        </p:txBody>
      </p:sp>
      <p:sp>
        <p:nvSpPr>
          <p:cNvPr id="42" name="AutoShape 42"/>
          <p:cNvSpPr/>
          <p:nvPr/>
        </p:nvSpPr>
        <p:spPr>
          <a:xfrm>
            <a:off x="7028746" y="3602050"/>
            <a:ext cx="504825" cy="457200"/>
          </a:xfrm>
          <a:prstGeom prst="rect">
            <a:avLst/>
          </a:prstGeom>
          <a:noFill/>
          <a:ln w="12700">
            <a:noFill/>
            <a:prstDash val="solid"/>
          </a:ln>
        </p:spPr>
        <p:txBody>
          <a:bodyPr wrap="square" lIns="0" tIns="0" rIns="0" bIns="0" rtlCol="0" anchor="ctr">
            <a:noAutofit/>
          </a:bodyPr>
          <a:lstStyle/>
          <a:p>
            <a:pPr indent="0" algn="l">
              <a:lnSpc>
                <a:spcPct val="83000"/>
              </a:lnSpc>
              <a:defRPr/>
            </a:pPr>
            <a:r>
              <a:rPr lang="en-US" sz="36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3" name="Freeform 43"/>
          <p:cNvSpPr/>
          <p:nvPr/>
        </p:nvSpPr>
        <p:spPr>
          <a:xfrm>
            <a:off x="7626088" y="3185050"/>
            <a:ext cx="1291935" cy="682335"/>
          </a:xfrm>
          <a:custGeom>
            <a:avLst/>
            <a:gdLst/>
            <a:ahLst/>
            <a:cxnLst/>
            <a:rect l="l" t="t" r="r" b="b"/>
            <a:pathLst>
              <a:path w="1291935" h="682335">
                <a:moveTo>
                  <a:pt x="114297" y="0"/>
                </a:moveTo>
                <a:lnTo>
                  <a:pt x="1177638" y="0"/>
                </a:lnTo>
                <a:cubicBezTo>
                  <a:pt x="1240721" y="0"/>
                  <a:pt x="1291935" y="51215"/>
                  <a:pt x="1291935" y="114297"/>
                </a:cubicBezTo>
                <a:lnTo>
                  <a:pt x="1291935" y="568038"/>
                </a:lnTo>
                <a:cubicBezTo>
                  <a:pt x="1291935" y="631163"/>
                  <a:pt x="1240763" y="682335"/>
                  <a:pt x="1177638" y="682335"/>
                </a:cubicBezTo>
                <a:lnTo>
                  <a:pt x="114297" y="682335"/>
                </a:lnTo>
                <a:cubicBezTo>
                  <a:pt x="51215" y="682335"/>
                  <a:pt x="0" y="631121"/>
                  <a:pt x="0" y="568038"/>
                </a:cubicBezTo>
                <a:lnTo>
                  <a:pt x="0" y="114297"/>
                </a:lnTo>
                <a:cubicBezTo>
                  <a:pt x="0" y="51215"/>
                  <a:pt x="51215" y="0"/>
                  <a:pt x="114297" y="0"/>
                </a:cubicBezTo>
                <a:close/>
              </a:path>
            </a:pathLst>
          </a:custGeom>
          <a:noFill/>
          <a:ln w="38100">
            <a:solidFill>
              <a:srgbClr val="00CED1">
                <a:alpha val="100000"/>
              </a:srgbClr>
            </a:solidFill>
            <a:prstDash val="solid"/>
          </a:ln>
        </p:spPr>
        <p:txBody>
          <a:bodyPr wrap="square" lIns="91440" tIns="45720" rIns="91440" bIns="45720" rtlCol="0" anchor="t">
            <a:noAutofit/>
          </a:bodyPr>
          <a:lstStyle/>
          <a:p>
            <a:pPr algn="ctr">
              <a:defRPr/>
            </a:pPr>
          </a:p>
        </p:txBody>
      </p:sp>
      <p:sp>
        <p:nvSpPr>
          <p:cNvPr id="44" name="Freeform 44"/>
          <p:cNvSpPr/>
          <p:nvPr/>
        </p:nvSpPr>
        <p:spPr>
          <a:xfrm>
            <a:off x="7833906"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45" name="Freeform 45"/>
          <p:cNvSpPr/>
          <p:nvPr/>
        </p:nvSpPr>
        <p:spPr>
          <a:xfrm>
            <a:off x="7986117"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46" name="Freeform 46"/>
          <p:cNvSpPr/>
          <p:nvPr/>
        </p:nvSpPr>
        <p:spPr>
          <a:xfrm>
            <a:off x="8138328"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47" name="Freeform 47"/>
          <p:cNvSpPr/>
          <p:nvPr/>
        </p:nvSpPr>
        <p:spPr>
          <a:xfrm>
            <a:off x="8290538"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48" name="Freeform 48"/>
          <p:cNvSpPr/>
          <p:nvPr/>
        </p:nvSpPr>
        <p:spPr>
          <a:xfrm>
            <a:off x="8442749"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49" name="Freeform 49"/>
          <p:cNvSpPr/>
          <p:nvPr/>
        </p:nvSpPr>
        <p:spPr>
          <a:xfrm>
            <a:off x="8594959"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50" name="Freeform 50"/>
          <p:cNvSpPr/>
          <p:nvPr/>
        </p:nvSpPr>
        <p:spPr>
          <a:xfrm>
            <a:off x="7833906"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51" name="Freeform 51"/>
          <p:cNvSpPr/>
          <p:nvPr/>
        </p:nvSpPr>
        <p:spPr>
          <a:xfrm>
            <a:off x="7986117"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52" name="Freeform 52"/>
          <p:cNvSpPr/>
          <p:nvPr/>
        </p:nvSpPr>
        <p:spPr>
          <a:xfrm>
            <a:off x="8138328"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53" name="Freeform 53"/>
          <p:cNvSpPr/>
          <p:nvPr/>
        </p:nvSpPr>
        <p:spPr>
          <a:xfrm>
            <a:off x="8290538"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54" name="Freeform 54"/>
          <p:cNvSpPr/>
          <p:nvPr/>
        </p:nvSpPr>
        <p:spPr>
          <a:xfrm>
            <a:off x="8442749"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55" name="Freeform 55"/>
          <p:cNvSpPr/>
          <p:nvPr/>
        </p:nvSpPr>
        <p:spPr>
          <a:xfrm>
            <a:off x="8594959"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56" name="AutoShape 56"/>
          <p:cNvSpPr/>
          <p:nvPr/>
        </p:nvSpPr>
        <p:spPr>
          <a:xfrm>
            <a:off x="7928615" y="3998602"/>
            <a:ext cx="771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最终向量</a:t>
            </a:r>
            <a:endParaRPr lang="en-US" sz="1100"/>
          </a:p>
        </p:txBody>
      </p:sp>
      <p:sp>
        <p:nvSpPr>
          <p:cNvPr id="57" name="AutoShape 57"/>
          <p:cNvSpPr/>
          <p:nvPr/>
        </p:nvSpPr>
        <p:spPr>
          <a:xfrm>
            <a:off x="7966634" y="4265135"/>
            <a:ext cx="685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完整表示</a:t>
            </a:r>
            <a:endParaRPr lang="en-US" sz="1100"/>
          </a:p>
        </p:txBody>
      </p:sp>
      <p:sp>
        <p:nvSpPr>
          <p:cNvPr id="58" name="Freeform 58"/>
          <p:cNvSpPr/>
          <p:nvPr/>
        </p:nvSpPr>
        <p:spPr>
          <a:xfrm>
            <a:off x="3522626" y="4883320"/>
            <a:ext cx="5151293" cy="588818"/>
          </a:xfrm>
          <a:custGeom>
            <a:avLst/>
            <a:gdLst/>
            <a:ahLst/>
            <a:cxnLst/>
            <a:rect l="l" t="t" r="r" b="b"/>
            <a:pathLst>
              <a:path w="5151293" h="588818">
                <a:moveTo>
                  <a:pt x="114301" y="0"/>
                </a:moveTo>
                <a:lnTo>
                  <a:pt x="5036991" y="0"/>
                </a:lnTo>
                <a:cubicBezTo>
                  <a:pt x="5100119" y="0"/>
                  <a:pt x="5151293" y="51173"/>
                  <a:pt x="5151293" y="114301"/>
                </a:cubicBezTo>
                <a:lnTo>
                  <a:pt x="5151293" y="474516"/>
                </a:lnTo>
                <a:cubicBezTo>
                  <a:pt x="5151293" y="537644"/>
                  <a:pt x="5100119" y="588818"/>
                  <a:pt x="5036991" y="588818"/>
                </a:cubicBezTo>
                <a:lnTo>
                  <a:pt x="114301" y="588818"/>
                </a:lnTo>
                <a:cubicBezTo>
                  <a:pt x="51217" y="588818"/>
                  <a:pt x="0" y="537601"/>
                  <a:pt x="0" y="474516"/>
                </a:cubicBezTo>
                <a:lnTo>
                  <a:pt x="0" y="114301"/>
                </a:lnTo>
                <a:cubicBezTo>
                  <a:pt x="0" y="51217"/>
                  <a:pt x="51217" y="0"/>
                  <a:pt x="114301" y="0"/>
                </a:cubicBezTo>
                <a:close/>
              </a:path>
            </a:pathLst>
          </a:custGeom>
          <a:solidFill>
            <a:srgbClr val="00CED1">
              <a:alpha val="100000"/>
            </a:srgbClr>
          </a:solidFill>
          <a:ln w="12700">
            <a:solidFill>
              <a:srgbClr val="00CED1">
                <a:alpha val="100000"/>
              </a:srgbClr>
            </a:solidFill>
            <a:prstDash val="solid"/>
          </a:ln>
        </p:spPr>
        <p:txBody>
          <a:bodyPr wrap="square" lIns="91440" tIns="45720" rIns="91440" bIns="45720" rtlCol="0" anchor="t">
            <a:noAutofit/>
          </a:bodyPr>
          <a:lstStyle/>
          <a:p>
            <a:pPr algn="ctr">
              <a:defRPr/>
            </a:pPr>
          </a:p>
        </p:txBody>
      </p:sp>
      <p:sp>
        <p:nvSpPr>
          <p:cNvPr id="59" name="Freeform 59"/>
          <p:cNvSpPr/>
          <p:nvPr/>
        </p:nvSpPr>
        <p:spPr>
          <a:xfrm>
            <a:off x="3859790" y="5061645"/>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6" y="131119"/>
                  <a:pt x="83939" y="129777"/>
                  <a:pt x="82191" y="127398"/>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5" y="65522"/>
                  <a:pt x="119621" y="64219"/>
                  <a:pt x="123825" y="66860"/>
                </a:cubicBezTo>
                <a:cubicBezTo>
                  <a:pt x="128029" y="69503"/>
                  <a:pt x="129294" y="74972"/>
                  <a:pt x="126653" y="79177"/>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60" name="AutoShape 60"/>
          <p:cNvSpPr/>
          <p:nvPr/>
        </p:nvSpPr>
        <p:spPr>
          <a:xfrm>
            <a:off x="4083627" y="5044325"/>
            <a:ext cx="43243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Step 1 完成！输入已转换为机器可理解的数字表示</a:t>
            </a:r>
            <a:endParaRPr lang="en-US" sz="1100"/>
          </a:p>
        </p:txBody>
      </p:sp>
    </p:spTree>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61870"/>
            <a:ext cx="11658600" cy="6858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3600" b="0" i="0" u="none" strike="noStrike">
                <a:solidFill>
                  <a:srgbClr val="5B92E5"/>
                </a:solidFill>
                <a:latin typeface="Alimama ShuHeiTi"/>
                <a:ea typeface="Alimama ShuHeiTi"/>
                <a:cs typeface="Alimama ShuHeiTi"/>
                <a:sym typeface="Alimama ShuHeiTi"/>
              </a:rPr>
              <a:t>Step 2 逐层计算：理解语义</a:t>
            </a:r>
            <a:endParaRPr lang="en-US" sz="1100"/>
          </a:p>
        </p:txBody>
      </p:sp>
      <p:sp>
        <p:nvSpPr>
          <p:cNvPr id="10" name="Freeform 10"/>
          <p:cNvSpPr/>
          <p:nvPr/>
        </p:nvSpPr>
        <p:spPr>
          <a:xfrm>
            <a:off x="2362173" y="2667000"/>
            <a:ext cx="1066800" cy="1066800"/>
          </a:xfrm>
          <a:custGeom>
            <a:avLst/>
            <a:gdLst/>
            <a:ahLst/>
            <a:cxnLst/>
            <a:rect l="l" t="t" r="r" b="b"/>
            <a:pathLst>
              <a:path w="1066800" h="1066800">
                <a:moveTo>
                  <a:pt x="533400" y="0"/>
                </a:moveTo>
                <a:lnTo>
                  <a:pt x="533400" y="0"/>
                </a:lnTo>
                <a:cubicBezTo>
                  <a:pt x="827791" y="0"/>
                  <a:pt x="1066800" y="239009"/>
                  <a:pt x="1066800" y="533400"/>
                </a:cubicBezTo>
                <a:lnTo>
                  <a:pt x="1066800" y="533400"/>
                </a:lnTo>
                <a:cubicBezTo>
                  <a:pt x="1066800" y="827791"/>
                  <a:pt x="827791" y="1066800"/>
                  <a:pt x="533400" y="1066800"/>
                </a:cubicBezTo>
                <a:lnTo>
                  <a:pt x="533400" y="1066800"/>
                </a:lnTo>
                <a:cubicBezTo>
                  <a:pt x="239009" y="1066800"/>
                  <a:pt x="0" y="827791"/>
                  <a:pt x="0" y="533400"/>
                </a:cubicBezTo>
                <a:lnTo>
                  <a:pt x="0" y="533400"/>
                </a:lnTo>
                <a:cubicBezTo>
                  <a:pt x="0" y="239009"/>
                  <a:pt x="239009" y="0"/>
                  <a:pt x="5334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2702034" y="3050344"/>
            <a:ext cx="386968" cy="300037"/>
          </a:xfrm>
          <a:custGeom>
            <a:avLst/>
            <a:gdLst/>
            <a:ahLst/>
            <a:cxnLst/>
            <a:rect l="l" t="t" r="r" b="b"/>
            <a:pathLst>
              <a:path w="386968" h="300037">
                <a:moveTo>
                  <a:pt x="193484" y="0"/>
                </a:moveTo>
                <a:cubicBezTo>
                  <a:pt x="139370" y="0"/>
                  <a:pt x="96038" y="24646"/>
                  <a:pt x="64495" y="53980"/>
                </a:cubicBezTo>
                <a:cubicBezTo>
                  <a:pt x="33152" y="83113"/>
                  <a:pt x="12189" y="117871"/>
                  <a:pt x="2210" y="141781"/>
                </a:cubicBezTo>
                <a:cubicBezTo>
                  <a:pt x="0" y="147073"/>
                  <a:pt x="0" y="152965"/>
                  <a:pt x="2210" y="158257"/>
                </a:cubicBezTo>
                <a:cubicBezTo>
                  <a:pt x="12189" y="182167"/>
                  <a:pt x="33152" y="216992"/>
                  <a:pt x="64495" y="246058"/>
                </a:cubicBezTo>
                <a:cubicBezTo>
                  <a:pt x="96038" y="275325"/>
                  <a:pt x="139370" y="300038"/>
                  <a:pt x="193484" y="300038"/>
                </a:cubicBezTo>
                <a:cubicBezTo>
                  <a:pt x="247598" y="300038"/>
                  <a:pt x="290929" y="275392"/>
                  <a:pt x="322474" y="246058"/>
                </a:cubicBezTo>
                <a:cubicBezTo>
                  <a:pt x="353817" y="216925"/>
                  <a:pt x="374779" y="182167"/>
                  <a:pt x="384758" y="158257"/>
                </a:cubicBezTo>
                <a:cubicBezTo>
                  <a:pt x="386967" y="152965"/>
                  <a:pt x="386967" y="147073"/>
                  <a:pt x="384758" y="141781"/>
                </a:cubicBezTo>
                <a:cubicBezTo>
                  <a:pt x="374779" y="117871"/>
                  <a:pt x="353817" y="83046"/>
                  <a:pt x="322474" y="53980"/>
                </a:cubicBezTo>
                <a:cubicBezTo>
                  <a:pt x="290929" y="24713"/>
                  <a:pt x="247598" y="0"/>
                  <a:pt x="193484" y="0"/>
                </a:cubicBezTo>
                <a:close/>
                <a:moveTo>
                  <a:pt x="97044" y="150019"/>
                </a:moveTo>
                <a:cubicBezTo>
                  <a:pt x="97044" y="96792"/>
                  <a:pt x="140257" y="53578"/>
                  <a:pt x="193484" y="53578"/>
                </a:cubicBezTo>
                <a:cubicBezTo>
                  <a:pt x="246711" y="53578"/>
                  <a:pt x="289926" y="96792"/>
                  <a:pt x="289926" y="150019"/>
                </a:cubicBezTo>
                <a:cubicBezTo>
                  <a:pt x="289926" y="203246"/>
                  <a:pt x="246711" y="246460"/>
                  <a:pt x="193484" y="246460"/>
                </a:cubicBezTo>
                <a:cubicBezTo>
                  <a:pt x="140257" y="246460"/>
                  <a:pt x="97044" y="203246"/>
                  <a:pt x="97044" y="150019"/>
                </a:cubicBezTo>
                <a:close/>
                <a:moveTo>
                  <a:pt x="193484" y="107156"/>
                </a:moveTo>
                <a:cubicBezTo>
                  <a:pt x="193484" y="130798"/>
                  <a:pt x="174263" y="150019"/>
                  <a:pt x="150622" y="150019"/>
                </a:cubicBezTo>
                <a:cubicBezTo>
                  <a:pt x="142920" y="150019"/>
                  <a:pt x="135687" y="148010"/>
                  <a:pt x="129391" y="144393"/>
                </a:cubicBezTo>
                <a:cubicBezTo>
                  <a:pt x="128722" y="151693"/>
                  <a:pt x="129324" y="159193"/>
                  <a:pt x="131334" y="166628"/>
                </a:cubicBezTo>
                <a:cubicBezTo>
                  <a:pt x="140509" y="200918"/>
                  <a:pt x="175803" y="221277"/>
                  <a:pt x="210093" y="212103"/>
                </a:cubicBezTo>
                <a:cubicBezTo>
                  <a:pt x="244383" y="202927"/>
                  <a:pt x="264743" y="167633"/>
                  <a:pt x="255568" y="133343"/>
                </a:cubicBezTo>
                <a:cubicBezTo>
                  <a:pt x="247397" y="102736"/>
                  <a:pt x="218398" y="83247"/>
                  <a:pt x="187859" y="85926"/>
                </a:cubicBezTo>
                <a:cubicBezTo>
                  <a:pt x="191408" y="92155"/>
                  <a:pt x="193484" y="99388"/>
                  <a:pt x="193484" y="107156"/>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2275717" y="3886033"/>
            <a:ext cx="13335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2.1 多角度理解</a:t>
            </a:r>
            <a:endParaRPr lang="en-US" sz="1100"/>
          </a:p>
        </p:txBody>
      </p:sp>
      <p:sp>
        <p:nvSpPr>
          <p:cNvPr id="13" name="Freeform 13"/>
          <p:cNvSpPr/>
          <p:nvPr/>
        </p:nvSpPr>
        <p:spPr>
          <a:xfrm>
            <a:off x="3858112" y="3453185"/>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4489197" y="2667000"/>
            <a:ext cx="1066800" cy="1066800"/>
          </a:xfrm>
          <a:custGeom>
            <a:avLst/>
            <a:gdLst/>
            <a:ahLst/>
            <a:cxnLst/>
            <a:rect l="l" t="t" r="r" b="b"/>
            <a:pathLst>
              <a:path w="1066800" h="1066800">
                <a:moveTo>
                  <a:pt x="533400" y="0"/>
                </a:moveTo>
                <a:lnTo>
                  <a:pt x="533400" y="0"/>
                </a:lnTo>
                <a:cubicBezTo>
                  <a:pt x="827791" y="0"/>
                  <a:pt x="1066800" y="239009"/>
                  <a:pt x="1066800" y="533400"/>
                </a:cubicBezTo>
                <a:lnTo>
                  <a:pt x="1066800" y="533400"/>
                </a:lnTo>
                <a:cubicBezTo>
                  <a:pt x="1066800" y="827791"/>
                  <a:pt x="827791" y="1066800"/>
                  <a:pt x="533400" y="1066800"/>
                </a:cubicBezTo>
                <a:lnTo>
                  <a:pt x="533400" y="1066800"/>
                </a:lnTo>
                <a:cubicBezTo>
                  <a:pt x="239009" y="1066800"/>
                  <a:pt x="0" y="827791"/>
                  <a:pt x="0" y="533400"/>
                </a:cubicBezTo>
                <a:lnTo>
                  <a:pt x="0" y="533400"/>
                </a:lnTo>
                <a:cubicBezTo>
                  <a:pt x="0" y="239009"/>
                  <a:pt x="239009" y="0"/>
                  <a:pt x="5334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4818747" y="2996297"/>
            <a:ext cx="408197" cy="408200"/>
          </a:xfrm>
          <a:custGeom>
            <a:avLst/>
            <a:gdLst/>
            <a:ahLst/>
            <a:cxnLst/>
            <a:rect l="l" t="t" r="r" b="b"/>
            <a:pathLst>
              <a:path w="408197" h="408200">
                <a:moveTo>
                  <a:pt x="268023" y="173594"/>
                </a:moveTo>
                <a:cubicBezTo>
                  <a:pt x="276194" y="171383"/>
                  <a:pt x="284767" y="175267"/>
                  <a:pt x="288450" y="182835"/>
                </a:cubicBezTo>
                <a:lnTo>
                  <a:pt x="300907" y="208017"/>
                </a:lnTo>
                <a:cubicBezTo>
                  <a:pt x="307804" y="208955"/>
                  <a:pt x="314568" y="210830"/>
                  <a:pt x="320932" y="213442"/>
                </a:cubicBezTo>
                <a:lnTo>
                  <a:pt x="344372" y="197838"/>
                </a:lnTo>
                <a:cubicBezTo>
                  <a:pt x="351404" y="193149"/>
                  <a:pt x="360713" y="194088"/>
                  <a:pt x="366674" y="200048"/>
                </a:cubicBezTo>
                <a:lnTo>
                  <a:pt x="379533" y="212906"/>
                </a:lnTo>
                <a:cubicBezTo>
                  <a:pt x="385493" y="218867"/>
                  <a:pt x="386431" y="228243"/>
                  <a:pt x="381743" y="235208"/>
                </a:cubicBezTo>
                <a:lnTo>
                  <a:pt x="366138" y="258582"/>
                </a:lnTo>
                <a:cubicBezTo>
                  <a:pt x="367411" y="261729"/>
                  <a:pt x="368549" y="265011"/>
                  <a:pt x="369487" y="268427"/>
                </a:cubicBezTo>
                <a:cubicBezTo>
                  <a:pt x="370424" y="271842"/>
                  <a:pt x="371028" y="275191"/>
                  <a:pt x="371496" y="278607"/>
                </a:cubicBezTo>
                <a:lnTo>
                  <a:pt x="396745" y="291064"/>
                </a:lnTo>
                <a:cubicBezTo>
                  <a:pt x="404313" y="294814"/>
                  <a:pt x="408197" y="303386"/>
                  <a:pt x="405987" y="311490"/>
                </a:cubicBezTo>
                <a:lnTo>
                  <a:pt x="401299" y="329037"/>
                </a:lnTo>
                <a:cubicBezTo>
                  <a:pt x="399089" y="337140"/>
                  <a:pt x="391522" y="342632"/>
                  <a:pt x="383082" y="342097"/>
                </a:cubicBezTo>
                <a:lnTo>
                  <a:pt x="354954" y="340287"/>
                </a:lnTo>
                <a:cubicBezTo>
                  <a:pt x="350735" y="345713"/>
                  <a:pt x="345846" y="350736"/>
                  <a:pt x="340287" y="355022"/>
                </a:cubicBezTo>
                <a:lnTo>
                  <a:pt x="342094" y="383084"/>
                </a:lnTo>
                <a:cubicBezTo>
                  <a:pt x="342632" y="391522"/>
                  <a:pt x="337139" y="399157"/>
                  <a:pt x="329035" y="401300"/>
                </a:cubicBezTo>
                <a:lnTo>
                  <a:pt x="311489" y="405988"/>
                </a:lnTo>
                <a:cubicBezTo>
                  <a:pt x="303318" y="408199"/>
                  <a:pt x="294812" y="404315"/>
                  <a:pt x="291062" y="396747"/>
                </a:cubicBezTo>
                <a:lnTo>
                  <a:pt x="278605" y="371565"/>
                </a:lnTo>
                <a:cubicBezTo>
                  <a:pt x="271707" y="370627"/>
                  <a:pt x="264943" y="368752"/>
                  <a:pt x="258580" y="366140"/>
                </a:cubicBezTo>
                <a:lnTo>
                  <a:pt x="235140" y="381744"/>
                </a:lnTo>
                <a:cubicBezTo>
                  <a:pt x="228108" y="386433"/>
                  <a:pt x="218798" y="385494"/>
                  <a:pt x="212838" y="379534"/>
                </a:cubicBezTo>
                <a:lnTo>
                  <a:pt x="199979" y="366676"/>
                </a:lnTo>
                <a:cubicBezTo>
                  <a:pt x="194017" y="360715"/>
                  <a:pt x="193082" y="351406"/>
                  <a:pt x="197769" y="344374"/>
                </a:cubicBezTo>
                <a:lnTo>
                  <a:pt x="213374" y="320933"/>
                </a:lnTo>
                <a:cubicBezTo>
                  <a:pt x="212101" y="317786"/>
                  <a:pt x="210963" y="314504"/>
                  <a:pt x="210025" y="311088"/>
                </a:cubicBezTo>
                <a:cubicBezTo>
                  <a:pt x="209087" y="307673"/>
                  <a:pt x="208485" y="304258"/>
                  <a:pt x="208015" y="300909"/>
                </a:cubicBezTo>
                <a:lnTo>
                  <a:pt x="182767" y="288452"/>
                </a:lnTo>
                <a:cubicBezTo>
                  <a:pt x="175199" y="284701"/>
                  <a:pt x="171382" y="276130"/>
                  <a:pt x="173525" y="268024"/>
                </a:cubicBezTo>
                <a:lnTo>
                  <a:pt x="178214" y="250478"/>
                </a:lnTo>
                <a:cubicBezTo>
                  <a:pt x="180423" y="242374"/>
                  <a:pt x="187991" y="236883"/>
                  <a:pt x="196431" y="237417"/>
                </a:cubicBezTo>
                <a:lnTo>
                  <a:pt x="224491" y="239227"/>
                </a:lnTo>
                <a:cubicBezTo>
                  <a:pt x="228710" y="233802"/>
                  <a:pt x="233600" y="228779"/>
                  <a:pt x="239158" y="224493"/>
                </a:cubicBezTo>
                <a:lnTo>
                  <a:pt x="237350" y="196498"/>
                </a:lnTo>
                <a:cubicBezTo>
                  <a:pt x="236814" y="188060"/>
                  <a:pt x="242305" y="180425"/>
                  <a:pt x="250409" y="178282"/>
                </a:cubicBezTo>
                <a:lnTo>
                  <a:pt x="267956" y="173594"/>
                </a:lnTo>
                <a:close/>
                <a:moveTo>
                  <a:pt x="289789" y="260323"/>
                </a:moveTo>
                <a:cubicBezTo>
                  <a:pt x="273526" y="260342"/>
                  <a:pt x="260336" y="273560"/>
                  <a:pt x="260355" y="289824"/>
                </a:cubicBezTo>
                <a:cubicBezTo>
                  <a:pt x="260372" y="306088"/>
                  <a:pt x="273593" y="319277"/>
                  <a:pt x="289856" y="319259"/>
                </a:cubicBezTo>
                <a:cubicBezTo>
                  <a:pt x="306120" y="319240"/>
                  <a:pt x="319309" y="306022"/>
                  <a:pt x="319292" y="289758"/>
                </a:cubicBezTo>
                <a:cubicBezTo>
                  <a:pt x="319273" y="273494"/>
                  <a:pt x="306053" y="260305"/>
                  <a:pt x="289789" y="260323"/>
                </a:cubicBezTo>
                <a:close/>
                <a:moveTo>
                  <a:pt x="140106" y="2144"/>
                </a:moveTo>
                <a:lnTo>
                  <a:pt x="157652" y="6832"/>
                </a:lnTo>
                <a:cubicBezTo>
                  <a:pt x="165756" y="9042"/>
                  <a:pt x="171248" y="16677"/>
                  <a:pt x="170712" y="25048"/>
                </a:cubicBezTo>
                <a:lnTo>
                  <a:pt x="168905" y="53043"/>
                </a:lnTo>
                <a:cubicBezTo>
                  <a:pt x="174462" y="57329"/>
                  <a:pt x="179352" y="62284"/>
                  <a:pt x="183570" y="67777"/>
                </a:cubicBezTo>
                <a:lnTo>
                  <a:pt x="211698" y="65967"/>
                </a:lnTo>
                <a:cubicBezTo>
                  <a:pt x="220072" y="65433"/>
                  <a:pt x="227706" y="70924"/>
                  <a:pt x="229917" y="79028"/>
                </a:cubicBezTo>
                <a:lnTo>
                  <a:pt x="234604" y="96574"/>
                </a:lnTo>
                <a:cubicBezTo>
                  <a:pt x="236747" y="104680"/>
                  <a:pt x="232930" y="113251"/>
                  <a:pt x="225362" y="117002"/>
                </a:cubicBezTo>
                <a:lnTo>
                  <a:pt x="200113" y="129459"/>
                </a:lnTo>
                <a:cubicBezTo>
                  <a:pt x="199644" y="132874"/>
                  <a:pt x="198974" y="136290"/>
                  <a:pt x="198104" y="139638"/>
                </a:cubicBezTo>
                <a:cubicBezTo>
                  <a:pt x="197233" y="142987"/>
                  <a:pt x="196028" y="146336"/>
                  <a:pt x="194755" y="149483"/>
                </a:cubicBezTo>
                <a:lnTo>
                  <a:pt x="210360" y="172924"/>
                </a:lnTo>
                <a:cubicBezTo>
                  <a:pt x="215047" y="179956"/>
                  <a:pt x="214110" y="189265"/>
                  <a:pt x="208150" y="195226"/>
                </a:cubicBezTo>
                <a:lnTo>
                  <a:pt x="195291" y="208084"/>
                </a:lnTo>
                <a:cubicBezTo>
                  <a:pt x="189330" y="214044"/>
                  <a:pt x="180021" y="214983"/>
                  <a:pt x="172989" y="210294"/>
                </a:cubicBezTo>
                <a:lnTo>
                  <a:pt x="149548" y="194690"/>
                </a:lnTo>
                <a:cubicBezTo>
                  <a:pt x="143186" y="197302"/>
                  <a:pt x="136422" y="199177"/>
                  <a:pt x="129524" y="200115"/>
                </a:cubicBezTo>
                <a:lnTo>
                  <a:pt x="117067" y="225297"/>
                </a:lnTo>
                <a:cubicBezTo>
                  <a:pt x="113317" y="232865"/>
                  <a:pt x="104744" y="236682"/>
                  <a:pt x="96640" y="234538"/>
                </a:cubicBezTo>
                <a:lnTo>
                  <a:pt x="79093" y="229850"/>
                </a:lnTo>
                <a:cubicBezTo>
                  <a:pt x="70923" y="227640"/>
                  <a:pt x="65499" y="220005"/>
                  <a:pt x="66035" y="211634"/>
                </a:cubicBezTo>
                <a:lnTo>
                  <a:pt x="67842" y="183572"/>
                </a:lnTo>
                <a:cubicBezTo>
                  <a:pt x="62283" y="179286"/>
                  <a:pt x="57393" y="174330"/>
                  <a:pt x="53175" y="168837"/>
                </a:cubicBezTo>
                <a:lnTo>
                  <a:pt x="25047" y="170647"/>
                </a:lnTo>
                <a:cubicBezTo>
                  <a:pt x="16675" y="171182"/>
                  <a:pt x="9039" y="165690"/>
                  <a:pt x="6830" y="157587"/>
                </a:cubicBezTo>
                <a:lnTo>
                  <a:pt x="2142" y="140040"/>
                </a:lnTo>
                <a:cubicBezTo>
                  <a:pt x="0" y="131936"/>
                  <a:pt x="3816" y="123364"/>
                  <a:pt x="11384" y="119614"/>
                </a:cubicBezTo>
                <a:lnTo>
                  <a:pt x="36633" y="107157"/>
                </a:lnTo>
                <a:cubicBezTo>
                  <a:pt x="37101" y="103741"/>
                  <a:pt x="37771" y="100392"/>
                  <a:pt x="38642" y="96977"/>
                </a:cubicBezTo>
                <a:cubicBezTo>
                  <a:pt x="39580" y="93561"/>
                  <a:pt x="40651" y="90279"/>
                  <a:pt x="41991" y="87132"/>
                </a:cubicBezTo>
                <a:lnTo>
                  <a:pt x="26386" y="63758"/>
                </a:lnTo>
                <a:cubicBezTo>
                  <a:pt x="21698" y="56726"/>
                  <a:pt x="22635" y="47417"/>
                  <a:pt x="28596" y="41456"/>
                </a:cubicBezTo>
                <a:lnTo>
                  <a:pt x="41455" y="28598"/>
                </a:lnTo>
                <a:cubicBezTo>
                  <a:pt x="47415" y="22638"/>
                  <a:pt x="56725" y="21699"/>
                  <a:pt x="63757" y="26388"/>
                </a:cubicBezTo>
                <a:lnTo>
                  <a:pt x="87197" y="41992"/>
                </a:lnTo>
                <a:cubicBezTo>
                  <a:pt x="93561" y="39380"/>
                  <a:pt x="100325" y="37505"/>
                  <a:pt x="107222" y="36567"/>
                </a:cubicBezTo>
                <a:lnTo>
                  <a:pt x="119679" y="11385"/>
                </a:lnTo>
                <a:cubicBezTo>
                  <a:pt x="123430" y="3817"/>
                  <a:pt x="131935" y="0"/>
                  <a:pt x="140106" y="2144"/>
                </a:cubicBezTo>
                <a:close/>
                <a:moveTo>
                  <a:pt x="118339" y="88873"/>
                </a:moveTo>
                <a:cubicBezTo>
                  <a:pt x="102076" y="88873"/>
                  <a:pt x="88870" y="102077"/>
                  <a:pt x="88870" y="118341"/>
                </a:cubicBezTo>
                <a:cubicBezTo>
                  <a:pt x="88870" y="134605"/>
                  <a:pt x="102076" y="147809"/>
                  <a:pt x="118339" y="147809"/>
                </a:cubicBezTo>
                <a:cubicBezTo>
                  <a:pt x="134603" y="147809"/>
                  <a:pt x="147807" y="134605"/>
                  <a:pt x="147807" y="118341"/>
                </a:cubicBezTo>
                <a:cubicBezTo>
                  <a:pt x="147807" y="102077"/>
                  <a:pt x="134603" y="88873"/>
                  <a:pt x="118339" y="88873"/>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4481891" y="3886033"/>
            <a:ext cx="11811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2.2 深度加工</a:t>
            </a:r>
            <a:endParaRPr lang="en-US" sz="1100"/>
          </a:p>
        </p:txBody>
      </p:sp>
      <p:sp>
        <p:nvSpPr>
          <p:cNvPr id="17" name="Freeform 17"/>
          <p:cNvSpPr/>
          <p:nvPr/>
        </p:nvSpPr>
        <p:spPr>
          <a:xfrm>
            <a:off x="5905987" y="3453185"/>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5" y="6976"/>
                </a:cubicBezTo>
                <a:cubicBezTo>
                  <a:pt x="158948" y="13952"/>
                  <a:pt x="158948" y="25282"/>
                  <a:pt x="165925" y="32258"/>
                </a:cubicBezTo>
                <a:lnTo>
                  <a:pt x="224749" y="91083"/>
                </a:lnTo>
                <a:lnTo>
                  <a:pt x="17859" y="91083"/>
                </a:lnTo>
                <a:cubicBezTo>
                  <a:pt x="7981" y="91083"/>
                  <a:pt x="0" y="99064"/>
                  <a:pt x="0" y="108942"/>
                </a:cubicBezTo>
                <a:cubicBezTo>
                  <a:pt x="0" y="118820"/>
                  <a:pt x="7981" y="126801"/>
                  <a:pt x="17859" y="126801"/>
                </a:cubicBezTo>
                <a:lnTo>
                  <a:pt x="224749" y="126801"/>
                </a:lnTo>
                <a:lnTo>
                  <a:pt x="165925" y="185626"/>
                </a:lnTo>
                <a:cubicBezTo>
                  <a:pt x="158948" y="192602"/>
                  <a:pt x="158948" y="203932"/>
                  <a:pt x="165925"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6539508" y="2667000"/>
            <a:ext cx="1066800" cy="1066800"/>
          </a:xfrm>
          <a:custGeom>
            <a:avLst/>
            <a:gdLst/>
            <a:ahLst/>
            <a:cxnLst/>
            <a:rect l="l" t="t" r="r" b="b"/>
            <a:pathLst>
              <a:path w="1066800" h="1066800">
                <a:moveTo>
                  <a:pt x="533400" y="0"/>
                </a:moveTo>
                <a:lnTo>
                  <a:pt x="533400" y="0"/>
                </a:lnTo>
                <a:cubicBezTo>
                  <a:pt x="827791" y="0"/>
                  <a:pt x="1066800" y="239009"/>
                  <a:pt x="1066800" y="533400"/>
                </a:cubicBezTo>
                <a:lnTo>
                  <a:pt x="1066800" y="533400"/>
                </a:lnTo>
                <a:cubicBezTo>
                  <a:pt x="1066800" y="827791"/>
                  <a:pt x="827791" y="1066800"/>
                  <a:pt x="533400" y="1066800"/>
                </a:cubicBezTo>
                <a:lnTo>
                  <a:pt x="533400" y="1066800"/>
                </a:lnTo>
                <a:cubicBezTo>
                  <a:pt x="239009" y="1066800"/>
                  <a:pt x="0" y="827791"/>
                  <a:pt x="0" y="533400"/>
                </a:cubicBezTo>
                <a:lnTo>
                  <a:pt x="0" y="533400"/>
                </a:lnTo>
                <a:cubicBezTo>
                  <a:pt x="0" y="239009"/>
                  <a:pt x="239009" y="0"/>
                  <a:pt x="5334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6901403" y="3027774"/>
            <a:ext cx="342900" cy="345178"/>
          </a:xfrm>
          <a:custGeom>
            <a:avLst/>
            <a:gdLst/>
            <a:ahLst/>
            <a:cxnLst/>
            <a:rect l="l" t="t" r="r" b="b"/>
            <a:pathLst>
              <a:path w="342900" h="345178">
                <a:moveTo>
                  <a:pt x="155711" y="4623"/>
                </a:moveTo>
                <a:cubicBezTo>
                  <a:pt x="165691" y="0"/>
                  <a:pt x="177209" y="0"/>
                  <a:pt x="187189" y="4623"/>
                </a:cubicBezTo>
                <a:lnTo>
                  <a:pt x="333591" y="72264"/>
                </a:lnTo>
                <a:cubicBezTo>
                  <a:pt x="339283" y="74876"/>
                  <a:pt x="342900" y="80569"/>
                  <a:pt x="342900" y="86864"/>
                </a:cubicBezTo>
                <a:cubicBezTo>
                  <a:pt x="342900" y="93159"/>
                  <a:pt x="339283" y="98852"/>
                  <a:pt x="333591" y="101464"/>
                </a:cubicBezTo>
                <a:lnTo>
                  <a:pt x="187189" y="169105"/>
                </a:lnTo>
                <a:cubicBezTo>
                  <a:pt x="177209" y="173728"/>
                  <a:pt x="165691" y="173728"/>
                  <a:pt x="155711" y="169105"/>
                </a:cubicBezTo>
                <a:lnTo>
                  <a:pt x="9309" y="101464"/>
                </a:lnTo>
                <a:cubicBezTo>
                  <a:pt x="3617" y="98785"/>
                  <a:pt x="0" y="93092"/>
                  <a:pt x="0" y="86864"/>
                </a:cubicBezTo>
                <a:cubicBezTo>
                  <a:pt x="0" y="80636"/>
                  <a:pt x="3617" y="74876"/>
                  <a:pt x="9309" y="72264"/>
                </a:cubicBezTo>
                <a:lnTo>
                  <a:pt x="155711" y="4623"/>
                </a:lnTo>
                <a:close/>
                <a:moveTo>
                  <a:pt x="32214" y="147407"/>
                </a:moveTo>
                <a:lnTo>
                  <a:pt x="142250" y="198240"/>
                </a:lnTo>
                <a:cubicBezTo>
                  <a:pt x="160801" y="206812"/>
                  <a:pt x="182166" y="206812"/>
                  <a:pt x="200717" y="198240"/>
                </a:cubicBezTo>
                <a:lnTo>
                  <a:pt x="310752" y="147407"/>
                </a:lnTo>
                <a:lnTo>
                  <a:pt x="333591" y="157989"/>
                </a:lnTo>
                <a:cubicBezTo>
                  <a:pt x="339283" y="160601"/>
                  <a:pt x="342900" y="166294"/>
                  <a:pt x="342900" y="172589"/>
                </a:cubicBezTo>
                <a:cubicBezTo>
                  <a:pt x="342900" y="178884"/>
                  <a:pt x="339283" y="184577"/>
                  <a:pt x="333591" y="187189"/>
                </a:cubicBezTo>
                <a:lnTo>
                  <a:pt x="187189" y="254830"/>
                </a:lnTo>
                <a:cubicBezTo>
                  <a:pt x="177209" y="259453"/>
                  <a:pt x="165691" y="259453"/>
                  <a:pt x="155711" y="254830"/>
                </a:cubicBezTo>
                <a:lnTo>
                  <a:pt x="9309" y="187189"/>
                </a:lnTo>
                <a:cubicBezTo>
                  <a:pt x="3617" y="184510"/>
                  <a:pt x="0" y="178817"/>
                  <a:pt x="0" y="172589"/>
                </a:cubicBezTo>
                <a:cubicBezTo>
                  <a:pt x="0" y="166361"/>
                  <a:pt x="3617" y="160601"/>
                  <a:pt x="9309" y="157989"/>
                </a:cubicBezTo>
                <a:lnTo>
                  <a:pt x="32148" y="147407"/>
                </a:lnTo>
                <a:close/>
                <a:moveTo>
                  <a:pt x="9309" y="243714"/>
                </a:moveTo>
                <a:lnTo>
                  <a:pt x="32148" y="233132"/>
                </a:lnTo>
                <a:lnTo>
                  <a:pt x="142183" y="283965"/>
                </a:lnTo>
                <a:cubicBezTo>
                  <a:pt x="160734" y="292537"/>
                  <a:pt x="182099" y="292537"/>
                  <a:pt x="200650" y="283965"/>
                </a:cubicBezTo>
                <a:lnTo>
                  <a:pt x="310686" y="233132"/>
                </a:lnTo>
                <a:lnTo>
                  <a:pt x="333524" y="243714"/>
                </a:lnTo>
                <a:cubicBezTo>
                  <a:pt x="339217" y="246326"/>
                  <a:pt x="342833" y="252019"/>
                  <a:pt x="342833" y="258314"/>
                </a:cubicBezTo>
                <a:cubicBezTo>
                  <a:pt x="342833" y="264609"/>
                  <a:pt x="339217" y="270302"/>
                  <a:pt x="333524" y="272914"/>
                </a:cubicBezTo>
                <a:lnTo>
                  <a:pt x="187122" y="340555"/>
                </a:lnTo>
                <a:cubicBezTo>
                  <a:pt x="177143" y="345178"/>
                  <a:pt x="165623" y="345178"/>
                  <a:pt x="155644" y="340555"/>
                </a:cubicBezTo>
                <a:lnTo>
                  <a:pt x="9309" y="272914"/>
                </a:lnTo>
                <a:cubicBezTo>
                  <a:pt x="3617" y="270235"/>
                  <a:pt x="0" y="264542"/>
                  <a:pt x="0" y="258314"/>
                </a:cubicBezTo>
                <a:cubicBezTo>
                  <a:pt x="0" y="252086"/>
                  <a:pt x="3617" y="246326"/>
                  <a:pt x="9309" y="243714"/>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6529766" y="3886033"/>
            <a:ext cx="11811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2.3 层层递进</a:t>
            </a:r>
            <a:endParaRPr lang="en-US" sz="1100"/>
          </a:p>
        </p:txBody>
      </p:sp>
      <p:sp>
        <p:nvSpPr>
          <p:cNvPr id="21" name="Freeform 21"/>
          <p:cNvSpPr/>
          <p:nvPr/>
        </p:nvSpPr>
        <p:spPr>
          <a:xfrm>
            <a:off x="7958868" y="3453185"/>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2" name="Freeform 22"/>
          <p:cNvSpPr/>
          <p:nvPr/>
        </p:nvSpPr>
        <p:spPr>
          <a:xfrm>
            <a:off x="8716051" y="2667000"/>
            <a:ext cx="1066800" cy="1066800"/>
          </a:xfrm>
          <a:custGeom>
            <a:avLst/>
            <a:gdLst/>
            <a:ahLst/>
            <a:cxnLst/>
            <a:rect l="l" t="t" r="r" b="b"/>
            <a:pathLst>
              <a:path w="1066800" h="1066800">
                <a:moveTo>
                  <a:pt x="533400" y="0"/>
                </a:moveTo>
                <a:lnTo>
                  <a:pt x="533400" y="0"/>
                </a:lnTo>
                <a:cubicBezTo>
                  <a:pt x="827791" y="0"/>
                  <a:pt x="1066800" y="239009"/>
                  <a:pt x="1066800" y="533400"/>
                </a:cubicBezTo>
                <a:lnTo>
                  <a:pt x="1066800" y="533400"/>
                </a:lnTo>
                <a:cubicBezTo>
                  <a:pt x="1066800" y="827791"/>
                  <a:pt x="827791" y="1066800"/>
                  <a:pt x="533400" y="1066800"/>
                </a:cubicBezTo>
                <a:lnTo>
                  <a:pt x="533400" y="1066800"/>
                </a:lnTo>
                <a:cubicBezTo>
                  <a:pt x="239009" y="1066800"/>
                  <a:pt x="0" y="827791"/>
                  <a:pt x="0" y="533400"/>
                </a:cubicBezTo>
                <a:lnTo>
                  <a:pt x="0" y="533400"/>
                </a:lnTo>
                <a:cubicBezTo>
                  <a:pt x="0" y="239009"/>
                  <a:pt x="239009" y="0"/>
                  <a:pt x="5334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3" name="Freeform 23"/>
          <p:cNvSpPr/>
          <p:nvPr/>
        </p:nvSpPr>
        <p:spPr>
          <a:xfrm>
            <a:off x="9097570" y="3016523"/>
            <a:ext cx="303654" cy="367680"/>
          </a:xfrm>
          <a:custGeom>
            <a:avLst/>
            <a:gdLst/>
            <a:ahLst/>
            <a:cxnLst/>
            <a:rect l="l" t="t" r="r" b="b"/>
            <a:pathLst>
              <a:path w="303654" h="367680">
                <a:moveTo>
                  <a:pt x="228711" y="5761"/>
                </a:moveTo>
                <a:cubicBezTo>
                  <a:pt x="236681" y="11519"/>
                  <a:pt x="239628" y="21967"/>
                  <a:pt x="236011" y="31076"/>
                </a:cubicBezTo>
                <a:lnTo>
                  <a:pt x="183506" y="162409"/>
                </a:lnTo>
                <a:lnTo>
                  <a:pt x="280414" y="162409"/>
                </a:lnTo>
                <a:cubicBezTo>
                  <a:pt x="289455" y="162409"/>
                  <a:pt x="297492" y="168034"/>
                  <a:pt x="300573" y="176540"/>
                </a:cubicBezTo>
                <a:cubicBezTo>
                  <a:pt x="303654" y="185047"/>
                  <a:pt x="301042" y="194556"/>
                  <a:pt x="294144" y="200314"/>
                </a:cubicBezTo>
                <a:lnTo>
                  <a:pt x="101262" y="361049"/>
                </a:lnTo>
                <a:cubicBezTo>
                  <a:pt x="93694" y="367345"/>
                  <a:pt x="82911" y="367680"/>
                  <a:pt x="74942" y="361919"/>
                </a:cubicBezTo>
                <a:cubicBezTo>
                  <a:pt x="66972" y="356161"/>
                  <a:pt x="64027" y="345713"/>
                  <a:pt x="67642" y="336604"/>
                </a:cubicBezTo>
                <a:lnTo>
                  <a:pt x="120149" y="205271"/>
                </a:lnTo>
                <a:lnTo>
                  <a:pt x="23239" y="205271"/>
                </a:lnTo>
                <a:cubicBezTo>
                  <a:pt x="14198" y="205271"/>
                  <a:pt x="6162" y="199646"/>
                  <a:pt x="3081" y="191140"/>
                </a:cubicBezTo>
                <a:cubicBezTo>
                  <a:pt x="0" y="182633"/>
                  <a:pt x="2612" y="173124"/>
                  <a:pt x="9511" y="167366"/>
                </a:cubicBezTo>
                <a:lnTo>
                  <a:pt x="202391" y="6631"/>
                </a:lnTo>
                <a:cubicBezTo>
                  <a:pt x="209958" y="335"/>
                  <a:pt x="220742" y="0"/>
                  <a:pt x="228711" y="5761"/>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8582647" y="3886033"/>
            <a:ext cx="14287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2.4 缓存加速</a:t>
            </a:r>
            <a:endParaRPr lang="en-US" sz="1100"/>
          </a:p>
        </p:txBody>
      </p:sp>
      <p:sp>
        <p:nvSpPr>
          <p:cNvPr id="25" name="Freeform 25"/>
          <p:cNvSpPr/>
          <p:nvPr/>
        </p:nvSpPr>
        <p:spPr>
          <a:xfrm>
            <a:off x="381000" y="4838402"/>
            <a:ext cx="11430000" cy="723900"/>
          </a:xfrm>
          <a:custGeom>
            <a:avLst/>
            <a:gdLst/>
            <a:ahLst/>
            <a:cxnLst/>
            <a:rect l="l" t="t" r="r" b="b"/>
            <a:pathLst>
              <a:path w="11430000" h="723900">
                <a:moveTo>
                  <a:pt x="152403" y="0"/>
                </a:moveTo>
                <a:lnTo>
                  <a:pt x="11277597" y="0"/>
                </a:lnTo>
                <a:cubicBezTo>
                  <a:pt x="11361767" y="0"/>
                  <a:pt x="11430000" y="68233"/>
                  <a:pt x="11430000" y="152403"/>
                </a:cubicBezTo>
                <a:lnTo>
                  <a:pt x="11430000" y="571497"/>
                </a:lnTo>
                <a:cubicBezTo>
                  <a:pt x="11430000" y="655667"/>
                  <a:pt x="11361767" y="723900"/>
                  <a:pt x="11277597" y="723900"/>
                </a:cubicBezTo>
                <a:lnTo>
                  <a:pt x="152403" y="723900"/>
                </a:lnTo>
                <a:cubicBezTo>
                  <a:pt x="68233" y="723900"/>
                  <a:pt x="0" y="655667"/>
                  <a:pt x="0" y="571497"/>
                </a:cubicBezTo>
                <a:lnTo>
                  <a:pt x="0" y="152403"/>
                </a:lnTo>
                <a:cubicBezTo>
                  <a:pt x="0" y="68289"/>
                  <a:pt x="68289" y="0"/>
                  <a:pt x="152403"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6" name="AutoShape 26"/>
          <p:cNvSpPr/>
          <p:nvPr/>
        </p:nvSpPr>
        <p:spPr>
          <a:xfrm>
            <a:off x="561894" y="5066909"/>
            <a:ext cx="110680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通过多层神经网络的计算，模型逐步理解输入的</a:t>
            </a: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语义</a:t>
            </a: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t>
            </a: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语法</a:t>
            </a: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和</a:t>
            </a: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上下文关系</a:t>
            </a:r>
            <a:endParaRPr lang="en-US" sz="1100"/>
          </a:p>
        </p:txBody>
      </p:sp>
    </p:spTree>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6187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2.1 多角度理解</a:t>
            </a:r>
            <a:endParaRPr lang="en-US" sz="1100"/>
          </a:p>
        </p:txBody>
      </p:sp>
      <p:sp>
        <p:nvSpPr>
          <p:cNvPr id="10" name="AutoShape 10"/>
          <p:cNvSpPr/>
          <p:nvPr/>
        </p:nvSpPr>
        <p:spPr>
          <a:xfrm>
            <a:off x="333375" y="1889987"/>
            <a:ext cx="11525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通过Self-Attention机制，让每个词都能"看到"其他所有词</a:t>
            </a:r>
            <a:endParaRPr lang="en-US" sz="1100"/>
          </a:p>
        </p:txBody>
      </p:sp>
      <p:sp>
        <p:nvSpPr>
          <p:cNvPr id="11" name="Freeform 11"/>
          <p:cNvSpPr/>
          <p:nvPr/>
        </p:nvSpPr>
        <p:spPr>
          <a:xfrm>
            <a:off x="381000" y="2385175"/>
            <a:ext cx="11430000" cy="1857375"/>
          </a:xfrm>
          <a:custGeom>
            <a:avLst/>
            <a:gdLst/>
            <a:ahLst/>
            <a:cxnLst/>
            <a:rect l="l" t="t" r="r" b="b"/>
            <a:pathLst>
              <a:path w="11430000" h="1857375">
                <a:moveTo>
                  <a:pt x="152397" y="0"/>
                </a:moveTo>
                <a:lnTo>
                  <a:pt x="11277603" y="0"/>
                </a:lnTo>
                <a:cubicBezTo>
                  <a:pt x="11361769" y="0"/>
                  <a:pt x="11430000" y="68231"/>
                  <a:pt x="11430000" y="152397"/>
                </a:cubicBezTo>
                <a:lnTo>
                  <a:pt x="11430000" y="1704978"/>
                </a:lnTo>
                <a:cubicBezTo>
                  <a:pt x="11430000" y="1789144"/>
                  <a:pt x="11361769" y="1857375"/>
                  <a:pt x="11277603" y="1857375"/>
                </a:cubicBezTo>
                <a:lnTo>
                  <a:pt x="152397" y="1857375"/>
                </a:lnTo>
                <a:cubicBezTo>
                  <a:pt x="68231" y="1857375"/>
                  <a:pt x="0" y="1789144"/>
                  <a:pt x="0" y="1704978"/>
                </a:cubicBezTo>
                <a:lnTo>
                  <a:pt x="0" y="152397"/>
                </a:lnTo>
                <a:cubicBezTo>
                  <a:pt x="0" y="68287"/>
                  <a:pt x="68287" y="0"/>
                  <a:pt x="152397"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566656" y="2613682"/>
            <a:ext cx="11058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处理 "What is AI?"</a:t>
            </a:r>
            <a:endParaRPr lang="en-US" sz="1100"/>
          </a:p>
        </p:txBody>
      </p:sp>
      <p:sp>
        <p:nvSpPr>
          <p:cNvPr id="13" name="Freeform 13"/>
          <p:cNvSpPr/>
          <p:nvPr/>
        </p:nvSpPr>
        <p:spPr>
          <a:xfrm>
            <a:off x="4878315" y="3067217"/>
            <a:ext cx="838200" cy="495300"/>
          </a:xfrm>
          <a:custGeom>
            <a:avLst/>
            <a:gdLst/>
            <a:ahLst/>
            <a:cxnLst/>
            <a:rect l="l" t="t" r="r" b="b"/>
            <a:pathLst>
              <a:path w="838200" h="495300">
                <a:moveTo>
                  <a:pt x="114300" y="0"/>
                </a:moveTo>
                <a:lnTo>
                  <a:pt x="723900" y="0"/>
                </a:lnTo>
                <a:cubicBezTo>
                  <a:pt x="787027" y="0"/>
                  <a:pt x="838200" y="51173"/>
                  <a:pt x="838200" y="114300"/>
                </a:cubicBezTo>
                <a:lnTo>
                  <a:pt x="838200" y="381000"/>
                </a:lnTo>
                <a:cubicBezTo>
                  <a:pt x="838200" y="444127"/>
                  <a:pt x="787027" y="495300"/>
                  <a:pt x="723900" y="495300"/>
                </a:cubicBezTo>
                <a:lnTo>
                  <a:pt x="114300" y="495300"/>
                </a:lnTo>
                <a:cubicBezTo>
                  <a:pt x="51173" y="495300"/>
                  <a:pt x="0" y="444127"/>
                  <a:pt x="0" y="381000"/>
                </a:cubicBezTo>
                <a:lnTo>
                  <a:pt x="0" y="114300"/>
                </a:lnTo>
                <a:cubicBezTo>
                  <a:pt x="0" y="51217"/>
                  <a:pt x="51217" y="0"/>
                  <a:pt x="1143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4830690" y="3067217"/>
            <a:ext cx="933450" cy="495300"/>
          </a:xfrm>
          <a:prstGeom prst="rect">
            <a:avLst/>
          </a:prstGeom>
          <a:noFill/>
          <a:ln w="12700">
            <a:noFill/>
            <a:prstDash val="solid"/>
          </a:ln>
        </p:spPr>
        <p:txBody>
          <a:bodyPr wrap="square" lIns="190500" tIns="114300" rIns="190500" bIns="114300" rtlCol="0" anchor="ctr">
            <a:noAutofit/>
          </a:bodyPr>
          <a:lstStyle/>
          <a:p>
            <a:pPr indent="0" algn="ctr">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What</a:t>
            </a:r>
            <a:endParaRPr lang="en-US" sz="1100"/>
          </a:p>
        </p:txBody>
      </p:sp>
      <p:sp>
        <p:nvSpPr>
          <p:cNvPr id="15" name="AutoShape 15"/>
          <p:cNvSpPr/>
          <p:nvPr/>
        </p:nvSpPr>
        <p:spPr>
          <a:xfrm>
            <a:off x="4849740" y="3638438"/>
            <a:ext cx="89535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is</a:t>
            </a:r>
            <a:endParaRPr lang="en-US" sz="1100"/>
          </a:p>
        </p:txBody>
      </p:sp>
      <p:sp>
        <p:nvSpPr>
          <p:cNvPr id="16" name="AutoShape 16"/>
          <p:cNvSpPr/>
          <p:nvPr/>
        </p:nvSpPr>
        <p:spPr>
          <a:xfrm>
            <a:off x="4849740" y="3828808"/>
            <a:ext cx="89535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AI</a:t>
            </a:r>
            <a:endParaRPr lang="en-US" sz="1100"/>
          </a:p>
        </p:txBody>
      </p:sp>
      <p:sp>
        <p:nvSpPr>
          <p:cNvPr id="17" name="Freeform 17"/>
          <p:cNvSpPr/>
          <p:nvPr/>
        </p:nvSpPr>
        <p:spPr>
          <a:xfrm>
            <a:off x="5947578" y="3067217"/>
            <a:ext cx="514350" cy="495300"/>
          </a:xfrm>
          <a:custGeom>
            <a:avLst/>
            <a:gdLst/>
            <a:ahLst/>
            <a:cxnLst/>
            <a:rect l="l" t="t" r="r" b="b"/>
            <a:pathLst>
              <a:path w="514350" h="495300">
                <a:moveTo>
                  <a:pt x="114300" y="0"/>
                </a:moveTo>
                <a:lnTo>
                  <a:pt x="400050" y="0"/>
                </a:lnTo>
                <a:cubicBezTo>
                  <a:pt x="463177" y="0"/>
                  <a:pt x="514350" y="51173"/>
                  <a:pt x="514350" y="114300"/>
                </a:cubicBezTo>
                <a:lnTo>
                  <a:pt x="514350" y="381000"/>
                </a:lnTo>
                <a:cubicBezTo>
                  <a:pt x="514350" y="444127"/>
                  <a:pt x="463177" y="495300"/>
                  <a:pt x="400050" y="495300"/>
                </a:cubicBezTo>
                <a:lnTo>
                  <a:pt x="114300" y="495300"/>
                </a:lnTo>
                <a:cubicBezTo>
                  <a:pt x="51173" y="495300"/>
                  <a:pt x="0" y="444127"/>
                  <a:pt x="0" y="381000"/>
                </a:cubicBezTo>
                <a:lnTo>
                  <a:pt x="0" y="114300"/>
                </a:lnTo>
                <a:cubicBezTo>
                  <a:pt x="0" y="51217"/>
                  <a:pt x="51217" y="0"/>
                  <a:pt x="1143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5899953" y="3067217"/>
            <a:ext cx="609600" cy="495300"/>
          </a:xfrm>
          <a:prstGeom prst="rect">
            <a:avLst/>
          </a:prstGeom>
          <a:noFill/>
          <a:ln w="12700">
            <a:noFill/>
            <a:prstDash val="solid"/>
          </a:ln>
        </p:spPr>
        <p:txBody>
          <a:bodyPr wrap="square" lIns="190500" tIns="114300" rIns="190500" bIns="114300" rtlCol="0" anchor="ctr">
            <a:noAutofit/>
          </a:bodyPr>
          <a:lstStyle/>
          <a:p>
            <a:pPr indent="0" algn="ctr">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is</a:t>
            </a:r>
            <a:endParaRPr lang="en-US" sz="1100"/>
          </a:p>
        </p:txBody>
      </p:sp>
      <p:sp>
        <p:nvSpPr>
          <p:cNvPr id="19" name="AutoShape 19"/>
          <p:cNvSpPr/>
          <p:nvPr/>
        </p:nvSpPr>
        <p:spPr>
          <a:xfrm>
            <a:off x="5919003" y="3638438"/>
            <a:ext cx="57150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What</a:t>
            </a:r>
            <a:endParaRPr lang="en-US" sz="1100"/>
          </a:p>
        </p:txBody>
      </p:sp>
      <p:sp>
        <p:nvSpPr>
          <p:cNvPr id="20" name="AutoShape 20"/>
          <p:cNvSpPr/>
          <p:nvPr/>
        </p:nvSpPr>
        <p:spPr>
          <a:xfrm>
            <a:off x="5919003" y="3828808"/>
            <a:ext cx="57150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AI</a:t>
            </a:r>
            <a:endParaRPr lang="en-US" sz="1100"/>
          </a:p>
        </p:txBody>
      </p:sp>
      <p:sp>
        <p:nvSpPr>
          <p:cNvPr id="21" name="Freeform 21"/>
          <p:cNvSpPr/>
          <p:nvPr/>
        </p:nvSpPr>
        <p:spPr>
          <a:xfrm>
            <a:off x="6710119" y="3049896"/>
            <a:ext cx="587085" cy="529935"/>
          </a:xfrm>
          <a:custGeom>
            <a:avLst/>
            <a:gdLst/>
            <a:ahLst/>
            <a:cxnLst/>
            <a:rect l="l" t="t" r="r" b="b"/>
            <a:pathLst>
              <a:path w="587085" h="529935">
                <a:moveTo>
                  <a:pt x="114303" y="0"/>
                </a:moveTo>
                <a:lnTo>
                  <a:pt x="472784" y="0"/>
                </a:lnTo>
                <a:cubicBezTo>
                  <a:pt x="535912" y="0"/>
                  <a:pt x="587085" y="51175"/>
                  <a:pt x="587085" y="114303"/>
                </a:cubicBezTo>
                <a:lnTo>
                  <a:pt x="587085" y="415634"/>
                </a:lnTo>
                <a:cubicBezTo>
                  <a:pt x="587085" y="478762"/>
                  <a:pt x="535912" y="529935"/>
                  <a:pt x="472784" y="529935"/>
                </a:cubicBezTo>
                <a:lnTo>
                  <a:pt x="114303" y="529935"/>
                </a:lnTo>
                <a:cubicBezTo>
                  <a:pt x="51175" y="529935"/>
                  <a:pt x="0" y="478762"/>
                  <a:pt x="0" y="415634"/>
                </a:cubicBezTo>
                <a:lnTo>
                  <a:pt x="0" y="114303"/>
                </a:lnTo>
                <a:cubicBezTo>
                  <a:pt x="0" y="51217"/>
                  <a:pt x="51217" y="0"/>
                  <a:pt x="114303" y="0"/>
                </a:cubicBezTo>
                <a:close/>
              </a:path>
            </a:pathLst>
          </a:custGeom>
          <a:solidFill>
            <a:srgbClr val="1E90FF">
              <a:alpha val="100000"/>
            </a:srgbClr>
          </a:solidFill>
          <a:ln w="38100">
            <a:solidFill>
              <a:srgbClr val="1E90FF">
                <a:alpha val="100000"/>
              </a:srgbClr>
            </a:solidFill>
            <a:prstDash val="solid"/>
          </a:ln>
        </p:spPr>
        <p:txBody>
          <a:bodyPr wrap="square" lIns="91440" tIns="45720" rIns="91440" bIns="45720" rtlCol="0" anchor="t">
            <a:noAutofit/>
          </a:bodyPr>
          <a:lstStyle/>
          <a:p>
            <a:pPr algn="ctr">
              <a:defRPr/>
            </a:pPr>
          </a:p>
        </p:txBody>
      </p:sp>
      <p:sp>
        <p:nvSpPr>
          <p:cNvPr id="22" name="AutoShape 22"/>
          <p:cNvSpPr/>
          <p:nvPr/>
        </p:nvSpPr>
        <p:spPr>
          <a:xfrm>
            <a:off x="6645176" y="3032578"/>
            <a:ext cx="647700" cy="495300"/>
          </a:xfrm>
          <a:prstGeom prst="rect">
            <a:avLst/>
          </a:prstGeom>
          <a:noFill/>
          <a:ln w="12700">
            <a:noFill/>
            <a:prstDash val="solid"/>
          </a:ln>
        </p:spPr>
        <p:txBody>
          <a:bodyPr wrap="square" lIns="190500" tIns="114300" rIns="190500" bIns="114300" rtlCol="0" anchor="ctr">
            <a:noAutofit/>
          </a:bodyPr>
          <a:lstStyle/>
          <a:p>
            <a:pPr indent="0" algn="ctr">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100"/>
          </a:p>
        </p:txBody>
      </p:sp>
      <p:sp>
        <p:nvSpPr>
          <p:cNvPr id="23" name="AutoShape 23"/>
          <p:cNvSpPr/>
          <p:nvPr/>
        </p:nvSpPr>
        <p:spPr>
          <a:xfrm>
            <a:off x="6664226" y="3673078"/>
            <a:ext cx="676275"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What</a:t>
            </a:r>
            <a:endParaRPr lang="en-US" sz="1100"/>
          </a:p>
        </p:txBody>
      </p:sp>
      <p:sp>
        <p:nvSpPr>
          <p:cNvPr id="24" name="AutoShape 24"/>
          <p:cNvSpPr/>
          <p:nvPr/>
        </p:nvSpPr>
        <p:spPr>
          <a:xfrm>
            <a:off x="6664226" y="3863448"/>
            <a:ext cx="676275"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is</a:t>
            </a:r>
            <a:endParaRPr lang="en-US" sz="1100"/>
          </a:p>
        </p:txBody>
      </p:sp>
      <p:sp>
        <p:nvSpPr>
          <p:cNvPr id="25" name="Freeform 25"/>
          <p:cNvSpPr/>
          <p:nvPr/>
        </p:nvSpPr>
        <p:spPr>
          <a:xfrm>
            <a:off x="4319533" y="4472825"/>
            <a:ext cx="1066800" cy="800100"/>
          </a:xfrm>
          <a:custGeom>
            <a:avLst/>
            <a:gdLst/>
            <a:ahLst/>
            <a:cxnLst/>
            <a:rect l="l" t="t" r="r" b="b"/>
            <a:pathLst>
              <a:path w="1066800" h="800100">
                <a:moveTo>
                  <a:pt x="114303" y="0"/>
                </a:moveTo>
                <a:lnTo>
                  <a:pt x="952497" y="0"/>
                </a:lnTo>
                <a:cubicBezTo>
                  <a:pt x="1015583" y="0"/>
                  <a:pt x="1066800" y="51217"/>
                  <a:pt x="1066800" y="114303"/>
                </a:cubicBezTo>
                <a:lnTo>
                  <a:pt x="1066800" y="685797"/>
                </a:lnTo>
                <a:cubicBezTo>
                  <a:pt x="1066800" y="748883"/>
                  <a:pt x="1015583" y="800100"/>
                  <a:pt x="952497" y="800100"/>
                </a:cubicBezTo>
                <a:lnTo>
                  <a:pt x="114303" y="800100"/>
                </a:lnTo>
                <a:cubicBezTo>
                  <a:pt x="51217" y="800100"/>
                  <a:pt x="0" y="748883"/>
                  <a:pt x="0" y="685797"/>
                </a:cubicBezTo>
                <a:lnTo>
                  <a:pt x="0" y="114303"/>
                </a:lnTo>
                <a:cubicBezTo>
                  <a:pt x="0" y="51217"/>
                  <a:pt x="51217" y="0"/>
                  <a:pt x="114303"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algn="ctr">
              <a:defRPr/>
            </a:pPr>
          </a:p>
        </p:txBody>
      </p:sp>
      <p:sp>
        <p:nvSpPr>
          <p:cNvPr id="26" name="AutoShape 26"/>
          <p:cNvSpPr/>
          <p:nvPr/>
        </p:nvSpPr>
        <p:spPr>
          <a:xfrm>
            <a:off x="4429017" y="4625169"/>
            <a:ext cx="8477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ln w="12700">
                  <a:solidFill>
                    <a:srgbClr val="4472C4">
                      <a:alpha val="100000"/>
                    </a:srgbClr>
                  </a:solidFill>
                </a:ln>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Q (Query)</a:t>
            </a:r>
            <a:endParaRPr lang="en-US" sz="1100"/>
          </a:p>
        </p:txBody>
      </p:sp>
      <p:sp>
        <p:nvSpPr>
          <p:cNvPr id="27" name="AutoShape 27"/>
          <p:cNvSpPr/>
          <p:nvPr/>
        </p:nvSpPr>
        <p:spPr>
          <a:xfrm>
            <a:off x="4433779" y="4891701"/>
            <a:ext cx="8382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查询</a:t>
            </a:r>
            <a:endParaRPr lang="en-US" sz="1100"/>
          </a:p>
        </p:txBody>
      </p:sp>
      <p:sp>
        <p:nvSpPr>
          <p:cNvPr id="28" name="Freeform 28"/>
          <p:cNvSpPr/>
          <p:nvPr/>
        </p:nvSpPr>
        <p:spPr>
          <a:xfrm>
            <a:off x="5695246" y="4472825"/>
            <a:ext cx="857250" cy="800100"/>
          </a:xfrm>
          <a:custGeom>
            <a:avLst/>
            <a:gdLst/>
            <a:ahLst/>
            <a:cxnLst/>
            <a:rect l="l" t="t" r="r" b="b"/>
            <a:pathLst>
              <a:path w="857250" h="800100">
                <a:moveTo>
                  <a:pt x="114303" y="0"/>
                </a:moveTo>
                <a:lnTo>
                  <a:pt x="742947" y="0"/>
                </a:lnTo>
                <a:cubicBezTo>
                  <a:pt x="806033" y="0"/>
                  <a:pt x="857250" y="51217"/>
                  <a:pt x="857250" y="114303"/>
                </a:cubicBezTo>
                <a:lnTo>
                  <a:pt x="857250" y="685797"/>
                </a:lnTo>
                <a:cubicBezTo>
                  <a:pt x="857250" y="748883"/>
                  <a:pt x="806033" y="800100"/>
                  <a:pt x="742947" y="800100"/>
                </a:cubicBezTo>
                <a:lnTo>
                  <a:pt x="114303" y="800100"/>
                </a:lnTo>
                <a:cubicBezTo>
                  <a:pt x="51217" y="800100"/>
                  <a:pt x="0" y="748883"/>
                  <a:pt x="0" y="685797"/>
                </a:cubicBezTo>
                <a:lnTo>
                  <a:pt x="0" y="114303"/>
                </a:lnTo>
                <a:cubicBezTo>
                  <a:pt x="0" y="51217"/>
                  <a:pt x="51217" y="0"/>
                  <a:pt x="114303"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algn="ctr">
              <a:defRPr/>
            </a:pPr>
          </a:p>
        </p:txBody>
      </p:sp>
      <p:sp>
        <p:nvSpPr>
          <p:cNvPr id="29" name="AutoShape 29"/>
          <p:cNvSpPr/>
          <p:nvPr/>
        </p:nvSpPr>
        <p:spPr>
          <a:xfrm>
            <a:off x="5804729" y="4625169"/>
            <a:ext cx="63817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ln w="12700">
                  <a:solidFill>
                    <a:srgbClr val="4472C4">
                      <a:alpha val="100000"/>
                    </a:srgbClr>
                  </a:solidFill>
                </a:ln>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K (Key)</a:t>
            </a:r>
            <a:endParaRPr lang="en-US" sz="1100"/>
          </a:p>
        </p:txBody>
      </p:sp>
      <p:sp>
        <p:nvSpPr>
          <p:cNvPr id="30" name="AutoShape 30"/>
          <p:cNvSpPr/>
          <p:nvPr/>
        </p:nvSpPr>
        <p:spPr>
          <a:xfrm>
            <a:off x="5809492" y="4891701"/>
            <a:ext cx="62865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键</a:t>
            </a:r>
            <a:endParaRPr lang="en-US" sz="1100"/>
          </a:p>
        </p:txBody>
      </p:sp>
      <p:sp>
        <p:nvSpPr>
          <p:cNvPr id="31" name="Freeform 31"/>
          <p:cNvSpPr/>
          <p:nvPr/>
        </p:nvSpPr>
        <p:spPr>
          <a:xfrm>
            <a:off x="6860706" y="4472825"/>
            <a:ext cx="1009650" cy="800100"/>
          </a:xfrm>
          <a:custGeom>
            <a:avLst/>
            <a:gdLst/>
            <a:ahLst/>
            <a:cxnLst/>
            <a:rect l="l" t="t" r="r" b="b"/>
            <a:pathLst>
              <a:path w="1009650" h="800100">
                <a:moveTo>
                  <a:pt x="114303" y="0"/>
                </a:moveTo>
                <a:lnTo>
                  <a:pt x="895347" y="0"/>
                </a:lnTo>
                <a:cubicBezTo>
                  <a:pt x="958433" y="0"/>
                  <a:pt x="1009650" y="51217"/>
                  <a:pt x="1009650" y="114303"/>
                </a:cubicBezTo>
                <a:lnTo>
                  <a:pt x="1009650" y="685797"/>
                </a:lnTo>
                <a:cubicBezTo>
                  <a:pt x="1009650" y="748883"/>
                  <a:pt x="958433" y="800100"/>
                  <a:pt x="895347" y="800100"/>
                </a:cubicBezTo>
                <a:lnTo>
                  <a:pt x="114303" y="800100"/>
                </a:lnTo>
                <a:cubicBezTo>
                  <a:pt x="51217" y="800100"/>
                  <a:pt x="0" y="748883"/>
                  <a:pt x="0" y="685797"/>
                </a:cubicBezTo>
                <a:lnTo>
                  <a:pt x="0" y="114303"/>
                </a:lnTo>
                <a:cubicBezTo>
                  <a:pt x="0" y="51217"/>
                  <a:pt x="51217" y="0"/>
                  <a:pt x="114303"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algn="ctr">
              <a:defRPr/>
            </a:pPr>
          </a:p>
        </p:txBody>
      </p:sp>
      <p:sp>
        <p:nvSpPr>
          <p:cNvPr id="32" name="AutoShape 32"/>
          <p:cNvSpPr/>
          <p:nvPr/>
        </p:nvSpPr>
        <p:spPr>
          <a:xfrm>
            <a:off x="6970189" y="4625169"/>
            <a:ext cx="79057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ln w="12700">
                  <a:solidFill>
                    <a:srgbClr val="4472C4">
                      <a:alpha val="100000"/>
                    </a:srgbClr>
                  </a:solidFill>
                </a:ln>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V (Value)</a:t>
            </a:r>
            <a:endParaRPr lang="en-US" sz="1100"/>
          </a:p>
        </p:txBody>
      </p:sp>
      <p:sp>
        <p:nvSpPr>
          <p:cNvPr id="33" name="AutoShape 33"/>
          <p:cNvSpPr/>
          <p:nvPr/>
        </p:nvSpPr>
        <p:spPr>
          <a:xfrm>
            <a:off x="6974952" y="4891701"/>
            <a:ext cx="78105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值</a:t>
            </a:r>
            <a:endParaRPr lang="en-US" sz="1100"/>
          </a:p>
        </p:txBody>
      </p:sp>
      <p:sp>
        <p:nvSpPr>
          <p:cNvPr id="34" name="Freeform 34"/>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5" name="AutoShape 35"/>
          <p:cNvSpPr/>
          <p:nvPr/>
        </p:nvSpPr>
        <p:spPr>
          <a:xfrm>
            <a:off x="609519" y="5829319"/>
            <a:ext cx="11061700" cy="5334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Self-Attention（自注意力）</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词与词之间相互关注；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Multi-Head Attention（多头注意力）</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并行多个自注意力；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QKV（查询-键-值）</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自注意力机制中用于计算注意力权重和输出的三个核心矩阵</a:t>
            </a:r>
            <a:endParaRPr lang="en-US" sz="1100"/>
          </a:p>
        </p:txBody>
      </p:sp>
    </p:spTree>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6187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2.2 深度加工</a:t>
            </a:r>
            <a:endParaRPr lang="en-US" sz="1100"/>
          </a:p>
        </p:txBody>
      </p:sp>
      <p:sp>
        <p:nvSpPr>
          <p:cNvPr id="10" name="AutoShape 10"/>
          <p:cNvSpPr/>
          <p:nvPr/>
        </p:nvSpPr>
        <p:spPr>
          <a:xfrm>
            <a:off x="285750" y="1453601"/>
            <a:ext cx="11525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grpSp>
        <p:nvGrpSpPr>
          <p:cNvPr id="11" name="Group 11"/>
          <p:cNvGrpSpPr/>
          <p:nvPr/>
        </p:nvGrpSpPr>
        <p:grpSpPr>
          <a:xfrm>
            <a:off x="654050" y="1854835"/>
            <a:ext cx="4768850" cy="2616200"/>
            <a:chOff x="654050" y="1854835"/>
            <a:chExt cx="4768850" cy="2616200"/>
          </a:xfrm>
        </p:grpSpPr>
        <p:sp>
          <p:nvSpPr>
            <p:cNvPr id="12" name="Freeform 12"/>
            <p:cNvSpPr/>
            <p:nvPr/>
          </p:nvSpPr>
          <p:spPr>
            <a:xfrm>
              <a:off x="654050" y="2205990"/>
              <a:ext cx="657225" cy="609600"/>
            </a:xfrm>
            <a:custGeom>
              <a:avLst/>
              <a:gdLst/>
              <a:ahLst/>
              <a:cxnLst/>
              <a:rect l="l" t="t" r="r" b="b"/>
              <a:pathLst>
                <a:path w="657225" h="609600">
                  <a:moveTo>
                    <a:pt x="114300" y="0"/>
                  </a:moveTo>
                  <a:lnTo>
                    <a:pt x="542925" y="0"/>
                  </a:lnTo>
                  <a:cubicBezTo>
                    <a:pt x="606008" y="0"/>
                    <a:pt x="657225" y="51217"/>
                    <a:pt x="657225" y="114300"/>
                  </a:cubicBezTo>
                  <a:lnTo>
                    <a:pt x="657225" y="495300"/>
                  </a:lnTo>
                  <a:cubicBezTo>
                    <a:pt x="657225" y="558383"/>
                    <a:pt x="606008" y="609600"/>
                    <a:pt x="542925" y="609600"/>
                  </a:cubicBezTo>
                  <a:lnTo>
                    <a:pt x="114300" y="609600"/>
                  </a:lnTo>
                  <a:cubicBezTo>
                    <a:pt x="51217" y="609600"/>
                    <a:pt x="0" y="558383"/>
                    <a:pt x="0" y="495300"/>
                  </a:cubicBezTo>
                  <a:lnTo>
                    <a:pt x="0" y="114300"/>
                  </a:lnTo>
                  <a:cubicBezTo>
                    <a:pt x="0" y="51217"/>
                    <a:pt x="51217" y="0"/>
                    <a:pt x="1143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654050" y="2205990"/>
              <a:ext cx="771525" cy="609600"/>
            </a:xfrm>
            <a:prstGeom prst="rect">
              <a:avLst/>
            </a:prstGeom>
            <a:noFill/>
            <a:ln w="12700">
              <a:noFill/>
              <a:prstDash val="solid"/>
            </a:ln>
          </p:spPr>
          <p:txBody>
            <a:bodyPr wrap="square" lIns="228600" tIns="152400" rIns="228600" bIns="15240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100"/>
            </a:p>
          </p:txBody>
        </p:sp>
        <p:sp>
          <p:nvSpPr>
            <p:cNvPr id="14" name="AutoShape 14"/>
            <p:cNvSpPr/>
            <p:nvPr/>
          </p:nvSpPr>
          <p:spPr>
            <a:xfrm>
              <a:off x="680085" y="2929890"/>
              <a:ext cx="685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输入向量</a:t>
              </a:r>
              <a:endParaRPr lang="en-US" sz="1100"/>
            </a:p>
          </p:txBody>
        </p:sp>
        <p:sp>
          <p:nvSpPr>
            <p:cNvPr id="15" name="Freeform 15"/>
            <p:cNvSpPr/>
            <p:nvPr/>
          </p:nvSpPr>
          <p:spPr>
            <a:xfrm>
              <a:off x="1582420" y="2573298"/>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2138680" y="1854835"/>
              <a:ext cx="1693545" cy="1655445"/>
            </a:xfrm>
            <a:custGeom>
              <a:avLst/>
              <a:gdLst/>
              <a:ahLst/>
              <a:cxnLst/>
              <a:rect l="l" t="t" r="r" b="b"/>
              <a:pathLst>
                <a:path w="1693545" h="1655445">
                  <a:moveTo>
                    <a:pt x="152385" y="0"/>
                  </a:moveTo>
                  <a:lnTo>
                    <a:pt x="1541162" y="0"/>
                  </a:lnTo>
                  <a:cubicBezTo>
                    <a:pt x="1625321" y="0"/>
                    <a:pt x="1693545" y="68224"/>
                    <a:pt x="1693545" y="152383"/>
                  </a:cubicBezTo>
                  <a:lnTo>
                    <a:pt x="1693545" y="1503062"/>
                  </a:lnTo>
                  <a:cubicBezTo>
                    <a:pt x="1693545" y="1587221"/>
                    <a:pt x="1625321" y="1655445"/>
                    <a:pt x="1541162" y="1655445"/>
                  </a:cubicBezTo>
                  <a:lnTo>
                    <a:pt x="152385" y="1655445"/>
                  </a:lnTo>
                  <a:cubicBezTo>
                    <a:pt x="68224" y="1655445"/>
                    <a:pt x="0" y="1587221"/>
                    <a:pt x="0" y="1503062"/>
                  </a:cubicBezTo>
                  <a:lnTo>
                    <a:pt x="0" y="152383"/>
                  </a:lnTo>
                  <a:cubicBezTo>
                    <a:pt x="0" y="68280"/>
                    <a:pt x="68282" y="0"/>
                    <a:pt x="152385" y="0"/>
                  </a:cubicBezTo>
                  <a:close/>
                </a:path>
              </a:pathLst>
            </a:custGeom>
            <a:no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7" name="Freeform 17"/>
            <p:cNvSpPr/>
            <p:nvPr/>
          </p:nvSpPr>
          <p:spPr>
            <a:xfrm>
              <a:off x="2726690" y="2120265"/>
              <a:ext cx="514350" cy="400050"/>
            </a:xfrm>
            <a:custGeom>
              <a:avLst/>
              <a:gdLst/>
              <a:ahLst/>
              <a:cxnLst/>
              <a:rect l="l" t="t" r="r" b="b"/>
              <a:pathLst>
                <a:path w="514350" h="400050">
                  <a:moveTo>
                    <a:pt x="221456" y="50006"/>
                  </a:moveTo>
                  <a:lnTo>
                    <a:pt x="292894" y="50006"/>
                  </a:lnTo>
                  <a:lnTo>
                    <a:pt x="292894" y="92869"/>
                  </a:lnTo>
                  <a:lnTo>
                    <a:pt x="221456" y="92869"/>
                  </a:lnTo>
                  <a:lnTo>
                    <a:pt x="221456" y="50006"/>
                  </a:lnTo>
                  <a:close/>
                  <a:moveTo>
                    <a:pt x="214312" y="0"/>
                  </a:moveTo>
                  <a:cubicBezTo>
                    <a:pt x="190649" y="0"/>
                    <a:pt x="171450" y="19199"/>
                    <a:pt x="171450" y="42863"/>
                  </a:cubicBezTo>
                  <a:lnTo>
                    <a:pt x="171450" y="100013"/>
                  </a:lnTo>
                  <a:cubicBezTo>
                    <a:pt x="171450" y="123676"/>
                    <a:pt x="190649" y="142875"/>
                    <a:pt x="214312" y="142875"/>
                  </a:cubicBezTo>
                  <a:lnTo>
                    <a:pt x="228600" y="142875"/>
                  </a:lnTo>
                  <a:lnTo>
                    <a:pt x="228600" y="171450"/>
                  </a:lnTo>
                  <a:lnTo>
                    <a:pt x="28575" y="171450"/>
                  </a:lnTo>
                  <a:cubicBezTo>
                    <a:pt x="12769" y="171450"/>
                    <a:pt x="0" y="184219"/>
                    <a:pt x="0" y="200025"/>
                  </a:cubicBezTo>
                  <a:cubicBezTo>
                    <a:pt x="0" y="215831"/>
                    <a:pt x="12769" y="228600"/>
                    <a:pt x="28575" y="228600"/>
                  </a:cubicBezTo>
                  <a:lnTo>
                    <a:pt x="114300" y="228600"/>
                  </a:lnTo>
                  <a:lnTo>
                    <a:pt x="114300" y="257175"/>
                  </a:lnTo>
                  <a:lnTo>
                    <a:pt x="100012" y="257175"/>
                  </a:lnTo>
                  <a:cubicBezTo>
                    <a:pt x="76349" y="257175"/>
                    <a:pt x="57150" y="276374"/>
                    <a:pt x="57150" y="300037"/>
                  </a:cubicBezTo>
                  <a:lnTo>
                    <a:pt x="57150" y="357187"/>
                  </a:lnTo>
                  <a:cubicBezTo>
                    <a:pt x="57150" y="380851"/>
                    <a:pt x="76349" y="400050"/>
                    <a:pt x="100012" y="400050"/>
                  </a:cubicBezTo>
                  <a:lnTo>
                    <a:pt x="185738" y="400050"/>
                  </a:lnTo>
                  <a:cubicBezTo>
                    <a:pt x="209401" y="400050"/>
                    <a:pt x="228600" y="380851"/>
                    <a:pt x="228600" y="357187"/>
                  </a:cubicBezTo>
                  <a:lnTo>
                    <a:pt x="228600" y="300037"/>
                  </a:lnTo>
                  <a:cubicBezTo>
                    <a:pt x="228600" y="276374"/>
                    <a:pt x="209401" y="257175"/>
                    <a:pt x="185738" y="257175"/>
                  </a:cubicBezTo>
                  <a:lnTo>
                    <a:pt x="171450" y="257175"/>
                  </a:lnTo>
                  <a:lnTo>
                    <a:pt x="171450" y="228600"/>
                  </a:lnTo>
                  <a:lnTo>
                    <a:pt x="342900" y="228600"/>
                  </a:lnTo>
                  <a:lnTo>
                    <a:pt x="342900" y="257175"/>
                  </a:lnTo>
                  <a:lnTo>
                    <a:pt x="328612" y="257175"/>
                  </a:lnTo>
                  <a:cubicBezTo>
                    <a:pt x="304949" y="257175"/>
                    <a:pt x="285750" y="276374"/>
                    <a:pt x="285750" y="300037"/>
                  </a:cubicBezTo>
                  <a:lnTo>
                    <a:pt x="285750" y="357187"/>
                  </a:lnTo>
                  <a:cubicBezTo>
                    <a:pt x="285750" y="380851"/>
                    <a:pt x="304949" y="400050"/>
                    <a:pt x="328612" y="400050"/>
                  </a:cubicBezTo>
                  <a:lnTo>
                    <a:pt x="414338" y="400050"/>
                  </a:lnTo>
                  <a:cubicBezTo>
                    <a:pt x="438001" y="400050"/>
                    <a:pt x="457200" y="380851"/>
                    <a:pt x="457200" y="357187"/>
                  </a:cubicBezTo>
                  <a:lnTo>
                    <a:pt x="457200" y="300037"/>
                  </a:lnTo>
                  <a:cubicBezTo>
                    <a:pt x="457200" y="276374"/>
                    <a:pt x="438001" y="257175"/>
                    <a:pt x="414338" y="257175"/>
                  </a:cubicBezTo>
                  <a:lnTo>
                    <a:pt x="400050" y="257175"/>
                  </a:lnTo>
                  <a:lnTo>
                    <a:pt x="400050" y="228600"/>
                  </a:lnTo>
                  <a:lnTo>
                    <a:pt x="485775" y="228600"/>
                  </a:lnTo>
                  <a:cubicBezTo>
                    <a:pt x="501581" y="228600"/>
                    <a:pt x="514350" y="215831"/>
                    <a:pt x="514350" y="200025"/>
                  </a:cubicBezTo>
                  <a:cubicBezTo>
                    <a:pt x="514350" y="184219"/>
                    <a:pt x="501581" y="171450"/>
                    <a:pt x="485775" y="171450"/>
                  </a:cubicBezTo>
                  <a:lnTo>
                    <a:pt x="285750" y="171450"/>
                  </a:lnTo>
                  <a:lnTo>
                    <a:pt x="285750" y="142875"/>
                  </a:lnTo>
                  <a:lnTo>
                    <a:pt x="300038" y="142875"/>
                  </a:lnTo>
                  <a:cubicBezTo>
                    <a:pt x="323701" y="142875"/>
                    <a:pt x="342900" y="123676"/>
                    <a:pt x="342900" y="100013"/>
                  </a:cubicBezTo>
                  <a:lnTo>
                    <a:pt x="342900" y="42863"/>
                  </a:lnTo>
                  <a:cubicBezTo>
                    <a:pt x="342900" y="19199"/>
                    <a:pt x="323701" y="0"/>
                    <a:pt x="300038" y="0"/>
                  </a:cubicBezTo>
                  <a:lnTo>
                    <a:pt x="214312" y="0"/>
                  </a:lnTo>
                  <a:close/>
                  <a:moveTo>
                    <a:pt x="400050" y="307181"/>
                  </a:moveTo>
                  <a:lnTo>
                    <a:pt x="407194" y="307181"/>
                  </a:lnTo>
                  <a:lnTo>
                    <a:pt x="407194" y="350044"/>
                  </a:lnTo>
                  <a:lnTo>
                    <a:pt x="335756" y="350044"/>
                  </a:lnTo>
                  <a:lnTo>
                    <a:pt x="335756" y="307181"/>
                  </a:lnTo>
                  <a:lnTo>
                    <a:pt x="400050" y="307181"/>
                  </a:lnTo>
                  <a:close/>
                  <a:moveTo>
                    <a:pt x="171450" y="307181"/>
                  </a:moveTo>
                  <a:lnTo>
                    <a:pt x="178594" y="307181"/>
                  </a:lnTo>
                  <a:lnTo>
                    <a:pt x="178594" y="350044"/>
                  </a:lnTo>
                  <a:lnTo>
                    <a:pt x="107156" y="350044"/>
                  </a:lnTo>
                  <a:lnTo>
                    <a:pt x="107156" y="307181"/>
                  </a:lnTo>
                  <a:lnTo>
                    <a:pt x="171450" y="307181"/>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2376170" y="2701290"/>
              <a:ext cx="13144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Feed Forward</a:t>
              </a:r>
              <a:endParaRPr lang="en-US" sz="1100"/>
            </a:p>
          </p:txBody>
        </p:sp>
        <p:sp>
          <p:nvSpPr>
            <p:cNvPr id="19" name="AutoShape 19"/>
            <p:cNvSpPr/>
            <p:nvPr/>
          </p:nvSpPr>
          <p:spPr>
            <a:xfrm>
              <a:off x="2679065" y="3044190"/>
              <a:ext cx="685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前馈网络</a:t>
              </a:r>
              <a:endParaRPr lang="en-US" sz="1100"/>
            </a:p>
          </p:txBody>
        </p:sp>
        <p:sp>
          <p:nvSpPr>
            <p:cNvPr id="20" name="Freeform 20"/>
            <p:cNvSpPr/>
            <p:nvPr/>
          </p:nvSpPr>
          <p:spPr>
            <a:xfrm>
              <a:off x="4104005" y="2573298"/>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5" y="6976"/>
                  </a:cubicBezTo>
                  <a:cubicBezTo>
                    <a:pt x="158948" y="13952"/>
                    <a:pt x="158948" y="25282"/>
                    <a:pt x="165925" y="32258"/>
                  </a:cubicBezTo>
                  <a:lnTo>
                    <a:pt x="224749" y="91083"/>
                  </a:lnTo>
                  <a:lnTo>
                    <a:pt x="17859" y="91083"/>
                  </a:lnTo>
                  <a:cubicBezTo>
                    <a:pt x="7981" y="91083"/>
                    <a:pt x="0" y="99064"/>
                    <a:pt x="0" y="108942"/>
                  </a:cubicBezTo>
                  <a:cubicBezTo>
                    <a:pt x="0" y="118820"/>
                    <a:pt x="7981" y="126801"/>
                    <a:pt x="17859" y="126801"/>
                  </a:cubicBezTo>
                  <a:lnTo>
                    <a:pt x="224749" y="126801"/>
                  </a:lnTo>
                  <a:lnTo>
                    <a:pt x="165925" y="185626"/>
                  </a:lnTo>
                  <a:cubicBezTo>
                    <a:pt x="158948" y="192602"/>
                    <a:pt x="158948" y="203932"/>
                    <a:pt x="165925"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4651375" y="2205990"/>
              <a:ext cx="657225" cy="609600"/>
            </a:xfrm>
            <a:custGeom>
              <a:avLst/>
              <a:gdLst/>
              <a:ahLst/>
              <a:cxnLst/>
              <a:rect l="l" t="t" r="r" b="b"/>
              <a:pathLst>
                <a:path w="657225" h="609600">
                  <a:moveTo>
                    <a:pt x="114300" y="0"/>
                  </a:moveTo>
                  <a:lnTo>
                    <a:pt x="542925" y="0"/>
                  </a:lnTo>
                  <a:cubicBezTo>
                    <a:pt x="606008" y="0"/>
                    <a:pt x="657225" y="51217"/>
                    <a:pt x="657225" y="114300"/>
                  </a:cubicBezTo>
                  <a:lnTo>
                    <a:pt x="657225" y="495300"/>
                  </a:lnTo>
                  <a:cubicBezTo>
                    <a:pt x="657225" y="558383"/>
                    <a:pt x="606008" y="609600"/>
                    <a:pt x="542925" y="609600"/>
                  </a:cubicBezTo>
                  <a:lnTo>
                    <a:pt x="114300" y="609600"/>
                  </a:lnTo>
                  <a:cubicBezTo>
                    <a:pt x="51217" y="609600"/>
                    <a:pt x="0" y="558383"/>
                    <a:pt x="0" y="495300"/>
                  </a:cubicBezTo>
                  <a:lnTo>
                    <a:pt x="0" y="114300"/>
                  </a:lnTo>
                  <a:cubicBezTo>
                    <a:pt x="0" y="51217"/>
                    <a:pt x="51217" y="0"/>
                    <a:pt x="1143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4651375" y="2205990"/>
              <a:ext cx="771525" cy="609600"/>
            </a:xfrm>
            <a:prstGeom prst="rect">
              <a:avLst/>
            </a:prstGeom>
            <a:noFill/>
            <a:ln w="12700">
              <a:noFill/>
              <a:prstDash val="solid"/>
            </a:ln>
          </p:spPr>
          <p:txBody>
            <a:bodyPr wrap="square" lIns="228600" tIns="152400" rIns="228600" bIns="15240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100"/>
            </a:p>
          </p:txBody>
        </p:sp>
        <p:sp>
          <p:nvSpPr>
            <p:cNvPr id="23" name="AutoShape 23"/>
            <p:cNvSpPr/>
            <p:nvPr/>
          </p:nvSpPr>
          <p:spPr>
            <a:xfrm>
              <a:off x="4677410" y="2929890"/>
              <a:ext cx="685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输出向量</a:t>
              </a:r>
              <a:endParaRPr lang="en-US" sz="1100"/>
            </a:p>
          </p:txBody>
        </p:sp>
        <p:sp>
          <p:nvSpPr>
            <p:cNvPr id="24" name="AutoShape 24"/>
            <p:cNvSpPr/>
            <p:nvPr/>
          </p:nvSpPr>
          <p:spPr>
            <a:xfrm>
              <a:off x="1807845" y="3899535"/>
              <a:ext cx="771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输入特征</a:t>
              </a:r>
              <a:endParaRPr lang="en-US" sz="1100"/>
            </a:p>
          </p:txBody>
        </p:sp>
        <p:sp>
          <p:nvSpPr>
            <p:cNvPr id="25" name="AutoShape 25"/>
            <p:cNvSpPr/>
            <p:nvPr/>
          </p:nvSpPr>
          <p:spPr>
            <a:xfrm>
              <a:off x="1812290" y="4242435"/>
              <a:ext cx="7620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基础语义</a:t>
              </a:r>
              <a:endParaRPr lang="en-US" sz="1100"/>
            </a:p>
          </p:txBody>
        </p:sp>
        <p:sp>
          <p:nvSpPr>
            <p:cNvPr id="26" name="Freeform 26"/>
            <p:cNvSpPr/>
            <p:nvPr/>
          </p:nvSpPr>
          <p:spPr>
            <a:xfrm>
              <a:off x="2869565" y="4117181"/>
              <a:ext cx="229984" cy="174308"/>
            </a:xfrm>
            <a:custGeom>
              <a:avLst/>
              <a:gdLst/>
              <a:ahLst/>
              <a:cxnLst/>
              <a:rect l="l" t="t" r="r" b="b"/>
              <a:pathLst>
                <a:path w="229984" h="174308">
                  <a:moveTo>
                    <a:pt x="224403" y="97245"/>
                  </a:moveTo>
                  <a:cubicBezTo>
                    <a:pt x="229984" y="91663"/>
                    <a:pt x="229984" y="82600"/>
                    <a:pt x="224403" y="77019"/>
                  </a:cubicBezTo>
                  <a:lnTo>
                    <a:pt x="152966" y="5581"/>
                  </a:lnTo>
                  <a:cubicBezTo>
                    <a:pt x="147383" y="0"/>
                    <a:pt x="138321" y="0"/>
                    <a:pt x="132740" y="5581"/>
                  </a:cubicBezTo>
                  <a:cubicBezTo>
                    <a:pt x="127159" y="11162"/>
                    <a:pt x="127159" y="20226"/>
                    <a:pt x="132740" y="25807"/>
                  </a:cubicBezTo>
                  <a:lnTo>
                    <a:pt x="179799" y="72867"/>
                  </a:lnTo>
                  <a:lnTo>
                    <a:pt x="14287" y="72867"/>
                  </a:lnTo>
                  <a:cubicBezTo>
                    <a:pt x="6386" y="72867"/>
                    <a:pt x="0" y="79251"/>
                    <a:pt x="0" y="87154"/>
                  </a:cubicBezTo>
                  <a:cubicBezTo>
                    <a:pt x="0" y="95057"/>
                    <a:pt x="6386" y="101441"/>
                    <a:pt x="14287" y="101441"/>
                  </a:cubicBezTo>
                  <a:lnTo>
                    <a:pt x="179799" y="101441"/>
                  </a:lnTo>
                  <a:lnTo>
                    <a:pt x="132740" y="148501"/>
                  </a:lnTo>
                  <a:cubicBezTo>
                    <a:pt x="127159" y="154082"/>
                    <a:pt x="127159" y="163146"/>
                    <a:pt x="132740" y="168727"/>
                  </a:cubicBezTo>
                  <a:cubicBezTo>
                    <a:pt x="138321" y="174308"/>
                    <a:pt x="147383" y="174308"/>
                    <a:pt x="152966" y="168727"/>
                  </a:cubicBezTo>
                  <a:lnTo>
                    <a:pt x="224403" y="9728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3388360" y="3899535"/>
              <a:ext cx="771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输出特征</a:t>
              </a:r>
              <a:endParaRPr lang="en-US" sz="1100"/>
            </a:p>
          </p:txBody>
        </p:sp>
        <p:sp>
          <p:nvSpPr>
            <p:cNvPr id="28" name="AutoShape 28"/>
            <p:cNvSpPr/>
            <p:nvPr/>
          </p:nvSpPr>
          <p:spPr>
            <a:xfrm>
              <a:off x="3393440" y="4242435"/>
              <a:ext cx="7620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高层抽象</a:t>
              </a:r>
              <a:endParaRPr lang="en-US" sz="1100"/>
            </a:p>
          </p:txBody>
        </p:sp>
      </p:grpSp>
      <p:sp>
        <p:nvSpPr>
          <p:cNvPr id="29" name="Freeform 29"/>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0" name="AutoShape 30"/>
          <p:cNvSpPr/>
          <p:nvPr/>
        </p:nvSpPr>
        <p:spPr>
          <a:xfrm>
            <a:off x="609519" y="5962594"/>
            <a:ext cx="70993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Feed Forward Network（前馈网络）</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对每个词独立进行非线性变换，提取高层语义</a:t>
            </a:r>
            <a:endParaRPr lang="en-US" sz="1100"/>
          </a:p>
        </p:txBody>
      </p:sp>
      <p:sp>
        <p:nvSpPr>
          <p:cNvPr id="31" name="Freeform 31"/>
          <p:cNvSpPr/>
          <p:nvPr/>
        </p:nvSpPr>
        <p:spPr>
          <a:xfrm>
            <a:off x="6207915" y="1593156"/>
            <a:ext cx="5665932" cy="3602182"/>
          </a:xfrm>
          <a:custGeom>
            <a:avLst/>
            <a:gdLst/>
            <a:ahLst/>
            <a:cxnLst/>
            <a:rect l="l" t="t" r="r" b="b"/>
            <a:pathLst>
              <a:path w="5665932" h="3602182">
                <a:moveTo>
                  <a:pt x="95242" y="0"/>
                </a:moveTo>
                <a:lnTo>
                  <a:pt x="5570690" y="0"/>
                </a:lnTo>
                <a:cubicBezTo>
                  <a:pt x="5623291" y="0"/>
                  <a:pt x="5665932" y="42642"/>
                  <a:pt x="5665932" y="95242"/>
                </a:cubicBezTo>
                <a:lnTo>
                  <a:pt x="5665932" y="3506940"/>
                </a:lnTo>
                <a:cubicBezTo>
                  <a:pt x="5665932" y="3559541"/>
                  <a:pt x="5623291" y="3602182"/>
                  <a:pt x="5570690" y="3602182"/>
                </a:cubicBezTo>
                <a:lnTo>
                  <a:pt x="95242" y="3602182"/>
                </a:lnTo>
                <a:cubicBezTo>
                  <a:pt x="42642" y="3602182"/>
                  <a:pt x="0" y="3559541"/>
                  <a:pt x="0" y="3506940"/>
                </a:cubicBezTo>
                <a:lnTo>
                  <a:pt x="0" y="95242"/>
                </a:lnTo>
                <a:cubicBezTo>
                  <a:pt x="0" y="42676"/>
                  <a:pt x="42676" y="0"/>
                  <a:pt x="95242" y="0"/>
                </a:cubicBezTo>
                <a:close/>
              </a:path>
            </a:pathLst>
          </a:custGeom>
          <a:solidFill>
            <a:srgbClr val="FFFFFF">
              <a:alpha val="100000"/>
            </a:srgbClr>
          </a:solidFill>
          <a:ln w="12700">
            <a:solidFill>
              <a:srgbClr val="00CED1">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32" name="Freeform 32"/>
          <p:cNvSpPr/>
          <p:nvPr/>
        </p:nvSpPr>
        <p:spPr>
          <a:xfrm>
            <a:off x="6467514" y="2225802"/>
            <a:ext cx="214313" cy="294679"/>
          </a:xfrm>
          <a:custGeom>
            <a:avLst/>
            <a:gdLst/>
            <a:ahLst/>
            <a:cxnLst/>
            <a:rect l="l" t="t" r="r" b="b"/>
            <a:pathLst>
              <a:path w="214313" h="294679">
                <a:moveTo>
                  <a:pt x="163469" y="214312"/>
                </a:moveTo>
                <a:cubicBezTo>
                  <a:pt x="167543" y="201866"/>
                  <a:pt x="175692" y="190593"/>
                  <a:pt x="184901" y="180882"/>
                </a:cubicBezTo>
                <a:cubicBezTo>
                  <a:pt x="203150" y="161682"/>
                  <a:pt x="214313" y="135731"/>
                  <a:pt x="214313" y="107156"/>
                </a:cubicBezTo>
                <a:cubicBezTo>
                  <a:pt x="214313" y="47997"/>
                  <a:pt x="166315" y="0"/>
                  <a:pt x="107156" y="0"/>
                </a:cubicBezTo>
                <a:cubicBezTo>
                  <a:pt x="47997" y="0"/>
                  <a:pt x="0" y="47997"/>
                  <a:pt x="0" y="107156"/>
                </a:cubicBezTo>
                <a:cubicBezTo>
                  <a:pt x="0" y="135731"/>
                  <a:pt x="11162" y="161682"/>
                  <a:pt x="29412" y="180882"/>
                </a:cubicBezTo>
                <a:cubicBezTo>
                  <a:pt x="38621" y="190593"/>
                  <a:pt x="46825" y="201866"/>
                  <a:pt x="50843" y="214312"/>
                </a:cubicBezTo>
                <a:lnTo>
                  <a:pt x="163413" y="214312"/>
                </a:lnTo>
                <a:close/>
                <a:moveTo>
                  <a:pt x="160734" y="241102"/>
                </a:moveTo>
                <a:lnTo>
                  <a:pt x="53577" y="241102"/>
                </a:lnTo>
                <a:lnTo>
                  <a:pt x="53577" y="250031"/>
                </a:lnTo>
                <a:cubicBezTo>
                  <a:pt x="53577" y="274700"/>
                  <a:pt x="73558" y="294679"/>
                  <a:pt x="98227" y="294679"/>
                </a:cubicBezTo>
                <a:lnTo>
                  <a:pt x="116086" y="294679"/>
                </a:lnTo>
                <a:cubicBezTo>
                  <a:pt x="140754" y="294679"/>
                  <a:pt x="160734" y="274700"/>
                  <a:pt x="160734" y="250031"/>
                </a:cubicBezTo>
                <a:lnTo>
                  <a:pt x="160734" y="241102"/>
                </a:lnTo>
                <a:close/>
                <a:moveTo>
                  <a:pt x="102691" y="62508"/>
                </a:moveTo>
                <a:cubicBezTo>
                  <a:pt x="80479" y="62508"/>
                  <a:pt x="62508" y="80479"/>
                  <a:pt x="62508" y="102691"/>
                </a:cubicBezTo>
                <a:cubicBezTo>
                  <a:pt x="62508" y="110114"/>
                  <a:pt x="56537" y="116086"/>
                  <a:pt x="49113" y="116086"/>
                </a:cubicBezTo>
                <a:cubicBezTo>
                  <a:pt x="41690" y="116086"/>
                  <a:pt x="35719" y="110114"/>
                  <a:pt x="35719" y="102691"/>
                </a:cubicBezTo>
                <a:cubicBezTo>
                  <a:pt x="35719" y="65689"/>
                  <a:pt x="65689" y="35719"/>
                  <a:pt x="102691" y="35719"/>
                </a:cubicBezTo>
                <a:cubicBezTo>
                  <a:pt x="110114" y="35719"/>
                  <a:pt x="116086" y="41690"/>
                  <a:pt x="116086" y="49113"/>
                </a:cubicBezTo>
                <a:cubicBezTo>
                  <a:pt x="116086" y="56537"/>
                  <a:pt x="110114" y="62508"/>
                  <a:pt x="102691" y="62508"/>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6880219" y="2241739"/>
            <a:ext cx="1619250" cy="2540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5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概念的提炼和抽象</a:t>
            </a:r>
            <a:endParaRPr lang="en-US" sz="1100"/>
          </a:p>
        </p:txBody>
      </p:sp>
      <p:sp>
        <p:nvSpPr>
          <p:cNvPr id="34" name="AutoShape 34"/>
          <p:cNvSpPr/>
          <p:nvPr/>
        </p:nvSpPr>
        <p:spPr>
          <a:xfrm>
            <a:off x="6396076" y="2638552"/>
            <a:ext cx="5349875" cy="261937"/>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3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这时候，模型会对每个词的表示进行</a:t>
            </a:r>
            <a:r>
              <a:rPr lang="en-US" sz="13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独立的、深度的加工</a:t>
            </a:r>
            <a:r>
              <a:rPr lang="en-US" sz="13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35" name="Freeform 35"/>
          <p:cNvSpPr/>
          <p:nvPr/>
        </p:nvSpPr>
        <p:spPr>
          <a:xfrm>
            <a:off x="6396076" y="3023474"/>
            <a:ext cx="5270500" cy="2413000"/>
          </a:xfrm>
          <a:custGeom>
            <a:avLst/>
            <a:gdLst/>
            <a:ahLst/>
            <a:cxnLst/>
            <a:rect l="l" t="t" r="r" b="b"/>
            <a:pathLst>
              <a:path w="5270500" h="2413000">
                <a:moveTo>
                  <a:pt x="63510" y="0"/>
                </a:moveTo>
                <a:lnTo>
                  <a:pt x="5206990" y="0"/>
                </a:lnTo>
                <a:cubicBezTo>
                  <a:pt x="5242066" y="0"/>
                  <a:pt x="5270500" y="28434"/>
                  <a:pt x="5270500" y="63510"/>
                </a:cubicBezTo>
                <a:lnTo>
                  <a:pt x="5270500" y="2349490"/>
                </a:lnTo>
                <a:cubicBezTo>
                  <a:pt x="5270500" y="2384566"/>
                  <a:pt x="5242066" y="2413000"/>
                  <a:pt x="5206990" y="2413000"/>
                </a:cubicBezTo>
                <a:lnTo>
                  <a:pt x="63510" y="2413000"/>
                </a:lnTo>
                <a:cubicBezTo>
                  <a:pt x="28434" y="2413000"/>
                  <a:pt x="0" y="2384566"/>
                  <a:pt x="0" y="2349490"/>
                </a:cubicBezTo>
                <a:lnTo>
                  <a:pt x="0" y="63510"/>
                </a:lnTo>
                <a:cubicBezTo>
                  <a:pt x="0" y="28458"/>
                  <a:pt x="28458" y="0"/>
                  <a:pt x="63510" y="0"/>
                </a:cubicBezTo>
                <a:close/>
              </a:path>
            </a:pathLst>
          </a:custGeom>
          <a:solidFill>
            <a:srgbClr val="00CED1">
              <a:alpha val="10196"/>
            </a:srgbClr>
          </a:solidFill>
          <a:ln w="12700">
            <a:noFill/>
            <a:prstDash val="solid"/>
          </a:ln>
        </p:spPr>
        <p:txBody>
          <a:bodyPr wrap="square" lIns="91440" tIns="45720" rIns="91440" bIns="45720" rtlCol="0" anchor="t">
            <a:noAutofit/>
          </a:bodyPr>
          <a:lstStyle/>
          <a:p>
            <a:pPr algn="ctr">
              <a:defRPr/>
            </a:pPr>
          </a:p>
        </p:txBody>
      </p:sp>
      <p:sp>
        <p:nvSpPr>
          <p:cNvPr id="36" name="Freeform 36"/>
          <p:cNvSpPr/>
          <p:nvPr/>
        </p:nvSpPr>
        <p:spPr>
          <a:xfrm>
            <a:off x="6554826" y="3182224"/>
            <a:ext cx="4953000" cy="793750"/>
          </a:xfrm>
          <a:custGeom>
            <a:avLst/>
            <a:gdLst/>
            <a:ahLst/>
            <a:cxnLst/>
            <a:rect l="l" t="t" r="r" b="b"/>
            <a:pathLst>
              <a:path w="4953000" h="793750">
                <a:moveTo>
                  <a:pt x="63500" y="0"/>
                </a:moveTo>
                <a:lnTo>
                  <a:pt x="4889500" y="0"/>
                </a:lnTo>
                <a:cubicBezTo>
                  <a:pt x="4924547" y="0"/>
                  <a:pt x="4953000" y="28453"/>
                  <a:pt x="4953000" y="63500"/>
                </a:cubicBezTo>
                <a:lnTo>
                  <a:pt x="4953000" y="730250"/>
                </a:lnTo>
                <a:cubicBezTo>
                  <a:pt x="4953000" y="765297"/>
                  <a:pt x="4924547" y="793750"/>
                  <a:pt x="4889500" y="793750"/>
                </a:cubicBezTo>
                <a:lnTo>
                  <a:pt x="63500" y="793750"/>
                </a:lnTo>
                <a:cubicBezTo>
                  <a:pt x="28453" y="793750"/>
                  <a:pt x="0" y="765297"/>
                  <a:pt x="0" y="730250"/>
                </a:cubicBezTo>
                <a:lnTo>
                  <a:pt x="0" y="63500"/>
                </a:lnTo>
                <a:cubicBezTo>
                  <a:pt x="0" y="28453"/>
                  <a:pt x="28453" y="0"/>
                  <a:pt x="6350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7" name="AutoShape 37"/>
          <p:cNvSpPr/>
          <p:nvPr/>
        </p:nvSpPr>
        <p:spPr>
          <a:xfrm>
            <a:off x="6626536" y="3283143"/>
            <a:ext cx="4770438" cy="2222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表面形式：</a:t>
            </a:r>
            <a:endParaRPr lang="en-US" sz="1100"/>
          </a:p>
        </p:txBody>
      </p:sp>
      <p:sp>
        <p:nvSpPr>
          <p:cNvPr id="38" name="AutoShape 38"/>
          <p:cNvSpPr/>
          <p:nvPr/>
        </p:nvSpPr>
        <p:spPr>
          <a:xfrm>
            <a:off x="6681781" y="3594881"/>
            <a:ext cx="4794250" cy="2540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"What is AI"</a:t>
            </a:r>
            <a:endParaRPr lang="en-US" sz="1100"/>
          </a:p>
        </p:txBody>
      </p:sp>
      <p:sp>
        <p:nvSpPr>
          <p:cNvPr id="39" name="Freeform 39"/>
          <p:cNvSpPr/>
          <p:nvPr/>
        </p:nvSpPr>
        <p:spPr>
          <a:xfrm>
            <a:off x="6624478" y="4102695"/>
            <a:ext cx="217884" cy="287480"/>
          </a:xfrm>
          <a:custGeom>
            <a:avLst/>
            <a:gdLst/>
            <a:ahLst/>
            <a:cxnLst/>
            <a:rect l="l" t="t" r="r" b="b"/>
            <a:pathLst>
              <a:path w="217884" h="287480">
                <a:moveTo>
                  <a:pt x="96329" y="280504"/>
                </a:moveTo>
                <a:cubicBezTo>
                  <a:pt x="103305" y="287480"/>
                  <a:pt x="114634" y="287480"/>
                  <a:pt x="121610" y="280504"/>
                </a:cubicBezTo>
                <a:lnTo>
                  <a:pt x="210908" y="191207"/>
                </a:lnTo>
                <a:cubicBezTo>
                  <a:pt x="217884" y="184231"/>
                  <a:pt x="217884" y="172902"/>
                  <a:pt x="210908" y="165925"/>
                </a:cubicBezTo>
                <a:cubicBezTo>
                  <a:pt x="203932" y="158948"/>
                  <a:pt x="192602" y="158948"/>
                  <a:pt x="185626" y="165925"/>
                </a:cubicBezTo>
                <a:lnTo>
                  <a:pt x="126802" y="224749"/>
                </a:lnTo>
                <a:lnTo>
                  <a:pt x="126802" y="17859"/>
                </a:lnTo>
                <a:cubicBezTo>
                  <a:pt x="126802" y="7981"/>
                  <a:pt x="118822" y="0"/>
                  <a:pt x="108942" y="0"/>
                </a:cubicBezTo>
                <a:cubicBezTo>
                  <a:pt x="99064" y="0"/>
                  <a:pt x="91084" y="7981"/>
                  <a:pt x="91084" y="17859"/>
                </a:cubicBezTo>
                <a:lnTo>
                  <a:pt x="91084" y="224749"/>
                </a:lnTo>
                <a:lnTo>
                  <a:pt x="32258" y="165925"/>
                </a:lnTo>
                <a:cubicBezTo>
                  <a:pt x="25282" y="158948"/>
                  <a:pt x="13953" y="158948"/>
                  <a:pt x="6976" y="165925"/>
                </a:cubicBezTo>
                <a:cubicBezTo>
                  <a:pt x="0" y="172902"/>
                  <a:pt x="0" y="184231"/>
                  <a:pt x="6976" y="191207"/>
                </a:cubicBezTo>
                <a:lnTo>
                  <a:pt x="96273" y="280504"/>
                </a:ln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40" name="Freeform 40"/>
          <p:cNvSpPr/>
          <p:nvPr/>
        </p:nvSpPr>
        <p:spPr>
          <a:xfrm>
            <a:off x="6554826" y="4515430"/>
            <a:ext cx="4953000" cy="762000"/>
          </a:xfrm>
          <a:custGeom>
            <a:avLst/>
            <a:gdLst/>
            <a:ahLst/>
            <a:cxnLst/>
            <a:rect l="l" t="t" r="r" b="b"/>
            <a:pathLst>
              <a:path w="4953000" h="762000">
                <a:moveTo>
                  <a:pt x="63497" y="0"/>
                </a:moveTo>
                <a:lnTo>
                  <a:pt x="4889503" y="0"/>
                </a:lnTo>
                <a:cubicBezTo>
                  <a:pt x="4924571" y="0"/>
                  <a:pt x="4953000" y="28429"/>
                  <a:pt x="4953000" y="63497"/>
                </a:cubicBezTo>
                <a:lnTo>
                  <a:pt x="4953000" y="698503"/>
                </a:lnTo>
                <a:cubicBezTo>
                  <a:pt x="4953000" y="733571"/>
                  <a:pt x="4924571" y="762000"/>
                  <a:pt x="4889503" y="762000"/>
                </a:cubicBezTo>
                <a:lnTo>
                  <a:pt x="63497" y="762000"/>
                </a:lnTo>
                <a:cubicBezTo>
                  <a:pt x="28429" y="762000"/>
                  <a:pt x="0" y="733571"/>
                  <a:pt x="0" y="698503"/>
                </a:cubicBezTo>
                <a:lnTo>
                  <a:pt x="0" y="63497"/>
                </a:lnTo>
                <a:cubicBezTo>
                  <a:pt x="0" y="28452"/>
                  <a:pt x="28452" y="0"/>
                  <a:pt x="63497"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41" name="AutoShape 41"/>
          <p:cNvSpPr/>
          <p:nvPr/>
        </p:nvSpPr>
        <p:spPr>
          <a:xfrm>
            <a:off x="6681781" y="4642383"/>
            <a:ext cx="4770438" cy="2222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抽象表示：</a:t>
            </a:r>
            <a:endParaRPr lang="en-US" sz="1100"/>
          </a:p>
        </p:txBody>
      </p:sp>
      <p:sp>
        <p:nvSpPr>
          <p:cNvPr id="42" name="AutoShape 42"/>
          <p:cNvSpPr/>
          <p:nvPr/>
        </p:nvSpPr>
        <p:spPr>
          <a:xfrm>
            <a:off x="6681781" y="4928087"/>
            <a:ext cx="4778375" cy="2222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"用户在询问一个技术概念的定义"</a:t>
            </a:r>
            <a:endParaRPr lang="en-US" sz="1100"/>
          </a:p>
        </p:txBody>
      </p:sp>
    </p:spTree>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6187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2.3 层层递进</a:t>
            </a:r>
            <a:endParaRPr lang="en-US" sz="1100"/>
          </a:p>
        </p:txBody>
      </p:sp>
      <p:sp>
        <p:nvSpPr>
          <p:cNvPr id="10" name="AutoShape 10"/>
          <p:cNvSpPr/>
          <p:nvPr/>
        </p:nvSpPr>
        <p:spPr>
          <a:xfrm>
            <a:off x="333375" y="1600033"/>
            <a:ext cx="11525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通过多层堆叠，逐层提取更高级的特征</a:t>
            </a:r>
            <a:endParaRPr lang="en-US" sz="1100"/>
          </a:p>
        </p:txBody>
      </p:sp>
      <p:sp>
        <p:nvSpPr>
          <p:cNvPr id="11" name="AutoShape 11"/>
          <p:cNvSpPr/>
          <p:nvPr/>
        </p:nvSpPr>
        <p:spPr>
          <a:xfrm>
            <a:off x="2926908" y="2095221"/>
            <a:ext cx="62865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第1层</a:t>
            </a:r>
            <a:endParaRPr lang="en-US" sz="1100"/>
          </a:p>
        </p:txBody>
      </p:sp>
      <p:sp>
        <p:nvSpPr>
          <p:cNvPr id="12" name="AutoShape 12"/>
          <p:cNvSpPr/>
          <p:nvPr/>
        </p:nvSpPr>
        <p:spPr>
          <a:xfrm>
            <a:off x="2926908" y="3276377"/>
            <a:ext cx="62865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第5层</a:t>
            </a:r>
            <a:endParaRPr lang="en-US" sz="1100"/>
          </a:p>
        </p:txBody>
      </p:sp>
      <p:sp>
        <p:nvSpPr>
          <p:cNvPr id="13" name="AutoShape 13"/>
          <p:cNvSpPr/>
          <p:nvPr/>
        </p:nvSpPr>
        <p:spPr>
          <a:xfrm>
            <a:off x="2926908" y="4457533"/>
            <a:ext cx="62865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第10层</a:t>
            </a:r>
            <a:endParaRPr lang="en-US" sz="1100"/>
          </a:p>
        </p:txBody>
      </p:sp>
      <p:sp>
        <p:nvSpPr>
          <p:cNvPr id="14" name="AutoShape 14"/>
          <p:cNvSpPr/>
          <p:nvPr/>
        </p:nvSpPr>
        <p:spPr>
          <a:xfrm>
            <a:off x="2926908" y="5638688"/>
            <a:ext cx="62865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第20层</a:t>
            </a:r>
            <a:endParaRPr lang="en-US" sz="1100"/>
          </a:p>
        </p:txBody>
      </p:sp>
      <p:sp>
        <p:nvSpPr>
          <p:cNvPr id="15" name="Freeform 15"/>
          <p:cNvSpPr/>
          <p:nvPr/>
        </p:nvSpPr>
        <p:spPr>
          <a:xfrm>
            <a:off x="3930957" y="2403983"/>
            <a:ext cx="3810000" cy="762000"/>
          </a:xfrm>
          <a:custGeom>
            <a:avLst/>
            <a:gdLst/>
            <a:ahLst/>
            <a:cxnLst/>
            <a:rect l="l" t="t" r="r" b="b"/>
            <a:pathLst>
              <a:path w="3810000" h="762000">
                <a:moveTo>
                  <a:pt x="114300" y="0"/>
                </a:moveTo>
                <a:lnTo>
                  <a:pt x="3695700" y="0"/>
                </a:lnTo>
                <a:cubicBezTo>
                  <a:pt x="3758783" y="0"/>
                  <a:pt x="3810000" y="51217"/>
                  <a:pt x="3810000" y="114300"/>
                </a:cubicBezTo>
                <a:lnTo>
                  <a:pt x="3810000" y="762000"/>
                </a:lnTo>
                <a:lnTo>
                  <a:pt x="0" y="762000"/>
                </a:lnTo>
                <a:lnTo>
                  <a:pt x="0" y="114300"/>
                </a:lnTo>
                <a:cubicBezTo>
                  <a:pt x="0" y="51217"/>
                  <a:pt x="51217" y="0"/>
                  <a:pt x="1143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4040440" y="2556328"/>
            <a:ext cx="35909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表层特征</a:t>
            </a:r>
            <a:endParaRPr lang="en-US" sz="1100"/>
          </a:p>
        </p:txBody>
      </p:sp>
      <p:sp>
        <p:nvSpPr>
          <p:cNvPr id="17" name="AutoShape 17"/>
          <p:cNvSpPr/>
          <p:nvPr/>
        </p:nvSpPr>
        <p:spPr>
          <a:xfrm>
            <a:off x="4049965" y="2822860"/>
            <a:ext cx="35718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词性、语法</a:t>
            </a:r>
            <a:endParaRPr lang="en-US" sz="1100"/>
          </a:p>
        </p:txBody>
      </p:sp>
      <p:sp>
        <p:nvSpPr>
          <p:cNvPr id="18" name="Freeform 18"/>
          <p:cNvSpPr/>
          <p:nvPr/>
        </p:nvSpPr>
        <p:spPr>
          <a:xfrm>
            <a:off x="3930957" y="3165704"/>
            <a:ext cx="3810000" cy="762000"/>
          </a:xfrm>
          <a:custGeom>
            <a:avLst/>
            <a:gdLst/>
            <a:ahLst/>
            <a:cxnLst/>
            <a:rect l="l" t="t" r="r" b="b"/>
            <a:pathLst>
              <a:path w="3810000" h="762000">
                <a:moveTo>
                  <a:pt x="0" y="0"/>
                </a:moveTo>
                <a:lnTo>
                  <a:pt x="3810000" y="0"/>
                </a:lnTo>
                <a:lnTo>
                  <a:pt x="3810000" y="762000"/>
                </a:lnTo>
                <a:lnTo>
                  <a:pt x="0" y="7620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4040440" y="3318049"/>
            <a:ext cx="35909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短语理解</a:t>
            </a:r>
            <a:endParaRPr lang="en-US" sz="1100"/>
          </a:p>
        </p:txBody>
      </p:sp>
      <p:sp>
        <p:nvSpPr>
          <p:cNvPr id="20" name="AutoShape 20"/>
          <p:cNvSpPr/>
          <p:nvPr/>
        </p:nvSpPr>
        <p:spPr>
          <a:xfrm>
            <a:off x="4049965" y="3584581"/>
            <a:ext cx="35718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短语义单元</a:t>
            </a:r>
            <a:endParaRPr lang="en-US" sz="1100"/>
          </a:p>
        </p:txBody>
      </p:sp>
      <p:sp>
        <p:nvSpPr>
          <p:cNvPr id="21" name="Freeform 21"/>
          <p:cNvSpPr/>
          <p:nvPr/>
        </p:nvSpPr>
        <p:spPr>
          <a:xfrm>
            <a:off x="3930957" y="3927444"/>
            <a:ext cx="3810000" cy="762000"/>
          </a:xfrm>
          <a:custGeom>
            <a:avLst/>
            <a:gdLst/>
            <a:ahLst/>
            <a:cxnLst/>
            <a:rect l="l" t="t" r="r" b="b"/>
            <a:pathLst>
              <a:path w="3810000" h="762000">
                <a:moveTo>
                  <a:pt x="0" y="0"/>
                </a:moveTo>
                <a:lnTo>
                  <a:pt x="3810000" y="0"/>
                </a:lnTo>
                <a:lnTo>
                  <a:pt x="3810000" y="762000"/>
                </a:lnTo>
                <a:lnTo>
                  <a:pt x="0" y="7620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4040440" y="4079788"/>
            <a:ext cx="35909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句子理解</a:t>
            </a:r>
            <a:endParaRPr lang="en-US" sz="1100"/>
          </a:p>
        </p:txBody>
      </p:sp>
      <p:sp>
        <p:nvSpPr>
          <p:cNvPr id="23" name="AutoShape 23"/>
          <p:cNvSpPr/>
          <p:nvPr/>
        </p:nvSpPr>
        <p:spPr>
          <a:xfrm>
            <a:off x="4049965" y="4346321"/>
            <a:ext cx="35718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完整语义</a:t>
            </a:r>
            <a:endParaRPr lang="en-US" sz="1100"/>
          </a:p>
        </p:txBody>
      </p:sp>
      <p:sp>
        <p:nvSpPr>
          <p:cNvPr id="24" name="Freeform 24"/>
          <p:cNvSpPr/>
          <p:nvPr/>
        </p:nvSpPr>
        <p:spPr>
          <a:xfrm>
            <a:off x="3948275" y="4706483"/>
            <a:ext cx="3777960" cy="872835"/>
          </a:xfrm>
          <a:custGeom>
            <a:avLst/>
            <a:gdLst/>
            <a:ahLst/>
            <a:cxnLst/>
            <a:rect l="l" t="t" r="r" b="b"/>
            <a:pathLst>
              <a:path w="3777960" h="872835">
                <a:moveTo>
                  <a:pt x="0" y="0"/>
                </a:moveTo>
                <a:lnTo>
                  <a:pt x="3777960" y="0"/>
                </a:lnTo>
                <a:lnTo>
                  <a:pt x="3777960" y="758538"/>
                </a:lnTo>
                <a:cubicBezTo>
                  <a:pt x="3777960" y="821663"/>
                  <a:pt x="3726788" y="872835"/>
                  <a:pt x="3663663" y="872835"/>
                </a:cubicBezTo>
                <a:lnTo>
                  <a:pt x="114297" y="872835"/>
                </a:lnTo>
                <a:cubicBezTo>
                  <a:pt x="51173" y="872835"/>
                  <a:pt x="0" y="821663"/>
                  <a:pt x="0" y="758538"/>
                </a:cubicBezTo>
                <a:lnTo>
                  <a:pt x="0" y="0"/>
                </a:lnTo>
                <a:close/>
              </a:path>
            </a:pathLst>
          </a:custGeom>
          <a:solidFill>
            <a:srgbClr val="5B92E5">
              <a:alpha val="100000"/>
            </a:srgbClr>
          </a:solidFill>
          <a:ln w="38100">
            <a:solidFill>
              <a:srgbClr val="00CED1">
                <a:alpha val="100000"/>
              </a:srgbClr>
            </a:solidFill>
            <a:prstDash val="solid"/>
          </a:ln>
        </p:spPr>
        <p:txBody>
          <a:bodyPr wrap="square" lIns="91440" tIns="45720" rIns="91440" bIns="45720" rtlCol="0" anchor="t">
            <a:noAutofit/>
          </a:bodyPr>
          <a:lstStyle/>
          <a:p>
            <a:pPr algn="ctr">
              <a:defRPr/>
            </a:pPr>
          </a:p>
        </p:txBody>
      </p:sp>
      <p:sp>
        <p:nvSpPr>
          <p:cNvPr id="25" name="AutoShape 25"/>
          <p:cNvSpPr/>
          <p:nvPr/>
        </p:nvSpPr>
        <p:spPr>
          <a:xfrm>
            <a:off x="4113230" y="4914305"/>
            <a:ext cx="34480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抽象推理</a:t>
            </a:r>
            <a:endParaRPr lang="en-US" sz="1100"/>
          </a:p>
        </p:txBody>
      </p:sp>
      <p:sp>
        <p:nvSpPr>
          <p:cNvPr id="26" name="AutoShape 26"/>
          <p:cNvSpPr/>
          <p:nvPr/>
        </p:nvSpPr>
        <p:spPr>
          <a:xfrm>
            <a:off x="4122755" y="5180837"/>
            <a:ext cx="342900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逻辑、情感、意图</a:t>
            </a:r>
            <a:endParaRPr lang="en-US" sz="1100"/>
          </a:p>
        </p:txBody>
      </p:sp>
      <p:sp>
        <p:nvSpPr>
          <p:cNvPr id="27" name="AutoShape 27"/>
          <p:cNvSpPr/>
          <p:nvPr/>
        </p:nvSpPr>
        <p:spPr>
          <a:xfrm>
            <a:off x="8198129" y="2095221"/>
            <a:ext cx="114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识别名词、动词</a:t>
            </a:r>
            <a:endParaRPr lang="en-US" sz="1100"/>
          </a:p>
        </p:txBody>
      </p:sp>
      <p:sp>
        <p:nvSpPr>
          <p:cNvPr id="28" name="AutoShape 28"/>
          <p:cNvSpPr/>
          <p:nvPr/>
        </p:nvSpPr>
        <p:spPr>
          <a:xfrm>
            <a:off x="8198129" y="3289102"/>
            <a:ext cx="114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理解词组关系</a:t>
            </a:r>
            <a:endParaRPr lang="en-US" sz="1100"/>
          </a:p>
        </p:txBody>
      </p:sp>
      <p:sp>
        <p:nvSpPr>
          <p:cNvPr id="29" name="AutoShape 29"/>
          <p:cNvSpPr/>
          <p:nvPr/>
        </p:nvSpPr>
        <p:spPr>
          <a:xfrm>
            <a:off x="8198129" y="4482833"/>
            <a:ext cx="114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把握句子主旨</a:t>
            </a:r>
            <a:endParaRPr lang="en-US" sz="1100"/>
          </a:p>
        </p:txBody>
      </p:sp>
      <p:sp>
        <p:nvSpPr>
          <p:cNvPr id="30" name="AutoShape 30"/>
          <p:cNvSpPr/>
          <p:nvPr/>
        </p:nvSpPr>
        <p:spPr>
          <a:xfrm>
            <a:off x="8198129" y="5676714"/>
            <a:ext cx="114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推理深层含义</a:t>
            </a:r>
            <a:endParaRPr lang="en-US" sz="1100"/>
          </a:p>
        </p:txBody>
      </p:sp>
      <p:sp>
        <p:nvSpPr>
          <p:cNvPr id="31" name="Freeform 31"/>
          <p:cNvSpPr/>
          <p:nvPr/>
        </p:nvSpPr>
        <p:spPr>
          <a:xfrm>
            <a:off x="381000" y="6057565"/>
            <a:ext cx="11430000" cy="419100"/>
          </a:xfrm>
          <a:custGeom>
            <a:avLst/>
            <a:gdLst/>
            <a:ahLst/>
            <a:cxnLst/>
            <a:rect l="l" t="t" r="r" b="b"/>
            <a:pathLst>
              <a:path w="11430000" h="419100">
                <a:moveTo>
                  <a:pt x="76201" y="0"/>
                </a:moveTo>
                <a:lnTo>
                  <a:pt x="11353799" y="0"/>
                </a:lnTo>
                <a:cubicBezTo>
                  <a:pt x="11395884" y="0"/>
                  <a:pt x="11430000" y="34116"/>
                  <a:pt x="11430000" y="76201"/>
                </a:cubicBezTo>
                <a:lnTo>
                  <a:pt x="11430000" y="342899"/>
                </a:lnTo>
                <a:cubicBezTo>
                  <a:pt x="11430000" y="384984"/>
                  <a:pt x="11395884" y="419100"/>
                  <a:pt x="11353799" y="419100"/>
                </a:cubicBezTo>
                <a:lnTo>
                  <a:pt x="76201" y="419100"/>
                </a:lnTo>
                <a:cubicBezTo>
                  <a:pt x="34116" y="419100"/>
                  <a:pt x="0" y="384984"/>
                  <a:pt x="0" y="342899"/>
                </a:cubicBezTo>
                <a:lnTo>
                  <a:pt x="0" y="76201"/>
                </a:lnTo>
                <a:cubicBezTo>
                  <a:pt x="0" y="34144"/>
                  <a:pt x="34144" y="0"/>
                  <a:pt x="76201"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2" name="AutoShape 32"/>
          <p:cNvSpPr/>
          <p:nvPr/>
        </p:nvSpPr>
        <p:spPr>
          <a:xfrm>
            <a:off x="609519" y="6133877"/>
            <a:ext cx="6848088" cy="249758"/>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Multi-Layer </a:t>
            </a:r>
            <a:r>
              <a:rPr lang="en-US" sz="1400" b="1"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Stacking（多层堆叠</a:t>
            </a:r>
            <a:r>
              <a:rPr lang="en-US" sz="1400"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t>
            </a: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a:t>
            </a:r>
            <a:r>
              <a:rPr lang="en-US" sz="14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将多个层串联，逐层提取更高级的特征</a:t>
            </a:r>
            <a:endParaRPr lang="en-US" sz="1100" dirty="0"/>
          </a:p>
        </p:txBody>
      </p:sp>
    </p:spTree>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6187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2.4 KV缓存加速</a:t>
            </a:r>
            <a:endParaRPr lang="en-US" sz="1100"/>
          </a:p>
        </p:txBody>
      </p:sp>
      <p:sp>
        <p:nvSpPr>
          <p:cNvPr id="10" name="AutoShape 10"/>
          <p:cNvSpPr/>
          <p:nvPr/>
        </p:nvSpPr>
        <p:spPr>
          <a:xfrm>
            <a:off x="333375" y="1600033"/>
            <a:ext cx="11525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缓存历史计算的Key和Value，避免重复计算，大幅提升生成速度</a:t>
            </a:r>
            <a:endParaRPr lang="en-US" sz="1100"/>
          </a:p>
        </p:txBody>
      </p:sp>
      <p:sp>
        <p:nvSpPr>
          <p:cNvPr id="11" name="Freeform 11"/>
          <p:cNvSpPr/>
          <p:nvPr/>
        </p:nvSpPr>
        <p:spPr>
          <a:xfrm>
            <a:off x="381000" y="2095221"/>
            <a:ext cx="5562600" cy="3638550"/>
          </a:xfrm>
          <a:custGeom>
            <a:avLst/>
            <a:gdLst/>
            <a:ahLst/>
            <a:cxnLst/>
            <a:rect l="l" t="t" r="r" b="b"/>
            <a:pathLst>
              <a:path w="5562600" h="3638550">
                <a:moveTo>
                  <a:pt x="152382" y="0"/>
                </a:moveTo>
                <a:lnTo>
                  <a:pt x="5410218" y="0"/>
                </a:lnTo>
                <a:cubicBezTo>
                  <a:pt x="5494376" y="0"/>
                  <a:pt x="5562600" y="68224"/>
                  <a:pt x="5562600" y="152382"/>
                </a:cubicBezTo>
                <a:lnTo>
                  <a:pt x="5562600" y="3486168"/>
                </a:lnTo>
                <a:cubicBezTo>
                  <a:pt x="5562600" y="3570326"/>
                  <a:pt x="5494376" y="3638550"/>
                  <a:pt x="5410218" y="3638550"/>
                </a:cubicBezTo>
                <a:lnTo>
                  <a:pt x="152382" y="3638550"/>
                </a:lnTo>
                <a:cubicBezTo>
                  <a:pt x="68224" y="3638550"/>
                  <a:pt x="0" y="3570326"/>
                  <a:pt x="0" y="3486168"/>
                </a:cubicBezTo>
                <a:lnTo>
                  <a:pt x="0" y="152382"/>
                </a:lnTo>
                <a:cubicBezTo>
                  <a:pt x="0" y="68280"/>
                  <a:pt x="68280" y="0"/>
                  <a:pt x="152382"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638094" y="2342685"/>
            <a:ext cx="228600" cy="228600"/>
          </a:xfrm>
          <a:custGeom>
            <a:avLst/>
            <a:gdLst/>
            <a:ahLst/>
            <a:cxnLst/>
            <a:rect l="l" t="t" r="r" b="b"/>
            <a:pathLst>
              <a:path w="228600" h="228600">
                <a:moveTo>
                  <a:pt x="114300" y="228600"/>
                </a:moveTo>
                <a:cubicBezTo>
                  <a:pt x="177383" y="228600"/>
                  <a:pt x="228600" y="177383"/>
                  <a:pt x="228600" y="114300"/>
                </a:cubicBezTo>
                <a:cubicBezTo>
                  <a:pt x="228600" y="51217"/>
                  <a:pt x="177383" y="0"/>
                  <a:pt x="114300" y="0"/>
                </a:cubicBezTo>
                <a:cubicBezTo>
                  <a:pt x="51217" y="0"/>
                  <a:pt x="0" y="51217"/>
                  <a:pt x="0" y="114300"/>
                </a:cubicBezTo>
                <a:cubicBezTo>
                  <a:pt x="0" y="177383"/>
                  <a:pt x="51217" y="228600"/>
                  <a:pt x="114300" y="228600"/>
                </a:cubicBezTo>
                <a:close/>
                <a:moveTo>
                  <a:pt x="74563" y="74563"/>
                </a:moveTo>
                <a:cubicBezTo>
                  <a:pt x="78760" y="70366"/>
                  <a:pt x="85546" y="70366"/>
                  <a:pt x="89699" y="74563"/>
                </a:cubicBezTo>
                <a:lnTo>
                  <a:pt x="114256" y="99120"/>
                </a:lnTo>
                <a:lnTo>
                  <a:pt x="138812" y="74563"/>
                </a:lnTo>
                <a:cubicBezTo>
                  <a:pt x="143010" y="70366"/>
                  <a:pt x="149796" y="70366"/>
                  <a:pt x="153948" y="74563"/>
                </a:cubicBezTo>
                <a:cubicBezTo>
                  <a:pt x="158100" y="78760"/>
                  <a:pt x="158145" y="85546"/>
                  <a:pt x="153948" y="89699"/>
                </a:cubicBezTo>
                <a:lnTo>
                  <a:pt x="129391" y="114256"/>
                </a:lnTo>
                <a:lnTo>
                  <a:pt x="153948" y="138812"/>
                </a:lnTo>
                <a:cubicBezTo>
                  <a:pt x="158145" y="143010"/>
                  <a:pt x="158145" y="149797"/>
                  <a:pt x="153948" y="153948"/>
                </a:cubicBezTo>
                <a:cubicBezTo>
                  <a:pt x="149751" y="158100"/>
                  <a:pt x="142964" y="158145"/>
                  <a:pt x="138812" y="153948"/>
                </a:cubicBezTo>
                <a:lnTo>
                  <a:pt x="114256" y="129391"/>
                </a:lnTo>
                <a:lnTo>
                  <a:pt x="89699" y="153948"/>
                </a:lnTo>
                <a:cubicBezTo>
                  <a:pt x="85501" y="158145"/>
                  <a:pt x="78715" y="158145"/>
                  <a:pt x="74563" y="153948"/>
                </a:cubicBezTo>
                <a:cubicBezTo>
                  <a:pt x="70411" y="149751"/>
                  <a:pt x="70366" y="142964"/>
                  <a:pt x="74563" y="138812"/>
                </a:cubicBezTo>
                <a:lnTo>
                  <a:pt x="99120" y="114256"/>
                </a:lnTo>
                <a:lnTo>
                  <a:pt x="74563" y="89699"/>
                </a:lnTo>
                <a:cubicBezTo>
                  <a:pt x="70366" y="85501"/>
                  <a:pt x="70366" y="78715"/>
                  <a:pt x="74563" y="74563"/>
                </a:cubicBezTo>
                <a:close/>
              </a:path>
            </a:pathLst>
          </a:custGeom>
          <a:solidFill>
            <a:srgbClr val="666666">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1009461" y="2323747"/>
            <a:ext cx="9144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无KV缓存</a:t>
            </a:r>
            <a:endParaRPr lang="en-US" sz="1100"/>
          </a:p>
        </p:txBody>
      </p:sp>
      <p:sp>
        <p:nvSpPr>
          <p:cNvPr id="14" name="Freeform 14"/>
          <p:cNvSpPr/>
          <p:nvPr/>
        </p:nvSpPr>
        <p:spPr>
          <a:xfrm>
            <a:off x="609519" y="2742772"/>
            <a:ext cx="5105400" cy="647700"/>
          </a:xfrm>
          <a:custGeom>
            <a:avLst/>
            <a:gdLst/>
            <a:ahLst/>
            <a:cxnLst/>
            <a:rect l="l" t="t" r="r" b="b"/>
            <a:pathLst>
              <a:path w="5105400" h="647700">
                <a:moveTo>
                  <a:pt x="76203" y="0"/>
                </a:moveTo>
                <a:lnTo>
                  <a:pt x="5029197" y="0"/>
                </a:lnTo>
                <a:cubicBezTo>
                  <a:pt x="5071283" y="0"/>
                  <a:pt x="5105400" y="34117"/>
                  <a:pt x="5105400" y="76203"/>
                </a:cubicBezTo>
                <a:lnTo>
                  <a:pt x="5105400" y="571497"/>
                </a:lnTo>
                <a:cubicBezTo>
                  <a:pt x="5105400" y="613583"/>
                  <a:pt x="5071283" y="647700"/>
                  <a:pt x="5029197" y="647700"/>
                </a:cubicBezTo>
                <a:lnTo>
                  <a:pt x="76203" y="647700"/>
                </a:lnTo>
                <a:cubicBezTo>
                  <a:pt x="34117" y="647700"/>
                  <a:pt x="0" y="613583"/>
                  <a:pt x="0" y="571497"/>
                </a:cubicBezTo>
                <a:lnTo>
                  <a:pt x="0" y="76203"/>
                </a:lnTo>
                <a:cubicBezTo>
                  <a:pt x="0" y="34117"/>
                  <a:pt x="34117" y="0"/>
                  <a:pt x="762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723711" y="2856960"/>
            <a:ext cx="495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生成第1个词</a:t>
            </a:r>
            <a:endParaRPr lang="en-US" sz="1100"/>
          </a:p>
        </p:txBody>
      </p:sp>
      <p:sp>
        <p:nvSpPr>
          <p:cNvPr id="16" name="AutoShape 16"/>
          <p:cNvSpPr/>
          <p:nvPr/>
        </p:nvSpPr>
        <p:spPr>
          <a:xfrm>
            <a:off x="723711" y="3085467"/>
            <a:ext cx="49434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计算全部历史</a:t>
            </a:r>
            <a:endParaRPr lang="en-US" sz="1100"/>
          </a:p>
        </p:txBody>
      </p:sp>
      <p:sp>
        <p:nvSpPr>
          <p:cNvPr id="17" name="Freeform 17"/>
          <p:cNvSpPr/>
          <p:nvPr/>
        </p:nvSpPr>
        <p:spPr>
          <a:xfrm>
            <a:off x="609519" y="3504363"/>
            <a:ext cx="5105400" cy="647700"/>
          </a:xfrm>
          <a:custGeom>
            <a:avLst/>
            <a:gdLst/>
            <a:ahLst/>
            <a:cxnLst/>
            <a:rect l="l" t="t" r="r" b="b"/>
            <a:pathLst>
              <a:path w="5105400" h="647700">
                <a:moveTo>
                  <a:pt x="76203" y="0"/>
                </a:moveTo>
                <a:lnTo>
                  <a:pt x="5029197" y="0"/>
                </a:lnTo>
                <a:cubicBezTo>
                  <a:pt x="5071283" y="0"/>
                  <a:pt x="5105400" y="34117"/>
                  <a:pt x="5105400" y="76203"/>
                </a:cubicBezTo>
                <a:lnTo>
                  <a:pt x="5105400" y="571497"/>
                </a:lnTo>
                <a:cubicBezTo>
                  <a:pt x="5105400" y="613583"/>
                  <a:pt x="5071283" y="647700"/>
                  <a:pt x="5029197" y="647700"/>
                </a:cubicBezTo>
                <a:lnTo>
                  <a:pt x="76203" y="647700"/>
                </a:lnTo>
                <a:cubicBezTo>
                  <a:pt x="34117" y="647700"/>
                  <a:pt x="0" y="613583"/>
                  <a:pt x="0" y="571497"/>
                </a:cubicBezTo>
                <a:lnTo>
                  <a:pt x="0" y="76203"/>
                </a:lnTo>
                <a:cubicBezTo>
                  <a:pt x="0" y="34117"/>
                  <a:pt x="34117" y="0"/>
                  <a:pt x="762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723711" y="3618551"/>
            <a:ext cx="495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生成第2个词</a:t>
            </a:r>
            <a:endParaRPr lang="en-US" sz="1100"/>
          </a:p>
        </p:txBody>
      </p:sp>
      <p:sp>
        <p:nvSpPr>
          <p:cNvPr id="19" name="AutoShape 19"/>
          <p:cNvSpPr/>
          <p:nvPr/>
        </p:nvSpPr>
        <p:spPr>
          <a:xfrm>
            <a:off x="723711" y="3847077"/>
            <a:ext cx="49434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重新计算全部历史</a:t>
            </a:r>
            <a:endParaRPr lang="en-US" sz="1100"/>
          </a:p>
        </p:txBody>
      </p:sp>
      <p:sp>
        <p:nvSpPr>
          <p:cNvPr id="20" name="Freeform 20"/>
          <p:cNvSpPr/>
          <p:nvPr/>
        </p:nvSpPr>
        <p:spPr>
          <a:xfrm>
            <a:off x="609519" y="4265954"/>
            <a:ext cx="5105400" cy="647700"/>
          </a:xfrm>
          <a:custGeom>
            <a:avLst/>
            <a:gdLst/>
            <a:ahLst/>
            <a:cxnLst/>
            <a:rect l="l" t="t" r="r" b="b"/>
            <a:pathLst>
              <a:path w="5105400" h="647700">
                <a:moveTo>
                  <a:pt x="76203" y="0"/>
                </a:moveTo>
                <a:lnTo>
                  <a:pt x="5029197" y="0"/>
                </a:lnTo>
                <a:cubicBezTo>
                  <a:pt x="5071283" y="0"/>
                  <a:pt x="5105400" y="34117"/>
                  <a:pt x="5105400" y="76203"/>
                </a:cubicBezTo>
                <a:lnTo>
                  <a:pt x="5105400" y="571497"/>
                </a:lnTo>
                <a:cubicBezTo>
                  <a:pt x="5105400" y="613583"/>
                  <a:pt x="5071283" y="647700"/>
                  <a:pt x="5029197" y="647700"/>
                </a:cubicBezTo>
                <a:lnTo>
                  <a:pt x="76203" y="647700"/>
                </a:lnTo>
                <a:cubicBezTo>
                  <a:pt x="34117" y="647700"/>
                  <a:pt x="0" y="613583"/>
                  <a:pt x="0" y="571497"/>
                </a:cubicBezTo>
                <a:lnTo>
                  <a:pt x="0" y="76203"/>
                </a:lnTo>
                <a:cubicBezTo>
                  <a:pt x="0" y="34117"/>
                  <a:pt x="34117" y="0"/>
                  <a:pt x="762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723711" y="4380142"/>
            <a:ext cx="495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生成第3个词</a:t>
            </a:r>
            <a:endParaRPr lang="en-US" sz="1100"/>
          </a:p>
        </p:txBody>
      </p:sp>
      <p:sp>
        <p:nvSpPr>
          <p:cNvPr id="22" name="AutoShape 22"/>
          <p:cNvSpPr/>
          <p:nvPr/>
        </p:nvSpPr>
        <p:spPr>
          <a:xfrm>
            <a:off x="723711" y="4608668"/>
            <a:ext cx="49434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再次重新计算...</a:t>
            </a:r>
            <a:endParaRPr lang="en-US" sz="1100"/>
          </a:p>
        </p:txBody>
      </p:sp>
      <p:sp>
        <p:nvSpPr>
          <p:cNvPr id="23" name="Freeform 23"/>
          <p:cNvSpPr/>
          <p:nvPr/>
        </p:nvSpPr>
        <p:spPr>
          <a:xfrm>
            <a:off x="2587580" y="5100340"/>
            <a:ext cx="171450" cy="171450"/>
          </a:xfrm>
          <a:custGeom>
            <a:avLst/>
            <a:gdLst/>
            <a:ahLst/>
            <a:cxnLst/>
            <a:rect l="l" t="t" r="r" b="b"/>
            <a:pathLst>
              <a:path w="171450" h="171450">
                <a:moveTo>
                  <a:pt x="85725" y="0"/>
                </a:moveTo>
                <a:cubicBezTo>
                  <a:pt x="133038" y="0"/>
                  <a:pt x="171450" y="38412"/>
                  <a:pt x="171450" y="85725"/>
                </a:cubicBezTo>
                <a:cubicBezTo>
                  <a:pt x="171450" y="133038"/>
                  <a:pt x="133038" y="171450"/>
                  <a:pt x="85725" y="171450"/>
                </a:cubicBezTo>
                <a:cubicBezTo>
                  <a:pt x="38412" y="171450"/>
                  <a:pt x="0" y="133038"/>
                  <a:pt x="0" y="85725"/>
                </a:cubicBezTo>
                <a:cubicBezTo>
                  <a:pt x="0" y="38412"/>
                  <a:pt x="38412" y="0"/>
                  <a:pt x="85725" y="0"/>
                </a:cubicBezTo>
                <a:close/>
                <a:moveTo>
                  <a:pt x="77688" y="40184"/>
                </a:moveTo>
                <a:lnTo>
                  <a:pt x="77688" y="85725"/>
                </a:lnTo>
                <a:cubicBezTo>
                  <a:pt x="77688" y="88403"/>
                  <a:pt x="79028" y="90915"/>
                  <a:pt x="81271" y="92422"/>
                </a:cubicBezTo>
                <a:lnTo>
                  <a:pt x="113419" y="113854"/>
                </a:lnTo>
                <a:cubicBezTo>
                  <a:pt x="117102" y="116332"/>
                  <a:pt x="122091" y="115327"/>
                  <a:pt x="124569" y="111610"/>
                </a:cubicBezTo>
                <a:cubicBezTo>
                  <a:pt x="127047" y="107893"/>
                  <a:pt x="126042" y="102937"/>
                  <a:pt x="122326" y="100460"/>
                </a:cubicBezTo>
                <a:lnTo>
                  <a:pt x="93762" y="81439"/>
                </a:lnTo>
                <a:lnTo>
                  <a:pt x="93762" y="40184"/>
                </a:lnTo>
                <a:cubicBezTo>
                  <a:pt x="93762" y="35730"/>
                  <a:pt x="90179" y="32148"/>
                  <a:pt x="85725" y="32148"/>
                </a:cubicBezTo>
                <a:cubicBezTo>
                  <a:pt x="81271" y="32148"/>
                  <a:pt x="77688" y="35730"/>
                  <a:pt x="77688" y="40184"/>
                </a:cubicBezTo>
                <a:close/>
              </a:path>
            </a:pathLst>
          </a:custGeom>
          <a:solidFill>
            <a:srgbClr val="666666">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842881" y="5065700"/>
            <a:ext cx="491490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耗时: 100%</a:t>
            </a:r>
            <a:endParaRPr lang="en-US" sz="1100"/>
          </a:p>
        </p:txBody>
      </p:sp>
      <p:sp>
        <p:nvSpPr>
          <p:cNvPr id="25" name="Freeform 25"/>
          <p:cNvSpPr/>
          <p:nvPr/>
        </p:nvSpPr>
        <p:spPr>
          <a:xfrm>
            <a:off x="6265664" y="2112539"/>
            <a:ext cx="5530560" cy="3606510"/>
          </a:xfrm>
          <a:custGeom>
            <a:avLst/>
            <a:gdLst/>
            <a:ahLst/>
            <a:cxnLst/>
            <a:rect l="l" t="t" r="r" b="b"/>
            <a:pathLst>
              <a:path w="5530560" h="3606510">
                <a:moveTo>
                  <a:pt x="152411" y="0"/>
                </a:moveTo>
                <a:lnTo>
                  <a:pt x="5378150" y="0"/>
                </a:lnTo>
                <a:cubicBezTo>
                  <a:pt x="5462325" y="0"/>
                  <a:pt x="5530560" y="68237"/>
                  <a:pt x="5530560" y="152411"/>
                </a:cubicBezTo>
                <a:lnTo>
                  <a:pt x="5530560" y="3454100"/>
                </a:lnTo>
                <a:cubicBezTo>
                  <a:pt x="5530560" y="3538275"/>
                  <a:pt x="5462325" y="3606510"/>
                  <a:pt x="5378150" y="3606510"/>
                </a:cubicBezTo>
                <a:lnTo>
                  <a:pt x="152411" y="3606510"/>
                </a:lnTo>
                <a:cubicBezTo>
                  <a:pt x="68237" y="3606510"/>
                  <a:pt x="0" y="3538275"/>
                  <a:pt x="0" y="3454100"/>
                </a:cubicBezTo>
                <a:lnTo>
                  <a:pt x="0" y="152411"/>
                </a:lnTo>
                <a:cubicBezTo>
                  <a:pt x="0" y="68293"/>
                  <a:pt x="68293" y="0"/>
                  <a:pt x="152411" y="0"/>
                </a:cubicBezTo>
                <a:close/>
              </a:path>
            </a:pathLst>
          </a:custGeom>
          <a:solidFill>
            <a:srgbClr val="FFFFFF">
              <a:alpha val="100000"/>
            </a:srgbClr>
          </a:solidFill>
          <a:ln w="38100">
            <a:solidFill>
              <a:srgbClr val="1E90FF">
                <a:alpha val="100000"/>
              </a:srgbClr>
            </a:solidFill>
            <a:prstDash val="solid"/>
          </a:ln>
        </p:spPr>
        <p:txBody>
          <a:bodyPr wrap="square" lIns="91440" tIns="45720" rIns="91440" bIns="45720" rtlCol="0" anchor="t">
            <a:noAutofit/>
          </a:bodyPr>
          <a:lstStyle/>
          <a:p>
            <a:pPr algn="ctr">
              <a:defRPr/>
            </a:pPr>
          </a:p>
        </p:txBody>
      </p:sp>
      <p:sp>
        <p:nvSpPr>
          <p:cNvPr id="26" name="Freeform 26"/>
          <p:cNvSpPr/>
          <p:nvPr/>
        </p:nvSpPr>
        <p:spPr>
          <a:xfrm>
            <a:off x="6540076" y="2377325"/>
            <a:ext cx="228600" cy="228600"/>
          </a:xfrm>
          <a:custGeom>
            <a:avLst/>
            <a:gdLst/>
            <a:ahLst/>
            <a:cxnLst/>
            <a:rect l="l" t="t" r="r" b="b"/>
            <a:pathLst>
              <a:path w="228600" h="228600">
                <a:moveTo>
                  <a:pt x="114300" y="228600"/>
                </a:moveTo>
                <a:cubicBezTo>
                  <a:pt x="177383" y="228600"/>
                  <a:pt x="228600" y="177383"/>
                  <a:pt x="228600" y="114300"/>
                </a:cubicBezTo>
                <a:cubicBezTo>
                  <a:pt x="228600" y="51217"/>
                  <a:pt x="177383" y="0"/>
                  <a:pt x="114300" y="0"/>
                </a:cubicBezTo>
                <a:cubicBezTo>
                  <a:pt x="51217" y="0"/>
                  <a:pt x="0" y="51217"/>
                  <a:pt x="0" y="114300"/>
                </a:cubicBezTo>
                <a:cubicBezTo>
                  <a:pt x="0" y="177383"/>
                  <a:pt x="51217" y="228600"/>
                  <a:pt x="114300" y="228600"/>
                </a:cubicBezTo>
                <a:close/>
                <a:moveTo>
                  <a:pt x="151983" y="94967"/>
                </a:moveTo>
                <a:lnTo>
                  <a:pt x="116265" y="152117"/>
                </a:lnTo>
                <a:cubicBezTo>
                  <a:pt x="114389" y="155109"/>
                  <a:pt x="111175" y="156983"/>
                  <a:pt x="107646" y="157163"/>
                </a:cubicBezTo>
                <a:cubicBezTo>
                  <a:pt x="104120" y="157342"/>
                  <a:pt x="100728" y="155734"/>
                  <a:pt x="98628" y="152876"/>
                </a:cubicBezTo>
                <a:lnTo>
                  <a:pt x="77197" y="124301"/>
                </a:lnTo>
                <a:cubicBezTo>
                  <a:pt x="73624" y="119569"/>
                  <a:pt x="74607" y="112871"/>
                  <a:pt x="79339" y="109299"/>
                </a:cubicBezTo>
                <a:cubicBezTo>
                  <a:pt x="84073" y="105727"/>
                  <a:pt x="90769" y="106710"/>
                  <a:pt x="94342" y="111443"/>
                </a:cubicBezTo>
                <a:lnTo>
                  <a:pt x="106397" y="127516"/>
                </a:lnTo>
                <a:lnTo>
                  <a:pt x="133811" y="83627"/>
                </a:lnTo>
                <a:cubicBezTo>
                  <a:pt x="136936" y="78626"/>
                  <a:pt x="143546" y="77064"/>
                  <a:pt x="148590" y="80234"/>
                </a:cubicBezTo>
                <a:cubicBezTo>
                  <a:pt x="153634" y="83403"/>
                  <a:pt x="155153" y="89967"/>
                  <a:pt x="151983" y="95013"/>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6911443" y="2358386"/>
            <a:ext cx="9144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有KV缓存</a:t>
            </a:r>
            <a:endParaRPr lang="en-US" sz="1100"/>
          </a:p>
        </p:txBody>
      </p:sp>
      <p:sp>
        <p:nvSpPr>
          <p:cNvPr id="28" name="Freeform 28"/>
          <p:cNvSpPr/>
          <p:nvPr/>
        </p:nvSpPr>
        <p:spPr>
          <a:xfrm>
            <a:off x="6520160" y="2786052"/>
            <a:ext cx="5017943" cy="665018"/>
          </a:xfrm>
          <a:custGeom>
            <a:avLst/>
            <a:gdLst/>
            <a:ahLst/>
            <a:cxnLst/>
            <a:rect l="l" t="t" r="r" b="b"/>
            <a:pathLst>
              <a:path w="5017943" h="665018">
                <a:moveTo>
                  <a:pt x="76197" y="0"/>
                </a:moveTo>
                <a:lnTo>
                  <a:pt x="4941745" y="0"/>
                </a:lnTo>
                <a:cubicBezTo>
                  <a:pt x="4983828" y="0"/>
                  <a:pt x="5017943" y="34115"/>
                  <a:pt x="5017943" y="76197"/>
                </a:cubicBezTo>
                <a:lnTo>
                  <a:pt x="5017943" y="588820"/>
                </a:lnTo>
                <a:cubicBezTo>
                  <a:pt x="5017943" y="630903"/>
                  <a:pt x="4983828" y="665018"/>
                  <a:pt x="4941745" y="665018"/>
                </a:cubicBezTo>
                <a:lnTo>
                  <a:pt x="76197" y="665018"/>
                </a:lnTo>
                <a:cubicBezTo>
                  <a:pt x="34115" y="665018"/>
                  <a:pt x="0" y="630903"/>
                  <a:pt x="0" y="588820"/>
                </a:cubicBezTo>
                <a:lnTo>
                  <a:pt x="0" y="76197"/>
                </a:lnTo>
                <a:cubicBezTo>
                  <a:pt x="0" y="34143"/>
                  <a:pt x="34143" y="0"/>
                  <a:pt x="76197" y="0"/>
                </a:cubicBezTo>
                <a:close/>
              </a:path>
            </a:pathLst>
          </a:custGeom>
          <a:no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29" name="AutoShape 29"/>
          <p:cNvSpPr/>
          <p:nvPr/>
        </p:nvSpPr>
        <p:spPr>
          <a:xfrm>
            <a:off x="6643011" y="2908902"/>
            <a:ext cx="48482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生成第1个词</a:t>
            </a:r>
            <a:endParaRPr lang="en-US" sz="1100"/>
          </a:p>
        </p:txBody>
      </p:sp>
      <p:sp>
        <p:nvSpPr>
          <p:cNvPr id="30" name="AutoShape 30"/>
          <p:cNvSpPr/>
          <p:nvPr/>
        </p:nvSpPr>
        <p:spPr>
          <a:xfrm>
            <a:off x="6643011" y="3137427"/>
            <a:ext cx="483870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存储K,V → 缓存</a:t>
            </a:r>
            <a:endParaRPr lang="en-US" sz="1100"/>
          </a:p>
        </p:txBody>
      </p:sp>
      <p:sp>
        <p:nvSpPr>
          <p:cNvPr id="31" name="Freeform 31"/>
          <p:cNvSpPr/>
          <p:nvPr/>
        </p:nvSpPr>
        <p:spPr>
          <a:xfrm>
            <a:off x="6520160" y="3582283"/>
            <a:ext cx="5017943" cy="665018"/>
          </a:xfrm>
          <a:custGeom>
            <a:avLst/>
            <a:gdLst/>
            <a:ahLst/>
            <a:cxnLst/>
            <a:rect l="l" t="t" r="r" b="b"/>
            <a:pathLst>
              <a:path w="5017943" h="665018">
                <a:moveTo>
                  <a:pt x="76197" y="0"/>
                </a:moveTo>
                <a:lnTo>
                  <a:pt x="4941745" y="0"/>
                </a:lnTo>
                <a:cubicBezTo>
                  <a:pt x="4983828" y="0"/>
                  <a:pt x="5017943" y="34115"/>
                  <a:pt x="5017943" y="76197"/>
                </a:cubicBezTo>
                <a:lnTo>
                  <a:pt x="5017943" y="588820"/>
                </a:lnTo>
                <a:cubicBezTo>
                  <a:pt x="5017943" y="630903"/>
                  <a:pt x="4983828" y="665018"/>
                  <a:pt x="4941745" y="665018"/>
                </a:cubicBezTo>
                <a:lnTo>
                  <a:pt x="76197" y="665018"/>
                </a:lnTo>
                <a:cubicBezTo>
                  <a:pt x="34115" y="665018"/>
                  <a:pt x="0" y="630903"/>
                  <a:pt x="0" y="588820"/>
                </a:cubicBezTo>
                <a:lnTo>
                  <a:pt x="0" y="76197"/>
                </a:lnTo>
                <a:cubicBezTo>
                  <a:pt x="0" y="34143"/>
                  <a:pt x="34143" y="0"/>
                  <a:pt x="76197" y="0"/>
                </a:cubicBezTo>
                <a:close/>
              </a:path>
            </a:pathLst>
          </a:custGeom>
          <a:no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32" name="AutoShape 32"/>
          <p:cNvSpPr/>
          <p:nvPr/>
        </p:nvSpPr>
        <p:spPr>
          <a:xfrm>
            <a:off x="6643011" y="3705132"/>
            <a:ext cx="48482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生成第2个词</a:t>
            </a:r>
            <a:endParaRPr lang="en-US" sz="1100"/>
          </a:p>
        </p:txBody>
      </p:sp>
      <p:sp>
        <p:nvSpPr>
          <p:cNvPr id="33" name="AutoShape 33"/>
          <p:cNvSpPr/>
          <p:nvPr/>
        </p:nvSpPr>
        <p:spPr>
          <a:xfrm>
            <a:off x="6643011" y="3933658"/>
            <a:ext cx="483870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读取缓存 + 计算新词</a:t>
            </a:r>
            <a:endParaRPr lang="en-US" sz="1100"/>
          </a:p>
        </p:txBody>
      </p:sp>
      <p:sp>
        <p:nvSpPr>
          <p:cNvPr id="34" name="Freeform 34"/>
          <p:cNvSpPr/>
          <p:nvPr/>
        </p:nvSpPr>
        <p:spPr>
          <a:xfrm>
            <a:off x="6520160" y="4378513"/>
            <a:ext cx="5017943" cy="665018"/>
          </a:xfrm>
          <a:custGeom>
            <a:avLst/>
            <a:gdLst/>
            <a:ahLst/>
            <a:cxnLst/>
            <a:rect l="l" t="t" r="r" b="b"/>
            <a:pathLst>
              <a:path w="5017943" h="665018">
                <a:moveTo>
                  <a:pt x="76197" y="0"/>
                </a:moveTo>
                <a:lnTo>
                  <a:pt x="4941745" y="0"/>
                </a:lnTo>
                <a:cubicBezTo>
                  <a:pt x="4983828" y="0"/>
                  <a:pt x="5017943" y="34115"/>
                  <a:pt x="5017943" y="76197"/>
                </a:cubicBezTo>
                <a:lnTo>
                  <a:pt x="5017943" y="588820"/>
                </a:lnTo>
                <a:cubicBezTo>
                  <a:pt x="5017943" y="630903"/>
                  <a:pt x="4983828" y="665018"/>
                  <a:pt x="4941745" y="665018"/>
                </a:cubicBezTo>
                <a:lnTo>
                  <a:pt x="76197" y="665018"/>
                </a:lnTo>
                <a:cubicBezTo>
                  <a:pt x="34115" y="665018"/>
                  <a:pt x="0" y="630903"/>
                  <a:pt x="0" y="588820"/>
                </a:cubicBezTo>
                <a:lnTo>
                  <a:pt x="0" y="76197"/>
                </a:lnTo>
                <a:cubicBezTo>
                  <a:pt x="0" y="34143"/>
                  <a:pt x="34143" y="0"/>
                  <a:pt x="76197" y="0"/>
                </a:cubicBezTo>
                <a:close/>
              </a:path>
            </a:pathLst>
          </a:custGeom>
          <a:no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35" name="AutoShape 35"/>
          <p:cNvSpPr/>
          <p:nvPr/>
        </p:nvSpPr>
        <p:spPr>
          <a:xfrm>
            <a:off x="6643011" y="4501362"/>
            <a:ext cx="48482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生成第3个词</a:t>
            </a:r>
            <a:endParaRPr lang="en-US" sz="1100"/>
          </a:p>
        </p:txBody>
      </p:sp>
      <p:sp>
        <p:nvSpPr>
          <p:cNvPr id="36" name="AutoShape 36"/>
          <p:cNvSpPr/>
          <p:nvPr/>
        </p:nvSpPr>
        <p:spPr>
          <a:xfrm>
            <a:off x="6643011" y="4729888"/>
            <a:ext cx="483870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读取缓存 + 计算新词</a:t>
            </a:r>
            <a:endParaRPr lang="en-US" sz="1100"/>
          </a:p>
        </p:txBody>
      </p:sp>
      <p:sp>
        <p:nvSpPr>
          <p:cNvPr id="37" name="Freeform 37"/>
          <p:cNvSpPr/>
          <p:nvPr/>
        </p:nvSpPr>
        <p:spPr>
          <a:xfrm>
            <a:off x="8503973" y="5232685"/>
            <a:ext cx="151827" cy="183840"/>
          </a:xfrm>
          <a:custGeom>
            <a:avLst/>
            <a:gdLst/>
            <a:ahLst/>
            <a:cxnLst/>
            <a:rect l="l" t="t" r="r" b="b"/>
            <a:pathLst>
              <a:path w="151827" h="183840">
                <a:moveTo>
                  <a:pt x="114356" y="2880"/>
                </a:moveTo>
                <a:cubicBezTo>
                  <a:pt x="118341" y="5759"/>
                  <a:pt x="119814" y="10984"/>
                  <a:pt x="118006" y="15538"/>
                </a:cubicBezTo>
                <a:lnTo>
                  <a:pt x="91752" y="81204"/>
                </a:lnTo>
                <a:lnTo>
                  <a:pt x="140206" y="81204"/>
                </a:lnTo>
                <a:cubicBezTo>
                  <a:pt x="144728" y="81204"/>
                  <a:pt x="148746" y="84017"/>
                  <a:pt x="150286" y="88270"/>
                </a:cubicBezTo>
                <a:cubicBezTo>
                  <a:pt x="151827" y="92523"/>
                  <a:pt x="150521" y="97278"/>
                  <a:pt x="147072" y="100158"/>
                </a:cubicBezTo>
                <a:lnTo>
                  <a:pt x="50631" y="180525"/>
                </a:lnTo>
                <a:cubicBezTo>
                  <a:pt x="46848" y="183672"/>
                  <a:pt x="41456" y="183840"/>
                  <a:pt x="37471" y="180960"/>
                </a:cubicBezTo>
                <a:cubicBezTo>
                  <a:pt x="33486" y="178081"/>
                  <a:pt x="32013" y="172856"/>
                  <a:pt x="33821" y="168302"/>
                </a:cubicBezTo>
                <a:lnTo>
                  <a:pt x="60075" y="102636"/>
                </a:lnTo>
                <a:lnTo>
                  <a:pt x="11620" y="102636"/>
                </a:lnTo>
                <a:cubicBezTo>
                  <a:pt x="7099" y="102636"/>
                  <a:pt x="3081" y="99823"/>
                  <a:pt x="1540" y="95570"/>
                </a:cubicBezTo>
                <a:cubicBezTo>
                  <a:pt x="0" y="91317"/>
                  <a:pt x="1307" y="86562"/>
                  <a:pt x="4755" y="83682"/>
                </a:cubicBezTo>
                <a:lnTo>
                  <a:pt x="101196" y="3315"/>
                </a:lnTo>
                <a:cubicBezTo>
                  <a:pt x="104981" y="168"/>
                  <a:pt x="110370" y="0"/>
                  <a:pt x="114356" y="288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38" name="AutoShape 38"/>
          <p:cNvSpPr/>
          <p:nvPr/>
        </p:nvSpPr>
        <p:spPr>
          <a:xfrm>
            <a:off x="6744863" y="5204240"/>
            <a:ext cx="48482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耗时: 20%</a:t>
            </a:r>
            <a:endParaRPr lang="en-US" sz="1100"/>
          </a:p>
        </p:txBody>
      </p:sp>
      <p:sp>
        <p:nvSpPr>
          <p:cNvPr id="39" name="Freeform 39"/>
          <p:cNvSpPr/>
          <p:nvPr/>
        </p:nvSpPr>
        <p:spPr>
          <a:xfrm>
            <a:off x="381000" y="5886283"/>
            <a:ext cx="11430000" cy="590550"/>
          </a:xfrm>
          <a:custGeom>
            <a:avLst/>
            <a:gdLst/>
            <a:ahLst/>
            <a:cxnLst/>
            <a:rect l="l" t="t" r="r" b="b"/>
            <a:pathLst>
              <a:path w="11430000" h="590550">
                <a:moveTo>
                  <a:pt x="76199" y="0"/>
                </a:moveTo>
                <a:lnTo>
                  <a:pt x="11353801" y="0"/>
                </a:lnTo>
                <a:cubicBezTo>
                  <a:pt x="11395885" y="0"/>
                  <a:pt x="11430000" y="34115"/>
                  <a:pt x="11430000" y="76199"/>
                </a:cubicBezTo>
                <a:lnTo>
                  <a:pt x="11430000" y="514351"/>
                </a:lnTo>
                <a:cubicBezTo>
                  <a:pt x="11430000" y="556435"/>
                  <a:pt x="11395885" y="590550"/>
                  <a:pt x="11353801" y="590550"/>
                </a:cubicBezTo>
                <a:lnTo>
                  <a:pt x="76199" y="590550"/>
                </a:lnTo>
                <a:cubicBezTo>
                  <a:pt x="34115" y="590550"/>
                  <a:pt x="0" y="556435"/>
                  <a:pt x="0" y="514351"/>
                </a:cubicBezTo>
                <a:lnTo>
                  <a:pt x="0" y="76199"/>
                </a:lnTo>
                <a:cubicBezTo>
                  <a:pt x="0" y="34143"/>
                  <a:pt x="34143" y="0"/>
                  <a:pt x="76199"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0" name="AutoShape 40"/>
          <p:cNvSpPr/>
          <p:nvPr/>
        </p:nvSpPr>
        <p:spPr>
          <a:xfrm>
            <a:off x="609519" y="6048245"/>
            <a:ext cx="69659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KV Cache（键值缓存）</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缓存历史词的Key和Value矩阵，避免重复计算，加速生成</a:t>
            </a:r>
            <a:endParaRPr lang="en-US" sz="1100"/>
          </a:p>
        </p:txBody>
      </p:sp>
    </p:spTree>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61870"/>
            <a:ext cx="11658600" cy="6858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3600" b="0" i="0" u="none" strike="noStrike">
                <a:solidFill>
                  <a:srgbClr val="5B92E5"/>
                </a:solidFill>
                <a:latin typeface="Alimama ShuHeiTi"/>
                <a:ea typeface="Alimama ShuHeiTi"/>
                <a:cs typeface="Alimama ShuHeiTi"/>
                <a:sym typeface="Alimama ShuHeiTi"/>
              </a:rPr>
              <a:t>Step 3 预测：计算概率</a:t>
            </a:r>
            <a:endParaRPr lang="en-US" sz="1100"/>
          </a:p>
        </p:txBody>
      </p:sp>
      <p:sp>
        <p:nvSpPr>
          <p:cNvPr id="10" name="Freeform 10"/>
          <p:cNvSpPr/>
          <p:nvPr/>
        </p:nvSpPr>
        <p:spPr>
          <a:xfrm>
            <a:off x="3795658" y="2286130"/>
            <a:ext cx="1371600" cy="1371600"/>
          </a:xfrm>
          <a:custGeom>
            <a:avLst/>
            <a:gdLst/>
            <a:ahLst/>
            <a:cxnLst/>
            <a:rect l="l" t="t" r="r" b="b"/>
            <a:pathLst>
              <a:path w="1371600" h="1371600">
                <a:moveTo>
                  <a:pt x="685800" y="0"/>
                </a:moveTo>
                <a:lnTo>
                  <a:pt x="685800" y="0"/>
                </a:lnTo>
                <a:cubicBezTo>
                  <a:pt x="1064303" y="0"/>
                  <a:pt x="1371600" y="307297"/>
                  <a:pt x="1371600" y="685800"/>
                </a:cubicBezTo>
                <a:lnTo>
                  <a:pt x="1371600" y="685800"/>
                </a:lnTo>
                <a:cubicBezTo>
                  <a:pt x="1371600" y="1064303"/>
                  <a:pt x="1064303" y="1371600"/>
                  <a:pt x="685800" y="1371600"/>
                </a:cubicBezTo>
                <a:lnTo>
                  <a:pt x="685800" y="1371600"/>
                </a:lnTo>
                <a:cubicBezTo>
                  <a:pt x="307297" y="1371600"/>
                  <a:pt x="0" y="1064303"/>
                  <a:pt x="0" y="685800"/>
                </a:cubicBezTo>
                <a:lnTo>
                  <a:pt x="0" y="685800"/>
                </a:lnTo>
                <a:cubicBezTo>
                  <a:pt x="0" y="307297"/>
                  <a:pt x="307297" y="0"/>
                  <a:pt x="6858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4259894" y="2743312"/>
            <a:ext cx="442912" cy="457200"/>
          </a:xfrm>
          <a:custGeom>
            <a:avLst/>
            <a:gdLst/>
            <a:ahLst/>
            <a:cxnLst/>
            <a:rect l="l" t="t" r="r" b="b"/>
            <a:pathLst>
              <a:path w="442912" h="457200">
                <a:moveTo>
                  <a:pt x="100012" y="50006"/>
                </a:moveTo>
                <a:cubicBezTo>
                  <a:pt x="100012" y="22414"/>
                  <a:pt x="122426" y="0"/>
                  <a:pt x="150018" y="0"/>
                </a:cubicBezTo>
                <a:lnTo>
                  <a:pt x="171450" y="0"/>
                </a:lnTo>
                <a:cubicBezTo>
                  <a:pt x="187255" y="0"/>
                  <a:pt x="200025" y="12769"/>
                  <a:pt x="200025" y="28575"/>
                </a:cubicBezTo>
                <a:lnTo>
                  <a:pt x="200025" y="428625"/>
                </a:lnTo>
                <a:cubicBezTo>
                  <a:pt x="200025" y="444431"/>
                  <a:pt x="187255" y="457200"/>
                  <a:pt x="171450" y="457200"/>
                </a:cubicBezTo>
                <a:lnTo>
                  <a:pt x="142875" y="457200"/>
                </a:lnTo>
                <a:cubicBezTo>
                  <a:pt x="116264" y="457200"/>
                  <a:pt x="93851" y="438983"/>
                  <a:pt x="87510" y="414338"/>
                </a:cubicBezTo>
                <a:cubicBezTo>
                  <a:pt x="86886" y="414338"/>
                  <a:pt x="86350" y="414338"/>
                  <a:pt x="85725" y="414338"/>
                </a:cubicBezTo>
                <a:cubicBezTo>
                  <a:pt x="46256" y="414338"/>
                  <a:pt x="14287" y="382369"/>
                  <a:pt x="14287" y="342900"/>
                </a:cubicBezTo>
                <a:cubicBezTo>
                  <a:pt x="14287" y="326827"/>
                  <a:pt x="19645" y="312003"/>
                  <a:pt x="28575" y="300038"/>
                </a:cubicBezTo>
                <a:cubicBezTo>
                  <a:pt x="11251" y="287000"/>
                  <a:pt x="0" y="266283"/>
                  <a:pt x="0" y="242888"/>
                </a:cubicBezTo>
                <a:cubicBezTo>
                  <a:pt x="0" y="215295"/>
                  <a:pt x="15716" y="191273"/>
                  <a:pt x="38576" y="179396"/>
                </a:cubicBezTo>
                <a:cubicBezTo>
                  <a:pt x="32236" y="168681"/>
                  <a:pt x="28575" y="156180"/>
                  <a:pt x="28575" y="142875"/>
                </a:cubicBezTo>
                <a:cubicBezTo>
                  <a:pt x="28575" y="103406"/>
                  <a:pt x="60543" y="71438"/>
                  <a:pt x="100012" y="71438"/>
                </a:cubicBezTo>
                <a:lnTo>
                  <a:pt x="100012" y="50006"/>
                </a:lnTo>
                <a:close/>
                <a:moveTo>
                  <a:pt x="342900" y="50006"/>
                </a:moveTo>
                <a:lnTo>
                  <a:pt x="342900" y="71438"/>
                </a:lnTo>
                <a:cubicBezTo>
                  <a:pt x="382369" y="71438"/>
                  <a:pt x="414337" y="103406"/>
                  <a:pt x="414337" y="142875"/>
                </a:cubicBezTo>
                <a:cubicBezTo>
                  <a:pt x="414337" y="156270"/>
                  <a:pt x="410676" y="168772"/>
                  <a:pt x="404336" y="179396"/>
                </a:cubicBezTo>
                <a:cubicBezTo>
                  <a:pt x="427285" y="191273"/>
                  <a:pt x="442912" y="215205"/>
                  <a:pt x="442912" y="242888"/>
                </a:cubicBezTo>
                <a:cubicBezTo>
                  <a:pt x="442912" y="266283"/>
                  <a:pt x="431661" y="287000"/>
                  <a:pt x="414337" y="300038"/>
                </a:cubicBezTo>
                <a:cubicBezTo>
                  <a:pt x="423267" y="312003"/>
                  <a:pt x="428625" y="326827"/>
                  <a:pt x="428625" y="342900"/>
                </a:cubicBezTo>
                <a:cubicBezTo>
                  <a:pt x="428625" y="382369"/>
                  <a:pt x="396656" y="414338"/>
                  <a:pt x="357187" y="414338"/>
                </a:cubicBezTo>
                <a:cubicBezTo>
                  <a:pt x="356562" y="414338"/>
                  <a:pt x="356026" y="414338"/>
                  <a:pt x="355402" y="414338"/>
                </a:cubicBezTo>
                <a:cubicBezTo>
                  <a:pt x="349061" y="438983"/>
                  <a:pt x="326648" y="457200"/>
                  <a:pt x="300037" y="457200"/>
                </a:cubicBezTo>
                <a:lnTo>
                  <a:pt x="271462" y="457200"/>
                </a:lnTo>
                <a:cubicBezTo>
                  <a:pt x="255657" y="457200"/>
                  <a:pt x="242887" y="444431"/>
                  <a:pt x="242887" y="428625"/>
                </a:cubicBezTo>
                <a:lnTo>
                  <a:pt x="242887" y="28575"/>
                </a:lnTo>
                <a:cubicBezTo>
                  <a:pt x="242887" y="12769"/>
                  <a:pt x="255657" y="0"/>
                  <a:pt x="271462" y="0"/>
                </a:cubicBezTo>
                <a:lnTo>
                  <a:pt x="292894" y="0"/>
                </a:lnTo>
                <a:cubicBezTo>
                  <a:pt x="320486" y="0"/>
                  <a:pt x="342900" y="22414"/>
                  <a:pt x="342900" y="50006"/>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3848966" y="3848156"/>
            <a:ext cx="138112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3.1 选词策略</a:t>
            </a:r>
            <a:endParaRPr lang="en-US" sz="1100"/>
          </a:p>
        </p:txBody>
      </p:sp>
      <p:sp>
        <p:nvSpPr>
          <p:cNvPr id="13" name="AutoShape 13"/>
          <p:cNvSpPr/>
          <p:nvPr/>
        </p:nvSpPr>
        <p:spPr>
          <a:xfrm>
            <a:off x="4062250" y="4343214"/>
            <a:ext cx="8382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思维链推理</a:t>
            </a:r>
            <a:endParaRPr lang="en-US" sz="1100"/>
          </a:p>
        </p:txBody>
      </p:sp>
      <p:sp>
        <p:nvSpPr>
          <p:cNvPr id="14" name="Freeform 14"/>
          <p:cNvSpPr/>
          <p:nvPr/>
        </p:nvSpPr>
        <p:spPr>
          <a:xfrm>
            <a:off x="5819558" y="3393407"/>
            <a:ext cx="344976" cy="261463"/>
          </a:xfrm>
          <a:custGeom>
            <a:avLst/>
            <a:gdLst/>
            <a:ahLst/>
            <a:cxnLst/>
            <a:rect l="l" t="t" r="r" b="b"/>
            <a:pathLst>
              <a:path w="344976" h="261463">
                <a:moveTo>
                  <a:pt x="336605" y="145867"/>
                </a:moveTo>
                <a:cubicBezTo>
                  <a:pt x="344976" y="137495"/>
                  <a:pt x="344976" y="123900"/>
                  <a:pt x="336605" y="115528"/>
                </a:cubicBezTo>
                <a:lnTo>
                  <a:pt x="229448" y="8372"/>
                </a:lnTo>
                <a:cubicBezTo>
                  <a:pt x="221077" y="0"/>
                  <a:pt x="207481" y="0"/>
                  <a:pt x="199111" y="8372"/>
                </a:cubicBezTo>
                <a:cubicBezTo>
                  <a:pt x="190737" y="16743"/>
                  <a:pt x="190737" y="30339"/>
                  <a:pt x="199111" y="38711"/>
                </a:cubicBezTo>
                <a:lnTo>
                  <a:pt x="269698" y="109300"/>
                </a:lnTo>
                <a:lnTo>
                  <a:pt x="21431" y="109300"/>
                </a:lnTo>
                <a:cubicBezTo>
                  <a:pt x="9577" y="109300"/>
                  <a:pt x="0" y="118877"/>
                  <a:pt x="0" y="130731"/>
                </a:cubicBezTo>
                <a:cubicBezTo>
                  <a:pt x="0" y="142585"/>
                  <a:pt x="9577" y="152162"/>
                  <a:pt x="21431" y="152162"/>
                </a:cubicBezTo>
                <a:lnTo>
                  <a:pt x="269698" y="152162"/>
                </a:lnTo>
                <a:lnTo>
                  <a:pt x="199111" y="222751"/>
                </a:lnTo>
                <a:cubicBezTo>
                  <a:pt x="190737" y="231123"/>
                  <a:pt x="190737" y="244719"/>
                  <a:pt x="199111" y="253090"/>
                </a:cubicBezTo>
                <a:cubicBezTo>
                  <a:pt x="207481" y="261462"/>
                  <a:pt x="221077" y="261462"/>
                  <a:pt x="229448" y="253090"/>
                </a:cubicBezTo>
                <a:lnTo>
                  <a:pt x="336605" y="145934"/>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6919831" y="2286130"/>
            <a:ext cx="1371600" cy="1371600"/>
          </a:xfrm>
          <a:custGeom>
            <a:avLst/>
            <a:gdLst/>
            <a:ahLst/>
            <a:cxnLst/>
            <a:rect l="l" t="t" r="r" b="b"/>
            <a:pathLst>
              <a:path w="1371600" h="1371600">
                <a:moveTo>
                  <a:pt x="685800" y="0"/>
                </a:moveTo>
                <a:lnTo>
                  <a:pt x="685800" y="0"/>
                </a:lnTo>
                <a:cubicBezTo>
                  <a:pt x="1064303" y="0"/>
                  <a:pt x="1371600" y="307297"/>
                  <a:pt x="1371600" y="685800"/>
                </a:cubicBezTo>
                <a:lnTo>
                  <a:pt x="1371600" y="685800"/>
                </a:lnTo>
                <a:cubicBezTo>
                  <a:pt x="1371600" y="1064303"/>
                  <a:pt x="1064303" y="1371600"/>
                  <a:pt x="685800" y="1371600"/>
                </a:cubicBezTo>
                <a:lnTo>
                  <a:pt x="685800" y="1371600"/>
                </a:lnTo>
                <a:cubicBezTo>
                  <a:pt x="307297" y="1371600"/>
                  <a:pt x="0" y="1064303"/>
                  <a:pt x="0" y="685800"/>
                </a:cubicBezTo>
                <a:lnTo>
                  <a:pt x="0" y="685800"/>
                </a:lnTo>
                <a:cubicBezTo>
                  <a:pt x="0" y="307297"/>
                  <a:pt x="307297" y="0"/>
                  <a:pt x="6858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7376923" y="2769565"/>
            <a:ext cx="457289" cy="404603"/>
          </a:xfrm>
          <a:custGeom>
            <a:avLst/>
            <a:gdLst/>
            <a:ahLst/>
            <a:cxnLst/>
            <a:rect l="l" t="t" r="r" b="b"/>
            <a:pathLst>
              <a:path w="457289" h="404603">
                <a:moveTo>
                  <a:pt x="360581" y="4464"/>
                </a:moveTo>
                <a:cubicBezTo>
                  <a:pt x="371296" y="0"/>
                  <a:pt x="383530" y="2501"/>
                  <a:pt x="391745" y="10627"/>
                </a:cubicBezTo>
                <a:lnTo>
                  <a:pt x="448895" y="67777"/>
                </a:lnTo>
                <a:cubicBezTo>
                  <a:pt x="454254" y="73133"/>
                  <a:pt x="457289" y="80367"/>
                  <a:pt x="457289" y="87958"/>
                </a:cubicBezTo>
                <a:cubicBezTo>
                  <a:pt x="457289" y="95548"/>
                  <a:pt x="454254" y="102782"/>
                  <a:pt x="448895" y="108138"/>
                </a:cubicBezTo>
                <a:lnTo>
                  <a:pt x="391745" y="165288"/>
                </a:lnTo>
                <a:cubicBezTo>
                  <a:pt x="383530" y="173504"/>
                  <a:pt x="371296" y="175914"/>
                  <a:pt x="360581" y="171450"/>
                </a:cubicBezTo>
                <a:cubicBezTo>
                  <a:pt x="349865" y="166985"/>
                  <a:pt x="342900" y="156716"/>
                  <a:pt x="342900" y="145197"/>
                </a:cubicBezTo>
                <a:lnTo>
                  <a:pt x="342900" y="116622"/>
                </a:lnTo>
                <a:lnTo>
                  <a:pt x="314325" y="116622"/>
                </a:lnTo>
                <a:cubicBezTo>
                  <a:pt x="305305" y="116622"/>
                  <a:pt x="296823" y="120819"/>
                  <a:pt x="291465" y="128052"/>
                </a:cubicBezTo>
                <a:lnTo>
                  <a:pt x="262533" y="166628"/>
                </a:lnTo>
                <a:lnTo>
                  <a:pt x="226814" y="119032"/>
                </a:lnTo>
                <a:lnTo>
                  <a:pt x="245745" y="93762"/>
                </a:lnTo>
                <a:cubicBezTo>
                  <a:pt x="261908" y="72152"/>
                  <a:pt x="287357" y="59472"/>
                  <a:pt x="314325" y="59472"/>
                </a:cubicBezTo>
                <a:lnTo>
                  <a:pt x="342900" y="59472"/>
                </a:lnTo>
                <a:lnTo>
                  <a:pt x="342900" y="30897"/>
                </a:lnTo>
                <a:cubicBezTo>
                  <a:pt x="342900" y="19378"/>
                  <a:pt x="349865" y="8930"/>
                  <a:pt x="360581" y="4464"/>
                </a:cubicBezTo>
                <a:close/>
                <a:moveTo>
                  <a:pt x="137517" y="238066"/>
                </a:moveTo>
                <a:lnTo>
                  <a:pt x="173236" y="285662"/>
                </a:lnTo>
                <a:lnTo>
                  <a:pt x="154305" y="310932"/>
                </a:lnTo>
                <a:cubicBezTo>
                  <a:pt x="138142" y="332542"/>
                  <a:pt x="112693" y="345222"/>
                  <a:pt x="85725" y="345222"/>
                </a:cubicBezTo>
                <a:lnTo>
                  <a:pt x="28575" y="345222"/>
                </a:lnTo>
                <a:cubicBezTo>
                  <a:pt x="12769" y="345222"/>
                  <a:pt x="0" y="332453"/>
                  <a:pt x="0" y="316647"/>
                </a:cubicBezTo>
                <a:cubicBezTo>
                  <a:pt x="0" y="300841"/>
                  <a:pt x="12769" y="288072"/>
                  <a:pt x="28575" y="288072"/>
                </a:cubicBezTo>
                <a:lnTo>
                  <a:pt x="85725" y="288072"/>
                </a:lnTo>
                <a:cubicBezTo>
                  <a:pt x="94745" y="288072"/>
                  <a:pt x="103227" y="283875"/>
                  <a:pt x="108585" y="276642"/>
                </a:cubicBezTo>
                <a:lnTo>
                  <a:pt x="137517" y="238066"/>
                </a:lnTo>
                <a:close/>
                <a:moveTo>
                  <a:pt x="391657" y="393979"/>
                </a:moveTo>
                <a:cubicBezTo>
                  <a:pt x="383441" y="402193"/>
                  <a:pt x="371207" y="404603"/>
                  <a:pt x="360491" y="400141"/>
                </a:cubicBezTo>
                <a:cubicBezTo>
                  <a:pt x="349776" y="395675"/>
                  <a:pt x="342900" y="385316"/>
                  <a:pt x="342900" y="373797"/>
                </a:cubicBezTo>
                <a:lnTo>
                  <a:pt x="342900" y="345222"/>
                </a:lnTo>
                <a:lnTo>
                  <a:pt x="314325" y="345222"/>
                </a:lnTo>
                <a:cubicBezTo>
                  <a:pt x="287357" y="345222"/>
                  <a:pt x="261908" y="332542"/>
                  <a:pt x="245745" y="310932"/>
                </a:cubicBezTo>
                <a:lnTo>
                  <a:pt x="108585" y="128052"/>
                </a:lnTo>
                <a:cubicBezTo>
                  <a:pt x="103227" y="120819"/>
                  <a:pt x="94745" y="116622"/>
                  <a:pt x="85725" y="116622"/>
                </a:cubicBezTo>
                <a:lnTo>
                  <a:pt x="28575" y="116622"/>
                </a:lnTo>
                <a:cubicBezTo>
                  <a:pt x="12769" y="116622"/>
                  <a:pt x="0" y="103853"/>
                  <a:pt x="0" y="88047"/>
                </a:cubicBezTo>
                <a:cubicBezTo>
                  <a:pt x="0" y="72241"/>
                  <a:pt x="12769" y="59472"/>
                  <a:pt x="28575" y="59472"/>
                </a:cubicBezTo>
                <a:lnTo>
                  <a:pt x="85725" y="59472"/>
                </a:lnTo>
                <a:cubicBezTo>
                  <a:pt x="112693" y="59472"/>
                  <a:pt x="138142" y="72152"/>
                  <a:pt x="154305" y="93762"/>
                </a:cubicBezTo>
                <a:lnTo>
                  <a:pt x="291465" y="276642"/>
                </a:lnTo>
                <a:cubicBezTo>
                  <a:pt x="296823" y="283875"/>
                  <a:pt x="305305" y="288072"/>
                  <a:pt x="314325" y="288072"/>
                </a:cubicBezTo>
                <a:lnTo>
                  <a:pt x="342900" y="288072"/>
                </a:lnTo>
                <a:lnTo>
                  <a:pt x="342900" y="259497"/>
                </a:lnTo>
                <a:cubicBezTo>
                  <a:pt x="342900" y="247978"/>
                  <a:pt x="349865" y="237530"/>
                  <a:pt x="360581" y="233064"/>
                </a:cubicBezTo>
                <a:cubicBezTo>
                  <a:pt x="371296" y="228600"/>
                  <a:pt x="383530" y="231101"/>
                  <a:pt x="391745" y="239227"/>
                </a:cubicBezTo>
                <a:lnTo>
                  <a:pt x="448895" y="296377"/>
                </a:lnTo>
                <a:cubicBezTo>
                  <a:pt x="454254" y="301733"/>
                  <a:pt x="457289" y="308967"/>
                  <a:pt x="457289" y="316558"/>
                </a:cubicBezTo>
                <a:cubicBezTo>
                  <a:pt x="457289" y="324148"/>
                  <a:pt x="454254" y="331382"/>
                  <a:pt x="448895" y="336738"/>
                </a:cubicBezTo>
                <a:lnTo>
                  <a:pt x="391745" y="393888"/>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6953791" y="3848156"/>
            <a:ext cx="141922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3.2 技术实现</a:t>
            </a:r>
            <a:endParaRPr lang="en-US" sz="1100"/>
          </a:p>
        </p:txBody>
      </p:sp>
      <p:sp>
        <p:nvSpPr>
          <p:cNvPr id="18" name="AutoShape 18"/>
          <p:cNvSpPr/>
          <p:nvPr/>
        </p:nvSpPr>
        <p:spPr>
          <a:xfrm>
            <a:off x="7262596" y="4343214"/>
            <a:ext cx="685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概率采样</a:t>
            </a:r>
            <a:endParaRPr lang="en-US" sz="1100"/>
          </a:p>
        </p:txBody>
      </p:sp>
      <p:sp>
        <p:nvSpPr>
          <p:cNvPr id="19" name="Freeform 19"/>
          <p:cNvSpPr/>
          <p:nvPr/>
        </p:nvSpPr>
        <p:spPr>
          <a:xfrm>
            <a:off x="381000" y="5219402"/>
            <a:ext cx="11430000" cy="723900"/>
          </a:xfrm>
          <a:custGeom>
            <a:avLst/>
            <a:gdLst/>
            <a:ahLst/>
            <a:cxnLst/>
            <a:rect l="l" t="t" r="r" b="b"/>
            <a:pathLst>
              <a:path w="11430000" h="723900">
                <a:moveTo>
                  <a:pt x="152403" y="0"/>
                </a:moveTo>
                <a:lnTo>
                  <a:pt x="11277597" y="0"/>
                </a:lnTo>
                <a:cubicBezTo>
                  <a:pt x="11361767" y="0"/>
                  <a:pt x="11430000" y="68233"/>
                  <a:pt x="11430000" y="152403"/>
                </a:cubicBezTo>
                <a:lnTo>
                  <a:pt x="11430000" y="571497"/>
                </a:lnTo>
                <a:cubicBezTo>
                  <a:pt x="11430000" y="655667"/>
                  <a:pt x="11361767" y="723900"/>
                  <a:pt x="11277597" y="723900"/>
                </a:cubicBezTo>
                <a:lnTo>
                  <a:pt x="152403" y="723900"/>
                </a:lnTo>
                <a:cubicBezTo>
                  <a:pt x="68233" y="723900"/>
                  <a:pt x="0" y="655667"/>
                  <a:pt x="0" y="571497"/>
                </a:cubicBezTo>
                <a:lnTo>
                  <a:pt x="0" y="152403"/>
                </a:lnTo>
                <a:cubicBezTo>
                  <a:pt x="0" y="68289"/>
                  <a:pt x="68289" y="0"/>
                  <a:pt x="152403"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algn="ctr">
              <a:defRPr/>
            </a:pPr>
          </a:p>
        </p:txBody>
      </p:sp>
      <p:sp>
        <p:nvSpPr>
          <p:cNvPr id="20" name="AutoShape 20"/>
          <p:cNvSpPr/>
          <p:nvPr/>
        </p:nvSpPr>
        <p:spPr>
          <a:xfrm>
            <a:off x="561894" y="5447909"/>
            <a:ext cx="110680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基于前面步骤提取的语义特征，计算每个候选词的</a:t>
            </a: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概率分布</a:t>
            </a: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，然后选择合适的词</a:t>
            </a:r>
            <a:endParaRPr lang="en-US" sz="1100"/>
          </a:p>
        </p:txBody>
      </p:sp>
    </p:spTree>
  </p:cSld>
  <p:clrMapOvr>
    <a:masterClrMapping/>
  </p:clrMapOvr>
  <p:transition spd="slow">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6187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3.1 选词策略</a:t>
            </a:r>
            <a:endParaRPr lang="en-US" sz="1100"/>
          </a:p>
        </p:txBody>
      </p:sp>
      <p:sp>
        <p:nvSpPr>
          <p:cNvPr id="10" name="AutoShape 10"/>
          <p:cNvSpPr/>
          <p:nvPr/>
        </p:nvSpPr>
        <p:spPr>
          <a:xfrm>
            <a:off x="333375" y="1600033"/>
            <a:ext cx="11525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通过思维链（CoT）让模型先生成中间推理步骤，再给出最终答案</a:t>
            </a:r>
            <a:endParaRPr lang="en-US" sz="1100"/>
          </a:p>
        </p:txBody>
      </p:sp>
      <p:sp>
        <p:nvSpPr>
          <p:cNvPr id="11" name="Freeform 11"/>
          <p:cNvSpPr/>
          <p:nvPr/>
        </p:nvSpPr>
        <p:spPr>
          <a:xfrm>
            <a:off x="381000" y="2095221"/>
            <a:ext cx="11430000" cy="2362200"/>
          </a:xfrm>
          <a:custGeom>
            <a:avLst/>
            <a:gdLst/>
            <a:ahLst/>
            <a:cxnLst/>
            <a:rect l="l" t="t" r="r" b="b"/>
            <a:pathLst>
              <a:path w="11430000" h="2362200">
                <a:moveTo>
                  <a:pt x="152409" y="0"/>
                </a:moveTo>
                <a:lnTo>
                  <a:pt x="11277591" y="0"/>
                </a:lnTo>
                <a:cubicBezTo>
                  <a:pt x="11361708" y="0"/>
                  <a:pt x="11430000" y="68292"/>
                  <a:pt x="11430000" y="152409"/>
                </a:cubicBezTo>
                <a:lnTo>
                  <a:pt x="11430000" y="2209791"/>
                </a:lnTo>
                <a:cubicBezTo>
                  <a:pt x="11430000" y="2293964"/>
                  <a:pt x="11361764" y="2362200"/>
                  <a:pt x="11277591" y="2362200"/>
                </a:cubicBezTo>
                <a:lnTo>
                  <a:pt x="152409" y="2362200"/>
                </a:lnTo>
                <a:cubicBezTo>
                  <a:pt x="68292" y="2362200"/>
                  <a:pt x="0" y="2293908"/>
                  <a:pt x="0" y="2209791"/>
                </a:cubicBezTo>
                <a:lnTo>
                  <a:pt x="0" y="152409"/>
                </a:lnTo>
                <a:cubicBezTo>
                  <a:pt x="0" y="68292"/>
                  <a:pt x="68292" y="0"/>
                  <a:pt x="152409"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609519" y="2323747"/>
            <a:ext cx="609600" cy="381000"/>
          </a:xfrm>
          <a:custGeom>
            <a:avLst/>
            <a:gdLst/>
            <a:ahLst/>
            <a:cxnLst/>
            <a:rect l="l" t="t" r="r" b="b"/>
            <a:pathLst>
              <a:path w="609600" h="381000">
                <a:moveTo>
                  <a:pt x="76200" y="0"/>
                </a:moveTo>
                <a:lnTo>
                  <a:pt x="533400" y="0"/>
                </a:lnTo>
                <a:cubicBezTo>
                  <a:pt x="575456" y="0"/>
                  <a:pt x="609600" y="34144"/>
                  <a:pt x="609600" y="76200"/>
                </a:cubicBezTo>
                <a:lnTo>
                  <a:pt x="609600" y="304800"/>
                </a:lnTo>
                <a:cubicBezTo>
                  <a:pt x="609600" y="346856"/>
                  <a:pt x="575456" y="381000"/>
                  <a:pt x="533400" y="381000"/>
                </a:cubicBezTo>
                <a:lnTo>
                  <a:pt x="76200" y="381000"/>
                </a:lnTo>
                <a:cubicBezTo>
                  <a:pt x="34144" y="381000"/>
                  <a:pt x="0" y="346856"/>
                  <a:pt x="0" y="304800"/>
                </a:cubicBezTo>
                <a:lnTo>
                  <a:pt x="0" y="76200"/>
                </a:lnTo>
                <a:cubicBezTo>
                  <a:pt x="0" y="34144"/>
                  <a:pt x="34144" y="0"/>
                  <a:pt x="762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609519" y="2323747"/>
            <a:ext cx="685800" cy="381000"/>
          </a:xfrm>
          <a:prstGeom prst="rect">
            <a:avLst/>
          </a:prstGeom>
          <a:noFill/>
          <a:ln w="12700">
            <a:noFill/>
            <a:prstDash val="solid"/>
          </a:ln>
        </p:spPr>
        <p:txBody>
          <a:bodyPr wrap="square" lIns="152400" tIns="76200" rIns="152400" bIns="76200" rtlCol="0" anchor="ctr">
            <a:noAutofit/>
          </a:bodyPr>
          <a:lstStyle/>
          <a:p>
            <a:pPr indent="0" algn="l">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输入</a:t>
            </a:r>
            <a:endParaRPr lang="en-US" sz="1100"/>
          </a:p>
        </p:txBody>
      </p:sp>
      <p:sp>
        <p:nvSpPr>
          <p:cNvPr id="14" name="AutoShape 14"/>
          <p:cNvSpPr/>
          <p:nvPr/>
        </p:nvSpPr>
        <p:spPr>
          <a:xfrm>
            <a:off x="1371383" y="2323747"/>
            <a:ext cx="2933700" cy="304800"/>
          </a:xfrm>
          <a:prstGeom prst="rect">
            <a:avLst/>
          </a:prstGeom>
          <a:noFill/>
          <a:ln w="12700">
            <a:noFill/>
            <a:prstDash val="solid"/>
          </a:ln>
        </p:spPr>
        <p:txBody>
          <a:bodyPr wrap="square" lIns="0" tIns="38100" rIns="0" bIns="0" rtlCol="0" anchor="ctr">
            <a:noAutofit/>
          </a:bodyPr>
          <a:lstStyle/>
          <a:p>
            <a:pPr indent="0" algn="l">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"What is AI? Let's think step by step"</a:t>
            </a:r>
            <a:endParaRPr lang="en-US" sz="1100"/>
          </a:p>
        </p:txBody>
      </p:sp>
      <p:sp>
        <p:nvSpPr>
          <p:cNvPr id="15" name="Freeform 15"/>
          <p:cNvSpPr/>
          <p:nvPr/>
        </p:nvSpPr>
        <p:spPr>
          <a:xfrm>
            <a:off x="779183" y="2856960"/>
            <a:ext cx="34635" cy="838200"/>
          </a:xfrm>
          <a:custGeom>
            <a:avLst/>
            <a:gdLst/>
            <a:ahLst/>
            <a:cxnLst/>
            <a:rect l="l" t="t" r="r" b="b"/>
            <a:pathLst>
              <a:path w="34635" h="838200">
                <a:moveTo>
                  <a:pt x="0" y="0"/>
                </a:moveTo>
                <a:lnTo>
                  <a:pt x="34635" y="0"/>
                </a:lnTo>
                <a:lnTo>
                  <a:pt x="34635" y="838200"/>
                </a:lnTo>
                <a:lnTo>
                  <a:pt x="0" y="8382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948847" y="2856960"/>
            <a:ext cx="10706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AI stands for Artificial Intelligence</a:t>
            </a:r>
            <a:endParaRPr lang="en-US" sz="1100"/>
          </a:p>
        </p:txBody>
      </p:sp>
      <p:sp>
        <p:nvSpPr>
          <p:cNvPr id="17" name="AutoShape 17"/>
          <p:cNvSpPr/>
          <p:nvPr/>
        </p:nvSpPr>
        <p:spPr>
          <a:xfrm>
            <a:off x="948847" y="3161649"/>
            <a:ext cx="10706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It refers to machines simulating human intelligence</a:t>
            </a:r>
            <a:endParaRPr lang="en-US" sz="1100"/>
          </a:p>
        </p:txBody>
      </p:sp>
      <p:sp>
        <p:nvSpPr>
          <p:cNvPr id="18" name="AutoShape 18"/>
          <p:cNvSpPr/>
          <p:nvPr/>
        </p:nvSpPr>
        <p:spPr>
          <a:xfrm>
            <a:off x="948847" y="3466337"/>
            <a:ext cx="10706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This includes learning, reasoning, and problem-solving</a:t>
            </a:r>
            <a:endParaRPr lang="en-US" sz="1100"/>
          </a:p>
        </p:txBody>
      </p:sp>
      <p:sp>
        <p:nvSpPr>
          <p:cNvPr id="19" name="Freeform 19"/>
          <p:cNvSpPr/>
          <p:nvPr/>
        </p:nvSpPr>
        <p:spPr>
          <a:xfrm>
            <a:off x="609519" y="3847207"/>
            <a:ext cx="609600" cy="381000"/>
          </a:xfrm>
          <a:custGeom>
            <a:avLst/>
            <a:gdLst/>
            <a:ahLst/>
            <a:cxnLst/>
            <a:rect l="l" t="t" r="r" b="b"/>
            <a:pathLst>
              <a:path w="609600" h="381000">
                <a:moveTo>
                  <a:pt x="76200" y="0"/>
                </a:moveTo>
                <a:lnTo>
                  <a:pt x="533400" y="0"/>
                </a:lnTo>
                <a:cubicBezTo>
                  <a:pt x="575456" y="0"/>
                  <a:pt x="609600" y="34144"/>
                  <a:pt x="609600" y="76200"/>
                </a:cubicBezTo>
                <a:lnTo>
                  <a:pt x="609600" y="304800"/>
                </a:lnTo>
                <a:cubicBezTo>
                  <a:pt x="609600" y="346856"/>
                  <a:pt x="575456" y="381000"/>
                  <a:pt x="533400" y="381000"/>
                </a:cubicBezTo>
                <a:lnTo>
                  <a:pt x="76200" y="381000"/>
                </a:lnTo>
                <a:cubicBezTo>
                  <a:pt x="34144" y="381000"/>
                  <a:pt x="0" y="346856"/>
                  <a:pt x="0" y="304800"/>
                </a:cubicBezTo>
                <a:lnTo>
                  <a:pt x="0" y="76200"/>
                </a:lnTo>
                <a:cubicBezTo>
                  <a:pt x="0" y="34144"/>
                  <a:pt x="34144" y="0"/>
                  <a:pt x="762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609519" y="3847207"/>
            <a:ext cx="685800" cy="381000"/>
          </a:xfrm>
          <a:prstGeom prst="rect">
            <a:avLst/>
          </a:prstGeom>
          <a:noFill/>
          <a:ln w="12700">
            <a:noFill/>
            <a:prstDash val="solid"/>
          </a:ln>
        </p:spPr>
        <p:txBody>
          <a:bodyPr wrap="square" lIns="152400" tIns="76200" rIns="152400" bIns="76200" rtlCol="0" anchor="ctr">
            <a:noAutofit/>
          </a:bodyPr>
          <a:lstStyle/>
          <a:p>
            <a:pPr indent="0" algn="l">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输出</a:t>
            </a:r>
            <a:endParaRPr lang="en-US" sz="1100"/>
          </a:p>
        </p:txBody>
      </p:sp>
      <p:sp>
        <p:nvSpPr>
          <p:cNvPr id="21" name="AutoShape 21"/>
          <p:cNvSpPr/>
          <p:nvPr/>
        </p:nvSpPr>
        <p:spPr>
          <a:xfrm>
            <a:off x="1371383" y="3847207"/>
            <a:ext cx="4429125" cy="304800"/>
          </a:xfrm>
          <a:prstGeom prst="rect">
            <a:avLst/>
          </a:prstGeom>
          <a:noFill/>
          <a:ln w="12700">
            <a:noFill/>
            <a:prstDash val="solid"/>
          </a:ln>
        </p:spPr>
        <p:txBody>
          <a:bodyPr wrap="square" lIns="0" tIns="38100" rIns="0" bIns="0" rtlCol="0" anchor="ctr">
            <a:noAutofit/>
          </a:bodyPr>
          <a:lstStyle/>
          <a:p>
            <a:pPr indent="0" algn="l">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AI is the simulation of human intelligence in machines...</a:t>
            </a:r>
            <a:endParaRPr lang="en-US" sz="1100"/>
          </a:p>
        </p:txBody>
      </p:sp>
      <p:sp>
        <p:nvSpPr>
          <p:cNvPr id="22" name="Freeform 22"/>
          <p:cNvSpPr/>
          <p:nvPr/>
        </p:nvSpPr>
        <p:spPr>
          <a:xfrm>
            <a:off x="3787540" y="4702429"/>
            <a:ext cx="1019175" cy="876300"/>
          </a:xfrm>
          <a:custGeom>
            <a:avLst/>
            <a:gdLst/>
            <a:ahLst/>
            <a:cxnLst/>
            <a:rect l="l" t="t" r="r" b="b"/>
            <a:pathLst>
              <a:path w="1019175" h="876300">
                <a:moveTo>
                  <a:pt x="114296" y="0"/>
                </a:moveTo>
                <a:lnTo>
                  <a:pt x="904879" y="0"/>
                </a:lnTo>
                <a:cubicBezTo>
                  <a:pt x="968003" y="0"/>
                  <a:pt x="1019175" y="51172"/>
                  <a:pt x="1019175" y="114296"/>
                </a:cubicBezTo>
                <a:lnTo>
                  <a:pt x="1019175" y="762004"/>
                </a:lnTo>
                <a:cubicBezTo>
                  <a:pt x="1019175" y="825128"/>
                  <a:pt x="968003" y="876300"/>
                  <a:pt x="904879" y="876300"/>
                </a:cubicBezTo>
                <a:lnTo>
                  <a:pt x="114296" y="876300"/>
                </a:lnTo>
                <a:cubicBezTo>
                  <a:pt x="51172" y="876300"/>
                  <a:pt x="0" y="825128"/>
                  <a:pt x="0" y="762004"/>
                </a:cubicBezTo>
                <a:lnTo>
                  <a:pt x="0" y="114296"/>
                </a:lnTo>
                <a:cubicBezTo>
                  <a:pt x="0" y="51172"/>
                  <a:pt x="51172" y="0"/>
                  <a:pt x="114296" y="0"/>
                </a:cubicBezTo>
                <a:close/>
              </a:path>
            </a:pathLst>
          </a:custGeom>
          <a:noFill/>
          <a:ln w="12700" cap="flat">
            <a:solidFill>
              <a:srgbClr val="8DAAC2">
                <a:alpha val="100000"/>
              </a:srgbClr>
            </a:solidFill>
            <a:prstDash val="solid"/>
          </a:ln>
        </p:spPr>
        <p:txBody>
          <a:bodyPr wrap="square" lIns="91440" tIns="45720" rIns="91440" bIns="45720" rtlCol="0" anchor="t">
            <a:noAutofit/>
          </a:bodyPr>
          <a:lstStyle/>
          <a:p>
            <a:pPr algn="ctr">
              <a:defRPr/>
            </a:pPr>
          </a:p>
        </p:txBody>
      </p:sp>
      <p:sp>
        <p:nvSpPr>
          <p:cNvPr id="23" name="AutoShape 23"/>
          <p:cNvSpPr/>
          <p:nvPr/>
        </p:nvSpPr>
        <p:spPr>
          <a:xfrm>
            <a:off x="3901786" y="5026223"/>
            <a:ext cx="79057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普通回答</a:t>
            </a:r>
            <a:endParaRPr lang="en-US" sz="1100"/>
          </a:p>
        </p:txBody>
      </p:sp>
      <p:sp>
        <p:nvSpPr>
          <p:cNvPr id="24" name="AutoShape 24"/>
          <p:cNvSpPr/>
          <p:nvPr/>
        </p:nvSpPr>
        <p:spPr>
          <a:xfrm>
            <a:off x="3897024" y="5159462"/>
            <a:ext cx="80010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5" name="Freeform 25"/>
          <p:cNvSpPr/>
          <p:nvPr/>
        </p:nvSpPr>
        <p:spPr>
          <a:xfrm>
            <a:off x="5060589" y="5053202"/>
            <a:ext cx="229984" cy="174308"/>
          </a:xfrm>
          <a:custGeom>
            <a:avLst/>
            <a:gdLst/>
            <a:ahLst/>
            <a:cxnLst/>
            <a:rect l="l" t="t" r="r" b="b"/>
            <a:pathLst>
              <a:path w="229984" h="174308">
                <a:moveTo>
                  <a:pt x="224403" y="97245"/>
                </a:moveTo>
                <a:cubicBezTo>
                  <a:pt x="229984" y="91662"/>
                  <a:pt x="229984" y="82600"/>
                  <a:pt x="224403" y="77019"/>
                </a:cubicBezTo>
                <a:lnTo>
                  <a:pt x="152966" y="5581"/>
                </a:lnTo>
                <a:cubicBezTo>
                  <a:pt x="147383" y="0"/>
                  <a:pt x="138321" y="0"/>
                  <a:pt x="132740" y="5581"/>
                </a:cubicBezTo>
                <a:cubicBezTo>
                  <a:pt x="127159" y="11162"/>
                  <a:pt x="127159" y="20226"/>
                  <a:pt x="132740" y="25807"/>
                </a:cubicBezTo>
                <a:lnTo>
                  <a:pt x="179799" y="72866"/>
                </a:lnTo>
                <a:lnTo>
                  <a:pt x="14287" y="72866"/>
                </a:lnTo>
                <a:cubicBezTo>
                  <a:pt x="6386" y="72866"/>
                  <a:pt x="0" y="79251"/>
                  <a:pt x="0" y="87154"/>
                </a:cubicBezTo>
                <a:cubicBezTo>
                  <a:pt x="0" y="95057"/>
                  <a:pt x="6386" y="101442"/>
                  <a:pt x="14287" y="101442"/>
                </a:cubicBezTo>
                <a:lnTo>
                  <a:pt x="179799" y="101442"/>
                </a:lnTo>
                <a:lnTo>
                  <a:pt x="132740" y="148501"/>
                </a:lnTo>
                <a:cubicBezTo>
                  <a:pt x="127159" y="154082"/>
                  <a:pt x="127159" y="163146"/>
                  <a:pt x="132740" y="168727"/>
                </a:cubicBezTo>
                <a:cubicBezTo>
                  <a:pt x="138321" y="174308"/>
                  <a:pt x="147383" y="174308"/>
                  <a:pt x="152966" y="168727"/>
                </a:cubicBezTo>
                <a:lnTo>
                  <a:pt x="224403" y="9728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6" name="Freeform 26"/>
          <p:cNvSpPr/>
          <p:nvPr/>
        </p:nvSpPr>
        <p:spPr>
          <a:xfrm>
            <a:off x="5554942" y="4693768"/>
            <a:ext cx="2836718" cy="893618"/>
          </a:xfrm>
          <a:custGeom>
            <a:avLst/>
            <a:gdLst/>
            <a:ahLst/>
            <a:cxnLst/>
            <a:rect l="l" t="t" r="r" b="b"/>
            <a:pathLst>
              <a:path w="2836718" h="893618">
                <a:moveTo>
                  <a:pt x="114303" y="0"/>
                </a:moveTo>
                <a:lnTo>
                  <a:pt x="2722415" y="0"/>
                </a:lnTo>
                <a:cubicBezTo>
                  <a:pt x="2785543" y="0"/>
                  <a:pt x="2836718" y="51175"/>
                  <a:pt x="2836718" y="114303"/>
                </a:cubicBezTo>
                <a:lnTo>
                  <a:pt x="2836718" y="779315"/>
                </a:lnTo>
                <a:cubicBezTo>
                  <a:pt x="2836718" y="842443"/>
                  <a:pt x="2785543" y="893618"/>
                  <a:pt x="2722415" y="893618"/>
                </a:cubicBezTo>
                <a:lnTo>
                  <a:pt x="114303" y="893618"/>
                </a:lnTo>
                <a:cubicBezTo>
                  <a:pt x="51175" y="893618"/>
                  <a:pt x="0" y="842443"/>
                  <a:pt x="0" y="779315"/>
                </a:cubicBezTo>
                <a:lnTo>
                  <a:pt x="0" y="114303"/>
                </a:lnTo>
                <a:cubicBezTo>
                  <a:pt x="0" y="51175"/>
                  <a:pt x="51175" y="0"/>
                  <a:pt x="114303" y="0"/>
                </a:cubicBezTo>
                <a:close/>
              </a:path>
            </a:pathLst>
          </a:custGeom>
          <a:no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27" name="AutoShape 27"/>
          <p:cNvSpPr/>
          <p:nvPr/>
        </p:nvSpPr>
        <p:spPr>
          <a:xfrm>
            <a:off x="5677847" y="4854773"/>
            <a:ext cx="2590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CoT回答 ✓</a:t>
            </a:r>
            <a:endParaRPr lang="en-US" sz="1100"/>
          </a:p>
        </p:txBody>
      </p:sp>
      <p:sp>
        <p:nvSpPr>
          <p:cNvPr id="28" name="AutoShape 28"/>
          <p:cNvSpPr/>
          <p:nvPr/>
        </p:nvSpPr>
        <p:spPr>
          <a:xfrm>
            <a:off x="5673085" y="5159462"/>
            <a:ext cx="26003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步骤1→步骤2→步骤3→答案</a:t>
            </a:r>
            <a:endParaRPr lang="en-US" sz="1100"/>
          </a:p>
        </p:txBody>
      </p:sp>
      <p:sp>
        <p:nvSpPr>
          <p:cNvPr id="29" name="Freeform 29"/>
          <p:cNvSpPr/>
          <p:nvPr/>
        </p:nvSpPr>
        <p:spPr>
          <a:xfrm>
            <a:off x="381000" y="5748003"/>
            <a:ext cx="11430000" cy="733425"/>
          </a:xfrm>
          <a:custGeom>
            <a:avLst/>
            <a:gdLst/>
            <a:ahLst/>
            <a:cxnLst/>
            <a:rect l="l" t="t" r="r" b="b"/>
            <a:pathLst>
              <a:path w="11430000" h="733425">
                <a:moveTo>
                  <a:pt x="76203" y="0"/>
                </a:moveTo>
                <a:lnTo>
                  <a:pt x="11353797" y="0"/>
                </a:lnTo>
                <a:cubicBezTo>
                  <a:pt x="11395855" y="0"/>
                  <a:pt x="11430000" y="34145"/>
                  <a:pt x="11430000" y="76203"/>
                </a:cubicBezTo>
                <a:lnTo>
                  <a:pt x="11430000" y="657222"/>
                </a:lnTo>
                <a:cubicBezTo>
                  <a:pt x="11430000" y="699280"/>
                  <a:pt x="11395855" y="733425"/>
                  <a:pt x="11353797" y="733425"/>
                </a:cubicBezTo>
                <a:lnTo>
                  <a:pt x="76203" y="733425"/>
                </a:lnTo>
                <a:cubicBezTo>
                  <a:pt x="34145" y="733425"/>
                  <a:pt x="0" y="699280"/>
                  <a:pt x="0" y="657222"/>
                </a:cubicBezTo>
                <a:lnTo>
                  <a:pt x="0" y="76203"/>
                </a:lnTo>
                <a:cubicBezTo>
                  <a:pt x="0" y="34145"/>
                  <a:pt x="34145" y="0"/>
                  <a:pt x="76203"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0" name="AutoShape 30"/>
          <p:cNvSpPr/>
          <p:nvPr/>
        </p:nvSpPr>
        <p:spPr>
          <a:xfrm>
            <a:off x="609519" y="5979096"/>
            <a:ext cx="7350258" cy="26430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Chain of Thought (</a:t>
            </a:r>
            <a:r>
              <a:rPr lang="en-US" sz="1400" b="1"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CoT</a:t>
            </a:r>
            <a:r>
              <a:rPr lang="en-US" sz="1400"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t>
            </a: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a:t>
            </a:r>
            <a:r>
              <a:rPr lang="en-US" sz="14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思维链，让模型生成中间推理步骤，提升复杂问题准确性</a:t>
            </a:r>
            <a:endParaRPr lang="en-US" sz="1100" dirty="0"/>
          </a:p>
        </p:txBody>
      </p:sp>
    </p:spTree>
  </p:cSld>
  <p:clrMapOvr>
    <a:masterClrMapping/>
  </p:clrMapOvr>
  <p:transition spd="slow">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61851"/>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3.2 技术实现</a:t>
            </a:r>
            <a:endParaRPr lang="en-US" sz="1100"/>
          </a:p>
        </p:txBody>
      </p:sp>
      <p:sp>
        <p:nvSpPr>
          <p:cNvPr id="10" name="Freeform 10"/>
          <p:cNvSpPr/>
          <p:nvPr/>
        </p:nvSpPr>
        <p:spPr>
          <a:xfrm>
            <a:off x="381000" y="1600033"/>
            <a:ext cx="11430000" cy="2400300"/>
          </a:xfrm>
          <a:custGeom>
            <a:avLst/>
            <a:gdLst/>
            <a:ahLst/>
            <a:cxnLst/>
            <a:rect l="l" t="t" r="r" b="b"/>
            <a:pathLst>
              <a:path w="11430000" h="2400300">
                <a:moveTo>
                  <a:pt x="152395" y="0"/>
                </a:moveTo>
                <a:lnTo>
                  <a:pt x="11277605" y="0"/>
                </a:lnTo>
                <a:cubicBezTo>
                  <a:pt x="11361771" y="0"/>
                  <a:pt x="11430000" y="68229"/>
                  <a:pt x="11430000" y="152395"/>
                </a:cubicBezTo>
                <a:lnTo>
                  <a:pt x="11430000" y="2247905"/>
                </a:lnTo>
                <a:cubicBezTo>
                  <a:pt x="11430000" y="2332071"/>
                  <a:pt x="11361771" y="2400300"/>
                  <a:pt x="11277605" y="2400300"/>
                </a:cubicBezTo>
                <a:lnTo>
                  <a:pt x="152395" y="2400300"/>
                </a:lnTo>
                <a:cubicBezTo>
                  <a:pt x="68229" y="2400300"/>
                  <a:pt x="0" y="2332071"/>
                  <a:pt x="0" y="2247905"/>
                </a:cubicBezTo>
                <a:lnTo>
                  <a:pt x="0" y="152395"/>
                </a:lnTo>
                <a:cubicBezTo>
                  <a:pt x="0" y="68229"/>
                  <a:pt x="68229" y="0"/>
                  <a:pt x="152395"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566656" y="1828558"/>
            <a:ext cx="11058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候选词概率分布</a:t>
            </a:r>
            <a:endParaRPr lang="en-US" sz="1100"/>
          </a:p>
        </p:txBody>
      </p:sp>
      <p:sp>
        <p:nvSpPr>
          <p:cNvPr id="12" name="Freeform 12"/>
          <p:cNvSpPr/>
          <p:nvPr/>
        </p:nvSpPr>
        <p:spPr>
          <a:xfrm>
            <a:off x="4648443" y="2133247"/>
            <a:ext cx="609600" cy="1143000"/>
          </a:xfrm>
          <a:custGeom>
            <a:avLst/>
            <a:gdLst/>
            <a:ahLst/>
            <a:cxnLst/>
            <a:rect l="l" t="t" r="r" b="b"/>
            <a:pathLst>
              <a:path w="609600" h="1143000">
                <a:moveTo>
                  <a:pt x="76200" y="0"/>
                </a:moveTo>
                <a:lnTo>
                  <a:pt x="533400" y="0"/>
                </a:lnTo>
                <a:cubicBezTo>
                  <a:pt x="575456" y="0"/>
                  <a:pt x="609600" y="34144"/>
                  <a:pt x="609600" y="76200"/>
                </a:cubicBezTo>
                <a:lnTo>
                  <a:pt x="609600" y="1143000"/>
                </a:lnTo>
                <a:lnTo>
                  <a:pt x="0" y="1143000"/>
                </a:lnTo>
                <a:lnTo>
                  <a:pt x="0" y="76200"/>
                </a:lnTo>
                <a:cubicBezTo>
                  <a:pt x="0" y="34144"/>
                  <a:pt x="34144" y="0"/>
                  <a:pt x="762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5610115" y="3352409"/>
            <a:ext cx="2095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100"/>
          </a:p>
        </p:txBody>
      </p:sp>
      <p:sp>
        <p:nvSpPr>
          <p:cNvPr id="14" name="AutoShape 14"/>
          <p:cNvSpPr/>
          <p:nvPr/>
        </p:nvSpPr>
        <p:spPr>
          <a:xfrm>
            <a:off x="4819596" y="3580935"/>
            <a:ext cx="3333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45%</a:t>
            </a:r>
            <a:endParaRPr lang="en-US" sz="1100"/>
          </a:p>
        </p:txBody>
      </p:sp>
      <p:sp>
        <p:nvSpPr>
          <p:cNvPr id="15" name="Freeform 15"/>
          <p:cNvSpPr/>
          <p:nvPr/>
        </p:nvSpPr>
        <p:spPr>
          <a:xfrm>
            <a:off x="5410308" y="2514247"/>
            <a:ext cx="609600" cy="762000"/>
          </a:xfrm>
          <a:custGeom>
            <a:avLst/>
            <a:gdLst/>
            <a:ahLst/>
            <a:cxnLst/>
            <a:rect l="l" t="t" r="r" b="b"/>
            <a:pathLst>
              <a:path w="609600" h="762000">
                <a:moveTo>
                  <a:pt x="76200" y="0"/>
                </a:moveTo>
                <a:lnTo>
                  <a:pt x="533400" y="0"/>
                </a:lnTo>
                <a:cubicBezTo>
                  <a:pt x="575456" y="0"/>
                  <a:pt x="609600" y="34144"/>
                  <a:pt x="609600" y="76200"/>
                </a:cubicBezTo>
                <a:lnTo>
                  <a:pt x="609600" y="762000"/>
                </a:lnTo>
                <a:lnTo>
                  <a:pt x="0" y="762000"/>
                </a:lnTo>
                <a:lnTo>
                  <a:pt x="0" y="76200"/>
                </a:lnTo>
                <a:cubicBezTo>
                  <a:pt x="0" y="34144"/>
                  <a:pt x="34144" y="0"/>
                  <a:pt x="762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4647969" y="3352409"/>
            <a:ext cx="6286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Artificial</a:t>
            </a:r>
            <a:endParaRPr lang="en-US" sz="1100"/>
          </a:p>
        </p:txBody>
      </p:sp>
      <p:sp>
        <p:nvSpPr>
          <p:cNvPr id="17" name="AutoShape 17"/>
          <p:cNvSpPr/>
          <p:nvPr/>
        </p:nvSpPr>
        <p:spPr>
          <a:xfrm>
            <a:off x="5579295" y="3580935"/>
            <a:ext cx="3333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30%</a:t>
            </a:r>
            <a:endParaRPr lang="en-US" sz="1100"/>
          </a:p>
        </p:txBody>
      </p:sp>
      <p:sp>
        <p:nvSpPr>
          <p:cNvPr id="18" name="Freeform 18"/>
          <p:cNvSpPr/>
          <p:nvPr/>
        </p:nvSpPr>
        <p:spPr>
          <a:xfrm>
            <a:off x="6180832" y="2808656"/>
            <a:ext cx="588818" cy="455468"/>
          </a:xfrm>
          <a:custGeom>
            <a:avLst/>
            <a:gdLst/>
            <a:ahLst/>
            <a:cxnLst/>
            <a:rect l="l" t="t" r="r" b="b"/>
            <a:pathLst>
              <a:path w="588818" h="455468">
                <a:moveTo>
                  <a:pt x="76200" y="0"/>
                </a:moveTo>
                <a:lnTo>
                  <a:pt x="512618" y="0"/>
                </a:lnTo>
                <a:cubicBezTo>
                  <a:pt x="554702" y="0"/>
                  <a:pt x="588818" y="34116"/>
                  <a:pt x="588818" y="76200"/>
                </a:cubicBezTo>
                <a:lnTo>
                  <a:pt x="588818" y="455468"/>
                </a:lnTo>
                <a:lnTo>
                  <a:pt x="0" y="455468"/>
                </a:lnTo>
                <a:lnTo>
                  <a:pt x="0" y="76200"/>
                </a:lnTo>
                <a:cubicBezTo>
                  <a:pt x="0" y="34144"/>
                  <a:pt x="34144" y="0"/>
                  <a:pt x="76200" y="0"/>
                </a:cubicBezTo>
                <a:close/>
              </a:path>
            </a:pathLst>
          </a:custGeom>
          <a:solidFill>
            <a:srgbClr val="1E90FF">
              <a:alpha val="100000"/>
            </a:srgbClr>
          </a:solid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19" name="AutoShape 19"/>
          <p:cNvSpPr/>
          <p:nvPr/>
        </p:nvSpPr>
        <p:spPr>
          <a:xfrm>
            <a:off x="6436004" y="3352409"/>
            <a:ext cx="1619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a</a:t>
            </a:r>
            <a:endParaRPr lang="en-US" sz="1100"/>
          </a:p>
        </p:txBody>
      </p:sp>
      <p:sp>
        <p:nvSpPr>
          <p:cNvPr id="20" name="AutoShape 20"/>
          <p:cNvSpPr/>
          <p:nvPr/>
        </p:nvSpPr>
        <p:spPr>
          <a:xfrm>
            <a:off x="6356178" y="3580935"/>
            <a:ext cx="30480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15%</a:t>
            </a:r>
            <a:endParaRPr lang="en-US" sz="1100"/>
          </a:p>
        </p:txBody>
      </p:sp>
      <p:sp>
        <p:nvSpPr>
          <p:cNvPr id="21" name="Freeform 21"/>
          <p:cNvSpPr/>
          <p:nvPr/>
        </p:nvSpPr>
        <p:spPr>
          <a:xfrm>
            <a:off x="6934037" y="2990497"/>
            <a:ext cx="609600" cy="285750"/>
          </a:xfrm>
          <a:custGeom>
            <a:avLst/>
            <a:gdLst/>
            <a:ahLst/>
            <a:cxnLst/>
            <a:rect l="l" t="t" r="r" b="b"/>
            <a:pathLst>
              <a:path w="609600" h="285750">
                <a:moveTo>
                  <a:pt x="76201" y="0"/>
                </a:moveTo>
                <a:lnTo>
                  <a:pt x="533399" y="0"/>
                </a:lnTo>
                <a:cubicBezTo>
                  <a:pt x="575484" y="0"/>
                  <a:pt x="609600" y="34116"/>
                  <a:pt x="609600" y="76201"/>
                </a:cubicBezTo>
                <a:lnTo>
                  <a:pt x="609600" y="285750"/>
                </a:lnTo>
                <a:lnTo>
                  <a:pt x="0" y="285750"/>
                </a:lnTo>
                <a:lnTo>
                  <a:pt x="0" y="76201"/>
                </a:lnTo>
                <a:cubicBezTo>
                  <a:pt x="0" y="34145"/>
                  <a:pt x="34145" y="0"/>
                  <a:pt x="76201"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7153897" y="3352409"/>
            <a:ext cx="2476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an</a:t>
            </a:r>
            <a:endParaRPr lang="en-US" sz="1100"/>
          </a:p>
        </p:txBody>
      </p:sp>
      <p:sp>
        <p:nvSpPr>
          <p:cNvPr id="23" name="AutoShape 23"/>
          <p:cNvSpPr/>
          <p:nvPr/>
        </p:nvSpPr>
        <p:spPr>
          <a:xfrm>
            <a:off x="7116013" y="3580935"/>
            <a:ext cx="3143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10%</a:t>
            </a:r>
            <a:endParaRPr lang="en-US" sz="1100"/>
          </a:p>
        </p:txBody>
      </p:sp>
      <p:sp>
        <p:nvSpPr>
          <p:cNvPr id="24" name="Freeform 24"/>
          <p:cNvSpPr/>
          <p:nvPr/>
        </p:nvSpPr>
        <p:spPr>
          <a:xfrm>
            <a:off x="381000" y="4228467"/>
            <a:ext cx="5600700" cy="1390650"/>
          </a:xfrm>
          <a:custGeom>
            <a:avLst/>
            <a:gdLst/>
            <a:ahLst/>
            <a:cxnLst/>
            <a:rect l="l" t="t" r="r" b="b"/>
            <a:pathLst>
              <a:path w="5600700" h="1390650">
                <a:moveTo>
                  <a:pt x="114297" y="0"/>
                </a:moveTo>
                <a:lnTo>
                  <a:pt x="5486403" y="0"/>
                </a:lnTo>
                <a:cubicBezTo>
                  <a:pt x="5549527" y="0"/>
                  <a:pt x="5600700" y="51173"/>
                  <a:pt x="5600700" y="114297"/>
                </a:cubicBezTo>
                <a:lnTo>
                  <a:pt x="5600700" y="1276353"/>
                </a:lnTo>
                <a:cubicBezTo>
                  <a:pt x="5600700" y="1339477"/>
                  <a:pt x="5549527" y="1390650"/>
                  <a:pt x="5486403" y="1390650"/>
                </a:cubicBezTo>
                <a:lnTo>
                  <a:pt x="114297" y="1390650"/>
                </a:lnTo>
                <a:cubicBezTo>
                  <a:pt x="51173" y="1390650"/>
                  <a:pt x="0" y="1339477"/>
                  <a:pt x="0" y="1276353"/>
                </a:cubicBezTo>
                <a:lnTo>
                  <a:pt x="0" y="114297"/>
                </a:lnTo>
                <a:cubicBezTo>
                  <a:pt x="0" y="51215"/>
                  <a:pt x="51215" y="0"/>
                  <a:pt x="114297"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algn="ctr">
              <a:defRPr/>
            </a:pPr>
          </a:p>
        </p:txBody>
      </p:sp>
      <p:sp>
        <p:nvSpPr>
          <p:cNvPr id="25" name="Freeform 25"/>
          <p:cNvSpPr/>
          <p:nvPr/>
        </p:nvSpPr>
        <p:spPr>
          <a:xfrm>
            <a:off x="3040775" y="4454686"/>
            <a:ext cx="285750" cy="214312"/>
          </a:xfrm>
          <a:custGeom>
            <a:avLst/>
            <a:gdLst/>
            <a:ahLst/>
            <a:cxnLst/>
            <a:rect l="l" t="t" r="r" b="b"/>
            <a:pathLst>
              <a:path w="285750" h="214312">
                <a:moveTo>
                  <a:pt x="35719" y="17858"/>
                </a:moveTo>
                <a:cubicBezTo>
                  <a:pt x="35719" y="7980"/>
                  <a:pt x="43699" y="0"/>
                  <a:pt x="53577" y="0"/>
                </a:cubicBezTo>
                <a:lnTo>
                  <a:pt x="142875" y="0"/>
                </a:lnTo>
                <a:cubicBezTo>
                  <a:pt x="152753" y="0"/>
                  <a:pt x="160734" y="7980"/>
                  <a:pt x="160734" y="17858"/>
                </a:cubicBezTo>
                <a:lnTo>
                  <a:pt x="160734" y="178594"/>
                </a:lnTo>
                <a:lnTo>
                  <a:pt x="214312" y="178594"/>
                </a:lnTo>
                <a:lnTo>
                  <a:pt x="214312" y="107156"/>
                </a:lnTo>
                <a:cubicBezTo>
                  <a:pt x="214312" y="97278"/>
                  <a:pt x="222293" y="89297"/>
                  <a:pt x="232173" y="89297"/>
                </a:cubicBezTo>
                <a:lnTo>
                  <a:pt x="267891" y="89297"/>
                </a:lnTo>
                <a:cubicBezTo>
                  <a:pt x="277769" y="89297"/>
                  <a:pt x="285750" y="97278"/>
                  <a:pt x="285750" y="107156"/>
                </a:cubicBezTo>
                <a:cubicBezTo>
                  <a:pt x="285750" y="117034"/>
                  <a:pt x="277769" y="125015"/>
                  <a:pt x="267891" y="125015"/>
                </a:cubicBezTo>
                <a:lnTo>
                  <a:pt x="250031" y="125015"/>
                </a:lnTo>
                <a:lnTo>
                  <a:pt x="250031" y="196454"/>
                </a:lnTo>
                <a:cubicBezTo>
                  <a:pt x="250031" y="206332"/>
                  <a:pt x="242051" y="214312"/>
                  <a:pt x="232173" y="214312"/>
                </a:cubicBezTo>
                <a:lnTo>
                  <a:pt x="142875" y="214312"/>
                </a:lnTo>
                <a:cubicBezTo>
                  <a:pt x="132997" y="214312"/>
                  <a:pt x="125016" y="206332"/>
                  <a:pt x="125016" y="196454"/>
                </a:cubicBezTo>
                <a:lnTo>
                  <a:pt x="125016" y="35718"/>
                </a:lnTo>
                <a:lnTo>
                  <a:pt x="71437" y="35718"/>
                </a:lnTo>
                <a:lnTo>
                  <a:pt x="71437" y="107156"/>
                </a:lnTo>
                <a:cubicBezTo>
                  <a:pt x="71437" y="117034"/>
                  <a:pt x="63457" y="125015"/>
                  <a:pt x="53577" y="125015"/>
                </a:cubicBezTo>
                <a:lnTo>
                  <a:pt x="17859" y="125015"/>
                </a:lnTo>
                <a:cubicBezTo>
                  <a:pt x="7981" y="125015"/>
                  <a:pt x="0" y="117034"/>
                  <a:pt x="0" y="107156"/>
                </a:cubicBezTo>
                <a:cubicBezTo>
                  <a:pt x="0" y="97278"/>
                  <a:pt x="7981" y="89297"/>
                  <a:pt x="17859" y="89297"/>
                </a:cubicBezTo>
                <a:lnTo>
                  <a:pt x="35719" y="89297"/>
                </a:lnTo>
                <a:lnTo>
                  <a:pt x="35719" y="17858"/>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523875" y="4818906"/>
            <a:ext cx="53149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Softmax</a:t>
            </a:r>
            <a:endParaRPr lang="en-US" sz="1100"/>
          </a:p>
        </p:txBody>
      </p:sp>
      <p:sp>
        <p:nvSpPr>
          <p:cNvPr id="27" name="AutoShape 27"/>
          <p:cNvSpPr/>
          <p:nvPr/>
        </p:nvSpPr>
        <p:spPr>
          <a:xfrm>
            <a:off x="533400" y="5161769"/>
            <a:ext cx="52959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将分数转换为概率</a:t>
            </a:r>
            <a:endParaRPr lang="en-US" sz="1100"/>
          </a:p>
        </p:txBody>
      </p:sp>
      <p:sp>
        <p:nvSpPr>
          <p:cNvPr id="28" name="Freeform 28"/>
          <p:cNvSpPr/>
          <p:nvPr/>
        </p:nvSpPr>
        <p:spPr>
          <a:xfrm>
            <a:off x="6218850" y="4237127"/>
            <a:ext cx="5579918" cy="1369868"/>
          </a:xfrm>
          <a:custGeom>
            <a:avLst/>
            <a:gdLst/>
            <a:ahLst/>
            <a:cxnLst/>
            <a:rect l="l" t="t" r="r" b="b"/>
            <a:pathLst>
              <a:path w="5579918" h="1369868">
                <a:moveTo>
                  <a:pt x="114303" y="0"/>
                </a:moveTo>
                <a:lnTo>
                  <a:pt x="5465616" y="0"/>
                </a:lnTo>
                <a:cubicBezTo>
                  <a:pt x="5528744" y="0"/>
                  <a:pt x="5579918" y="51175"/>
                  <a:pt x="5579918" y="114303"/>
                </a:cubicBezTo>
                <a:lnTo>
                  <a:pt x="5579918" y="1255566"/>
                </a:lnTo>
                <a:cubicBezTo>
                  <a:pt x="5579918" y="1318694"/>
                  <a:pt x="5528744" y="1369868"/>
                  <a:pt x="5465616" y="1369868"/>
                </a:cubicBezTo>
                <a:lnTo>
                  <a:pt x="114303" y="1369868"/>
                </a:lnTo>
                <a:cubicBezTo>
                  <a:pt x="51175" y="1369868"/>
                  <a:pt x="0" y="1318694"/>
                  <a:pt x="0" y="1255566"/>
                </a:cubicBezTo>
                <a:lnTo>
                  <a:pt x="0" y="114303"/>
                </a:lnTo>
                <a:cubicBezTo>
                  <a:pt x="0" y="51175"/>
                  <a:pt x="51175" y="0"/>
                  <a:pt x="114303"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algn="ctr">
              <a:defRPr/>
            </a:pPr>
          </a:p>
        </p:txBody>
      </p:sp>
      <p:sp>
        <p:nvSpPr>
          <p:cNvPr id="29" name="Freeform 29"/>
          <p:cNvSpPr/>
          <p:nvPr/>
        </p:nvSpPr>
        <p:spPr>
          <a:xfrm>
            <a:off x="8868650" y="4472006"/>
            <a:ext cx="288596" cy="251426"/>
          </a:xfrm>
          <a:custGeom>
            <a:avLst/>
            <a:gdLst/>
            <a:ahLst/>
            <a:cxnLst/>
            <a:rect l="l" t="t" r="r" b="b"/>
            <a:pathLst>
              <a:path w="288596" h="251426">
                <a:moveTo>
                  <a:pt x="19311" y="0"/>
                </a:moveTo>
                <a:cubicBezTo>
                  <a:pt x="12112" y="0"/>
                  <a:pt x="5582" y="4353"/>
                  <a:pt x="2791" y="11050"/>
                </a:cubicBezTo>
                <a:cubicBezTo>
                  <a:pt x="0" y="17748"/>
                  <a:pt x="1564" y="25393"/>
                  <a:pt x="6698" y="30472"/>
                </a:cubicBezTo>
                <a:lnTo>
                  <a:pt x="108608" y="132438"/>
                </a:lnTo>
                <a:lnTo>
                  <a:pt x="108608" y="196454"/>
                </a:lnTo>
                <a:cubicBezTo>
                  <a:pt x="108608" y="201197"/>
                  <a:pt x="110506" y="205717"/>
                  <a:pt x="113855" y="209066"/>
                </a:cubicBezTo>
                <a:lnTo>
                  <a:pt x="149573" y="244785"/>
                </a:lnTo>
                <a:cubicBezTo>
                  <a:pt x="154708" y="249919"/>
                  <a:pt x="162353" y="251425"/>
                  <a:pt x="169051" y="248637"/>
                </a:cubicBezTo>
                <a:cubicBezTo>
                  <a:pt x="175748" y="245845"/>
                  <a:pt x="180046" y="239371"/>
                  <a:pt x="180046" y="232172"/>
                </a:cubicBezTo>
                <a:lnTo>
                  <a:pt x="180046" y="132438"/>
                </a:lnTo>
                <a:lnTo>
                  <a:pt x="281956" y="30528"/>
                </a:lnTo>
                <a:cubicBezTo>
                  <a:pt x="287090" y="25393"/>
                  <a:pt x="288596" y="17748"/>
                  <a:pt x="285808" y="11050"/>
                </a:cubicBezTo>
                <a:cubicBezTo>
                  <a:pt x="283016" y="4353"/>
                  <a:pt x="276542" y="0"/>
                  <a:pt x="269343" y="0"/>
                </a:cubicBezTo>
                <a:lnTo>
                  <a:pt x="19311" y="0"/>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30" name="AutoShape 30"/>
          <p:cNvSpPr/>
          <p:nvPr/>
        </p:nvSpPr>
        <p:spPr>
          <a:xfrm>
            <a:off x="6370385" y="4836226"/>
            <a:ext cx="52768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Top-k/p Sampling</a:t>
            </a:r>
            <a:endParaRPr lang="en-US" sz="1100"/>
          </a:p>
        </p:txBody>
      </p:sp>
      <p:sp>
        <p:nvSpPr>
          <p:cNvPr id="31" name="AutoShape 31"/>
          <p:cNvSpPr/>
          <p:nvPr/>
        </p:nvSpPr>
        <p:spPr>
          <a:xfrm>
            <a:off x="6379910" y="5179070"/>
            <a:ext cx="5257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控制生成多样性</a:t>
            </a:r>
            <a:endParaRPr lang="en-US" sz="1100"/>
          </a:p>
        </p:txBody>
      </p:sp>
      <p:sp>
        <p:nvSpPr>
          <p:cNvPr id="32" name="Freeform 32"/>
          <p:cNvSpPr/>
          <p:nvPr/>
        </p:nvSpPr>
        <p:spPr>
          <a:xfrm>
            <a:off x="381000" y="5767760"/>
            <a:ext cx="11430000" cy="704850"/>
          </a:xfrm>
          <a:custGeom>
            <a:avLst/>
            <a:gdLst/>
            <a:ahLst/>
            <a:cxnLst/>
            <a:rect l="l" t="t" r="r" b="b"/>
            <a:pathLst>
              <a:path w="11430000" h="704850">
                <a:moveTo>
                  <a:pt x="76201" y="0"/>
                </a:moveTo>
                <a:lnTo>
                  <a:pt x="11353799" y="0"/>
                </a:lnTo>
                <a:cubicBezTo>
                  <a:pt x="11395884" y="0"/>
                  <a:pt x="11430000" y="34116"/>
                  <a:pt x="11430000" y="76201"/>
                </a:cubicBezTo>
                <a:lnTo>
                  <a:pt x="11430000" y="628649"/>
                </a:lnTo>
                <a:cubicBezTo>
                  <a:pt x="11430000" y="670734"/>
                  <a:pt x="11395884" y="704850"/>
                  <a:pt x="11353799" y="704850"/>
                </a:cubicBezTo>
                <a:lnTo>
                  <a:pt x="76201" y="704850"/>
                </a:lnTo>
                <a:cubicBezTo>
                  <a:pt x="34116" y="704850"/>
                  <a:pt x="0" y="670734"/>
                  <a:pt x="0" y="628649"/>
                </a:cubicBezTo>
                <a:lnTo>
                  <a:pt x="0" y="76201"/>
                </a:lnTo>
                <a:cubicBezTo>
                  <a:pt x="0" y="34145"/>
                  <a:pt x="34145" y="0"/>
                  <a:pt x="76201"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609519" y="5988974"/>
            <a:ext cx="7710022" cy="22924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Softmax</a:t>
            </a: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a:t>
            </a:r>
            <a:r>
              <a:rPr lang="en-US" sz="14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将分数转换为概率的函数</a:t>
            </a: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Top-k/p Sampling</a:t>
            </a: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a:t>
            </a:r>
            <a:r>
              <a:rPr lang="en-US" sz="14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控制生成多样性的采样策略</a:t>
            </a:r>
            <a:endParaRPr lang="en-US" sz="1100" dirty="0"/>
          </a:p>
        </p:txBody>
      </p:sp>
    </p:spTree>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61851"/>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4 重复生成：循环迭代</a:t>
            </a:r>
            <a:endParaRPr lang="en-US" sz="1100"/>
          </a:p>
        </p:txBody>
      </p:sp>
      <p:sp>
        <p:nvSpPr>
          <p:cNvPr id="10" name="Freeform 10"/>
          <p:cNvSpPr/>
          <p:nvPr/>
        </p:nvSpPr>
        <p:spPr>
          <a:xfrm>
            <a:off x="381000" y="6019019"/>
            <a:ext cx="11430000" cy="457200"/>
          </a:xfrm>
          <a:custGeom>
            <a:avLst/>
            <a:gdLst/>
            <a:ahLst/>
            <a:cxnLst/>
            <a:rect l="l" t="t" r="r" b="b"/>
            <a:pathLst>
              <a:path w="11430000" h="457200">
                <a:moveTo>
                  <a:pt x="76203" y="0"/>
                </a:moveTo>
                <a:lnTo>
                  <a:pt x="11353797" y="0"/>
                </a:lnTo>
                <a:cubicBezTo>
                  <a:pt x="11395883" y="0"/>
                  <a:pt x="11430000" y="34117"/>
                  <a:pt x="11430000" y="76203"/>
                </a:cubicBezTo>
                <a:lnTo>
                  <a:pt x="11430000" y="380997"/>
                </a:lnTo>
                <a:cubicBezTo>
                  <a:pt x="11430000" y="423083"/>
                  <a:pt x="11395883" y="457200"/>
                  <a:pt x="11353797" y="457200"/>
                </a:cubicBezTo>
                <a:lnTo>
                  <a:pt x="76203" y="457200"/>
                </a:lnTo>
                <a:cubicBezTo>
                  <a:pt x="34145" y="457200"/>
                  <a:pt x="0" y="423055"/>
                  <a:pt x="0" y="380997"/>
                </a:cubicBezTo>
                <a:lnTo>
                  <a:pt x="0" y="76203"/>
                </a:lnTo>
                <a:cubicBezTo>
                  <a:pt x="0" y="34145"/>
                  <a:pt x="34145" y="0"/>
                  <a:pt x="76203"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609519" y="6114659"/>
            <a:ext cx="8180289" cy="22618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Autoregressive </a:t>
            </a:r>
            <a:r>
              <a:rPr lang="en-US" sz="1400" b="1"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Generation（自回归生成</a:t>
            </a:r>
            <a:r>
              <a:rPr lang="en-US" sz="1400"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t>
            </a: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a:t>
            </a:r>
            <a:r>
              <a:rPr lang="en-US" sz="14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每次基于已生成内容预测下一个词，并不断迭代</a:t>
            </a:r>
            <a:endParaRPr lang="en-US" sz="1100" dirty="0"/>
          </a:p>
        </p:txBody>
      </p:sp>
      <p:sp>
        <p:nvSpPr>
          <p:cNvPr id="12" name="Freeform 12"/>
          <p:cNvSpPr/>
          <p:nvPr/>
        </p:nvSpPr>
        <p:spPr>
          <a:xfrm>
            <a:off x="329731" y="2341431"/>
            <a:ext cx="3723546" cy="2525257"/>
          </a:xfrm>
          <a:custGeom>
            <a:avLst/>
            <a:gdLst/>
            <a:ahLst/>
            <a:cxnLst/>
            <a:rect l="l" t="t" r="r" b="b"/>
            <a:pathLst>
              <a:path w="3723546" h="2525257">
                <a:moveTo>
                  <a:pt x="128687" y="0"/>
                </a:moveTo>
                <a:lnTo>
                  <a:pt x="3594859" y="0"/>
                </a:lnTo>
                <a:cubicBezTo>
                  <a:pt x="3665931" y="0"/>
                  <a:pt x="3723546" y="57615"/>
                  <a:pt x="3723546" y="128687"/>
                </a:cubicBezTo>
                <a:lnTo>
                  <a:pt x="3723546" y="2396569"/>
                </a:lnTo>
                <a:cubicBezTo>
                  <a:pt x="3723546" y="2467640"/>
                  <a:pt x="3665931" y="2525257"/>
                  <a:pt x="3594859" y="2525257"/>
                </a:cubicBezTo>
                <a:lnTo>
                  <a:pt x="128687" y="2525257"/>
                </a:lnTo>
                <a:cubicBezTo>
                  <a:pt x="57615" y="2525257"/>
                  <a:pt x="0" y="2467640"/>
                  <a:pt x="0" y="2396569"/>
                </a:cubicBezTo>
                <a:lnTo>
                  <a:pt x="0" y="128687"/>
                </a:lnTo>
                <a:cubicBezTo>
                  <a:pt x="0" y="57663"/>
                  <a:pt x="57663" y="0"/>
                  <a:pt x="128687" y="0"/>
                </a:cubicBezTo>
                <a:close/>
              </a:path>
            </a:pathLst>
          </a:custGeom>
          <a:solidFill>
            <a:srgbClr val="FFFFFF">
              <a:alpha val="100000"/>
            </a:srgbClr>
          </a:solidFill>
          <a:ln w="25400">
            <a:solidFill>
              <a:srgbClr val="5B92E5">
                <a:alpha val="20000"/>
              </a:srgbClr>
            </a:solidFill>
            <a:prstDash val="solid"/>
          </a:ln>
          <a:effectLst>
            <a:outerShdw blurRad="114300" dist="762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3" name="Freeform 13"/>
          <p:cNvSpPr/>
          <p:nvPr/>
        </p:nvSpPr>
        <p:spPr>
          <a:xfrm>
            <a:off x="498617" y="2510318"/>
            <a:ext cx="386025" cy="386025"/>
          </a:xfrm>
          <a:custGeom>
            <a:avLst/>
            <a:gdLst/>
            <a:ahLst/>
            <a:cxnLst/>
            <a:rect l="l" t="t" r="r" b="b"/>
            <a:pathLst>
              <a:path w="386025" h="386025">
                <a:moveTo>
                  <a:pt x="193013" y="0"/>
                </a:moveTo>
                <a:lnTo>
                  <a:pt x="193013" y="0"/>
                </a:lnTo>
                <a:cubicBezTo>
                  <a:pt x="299611" y="0"/>
                  <a:pt x="386025" y="86415"/>
                  <a:pt x="386025" y="193013"/>
                </a:cubicBezTo>
                <a:lnTo>
                  <a:pt x="386025" y="193013"/>
                </a:lnTo>
                <a:cubicBezTo>
                  <a:pt x="386025" y="299611"/>
                  <a:pt x="299611" y="386025"/>
                  <a:pt x="193013" y="386025"/>
                </a:cubicBezTo>
                <a:lnTo>
                  <a:pt x="193013" y="386025"/>
                </a:lnTo>
                <a:cubicBezTo>
                  <a:pt x="86415" y="386025"/>
                  <a:pt x="0" y="299611"/>
                  <a:pt x="0" y="193013"/>
                </a:cubicBezTo>
                <a:lnTo>
                  <a:pt x="0" y="193013"/>
                </a:lnTo>
                <a:cubicBezTo>
                  <a:pt x="0" y="86415"/>
                  <a:pt x="86415" y="0"/>
                  <a:pt x="193013"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659964" y="2590740"/>
            <a:ext cx="144760" cy="22518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15" name="AutoShape 15"/>
          <p:cNvSpPr/>
          <p:nvPr/>
        </p:nvSpPr>
        <p:spPr>
          <a:xfrm>
            <a:off x="981150" y="2590740"/>
            <a:ext cx="884644" cy="22518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第一次预测</a:t>
            </a:r>
            <a:endParaRPr lang="en-US" sz="1100"/>
          </a:p>
        </p:txBody>
      </p:sp>
      <p:sp>
        <p:nvSpPr>
          <p:cNvPr id="16" name="Freeform 16"/>
          <p:cNvSpPr/>
          <p:nvPr/>
        </p:nvSpPr>
        <p:spPr>
          <a:xfrm>
            <a:off x="498617" y="3025019"/>
            <a:ext cx="3385773" cy="643377"/>
          </a:xfrm>
          <a:custGeom>
            <a:avLst/>
            <a:gdLst/>
            <a:ahLst/>
            <a:cxnLst/>
            <a:rect l="l" t="t" r="r" b="b"/>
            <a:pathLst>
              <a:path w="3385773" h="643377">
                <a:moveTo>
                  <a:pt x="64338" y="0"/>
                </a:moveTo>
                <a:lnTo>
                  <a:pt x="3321435" y="0"/>
                </a:lnTo>
                <a:cubicBezTo>
                  <a:pt x="3356968" y="0"/>
                  <a:pt x="3385773" y="28805"/>
                  <a:pt x="3385773" y="64338"/>
                </a:cubicBezTo>
                <a:lnTo>
                  <a:pt x="3385773" y="579040"/>
                </a:lnTo>
                <a:cubicBezTo>
                  <a:pt x="3385773" y="614572"/>
                  <a:pt x="3356968" y="643377"/>
                  <a:pt x="3321435" y="643377"/>
                </a:cubicBezTo>
                <a:lnTo>
                  <a:pt x="64338" y="643377"/>
                </a:lnTo>
                <a:cubicBezTo>
                  <a:pt x="28805" y="643377"/>
                  <a:pt x="0" y="614572"/>
                  <a:pt x="0" y="579040"/>
                </a:cubicBezTo>
                <a:lnTo>
                  <a:pt x="0" y="64338"/>
                </a:lnTo>
                <a:cubicBezTo>
                  <a:pt x="0" y="28829"/>
                  <a:pt x="28829" y="0"/>
                  <a:pt x="64338"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595124" y="3132254"/>
            <a:ext cx="450364" cy="17156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输入：</a:t>
            </a:r>
            <a:endParaRPr lang="en-US" sz="1100"/>
          </a:p>
        </p:txBody>
      </p:sp>
      <p:sp>
        <p:nvSpPr>
          <p:cNvPr id="18" name="AutoShape 18"/>
          <p:cNvSpPr/>
          <p:nvPr/>
        </p:nvSpPr>
        <p:spPr>
          <a:xfrm>
            <a:off x="595124" y="3346708"/>
            <a:ext cx="3265140" cy="225182"/>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"What is AI?"</a:t>
            </a:r>
            <a:endParaRPr lang="en-US" sz="1100"/>
          </a:p>
        </p:txBody>
      </p:sp>
      <p:sp>
        <p:nvSpPr>
          <p:cNvPr id="19" name="Freeform 19"/>
          <p:cNvSpPr/>
          <p:nvPr/>
        </p:nvSpPr>
        <p:spPr>
          <a:xfrm>
            <a:off x="2119844" y="3764903"/>
            <a:ext cx="147173" cy="194182"/>
          </a:xfrm>
          <a:custGeom>
            <a:avLst/>
            <a:gdLst/>
            <a:ahLst/>
            <a:cxnLst/>
            <a:rect l="l" t="t" r="r" b="b"/>
            <a:pathLst>
              <a:path w="147173" h="194182">
                <a:moveTo>
                  <a:pt x="65066" y="189470"/>
                </a:moveTo>
                <a:cubicBezTo>
                  <a:pt x="69779" y="194182"/>
                  <a:pt x="77432" y="194182"/>
                  <a:pt x="82144" y="189470"/>
                </a:cubicBezTo>
                <a:lnTo>
                  <a:pt x="142461" y="129153"/>
                </a:lnTo>
                <a:cubicBezTo>
                  <a:pt x="147173" y="124441"/>
                  <a:pt x="147173" y="116788"/>
                  <a:pt x="142461" y="112076"/>
                </a:cubicBezTo>
                <a:cubicBezTo>
                  <a:pt x="137749" y="107365"/>
                  <a:pt x="130095" y="107365"/>
                  <a:pt x="125384" y="112076"/>
                </a:cubicBezTo>
                <a:lnTo>
                  <a:pt x="85651" y="151809"/>
                </a:lnTo>
                <a:lnTo>
                  <a:pt x="85651" y="12062"/>
                </a:lnTo>
                <a:cubicBezTo>
                  <a:pt x="85651" y="5391"/>
                  <a:pt x="80259" y="0"/>
                  <a:pt x="73587" y="0"/>
                </a:cubicBezTo>
                <a:cubicBezTo>
                  <a:pt x="66914" y="0"/>
                  <a:pt x="61524" y="5391"/>
                  <a:pt x="61524" y="12062"/>
                </a:cubicBezTo>
                <a:lnTo>
                  <a:pt x="61524" y="151809"/>
                </a:lnTo>
                <a:lnTo>
                  <a:pt x="21790" y="112076"/>
                </a:lnTo>
                <a:cubicBezTo>
                  <a:pt x="17078" y="107365"/>
                  <a:pt x="9425" y="107365"/>
                  <a:pt x="4713" y="112076"/>
                </a:cubicBezTo>
                <a:cubicBezTo>
                  <a:pt x="0" y="116788"/>
                  <a:pt x="0" y="124441"/>
                  <a:pt x="4713" y="129153"/>
                </a:cubicBezTo>
                <a:lnTo>
                  <a:pt x="65030" y="189470"/>
                </a:ln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514702" y="4054423"/>
            <a:ext cx="3369688" cy="643377"/>
          </a:xfrm>
          <a:custGeom>
            <a:avLst/>
            <a:gdLst/>
            <a:ahLst/>
            <a:cxnLst/>
            <a:rect l="l" t="t" r="r" b="b"/>
            <a:pathLst>
              <a:path w="3369688" h="643377">
                <a:moveTo>
                  <a:pt x="32169" y="0"/>
                </a:moveTo>
                <a:lnTo>
                  <a:pt x="3305352" y="0"/>
                </a:lnTo>
                <a:cubicBezTo>
                  <a:pt x="3340884" y="0"/>
                  <a:pt x="3369688" y="28805"/>
                  <a:pt x="3369688" y="64338"/>
                </a:cubicBezTo>
                <a:lnTo>
                  <a:pt x="3369688" y="579040"/>
                </a:lnTo>
                <a:cubicBezTo>
                  <a:pt x="3369688" y="614572"/>
                  <a:pt x="3340884" y="643377"/>
                  <a:pt x="3305352" y="643377"/>
                </a:cubicBezTo>
                <a:lnTo>
                  <a:pt x="32169" y="643377"/>
                </a:lnTo>
                <a:cubicBezTo>
                  <a:pt x="14402" y="643377"/>
                  <a:pt x="0" y="628975"/>
                  <a:pt x="0" y="611208"/>
                </a:cubicBezTo>
                <a:lnTo>
                  <a:pt x="0" y="32169"/>
                </a:lnTo>
                <a:cubicBezTo>
                  <a:pt x="0" y="14415"/>
                  <a:pt x="14414" y="0"/>
                  <a:pt x="32169" y="0"/>
                </a:cubicBezTo>
                <a:close/>
              </a:path>
            </a:pathLst>
          </a:custGeom>
          <a:solidFill>
            <a:srgbClr val="F0FDF4">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514702" y="4054423"/>
            <a:ext cx="32169" cy="643377"/>
          </a:xfrm>
          <a:custGeom>
            <a:avLst/>
            <a:gdLst/>
            <a:ahLst/>
            <a:cxnLst/>
            <a:rect l="l" t="t" r="r" b="b"/>
            <a:pathLst>
              <a:path w="32169" h="643377">
                <a:moveTo>
                  <a:pt x="32169" y="0"/>
                </a:moveTo>
                <a:lnTo>
                  <a:pt x="32169" y="0"/>
                </a:lnTo>
                <a:lnTo>
                  <a:pt x="32169" y="643377"/>
                </a:lnTo>
                <a:lnTo>
                  <a:pt x="32169" y="643377"/>
                </a:lnTo>
                <a:cubicBezTo>
                  <a:pt x="14414" y="643377"/>
                  <a:pt x="0" y="628962"/>
                  <a:pt x="0" y="611208"/>
                </a:cubicBezTo>
                <a:lnTo>
                  <a:pt x="0" y="32169"/>
                </a:lnTo>
                <a:cubicBezTo>
                  <a:pt x="0" y="14415"/>
                  <a:pt x="14414" y="0"/>
                  <a:pt x="32169" y="0"/>
                </a:cubicBezTo>
                <a:close/>
              </a:path>
            </a:pathLst>
          </a:custGeom>
          <a:solidFill>
            <a:srgbClr val="00C950">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627293" y="4161658"/>
            <a:ext cx="707715" cy="17156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预测结果：</a:t>
            </a:r>
            <a:endParaRPr lang="en-US" sz="1100"/>
          </a:p>
        </p:txBody>
      </p:sp>
      <p:sp>
        <p:nvSpPr>
          <p:cNvPr id="23" name="AutoShape 23"/>
          <p:cNvSpPr/>
          <p:nvPr/>
        </p:nvSpPr>
        <p:spPr>
          <a:xfrm>
            <a:off x="627293" y="4376112"/>
            <a:ext cx="3241013" cy="22518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00A63E"/>
                </a:solidFill>
                <a:latin typeface="MiSans" panose="00000500000000000000" charset="-122"/>
                <a:ea typeface="MiSans" panose="00000500000000000000" charset="-122"/>
                <a:cs typeface="MiSans" panose="00000500000000000000" charset="-122"/>
                <a:sym typeface="MiSans" panose="00000500000000000000" charset="-122"/>
              </a:rPr>
              <a:t>Artificial</a:t>
            </a:r>
            <a:endParaRPr lang="en-US" sz="1100"/>
          </a:p>
        </p:txBody>
      </p:sp>
      <p:sp>
        <p:nvSpPr>
          <p:cNvPr id="24" name="Freeform 24"/>
          <p:cNvSpPr/>
          <p:nvPr/>
        </p:nvSpPr>
        <p:spPr>
          <a:xfrm>
            <a:off x="4234060" y="2341431"/>
            <a:ext cx="3723546" cy="2525257"/>
          </a:xfrm>
          <a:custGeom>
            <a:avLst/>
            <a:gdLst/>
            <a:ahLst/>
            <a:cxnLst/>
            <a:rect l="l" t="t" r="r" b="b"/>
            <a:pathLst>
              <a:path w="3723546" h="2525257">
                <a:moveTo>
                  <a:pt x="128687" y="0"/>
                </a:moveTo>
                <a:lnTo>
                  <a:pt x="3594859" y="0"/>
                </a:lnTo>
                <a:cubicBezTo>
                  <a:pt x="3665931" y="0"/>
                  <a:pt x="3723546" y="57615"/>
                  <a:pt x="3723546" y="128687"/>
                </a:cubicBezTo>
                <a:lnTo>
                  <a:pt x="3723546" y="2396569"/>
                </a:lnTo>
                <a:cubicBezTo>
                  <a:pt x="3723546" y="2467640"/>
                  <a:pt x="3665931" y="2525257"/>
                  <a:pt x="3594859" y="2525257"/>
                </a:cubicBezTo>
                <a:lnTo>
                  <a:pt x="128687" y="2525257"/>
                </a:lnTo>
                <a:cubicBezTo>
                  <a:pt x="57615" y="2525257"/>
                  <a:pt x="0" y="2467640"/>
                  <a:pt x="0" y="2396569"/>
                </a:cubicBezTo>
                <a:lnTo>
                  <a:pt x="0" y="128687"/>
                </a:lnTo>
                <a:cubicBezTo>
                  <a:pt x="0" y="57663"/>
                  <a:pt x="57663" y="0"/>
                  <a:pt x="128687" y="0"/>
                </a:cubicBezTo>
                <a:close/>
              </a:path>
            </a:pathLst>
          </a:custGeom>
          <a:solidFill>
            <a:srgbClr val="FFFFFF">
              <a:alpha val="100000"/>
            </a:srgbClr>
          </a:solidFill>
          <a:ln w="25400">
            <a:solidFill>
              <a:srgbClr val="87CEEB">
                <a:alpha val="20000"/>
              </a:srgbClr>
            </a:solidFill>
            <a:prstDash val="solid"/>
          </a:ln>
          <a:effectLst>
            <a:outerShdw blurRad="114300" dist="762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5" name="Freeform 25"/>
          <p:cNvSpPr/>
          <p:nvPr/>
        </p:nvSpPr>
        <p:spPr>
          <a:xfrm>
            <a:off x="4402946" y="2510318"/>
            <a:ext cx="386025" cy="386025"/>
          </a:xfrm>
          <a:custGeom>
            <a:avLst/>
            <a:gdLst/>
            <a:ahLst/>
            <a:cxnLst/>
            <a:rect l="l" t="t" r="r" b="b"/>
            <a:pathLst>
              <a:path w="386025" h="386025">
                <a:moveTo>
                  <a:pt x="193013" y="0"/>
                </a:moveTo>
                <a:lnTo>
                  <a:pt x="193013" y="0"/>
                </a:lnTo>
                <a:cubicBezTo>
                  <a:pt x="299611" y="0"/>
                  <a:pt x="386025" y="86415"/>
                  <a:pt x="386025" y="193013"/>
                </a:cubicBezTo>
                <a:lnTo>
                  <a:pt x="386025" y="193013"/>
                </a:lnTo>
                <a:cubicBezTo>
                  <a:pt x="386025" y="299611"/>
                  <a:pt x="299611" y="386025"/>
                  <a:pt x="193013" y="386025"/>
                </a:cubicBezTo>
                <a:lnTo>
                  <a:pt x="193013" y="386025"/>
                </a:lnTo>
                <a:cubicBezTo>
                  <a:pt x="86415" y="386025"/>
                  <a:pt x="0" y="299611"/>
                  <a:pt x="0" y="193013"/>
                </a:cubicBezTo>
                <a:lnTo>
                  <a:pt x="0" y="193013"/>
                </a:lnTo>
                <a:cubicBezTo>
                  <a:pt x="0" y="86415"/>
                  <a:pt x="86415" y="0"/>
                  <a:pt x="193013"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4550722" y="2590740"/>
            <a:ext cx="168887" cy="22518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27" name="AutoShape 27"/>
          <p:cNvSpPr/>
          <p:nvPr/>
        </p:nvSpPr>
        <p:spPr>
          <a:xfrm>
            <a:off x="4885479" y="2590740"/>
            <a:ext cx="884644" cy="22518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第二次预测</a:t>
            </a:r>
            <a:endParaRPr lang="en-US" sz="1100"/>
          </a:p>
        </p:txBody>
      </p:sp>
      <p:sp>
        <p:nvSpPr>
          <p:cNvPr id="28" name="Freeform 28"/>
          <p:cNvSpPr/>
          <p:nvPr/>
        </p:nvSpPr>
        <p:spPr>
          <a:xfrm>
            <a:off x="4402946" y="3025019"/>
            <a:ext cx="3385773" cy="643377"/>
          </a:xfrm>
          <a:custGeom>
            <a:avLst/>
            <a:gdLst/>
            <a:ahLst/>
            <a:cxnLst/>
            <a:rect l="l" t="t" r="r" b="b"/>
            <a:pathLst>
              <a:path w="3385773" h="643377">
                <a:moveTo>
                  <a:pt x="64338" y="0"/>
                </a:moveTo>
                <a:lnTo>
                  <a:pt x="3321435" y="0"/>
                </a:lnTo>
                <a:cubicBezTo>
                  <a:pt x="3356968" y="0"/>
                  <a:pt x="3385773" y="28805"/>
                  <a:pt x="3385773" y="64338"/>
                </a:cubicBezTo>
                <a:lnTo>
                  <a:pt x="3385773" y="579040"/>
                </a:lnTo>
                <a:cubicBezTo>
                  <a:pt x="3385773" y="614572"/>
                  <a:pt x="3356968" y="643377"/>
                  <a:pt x="3321435" y="643377"/>
                </a:cubicBezTo>
                <a:lnTo>
                  <a:pt x="64338" y="643377"/>
                </a:lnTo>
                <a:cubicBezTo>
                  <a:pt x="28805" y="643377"/>
                  <a:pt x="0" y="614572"/>
                  <a:pt x="0" y="579040"/>
                </a:cubicBezTo>
                <a:lnTo>
                  <a:pt x="0" y="64338"/>
                </a:lnTo>
                <a:cubicBezTo>
                  <a:pt x="0" y="28829"/>
                  <a:pt x="28829" y="0"/>
                  <a:pt x="64338" y="0"/>
                </a:cubicBezTo>
                <a:close/>
              </a:path>
            </a:pathLst>
          </a:custGeom>
          <a:solidFill>
            <a:srgbClr val="87CEEB">
              <a:alpha val="10196"/>
            </a:srgbClr>
          </a:solidFill>
          <a:ln w="12700">
            <a:noFill/>
            <a:prstDash val="solid"/>
          </a:ln>
        </p:spPr>
        <p:txBody>
          <a:bodyPr wrap="square" lIns="91440" tIns="45720" rIns="91440" bIns="45720" rtlCol="0" anchor="t">
            <a:noAutofit/>
          </a:bodyPr>
          <a:lstStyle/>
          <a:p>
            <a:pPr algn="ctr">
              <a:defRPr/>
            </a:pPr>
          </a:p>
        </p:txBody>
      </p:sp>
      <p:sp>
        <p:nvSpPr>
          <p:cNvPr id="29" name="AutoShape 29"/>
          <p:cNvSpPr/>
          <p:nvPr/>
        </p:nvSpPr>
        <p:spPr>
          <a:xfrm>
            <a:off x="4499453" y="3132254"/>
            <a:ext cx="450364" cy="17156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输入：</a:t>
            </a:r>
            <a:endParaRPr lang="en-US" sz="1100"/>
          </a:p>
        </p:txBody>
      </p:sp>
      <p:sp>
        <p:nvSpPr>
          <p:cNvPr id="30" name="AutoShape 30"/>
          <p:cNvSpPr/>
          <p:nvPr/>
        </p:nvSpPr>
        <p:spPr>
          <a:xfrm>
            <a:off x="4499453" y="3346708"/>
            <a:ext cx="3265140" cy="225182"/>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1" i="0" u="none" strike="noStrike">
                <a:solidFill>
                  <a:srgbClr val="87CEEB"/>
                </a:solidFill>
                <a:latin typeface="MiSans" panose="00000500000000000000" charset="-122"/>
                <a:ea typeface="MiSans" panose="00000500000000000000" charset="-122"/>
                <a:cs typeface="MiSans" panose="00000500000000000000" charset="-122"/>
                <a:sym typeface="MiSans" panose="00000500000000000000" charset="-122"/>
              </a:rPr>
              <a:t>"What is AI? Artificial"</a:t>
            </a:r>
            <a:endParaRPr lang="en-US" sz="1100"/>
          </a:p>
        </p:txBody>
      </p:sp>
      <p:sp>
        <p:nvSpPr>
          <p:cNvPr id="31" name="Freeform 31"/>
          <p:cNvSpPr/>
          <p:nvPr/>
        </p:nvSpPr>
        <p:spPr>
          <a:xfrm>
            <a:off x="6024172" y="3764903"/>
            <a:ext cx="147173" cy="194182"/>
          </a:xfrm>
          <a:custGeom>
            <a:avLst/>
            <a:gdLst/>
            <a:ahLst/>
            <a:cxnLst/>
            <a:rect l="l" t="t" r="r" b="b"/>
            <a:pathLst>
              <a:path w="147173" h="194182">
                <a:moveTo>
                  <a:pt x="65066" y="189470"/>
                </a:moveTo>
                <a:cubicBezTo>
                  <a:pt x="69779" y="194182"/>
                  <a:pt x="77432" y="194182"/>
                  <a:pt x="82144" y="189470"/>
                </a:cubicBezTo>
                <a:lnTo>
                  <a:pt x="142461" y="129153"/>
                </a:lnTo>
                <a:cubicBezTo>
                  <a:pt x="147173" y="124441"/>
                  <a:pt x="147173" y="116788"/>
                  <a:pt x="142461" y="112076"/>
                </a:cubicBezTo>
                <a:cubicBezTo>
                  <a:pt x="137749" y="107365"/>
                  <a:pt x="130095" y="107365"/>
                  <a:pt x="125384" y="112076"/>
                </a:cubicBezTo>
                <a:lnTo>
                  <a:pt x="85651" y="151809"/>
                </a:lnTo>
                <a:lnTo>
                  <a:pt x="85651" y="12062"/>
                </a:lnTo>
                <a:cubicBezTo>
                  <a:pt x="85651" y="5391"/>
                  <a:pt x="80259" y="0"/>
                  <a:pt x="73587" y="0"/>
                </a:cubicBezTo>
                <a:cubicBezTo>
                  <a:pt x="66914" y="0"/>
                  <a:pt x="61524" y="5391"/>
                  <a:pt x="61524" y="12062"/>
                </a:cubicBezTo>
                <a:lnTo>
                  <a:pt x="61524" y="151809"/>
                </a:lnTo>
                <a:lnTo>
                  <a:pt x="21790" y="112076"/>
                </a:lnTo>
                <a:cubicBezTo>
                  <a:pt x="17078" y="107365"/>
                  <a:pt x="9425" y="107365"/>
                  <a:pt x="4713" y="112076"/>
                </a:cubicBezTo>
                <a:cubicBezTo>
                  <a:pt x="0" y="116788"/>
                  <a:pt x="0" y="124441"/>
                  <a:pt x="4713" y="129153"/>
                </a:cubicBezTo>
                <a:lnTo>
                  <a:pt x="65030" y="189470"/>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32" name="Freeform 32"/>
          <p:cNvSpPr/>
          <p:nvPr/>
        </p:nvSpPr>
        <p:spPr>
          <a:xfrm>
            <a:off x="4419031" y="4054423"/>
            <a:ext cx="3369688" cy="643377"/>
          </a:xfrm>
          <a:custGeom>
            <a:avLst/>
            <a:gdLst/>
            <a:ahLst/>
            <a:cxnLst/>
            <a:rect l="l" t="t" r="r" b="b"/>
            <a:pathLst>
              <a:path w="3369688" h="643377">
                <a:moveTo>
                  <a:pt x="32169" y="0"/>
                </a:moveTo>
                <a:lnTo>
                  <a:pt x="3305352" y="0"/>
                </a:lnTo>
                <a:cubicBezTo>
                  <a:pt x="3340884" y="0"/>
                  <a:pt x="3369688" y="28805"/>
                  <a:pt x="3369688" y="64338"/>
                </a:cubicBezTo>
                <a:lnTo>
                  <a:pt x="3369688" y="579040"/>
                </a:lnTo>
                <a:cubicBezTo>
                  <a:pt x="3369688" y="614572"/>
                  <a:pt x="3340884" y="643377"/>
                  <a:pt x="3305352" y="643377"/>
                </a:cubicBezTo>
                <a:lnTo>
                  <a:pt x="32169" y="643377"/>
                </a:lnTo>
                <a:cubicBezTo>
                  <a:pt x="14402" y="643377"/>
                  <a:pt x="0" y="628975"/>
                  <a:pt x="0" y="611208"/>
                </a:cubicBezTo>
                <a:lnTo>
                  <a:pt x="0" y="32169"/>
                </a:lnTo>
                <a:cubicBezTo>
                  <a:pt x="0" y="14415"/>
                  <a:pt x="14415" y="0"/>
                  <a:pt x="32169" y="0"/>
                </a:cubicBezTo>
                <a:close/>
              </a:path>
            </a:pathLst>
          </a:custGeom>
          <a:solidFill>
            <a:srgbClr val="F0FDF4">
              <a:alpha val="100000"/>
            </a:srgbClr>
          </a:solidFill>
          <a:ln w="12700">
            <a:noFill/>
            <a:prstDash val="solid"/>
          </a:ln>
        </p:spPr>
        <p:txBody>
          <a:bodyPr wrap="square" lIns="91440" tIns="45720" rIns="91440" bIns="45720" rtlCol="0" anchor="t">
            <a:noAutofit/>
          </a:bodyPr>
          <a:lstStyle/>
          <a:p>
            <a:pPr algn="ctr">
              <a:defRPr/>
            </a:pPr>
          </a:p>
        </p:txBody>
      </p:sp>
      <p:sp>
        <p:nvSpPr>
          <p:cNvPr id="33" name="Freeform 33"/>
          <p:cNvSpPr/>
          <p:nvPr/>
        </p:nvSpPr>
        <p:spPr>
          <a:xfrm>
            <a:off x="4419031" y="4054423"/>
            <a:ext cx="32169" cy="643377"/>
          </a:xfrm>
          <a:custGeom>
            <a:avLst/>
            <a:gdLst/>
            <a:ahLst/>
            <a:cxnLst/>
            <a:rect l="l" t="t" r="r" b="b"/>
            <a:pathLst>
              <a:path w="32169" h="643377">
                <a:moveTo>
                  <a:pt x="32169" y="0"/>
                </a:moveTo>
                <a:lnTo>
                  <a:pt x="32169" y="0"/>
                </a:lnTo>
                <a:lnTo>
                  <a:pt x="32169" y="643377"/>
                </a:lnTo>
                <a:lnTo>
                  <a:pt x="32169" y="643377"/>
                </a:lnTo>
                <a:cubicBezTo>
                  <a:pt x="14415" y="643377"/>
                  <a:pt x="0" y="628962"/>
                  <a:pt x="0" y="611208"/>
                </a:cubicBezTo>
                <a:lnTo>
                  <a:pt x="0" y="32169"/>
                </a:lnTo>
                <a:cubicBezTo>
                  <a:pt x="0" y="14415"/>
                  <a:pt x="14415" y="0"/>
                  <a:pt x="32169" y="0"/>
                </a:cubicBezTo>
                <a:close/>
              </a:path>
            </a:pathLst>
          </a:custGeom>
          <a:solidFill>
            <a:srgbClr val="00C950">
              <a:alpha val="100000"/>
            </a:srgbClr>
          </a:solidFill>
          <a:ln w="12700">
            <a:noFill/>
            <a:prstDash val="solid"/>
          </a:ln>
        </p:spPr>
        <p:txBody>
          <a:bodyPr wrap="square" lIns="91440" tIns="45720" rIns="91440" bIns="45720" rtlCol="0" anchor="t">
            <a:noAutofit/>
          </a:bodyPr>
          <a:lstStyle/>
          <a:p>
            <a:pPr algn="ctr">
              <a:defRPr/>
            </a:pPr>
          </a:p>
        </p:txBody>
      </p:sp>
      <p:sp>
        <p:nvSpPr>
          <p:cNvPr id="34" name="AutoShape 34"/>
          <p:cNvSpPr/>
          <p:nvPr/>
        </p:nvSpPr>
        <p:spPr>
          <a:xfrm>
            <a:off x="4531622" y="4161658"/>
            <a:ext cx="707715" cy="17156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预测结果：</a:t>
            </a:r>
            <a:endParaRPr lang="en-US" sz="1100"/>
          </a:p>
        </p:txBody>
      </p:sp>
      <p:sp>
        <p:nvSpPr>
          <p:cNvPr id="35" name="AutoShape 35"/>
          <p:cNvSpPr/>
          <p:nvPr/>
        </p:nvSpPr>
        <p:spPr>
          <a:xfrm>
            <a:off x="4531622" y="4376112"/>
            <a:ext cx="3241013" cy="22518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00A63E"/>
                </a:solidFill>
                <a:latin typeface="MiSans" panose="00000500000000000000" charset="-122"/>
                <a:ea typeface="MiSans" panose="00000500000000000000" charset="-122"/>
                <a:cs typeface="MiSans" panose="00000500000000000000" charset="-122"/>
                <a:sym typeface="MiSans" panose="00000500000000000000" charset="-122"/>
              </a:rPr>
              <a:t>Intelligence</a:t>
            </a:r>
            <a:endParaRPr lang="en-US" sz="1100"/>
          </a:p>
        </p:txBody>
      </p:sp>
      <p:sp>
        <p:nvSpPr>
          <p:cNvPr id="36" name="Freeform 36"/>
          <p:cNvSpPr/>
          <p:nvPr/>
        </p:nvSpPr>
        <p:spPr>
          <a:xfrm>
            <a:off x="8138388" y="2341431"/>
            <a:ext cx="3723546" cy="2525257"/>
          </a:xfrm>
          <a:custGeom>
            <a:avLst/>
            <a:gdLst/>
            <a:ahLst/>
            <a:cxnLst/>
            <a:rect l="l" t="t" r="r" b="b"/>
            <a:pathLst>
              <a:path w="3723546" h="2525257">
                <a:moveTo>
                  <a:pt x="128687" y="0"/>
                </a:moveTo>
                <a:lnTo>
                  <a:pt x="3594859" y="0"/>
                </a:lnTo>
                <a:cubicBezTo>
                  <a:pt x="3665931" y="0"/>
                  <a:pt x="3723546" y="57615"/>
                  <a:pt x="3723546" y="128687"/>
                </a:cubicBezTo>
                <a:lnTo>
                  <a:pt x="3723546" y="2396569"/>
                </a:lnTo>
                <a:cubicBezTo>
                  <a:pt x="3723546" y="2467640"/>
                  <a:pt x="3665931" y="2525257"/>
                  <a:pt x="3594859" y="2525257"/>
                </a:cubicBezTo>
                <a:lnTo>
                  <a:pt x="128687" y="2525257"/>
                </a:lnTo>
                <a:cubicBezTo>
                  <a:pt x="57615" y="2525257"/>
                  <a:pt x="0" y="2467640"/>
                  <a:pt x="0" y="2396569"/>
                </a:cubicBezTo>
                <a:lnTo>
                  <a:pt x="0" y="128687"/>
                </a:lnTo>
                <a:cubicBezTo>
                  <a:pt x="0" y="57663"/>
                  <a:pt x="57663" y="0"/>
                  <a:pt x="128687" y="0"/>
                </a:cubicBezTo>
                <a:close/>
              </a:path>
            </a:pathLst>
          </a:custGeom>
          <a:solidFill>
            <a:srgbClr val="FFFFFF">
              <a:alpha val="100000"/>
            </a:srgbClr>
          </a:solidFill>
          <a:ln w="25400">
            <a:solidFill>
              <a:srgbClr val="1E90FF">
                <a:alpha val="20000"/>
              </a:srgbClr>
            </a:solidFill>
            <a:prstDash val="solid"/>
          </a:ln>
          <a:effectLst>
            <a:outerShdw blurRad="114300" dist="762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37" name="Freeform 37"/>
          <p:cNvSpPr/>
          <p:nvPr/>
        </p:nvSpPr>
        <p:spPr>
          <a:xfrm>
            <a:off x="8307275" y="2510318"/>
            <a:ext cx="386025" cy="386025"/>
          </a:xfrm>
          <a:custGeom>
            <a:avLst/>
            <a:gdLst/>
            <a:ahLst/>
            <a:cxnLst/>
            <a:rect l="l" t="t" r="r" b="b"/>
            <a:pathLst>
              <a:path w="386025" h="386025">
                <a:moveTo>
                  <a:pt x="193013" y="0"/>
                </a:moveTo>
                <a:lnTo>
                  <a:pt x="193013" y="0"/>
                </a:lnTo>
                <a:cubicBezTo>
                  <a:pt x="299611" y="0"/>
                  <a:pt x="386025" y="86415"/>
                  <a:pt x="386025" y="193013"/>
                </a:cubicBezTo>
                <a:lnTo>
                  <a:pt x="386025" y="193013"/>
                </a:lnTo>
                <a:cubicBezTo>
                  <a:pt x="386025" y="299611"/>
                  <a:pt x="299611" y="386025"/>
                  <a:pt x="193013" y="386025"/>
                </a:cubicBezTo>
                <a:lnTo>
                  <a:pt x="193013" y="386025"/>
                </a:lnTo>
                <a:cubicBezTo>
                  <a:pt x="86415" y="386025"/>
                  <a:pt x="0" y="299611"/>
                  <a:pt x="0" y="193013"/>
                </a:cubicBezTo>
                <a:lnTo>
                  <a:pt x="0" y="193013"/>
                </a:lnTo>
                <a:cubicBezTo>
                  <a:pt x="0" y="86415"/>
                  <a:pt x="86415" y="0"/>
                  <a:pt x="193013"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38" name="Freeform 38"/>
          <p:cNvSpPr/>
          <p:nvPr/>
        </p:nvSpPr>
        <p:spPr>
          <a:xfrm>
            <a:off x="8412012" y="2615055"/>
            <a:ext cx="168698" cy="176552"/>
          </a:xfrm>
          <a:custGeom>
            <a:avLst/>
            <a:gdLst/>
            <a:ahLst/>
            <a:cxnLst/>
            <a:rect l="l" t="t" r="r" b="b"/>
            <a:pathLst>
              <a:path w="168698" h="176552">
                <a:moveTo>
                  <a:pt x="145043" y="31321"/>
                </a:moveTo>
                <a:lnTo>
                  <a:pt x="148593" y="34681"/>
                </a:lnTo>
                <a:lnTo>
                  <a:pt x="148593" y="17907"/>
                </a:lnTo>
                <a:cubicBezTo>
                  <a:pt x="148593" y="12346"/>
                  <a:pt x="153085" y="7854"/>
                  <a:pt x="158646" y="7854"/>
                </a:cubicBezTo>
                <a:cubicBezTo>
                  <a:pt x="164206" y="7854"/>
                  <a:pt x="168698" y="12346"/>
                  <a:pt x="168698" y="17907"/>
                </a:cubicBezTo>
                <a:lnTo>
                  <a:pt x="168698" y="58118"/>
                </a:lnTo>
                <a:cubicBezTo>
                  <a:pt x="168698" y="63678"/>
                  <a:pt x="164206" y="68171"/>
                  <a:pt x="158646" y="68171"/>
                </a:cubicBezTo>
                <a:lnTo>
                  <a:pt x="118434" y="68171"/>
                </a:lnTo>
                <a:cubicBezTo>
                  <a:pt x="112874" y="68171"/>
                  <a:pt x="108382" y="63678"/>
                  <a:pt x="108382" y="58118"/>
                </a:cubicBezTo>
                <a:cubicBezTo>
                  <a:pt x="108382" y="52557"/>
                  <a:pt x="112874" y="48065"/>
                  <a:pt x="118434" y="48065"/>
                </a:cubicBezTo>
                <a:lnTo>
                  <a:pt x="133482" y="48065"/>
                </a:lnTo>
                <a:lnTo>
                  <a:pt x="131095" y="45803"/>
                </a:lnTo>
                <a:cubicBezTo>
                  <a:pt x="131033" y="45739"/>
                  <a:pt x="130969" y="45678"/>
                  <a:pt x="130906" y="45615"/>
                </a:cubicBezTo>
                <a:cubicBezTo>
                  <a:pt x="107345" y="22054"/>
                  <a:pt x="69176" y="22054"/>
                  <a:pt x="45615" y="45615"/>
                </a:cubicBezTo>
                <a:cubicBezTo>
                  <a:pt x="22054" y="69176"/>
                  <a:pt x="22054" y="107345"/>
                  <a:pt x="45615" y="130906"/>
                </a:cubicBezTo>
                <a:cubicBezTo>
                  <a:pt x="69176" y="154467"/>
                  <a:pt x="107345" y="154467"/>
                  <a:pt x="130906" y="130906"/>
                </a:cubicBezTo>
                <a:cubicBezTo>
                  <a:pt x="133482" y="128330"/>
                  <a:pt x="135776" y="125597"/>
                  <a:pt x="137786" y="122706"/>
                </a:cubicBezTo>
                <a:cubicBezTo>
                  <a:pt x="140959" y="118152"/>
                  <a:pt x="147242" y="117052"/>
                  <a:pt x="151797" y="120225"/>
                </a:cubicBezTo>
                <a:cubicBezTo>
                  <a:pt x="156353" y="123399"/>
                  <a:pt x="157452" y="129681"/>
                  <a:pt x="154279" y="134236"/>
                </a:cubicBezTo>
                <a:cubicBezTo>
                  <a:pt x="151609" y="138068"/>
                  <a:pt x="148561" y="141713"/>
                  <a:pt x="145137" y="145137"/>
                </a:cubicBezTo>
                <a:cubicBezTo>
                  <a:pt x="113722" y="176552"/>
                  <a:pt x="62799" y="176552"/>
                  <a:pt x="31415" y="145137"/>
                </a:cubicBezTo>
                <a:cubicBezTo>
                  <a:pt x="32" y="113722"/>
                  <a:pt x="0" y="62830"/>
                  <a:pt x="31415" y="31415"/>
                </a:cubicBezTo>
                <a:cubicBezTo>
                  <a:pt x="62799" y="32"/>
                  <a:pt x="113628" y="0"/>
                  <a:pt x="145043" y="31321"/>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9" name="AutoShape 39"/>
          <p:cNvSpPr/>
          <p:nvPr/>
        </p:nvSpPr>
        <p:spPr>
          <a:xfrm>
            <a:off x="8789808" y="2590740"/>
            <a:ext cx="723799" cy="22518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不断重复</a:t>
            </a:r>
            <a:endParaRPr lang="en-US" sz="1100"/>
          </a:p>
        </p:txBody>
      </p:sp>
      <p:sp>
        <p:nvSpPr>
          <p:cNvPr id="40" name="Freeform 40"/>
          <p:cNvSpPr/>
          <p:nvPr/>
        </p:nvSpPr>
        <p:spPr>
          <a:xfrm>
            <a:off x="8307275" y="3025019"/>
            <a:ext cx="3385773" cy="402111"/>
          </a:xfrm>
          <a:custGeom>
            <a:avLst/>
            <a:gdLst/>
            <a:ahLst/>
            <a:cxnLst/>
            <a:rect l="l" t="t" r="r" b="b"/>
            <a:pathLst>
              <a:path w="3385773" h="402111">
                <a:moveTo>
                  <a:pt x="64338" y="0"/>
                </a:moveTo>
                <a:lnTo>
                  <a:pt x="3321435" y="0"/>
                </a:lnTo>
                <a:cubicBezTo>
                  <a:pt x="3356968" y="0"/>
                  <a:pt x="3385773" y="28805"/>
                  <a:pt x="3385773" y="64338"/>
                </a:cubicBezTo>
                <a:lnTo>
                  <a:pt x="3385773" y="337773"/>
                </a:lnTo>
                <a:cubicBezTo>
                  <a:pt x="3385773" y="373306"/>
                  <a:pt x="3356968" y="402111"/>
                  <a:pt x="3321435" y="402111"/>
                </a:cubicBezTo>
                <a:lnTo>
                  <a:pt x="64338" y="402111"/>
                </a:lnTo>
                <a:cubicBezTo>
                  <a:pt x="28805" y="402111"/>
                  <a:pt x="0" y="373306"/>
                  <a:pt x="0" y="337773"/>
                </a:cubicBezTo>
                <a:lnTo>
                  <a:pt x="0" y="64338"/>
                </a:lnTo>
                <a:cubicBezTo>
                  <a:pt x="0" y="28829"/>
                  <a:pt x="28829" y="0"/>
                  <a:pt x="64338" y="0"/>
                </a:cubicBezTo>
                <a:close/>
              </a:path>
            </a:pathLst>
          </a:custGeom>
          <a:solidFill>
            <a:srgbClr val="1E90FF">
              <a:alpha val="10196"/>
            </a:srgbClr>
          </a:solidFill>
          <a:ln w="12700">
            <a:noFill/>
            <a:prstDash val="solid"/>
          </a:ln>
        </p:spPr>
        <p:txBody>
          <a:bodyPr wrap="square" lIns="91440" tIns="45720" rIns="91440" bIns="45720" rtlCol="0" anchor="t">
            <a:noAutofit/>
          </a:bodyPr>
          <a:lstStyle/>
          <a:p>
            <a:pPr algn="ctr">
              <a:defRPr/>
            </a:pPr>
          </a:p>
        </p:txBody>
      </p:sp>
      <p:sp>
        <p:nvSpPr>
          <p:cNvPr id="41" name="AutoShape 41"/>
          <p:cNvSpPr/>
          <p:nvPr/>
        </p:nvSpPr>
        <p:spPr>
          <a:xfrm>
            <a:off x="8403781" y="3121526"/>
            <a:ext cx="3257098" cy="209098"/>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模型</a:t>
            </a:r>
            <a:r>
              <a:rPr lang="en-US" sz="10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循环</a:t>
            </a:r>
            <a:r>
              <a:rPr lang="en-US" sz="1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，直到生成完整的回答。</a:t>
            </a:r>
            <a:endParaRPr lang="en-US" sz="1100"/>
          </a:p>
        </p:txBody>
      </p:sp>
      <p:sp>
        <p:nvSpPr>
          <p:cNvPr id="42" name="Freeform 42"/>
          <p:cNvSpPr/>
          <p:nvPr/>
        </p:nvSpPr>
        <p:spPr>
          <a:xfrm>
            <a:off x="8323359" y="3523637"/>
            <a:ext cx="3369688" cy="643377"/>
          </a:xfrm>
          <a:custGeom>
            <a:avLst/>
            <a:gdLst/>
            <a:ahLst/>
            <a:cxnLst/>
            <a:rect l="l" t="t" r="r" b="b"/>
            <a:pathLst>
              <a:path w="3369688" h="643377">
                <a:moveTo>
                  <a:pt x="32169" y="0"/>
                </a:moveTo>
                <a:lnTo>
                  <a:pt x="3305352" y="0"/>
                </a:lnTo>
                <a:cubicBezTo>
                  <a:pt x="3340884" y="0"/>
                  <a:pt x="3369688" y="28805"/>
                  <a:pt x="3369688" y="64338"/>
                </a:cubicBezTo>
                <a:lnTo>
                  <a:pt x="3369688" y="579040"/>
                </a:lnTo>
                <a:cubicBezTo>
                  <a:pt x="3369688" y="614572"/>
                  <a:pt x="3340884" y="643377"/>
                  <a:pt x="3305352" y="643377"/>
                </a:cubicBezTo>
                <a:lnTo>
                  <a:pt x="32169" y="643377"/>
                </a:lnTo>
                <a:cubicBezTo>
                  <a:pt x="14402" y="643377"/>
                  <a:pt x="0" y="628975"/>
                  <a:pt x="0" y="611208"/>
                </a:cubicBezTo>
                <a:lnTo>
                  <a:pt x="0" y="32169"/>
                </a:lnTo>
                <a:cubicBezTo>
                  <a:pt x="0" y="14415"/>
                  <a:pt x="14415" y="0"/>
                  <a:pt x="32169" y="0"/>
                </a:cubicBezTo>
                <a:close/>
              </a:path>
            </a:pathLst>
          </a:custGeom>
          <a:solidFill>
            <a:srgbClr val="F0FDF4">
              <a:alpha val="100000"/>
            </a:srgbClr>
          </a:solidFill>
          <a:ln w="12700">
            <a:noFill/>
            <a:prstDash val="solid"/>
          </a:ln>
        </p:spPr>
        <p:txBody>
          <a:bodyPr wrap="square" lIns="91440" tIns="45720" rIns="91440" bIns="45720" rtlCol="0" anchor="t">
            <a:noAutofit/>
          </a:bodyPr>
          <a:lstStyle/>
          <a:p>
            <a:pPr algn="ctr">
              <a:defRPr/>
            </a:pPr>
          </a:p>
        </p:txBody>
      </p:sp>
      <p:sp>
        <p:nvSpPr>
          <p:cNvPr id="43" name="Freeform 43"/>
          <p:cNvSpPr/>
          <p:nvPr/>
        </p:nvSpPr>
        <p:spPr>
          <a:xfrm>
            <a:off x="8323359" y="3523637"/>
            <a:ext cx="32169" cy="643377"/>
          </a:xfrm>
          <a:custGeom>
            <a:avLst/>
            <a:gdLst/>
            <a:ahLst/>
            <a:cxnLst/>
            <a:rect l="l" t="t" r="r" b="b"/>
            <a:pathLst>
              <a:path w="32169" h="643377">
                <a:moveTo>
                  <a:pt x="32169" y="0"/>
                </a:moveTo>
                <a:lnTo>
                  <a:pt x="32169" y="0"/>
                </a:lnTo>
                <a:lnTo>
                  <a:pt x="32169" y="643377"/>
                </a:lnTo>
                <a:lnTo>
                  <a:pt x="32169" y="643377"/>
                </a:lnTo>
                <a:cubicBezTo>
                  <a:pt x="14415" y="643377"/>
                  <a:pt x="0" y="628962"/>
                  <a:pt x="0" y="611208"/>
                </a:cubicBezTo>
                <a:lnTo>
                  <a:pt x="0" y="32169"/>
                </a:lnTo>
                <a:cubicBezTo>
                  <a:pt x="0" y="14415"/>
                  <a:pt x="14415" y="0"/>
                  <a:pt x="32169" y="0"/>
                </a:cubicBezTo>
                <a:close/>
              </a:path>
            </a:pathLst>
          </a:custGeom>
          <a:solidFill>
            <a:srgbClr val="00C950">
              <a:alpha val="100000"/>
            </a:srgbClr>
          </a:solidFill>
          <a:ln w="12700">
            <a:noFill/>
            <a:prstDash val="solid"/>
          </a:ln>
        </p:spPr>
        <p:txBody>
          <a:bodyPr wrap="square" lIns="91440" tIns="45720" rIns="91440" bIns="45720" rtlCol="0" anchor="t">
            <a:noAutofit/>
          </a:bodyPr>
          <a:lstStyle/>
          <a:p>
            <a:pPr algn="ctr">
              <a:defRPr/>
            </a:pPr>
          </a:p>
        </p:txBody>
      </p:sp>
      <p:sp>
        <p:nvSpPr>
          <p:cNvPr id="44" name="AutoShape 44"/>
          <p:cNvSpPr/>
          <p:nvPr/>
        </p:nvSpPr>
        <p:spPr>
          <a:xfrm>
            <a:off x="8435950" y="3630872"/>
            <a:ext cx="707715" cy="17156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最终输出：</a:t>
            </a:r>
            <a:endParaRPr lang="en-US" sz="1100"/>
          </a:p>
        </p:txBody>
      </p:sp>
      <p:sp>
        <p:nvSpPr>
          <p:cNvPr id="45" name="AutoShape 45"/>
          <p:cNvSpPr/>
          <p:nvPr/>
        </p:nvSpPr>
        <p:spPr>
          <a:xfrm>
            <a:off x="8435950" y="3845325"/>
            <a:ext cx="3232971" cy="225182"/>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1" i="0" u="none" strike="noStrike">
                <a:solidFill>
                  <a:srgbClr val="00A63E"/>
                </a:solidFill>
                <a:latin typeface="MiSans" panose="00000500000000000000" charset="-122"/>
                <a:ea typeface="MiSans" panose="00000500000000000000" charset="-122"/>
                <a:cs typeface="MiSans" panose="00000500000000000000" charset="-122"/>
                <a:sym typeface="MiSans" panose="00000500000000000000" charset="-122"/>
              </a:rPr>
              <a:t>"Artificial Intelligence is..."</a:t>
            </a:r>
            <a:endParaRPr lang="en-US" sz="1100"/>
          </a:p>
        </p:txBody>
      </p:sp>
    </p:spTree>
  </p:cSld>
  <p:clrMapOvr>
    <a:masterClrMapping/>
  </p:clrMapOvr>
  <p:transition spd="slow">
    <p:fad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Part 2 流程总结</a:t>
            </a:r>
            <a:endParaRPr lang="en-US" sz="1100"/>
          </a:p>
        </p:txBody>
      </p:sp>
      <p:sp>
        <p:nvSpPr>
          <p:cNvPr id="3" name="AutoShape 3"/>
          <p:cNvSpPr/>
          <p:nvPr/>
        </p:nvSpPr>
        <p:spPr>
          <a:xfrm>
            <a:off x="873125" y="2510415"/>
            <a:ext cx="942975" cy="838200"/>
          </a:xfrm>
          <a:prstGeom prst="rect">
            <a:avLst/>
          </a:prstGeom>
          <a:noFill/>
          <a:ln w="12700">
            <a:solidFill>
              <a:srgbClr val="5B92E5">
                <a:alpha val="100000"/>
              </a:srgbClr>
            </a:solidFill>
            <a:prstDash val="solid"/>
          </a:ln>
        </p:spPr>
        <p:txBody>
          <a:bodyPr wrap="square" lIns="228600" tIns="152400" rIns="228600" bIns="152400" rtlCol="0" anchor="ctr">
            <a:noAutofit/>
          </a:bodyPr>
          <a:lstStyle/>
          <a:p>
            <a:pPr indent="0" algn="l">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输入文本</a:t>
            </a:r>
            <a:endParaRPr lang="en-US" sz="1100"/>
          </a:p>
        </p:txBody>
      </p:sp>
      <p:sp>
        <p:nvSpPr>
          <p:cNvPr id="4" name="AutoShape 4"/>
          <p:cNvSpPr/>
          <p:nvPr/>
        </p:nvSpPr>
        <p:spPr>
          <a:xfrm>
            <a:off x="8980170" y="2510415"/>
            <a:ext cx="942975" cy="838200"/>
          </a:xfrm>
          <a:prstGeom prst="rect">
            <a:avLst/>
          </a:prstGeom>
          <a:noFill/>
          <a:ln w="12700">
            <a:solidFill>
              <a:srgbClr val="5B92E5">
                <a:alpha val="100000"/>
              </a:srgbClr>
            </a:solidFill>
            <a:prstDash val="solid"/>
          </a:ln>
        </p:spPr>
        <p:txBody>
          <a:bodyPr wrap="square" lIns="228600" tIns="152400" rIns="228600" bIns="152400" rtlCol="0" anchor="ctr">
            <a:noAutofit/>
          </a:bodyPr>
          <a:lstStyle/>
          <a:p>
            <a:pPr indent="0" algn="l">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输入文本</a:t>
            </a:r>
            <a:endParaRPr lang="en-US" sz="1100"/>
          </a:p>
        </p:txBody>
      </p:sp>
      <p:sp>
        <p:nvSpPr>
          <p:cNvPr id="5" name="AutoShape 5"/>
          <p:cNvSpPr/>
          <p:nvPr/>
        </p:nvSpPr>
        <p:spPr>
          <a:xfrm>
            <a:off x="923925" y="3348355"/>
            <a:ext cx="923925" cy="4572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"What is AI?"</a:t>
            </a:r>
            <a:endParaRPr lang="en-US" sz="1100"/>
          </a:p>
        </p:txBody>
      </p:sp>
      <p:sp>
        <p:nvSpPr>
          <p:cNvPr id="6" name="Freeform 6"/>
          <p:cNvSpPr/>
          <p:nvPr/>
        </p:nvSpPr>
        <p:spPr>
          <a:xfrm>
            <a:off x="2028058" y="2925144"/>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grpSp>
        <p:nvGrpSpPr>
          <p:cNvPr id="7" name="Group 7"/>
          <p:cNvGrpSpPr/>
          <p:nvPr/>
        </p:nvGrpSpPr>
        <p:grpSpPr>
          <a:xfrm>
            <a:off x="923925" y="2368550"/>
            <a:ext cx="8949055" cy="1482090"/>
            <a:chOff x="923925" y="2368550"/>
            <a:chExt cx="8949055" cy="1482090"/>
          </a:xfrm>
        </p:grpSpPr>
        <p:sp>
          <p:nvSpPr>
            <p:cNvPr id="8" name="Freeform 8"/>
            <p:cNvSpPr/>
            <p:nvPr/>
          </p:nvSpPr>
          <p:spPr>
            <a:xfrm>
              <a:off x="2525395" y="2368550"/>
              <a:ext cx="1341120" cy="1482090"/>
            </a:xfrm>
            <a:custGeom>
              <a:avLst/>
              <a:gdLst/>
              <a:ahLst/>
              <a:cxnLst/>
              <a:rect l="l" t="t" r="r" b="b"/>
              <a:pathLst>
                <a:path w="1341120" h="1482090">
                  <a:moveTo>
                    <a:pt x="114280" y="0"/>
                  </a:moveTo>
                  <a:lnTo>
                    <a:pt x="1226840" y="0"/>
                  </a:lnTo>
                  <a:cubicBezTo>
                    <a:pt x="1289956" y="0"/>
                    <a:pt x="1341120" y="59501"/>
                    <a:pt x="1341120" y="132899"/>
                  </a:cubicBezTo>
                  <a:lnTo>
                    <a:pt x="1341120" y="1349191"/>
                  </a:lnTo>
                  <a:cubicBezTo>
                    <a:pt x="1341120" y="1422589"/>
                    <a:pt x="1289956" y="1482090"/>
                    <a:pt x="1226840" y="1482090"/>
                  </a:cubicBezTo>
                  <a:lnTo>
                    <a:pt x="114280" y="1482090"/>
                  </a:lnTo>
                  <a:cubicBezTo>
                    <a:pt x="51166" y="1482090"/>
                    <a:pt x="0" y="1422589"/>
                    <a:pt x="0" y="1349191"/>
                  </a:cubicBezTo>
                  <a:lnTo>
                    <a:pt x="0" y="132899"/>
                  </a:lnTo>
                  <a:cubicBezTo>
                    <a:pt x="0" y="59550"/>
                    <a:pt x="51208" y="0"/>
                    <a:pt x="114280" y="0"/>
                  </a:cubicBezTo>
                  <a:close/>
                </a:path>
              </a:pathLst>
            </a:custGeom>
            <a:no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9" name="AutoShape 9"/>
            <p:cNvSpPr/>
            <p:nvPr/>
          </p:nvSpPr>
          <p:spPr>
            <a:xfrm>
              <a:off x="2643505" y="2624455"/>
              <a:ext cx="110490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Step 1</a:t>
              </a:r>
              <a:endParaRPr lang="en-US" sz="1100"/>
            </a:p>
          </p:txBody>
        </p:sp>
        <p:sp>
          <p:nvSpPr>
            <p:cNvPr id="10" name="AutoShape 10"/>
            <p:cNvSpPr/>
            <p:nvPr/>
          </p:nvSpPr>
          <p:spPr>
            <a:xfrm>
              <a:off x="2648585" y="2967355"/>
              <a:ext cx="109537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输入处理</a:t>
              </a:r>
              <a:endParaRPr lang="en-US" sz="1100"/>
            </a:p>
          </p:txBody>
        </p:sp>
        <p:sp>
          <p:nvSpPr>
            <p:cNvPr id="11" name="AutoShape 11"/>
            <p:cNvSpPr/>
            <p:nvPr/>
          </p:nvSpPr>
          <p:spPr>
            <a:xfrm>
              <a:off x="2653030" y="3195955"/>
              <a:ext cx="108585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分词→向量化→位置编码</a:t>
              </a:r>
              <a:endParaRPr lang="en-US" sz="1100"/>
            </a:p>
          </p:txBody>
        </p:sp>
        <p:sp>
          <p:nvSpPr>
            <p:cNvPr id="12" name="AutoShape 12"/>
            <p:cNvSpPr/>
            <p:nvPr/>
          </p:nvSpPr>
          <p:spPr>
            <a:xfrm>
              <a:off x="923925" y="2814955"/>
              <a:ext cx="81534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提示词</a:t>
              </a:r>
              <a:endParaRPr lang="en-US" sz="1100"/>
            </a:p>
          </p:txBody>
        </p:sp>
        <p:sp>
          <p:nvSpPr>
            <p:cNvPr id="13" name="AutoShape 13"/>
            <p:cNvSpPr/>
            <p:nvPr/>
          </p:nvSpPr>
          <p:spPr>
            <a:xfrm>
              <a:off x="9057640" y="2814955"/>
              <a:ext cx="81534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输出文本</a:t>
              </a:r>
              <a:endParaRPr lang="en-US" sz="1100"/>
            </a:p>
          </p:txBody>
        </p:sp>
      </p:grpSp>
      <p:sp>
        <p:nvSpPr>
          <p:cNvPr id="14" name="Freeform 14"/>
          <p:cNvSpPr/>
          <p:nvPr/>
        </p:nvSpPr>
        <p:spPr>
          <a:xfrm>
            <a:off x="4107900" y="2925144"/>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6218892" y="2925144"/>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8429441" y="2925144"/>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5" y="6976"/>
                </a:cubicBezTo>
                <a:cubicBezTo>
                  <a:pt x="158948" y="13952"/>
                  <a:pt x="158948" y="25282"/>
                  <a:pt x="165925" y="32258"/>
                </a:cubicBezTo>
                <a:lnTo>
                  <a:pt x="224749" y="91083"/>
                </a:lnTo>
                <a:lnTo>
                  <a:pt x="17859" y="91083"/>
                </a:lnTo>
                <a:cubicBezTo>
                  <a:pt x="7981" y="91083"/>
                  <a:pt x="0" y="99064"/>
                  <a:pt x="0" y="108942"/>
                </a:cubicBezTo>
                <a:cubicBezTo>
                  <a:pt x="0" y="118820"/>
                  <a:pt x="7981" y="126801"/>
                  <a:pt x="17859" y="126801"/>
                </a:cubicBezTo>
                <a:lnTo>
                  <a:pt x="224749" y="126801"/>
                </a:lnTo>
                <a:lnTo>
                  <a:pt x="165925" y="185626"/>
                </a:lnTo>
                <a:cubicBezTo>
                  <a:pt x="158948" y="192602"/>
                  <a:pt x="158948" y="203932"/>
                  <a:pt x="165925"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9019540" y="3475990"/>
            <a:ext cx="1327150" cy="4572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"Artificial Intelligence is..."</a:t>
            </a:r>
            <a:endParaRPr lang="en-US" sz="1100"/>
          </a:p>
        </p:txBody>
      </p:sp>
      <p:grpSp>
        <p:nvGrpSpPr>
          <p:cNvPr id="18" name="Group 18"/>
          <p:cNvGrpSpPr/>
          <p:nvPr/>
        </p:nvGrpSpPr>
        <p:grpSpPr>
          <a:xfrm>
            <a:off x="4595495" y="2369185"/>
            <a:ext cx="1341120" cy="1482090"/>
            <a:chOff x="4595495" y="2369185"/>
            <a:chExt cx="1341120" cy="1482090"/>
          </a:xfrm>
        </p:grpSpPr>
        <p:sp>
          <p:nvSpPr>
            <p:cNvPr id="19" name="Freeform 19"/>
            <p:cNvSpPr/>
            <p:nvPr/>
          </p:nvSpPr>
          <p:spPr>
            <a:xfrm>
              <a:off x="4595495" y="2369185"/>
              <a:ext cx="1341120" cy="1482090"/>
            </a:xfrm>
            <a:custGeom>
              <a:avLst/>
              <a:gdLst/>
              <a:ahLst/>
              <a:cxnLst/>
              <a:rect l="l" t="t" r="r" b="b"/>
              <a:pathLst>
                <a:path w="1341120" h="1482090">
                  <a:moveTo>
                    <a:pt x="114280" y="0"/>
                  </a:moveTo>
                  <a:lnTo>
                    <a:pt x="1226840" y="0"/>
                  </a:lnTo>
                  <a:cubicBezTo>
                    <a:pt x="1289956" y="0"/>
                    <a:pt x="1341120" y="59501"/>
                    <a:pt x="1341120" y="132899"/>
                  </a:cubicBezTo>
                  <a:lnTo>
                    <a:pt x="1341120" y="1349191"/>
                  </a:lnTo>
                  <a:cubicBezTo>
                    <a:pt x="1341120" y="1422589"/>
                    <a:pt x="1289956" y="1482090"/>
                    <a:pt x="1226840" y="1482090"/>
                  </a:cubicBezTo>
                  <a:lnTo>
                    <a:pt x="114280" y="1482090"/>
                  </a:lnTo>
                  <a:cubicBezTo>
                    <a:pt x="51166" y="1482090"/>
                    <a:pt x="0" y="1422589"/>
                    <a:pt x="0" y="1349191"/>
                  </a:cubicBezTo>
                  <a:lnTo>
                    <a:pt x="0" y="132899"/>
                  </a:lnTo>
                  <a:cubicBezTo>
                    <a:pt x="0" y="59550"/>
                    <a:pt x="51208" y="0"/>
                    <a:pt x="114280" y="0"/>
                  </a:cubicBezTo>
                  <a:close/>
                </a:path>
              </a:pathLst>
            </a:custGeom>
            <a:no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20" name="AutoShape 20"/>
            <p:cNvSpPr/>
            <p:nvPr/>
          </p:nvSpPr>
          <p:spPr>
            <a:xfrm>
              <a:off x="4713605" y="2625090"/>
              <a:ext cx="110490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Step 2</a:t>
              </a:r>
              <a:endParaRPr lang="en-US" sz="1100"/>
            </a:p>
          </p:txBody>
        </p:sp>
        <p:sp>
          <p:nvSpPr>
            <p:cNvPr id="21" name="AutoShape 21"/>
            <p:cNvSpPr/>
            <p:nvPr/>
          </p:nvSpPr>
          <p:spPr>
            <a:xfrm>
              <a:off x="4718685" y="2967990"/>
              <a:ext cx="109537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逐层计算</a:t>
              </a:r>
              <a:endParaRPr lang="en-US" sz="1100"/>
            </a:p>
          </p:txBody>
        </p:sp>
        <p:sp>
          <p:nvSpPr>
            <p:cNvPr id="22" name="AutoShape 22"/>
            <p:cNvSpPr/>
            <p:nvPr/>
          </p:nvSpPr>
          <p:spPr>
            <a:xfrm>
              <a:off x="4723130" y="3196590"/>
              <a:ext cx="108585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多角度理解→深度加工→多层堆叠</a:t>
              </a:r>
              <a:endParaRPr lang="en-US" sz="1100"/>
            </a:p>
          </p:txBody>
        </p:sp>
      </p:grpSp>
      <p:grpSp>
        <p:nvGrpSpPr>
          <p:cNvPr id="23" name="Group 23"/>
          <p:cNvGrpSpPr/>
          <p:nvPr/>
        </p:nvGrpSpPr>
        <p:grpSpPr>
          <a:xfrm>
            <a:off x="6762750" y="2368550"/>
            <a:ext cx="1341120" cy="1482090"/>
            <a:chOff x="6762750" y="2368550"/>
            <a:chExt cx="1341120" cy="1482090"/>
          </a:xfrm>
        </p:grpSpPr>
        <p:sp>
          <p:nvSpPr>
            <p:cNvPr id="24" name="Freeform 24"/>
            <p:cNvSpPr/>
            <p:nvPr/>
          </p:nvSpPr>
          <p:spPr>
            <a:xfrm>
              <a:off x="6762750" y="2368550"/>
              <a:ext cx="1341120" cy="1482090"/>
            </a:xfrm>
            <a:custGeom>
              <a:avLst/>
              <a:gdLst/>
              <a:ahLst/>
              <a:cxnLst/>
              <a:rect l="l" t="t" r="r" b="b"/>
              <a:pathLst>
                <a:path w="1341120" h="1482090">
                  <a:moveTo>
                    <a:pt x="114280" y="0"/>
                  </a:moveTo>
                  <a:lnTo>
                    <a:pt x="1226840" y="0"/>
                  </a:lnTo>
                  <a:cubicBezTo>
                    <a:pt x="1289956" y="0"/>
                    <a:pt x="1341120" y="59501"/>
                    <a:pt x="1341120" y="132899"/>
                  </a:cubicBezTo>
                  <a:lnTo>
                    <a:pt x="1341120" y="1349191"/>
                  </a:lnTo>
                  <a:cubicBezTo>
                    <a:pt x="1341120" y="1422589"/>
                    <a:pt x="1289956" y="1482090"/>
                    <a:pt x="1226840" y="1482090"/>
                  </a:cubicBezTo>
                  <a:lnTo>
                    <a:pt x="114280" y="1482090"/>
                  </a:lnTo>
                  <a:cubicBezTo>
                    <a:pt x="51166" y="1482090"/>
                    <a:pt x="0" y="1422589"/>
                    <a:pt x="0" y="1349191"/>
                  </a:cubicBezTo>
                  <a:lnTo>
                    <a:pt x="0" y="132899"/>
                  </a:lnTo>
                  <a:cubicBezTo>
                    <a:pt x="0" y="59550"/>
                    <a:pt x="51208" y="0"/>
                    <a:pt x="114280" y="0"/>
                  </a:cubicBezTo>
                  <a:close/>
                </a:path>
              </a:pathLst>
            </a:custGeom>
            <a:no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25" name="AutoShape 25"/>
            <p:cNvSpPr/>
            <p:nvPr/>
          </p:nvSpPr>
          <p:spPr>
            <a:xfrm>
              <a:off x="6880860" y="2624455"/>
              <a:ext cx="110490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Step 3</a:t>
              </a:r>
              <a:endParaRPr lang="en-US" sz="1100"/>
            </a:p>
          </p:txBody>
        </p:sp>
        <p:sp>
          <p:nvSpPr>
            <p:cNvPr id="26" name="AutoShape 26"/>
            <p:cNvSpPr/>
            <p:nvPr/>
          </p:nvSpPr>
          <p:spPr>
            <a:xfrm>
              <a:off x="6885940" y="2967355"/>
              <a:ext cx="109537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预测</a:t>
              </a:r>
              <a:endParaRPr lang="en-US" sz="1100"/>
            </a:p>
          </p:txBody>
        </p:sp>
        <p:sp>
          <p:nvSpPr>
            <p:cNvPr id="27" name="AutoShape 27"/>
            <p:cNvSpPr/>
            <p:nvPr/>
          </p:nvSpPr>
          <p:spPr>
            <a:xfrm>
              <a:off x="6890385" y="3195955"/>
              <a:ext cx="108585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思维链→概率计算→采样</a:t>
              </a:r>
              <a:endParaRPr lang="en-US" sz="1100"/>
            </a:p>
          </p:txBody>
        </p:sp>
      </p:grpSp>
    </p:spTree>
  </p:cSld>
  <p:clrMapOvr>
    <a:masterClrMapping/>
  </p:clrMapOvr>
  <p:transition spd="slow">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063180" y="1291010"/>
            <a:ext cx="6067425" cy="6858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3600" b="0" i="0" u="none" strike="noStrike">
                <a:solidFill>
                  <a:srgbClr val="5B92E5"/>
                </a:solidFill>
                <a:latin typeface="Alimama ShuHeiTi"/>
                <a:ea typeface="Alimama ShuHeiTi"/>
                <a:cs typeface="Alimama ShuHeiTi"/>
                <a:sym typeface="Alimama ShuHeiTi"/>
              </a:rPr>
              <a:t>大模型的能力从何而来？</a:t>
            </a:r>
            <a:endParaRPr lang="en-US" sz="1100"/>
          </a:p>
        </p:txBody>
      </p:sp>
      <p:sp>
        <p:nvSpPr>
          <p:cNvPr id="3" name="AutoShape 3"/>
          <p:cNvSpPr/>
          <p:nvPr/>
        </p:nvSpPr>
        <p:spPr>
          <a:xfrm>
            <a:off x="3107631" y="2357698"/>
            <a:ext cx="5978525" cy="457200"/>
          </a:xfrm>
          <a:prstGeom prst="rect">
            <a:avLst/>
          </a:prstGeom>
          <a:noFill/>
          <a:ln w="12700">
            <a:noFill/>
            <a:prstDash val="solid"/>
          </a:ln>
        </p:spPr>
        <p:txBody>
          <a:bodyPr wrap="square" lIns="0" tIns="0" rIns="0" bIns="0" rtlCol="0" anchor="ctr">
            <a:noAutofit/>
          </a:bodyPr>
          <a:lstStyle/>
          <a:p>
            <a:pPr indent="0" algn="ctr">
              <a:lnSpc>
                <a:spcPct val="142000"/>
              </a:lnSpc>
              <a:defRPr/>
            </a:pP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从</a:t>
            </a:r>
            <a:r>
              <a:rPr lang="en-US" sz="22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AI应用</a:t>
            </a: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我们了解了AI的能力</a:t>
            </a:r>
            <a:endParaRPr lang="en-US" sz="1100"/>
          </a:p>
        </p:txBody>
      </p:sp>
      <p:sp>
        <p:nvSpPr>
          <p:cNvPr id="4" name="AutoShape 4"/>
          <p:cNvSpPr/>
          <p:nvPr/>
        </p:nvSpPr>
        <p:spPr>
          <a:xfrm>
            <a:off x="3107631" y="3040149"/>
            <a:ext cx="5978525" cy="457200"/>
          </a:xfrm>
          <a:prstGeom prst="rect">
            <a:avLst/>
          </a:prstGeom>
          <a:noFill/>
          <a:ln w="12700">
            <a:noFill/>
            <a:prstDash val="solid"/>
          </a:ln>
        </p:spPr>
        <p:txBody>
          <a:bodyPr wrap="square" lIns="0" tIns="0" rIns="0" bIns="0" rtlCol="0" anchor="ctr">
            <a:noAutofit/>
          </a:bodyPr>
          <a:lstStyle/>
          <a:p>
            <a:pPr indent="0" algn="ctr">
              <a:lnSpc>
                <a:spcPct val="142000"/>
              </a:lnSpc>
              <a:defRPr/>
            </a:pP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从</a:t>
            </a:r>
            <a:r>
              <a:rPr lang="en-US" sz="22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大模型工作流程</a:t>
            </a: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我们了解了AI强大能力的背后</a:t>
            </a:r>
            <a:endParaRPr lang="en-US" sz="1100"/>
          </a:p>
        </p:txBody>
      </p:sp>
      <p:sp>
        <p:nvSpPr>
          <p:cNvPr id="5" name="AutoShape 5"/>
          <p:cNvSpPr/>
          <p:nvPr/>
        </p:nvSpPr>
        <p:spPr>
          <a:xfrm>
            <a:off x="3107631" y="3722601"/>
            <a:ext cx="5978525" cy="457200"/>
          </a:xfrm>
          <a:prstGeom prst="rect">
            <a:avLst/>
          </a:prstGeom>
          <a:noFill/>
          <a:ln w="12700">
            <a:noFill/>
            <a:prstDash val="solid"/>
          </a:ln>
        </p:spPr>
        <p:txBody>
          <a:bodyPr wrap="square" lIns="0" tIns="0" rIns="0" bIns="0" rtlCol="0" anchor="ctr">
            <a:noAutofit/>
          </a:bodyPr>
          <a:lstStyle/>
          <a:p>
            <a:pPr indent="0" algn="ctr">
              <a:lnSpc>
                <a:spcPct val="142000"/>
              </a:lnSpc>
              <a:defRPr/>
            </a:pP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是</a:t>
            </a:r>
            <a:r>
              <a:rPr lang="en-US" sz="22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大模型的推理能力</a:t>
            </a:r>
            <a:endParaRPr lang="en-US" sz="1100"/>
          </a:p>
        </p:txBody>
      </p:sp>
      <p:sp>
        <p:nvSpPr>
          <p:cNvPr id="6" name="Freeform 6"/>
          <p:cNvSpPr/>
          <p:nvPr/>
        </p:nvSpPr>
        <p:spPr>
          <a:xfrm>
            <a:off x="5003060" y="4605003"/>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5989439" y="4481215"/>
            <a:ext cx="217884" cy="287480"/>
          </a:xfrm>
          <a:custGeom>
            <a:avLst/>
            <a:gdLst/>
            <a:ahLst/>
            <a:cxnLst/>
            <a:rect l="l" t="t" r="r" b="b"/>
            <a:pathLst>
              <a:path w="217884" h="287480">
                <a:moveTo>
                  <a:pt x="96329" y="280504"/>
                </a:moveTo>
                <a:cubicBezTo>
                  <a:pt x="103305" y="287480"/>
                  <a:pt x="114634" y="287480"/>
                  <a:pt x="121611" y="280504"/>
                </a:cubicBezTo>
                <a:lnTo>
                  <a:pt x="210908" y="191207"/>
                </a:lnTo>
                <a:cubicBezTo>
                  <a:pt x="217884" y="184231"/>
                  <a:pt x="217884" y="172902"/>
                  <a:pt x="210908" y="165925"/>
                </a:cubicBezTo>
                <a:cubicBezTo>
                  <a:pt x="203932" y="158948"/>
                  <a:pt x="192602" y="158948"/>
                  <a:pt x="185626" y="165925"/>
                </a:cubicBezTo>
                <a:lnTo>
                  <a:pt x="126802" y="224749"/>
                </a:lnTo>
                <a:lnTo>
                  <a:pt x="126802" y="17859"/>
                </a:lnTo>
                <a:cubicBezTo>
                  <a:pt x="126802" y="7981"/>
                  <a:pt x="118822" y="0"/>
                  <a:pt x="108942" y="0"/>
                </a:cubicBezTo>
                <a:cubicBezTo>
                  <a:pt x="99064" y="0"/>
                  <a:pt x="91084" y="7981"/>
                  <a:pt x="91084" y="17859"/>
                </a:cubicBezTo>
                <a:lnTo>
                  <a:pt x="91084" y="224749"/>
                </a:lnTo>
                <a:lnTo>
                  <a:pt x="32258" y="165925"/>
                </a:lnTo>
                <a:cubicBezTo>
                  <a:pt x="25282" y="158948"/>
                  <a:pt x="13953" y="158948"/>
                  <a:pt x="6976" y="165925"/>
                </a:cubicBezTo>
                <a:cubicBezTo>
                  <a:pt x="0" y="172902"/>
                  <a:pt x="0" y="184231"/>
                  <a:pt x="6976" y="191207"/>
                </a:cubicBezTo>
                <a:lnTo>
                  <a:pt x="96273" y="280504"/>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6426940" y="4605003"/>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3101280" y="5071653"/>
            <a:ext cx="5991225" cy="495300"/>
          </a:xfrm>
          <a:prstGeom prst="rect">
            <a:avLst/>
          </a:prstGeom>
          <a:noFill/>
          <a:ln w="12700">
            <a:noFill/>
            <a:prstDash val="solid"/>
          </a:ln>
        </p:spPr>
        <p:txBody>
          <a:bodyPr wrap="square" lIns="0" tIns="0" rIns="0" bIns="0" rtlCol="0" anchor="ctr">
            <a:noAutofit/>
          </a:bodyPr>
          <a:lstStyle/>
          <a:p>
            <a:pPr indent="0" algn="ctr">
              <a:lnSpc>
                <a:spcPct val="142000"/>
              </a:lnSpc>
              <a:defRPr/>
            </a:pP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那么大模型强大的</a:t>
            </a:r>
            <a:r>
              <a:rPr lang="en-US" sz="24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推理能力</a:t>
            </a: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从何而来呢？</a:t>
            </a:r>
            <a:endParaRPr lang="en-US" sz="1100"/>
          </a:p>
        </p:txBody>
      </p:sp>
    </p:spTree>
  </p:cSld>
  <p:clrMapOvr>
    <a:masterClrMapping/>
  </p:clrMapOvr>
  <p:transition spd="slow">
    <p:fade/>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5B92E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2231475" y="2628974"/>
            <a:ext cx="8004175" cy="8382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4400" b="1" i="0" u="none" strike="noStrike">
                <a:solidFill>
                  <a:srgbClr val="FFFFFF"/>
                </a:solidFill>
                <a:latin typeface="Alimama ShuHeiTi"/>
                <a:ea typeface="Alimama ShuHeiTi"/>
                <a:cs typeface="Alimama ShuHeiTi"/>
                <a:sym typeface="Alimama ShuHeiTi"/>
              </a:rPr>
              <a:t>如何成为一个"无所不能"的AI？</a:t>
            </a:r>
            <a:endParaRPr lang="en-US" sz="1100"/>
          </a:p>
        </p:txBody>
      </p:sp>
      <p:sp>
        <p:nvSpPr>
          <p:cNvPr id="3" name="AutoShape 3"/>
          <p:cNvSpPr/>
          <p:nvPr/>
        </p:nvSpPr>
        <p:spPr>
          <a:xfrm>
            <a:off x="5207090" y="3695663"/>
            <a:ext cx="1958975" cy="533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800" b="0" i="0" u="none" strike="noStrike">
                <a:solidFill>
                  <a:srgbClr val="87CEEB"/>
                </a:solidFill>
                <a:latin typeface="MiSans" panose="00000500000000000000" charset="-122"/>
                <a:ea typeface="MiSans" panose="00000500000000000000" charset="-122"/>
                <a:cs typeface="MiSans" panose="00000500000000000000" charset="-122"/>
                <a:sym typeface="MiSans" panose="00000500000000000000" charset="-122"/>
              </a:rPr>
              <a:t>大模型训练</a:t>
            </a:r>
            <a:endParaRPr lang="en-US" sz="1100"/>
          </a:p>
        </p:txBody>
      </p:sp>
      <p:sp>
        <p:nvSpPr>
          <p:cNvPr id="4" name="AutoShape 4"/>
          <p:cNvSpPr/>
          <p:nvPr/>
        </p:nvSpPr>
        <p:spPr>
          <a:xfrm>
            <a:off x="5610414" y="1790784"/>
            <a:ext cx="1123950" cy="4572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4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PART 3</a:t>
            </a:r>
            <a:endParaRPr lang="en-US" sz="1100"/>
          </a:p>
        </p:txBody>
      </p:sp>
    </p:spTree>
  </p:cSld>
  <p:clrMapOvr>
    <a:masterClrMapping/>
  </p:clrMapOvr>
  <p:transition spd="slow">
    <p:fade/>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大模型训练主要流程总览</a:t>
            </a:r>
            <a:endParaRPr lang="en-US" sz="1100"/>
          </a:p>
        </p:txBody>
      </p:sp>
      <p:sp>
        <p:nvSpPr>
          <p:cNvPr id="3" name="Freeform 3"/>
          <p:cNvSpPr/>
          <p:nvPr/>
        </p:nvSpPr>
        <p:spPr>
          <a:xfrm>
            <a:off x="389659" y="5809209"/>
            <a:ext cx="11409218" cy="741218"/>
          </a:xfrm>
          <a:custGeom>
            <a:avLst/>
            <a:gdLst/>
            <a:ahLst/>
            <a:cxnLst/>
            <a:rect l="l" t="t" r="r" b="b"/>
            <a:pathLst>
              <a:path w="11409218" h="741218">
                <a:moveTo>
                  <a:pt x="152403" y="0"/>
                </a:moveTo>
                <a:lnTo>
                  <a:pt x="11256816" y="0"/>
                </a:lnTo>
                <a:cubicBezTo>
                  <a:pt x="11340986" y="0"/>
                  <a:pt x="11409218" y="68233"/>
                  <a:pt x="11409218" y="152403"/>
                </a:cubicBezTo>
                <a:lnTo>
                  <a:pt x="11409218" y="588816"/>
                </a:lnTo>
                <a:cubicBezTo>
                  <a:pt x="11409218" y="672986"/>
                  <a:pt x="11340986" y="741218"/>
                  <a:pt x="11256816" y="741218"/>
                </a:cubicBezTo>
                <a:lnTo>
                  <a:pt x="152403" y="741218"/>
                </a:lnTo>
                <a:cubicBezTo>
                  <a:pt x="68233" y="741218"/>
                  <a:pt x="0" y="672986"/>
                  <a:pt x="0" y="588816"/>
                </a:cubicBezTo>
                <a:lnTo>
                  <a:pt x="0" y="152403"/>
                </a:lnTo>
                <a:cubicBezTo>
                  <a:pt x="0" y="68233"/>
                  <a:pt x="68233" y="0"/>
                  <a:pt x="152403" y="0"/>
                </a:cubicBezTo>
                <a:close/>
              </a:path>
            </a:pathLst>
          </a:custGeom>
          <a:noFill/>
          <a:ln w="12700">
            <a:solidFill>
              <a:srgbClr val="00CED1">
                <a:alpha val="100000"/>
              </a:srgbClr>
            </a:solidFill>
            <a:prstDash val="solid"/>
          </a:ln>
        </p:spPr>
        <p:txBody>
          <a:bodyPr wrap="square" lIns="91440" tIns="45720" rIns="91440" bIns="45720" rtlCol="0" anchor="t">
            <a:noAutofit/>
          </a:bodyPr>
          <a:lstStyle/>
          <a:p>
            <a:pPr algn="ctr">
              <a:defRPr/>
            </a:pPr>
          </a:p>
        </p:txBody>
      </p:sp>
      <p:sp>
        <p:nvSpPr>
          <p:cNvPr id="4" name="Freeform 4"/>
          <p:cNvSpPr/>
          <p:nvPr/>
        </p:nvSpPr>
        <p:spPr>
          <a:xfrm>
            <a:off x="2398974" y="6087033"/>
            <a:ext cx="214312" cy="166688"/>
          </a:xfrm>
          <a:custGeom>
            <a:avLst/>
            <a:gdLst/>
            <a:ahLst/>
            <a:cxnLst/>
            <a:rect l="l" t="t" r="r" b="b"/>
            <a:pathLst>
              <a:path w="214312" h="166688">
                <a:moveTo>
                  <a:pt x="17859" y="60945"/>
                </a:moveTo>
                <a:lnTo>
                  <a:pt x="95696" y="92981"/>
                </a:lnTo>
                <a:cubicBezTo>
                  <a:pt x="99343" y="94469"/>
                  <a:pt x="103212" y="95250"/>
                  <a:pt x="107156" y="95250"/>
                </a:cubicBezTo>
                <a:cubicBezTo>
                  <a:pt x="111100" y="95250"/>
                  <a:pt x="114971" y="94469"/>
                  <a:pt x="118615" y="92981"/>
                </a:cubicBezTo>
                <a:lnTo>
                  <a:pt x="208806" y="55849"/>
                </a:lnTo>
                <a:cubicBezTo>
                  <a:pt x="212154" y="54471"/>
                  <a:pt x="214312" y="51235"/>
                  <a:pt x="214312" y="47625"/>
                </a:cubicBezTo>
                <a:cubicBezTo>
                  <a:pt x="214312" y="44016"/>
                  <a:pt x="212154" y="40779"/>
                  <a:pt x="208806" y="39402"/>
                </a:cubicBezTo>
                <a:lnTo>
                  <a:pt x="118615" y="2270"/>
                </a:lnTo>
                <a:cubicBezTo>
                  <a:pt x="114971" y="783"/>
                  <a:pt x="111100" y="0"/>
                  <a:pt x="107156" y="0"/>
                </a:cubicBezTo>
                <a:cubicBezTo>
                  <a:pt x="103212" y="0"/>
                  <a:pt x="99343" y="783"/>
                  <a:pt x="95696" y="2270"/>
                </a:cubicBezTo>
                <a:lnTo>
                  <a:pt x="5507" y="39402"/>
                </a:lnTo>
                <a:cubicBezTo>
                  <a:pt x="2158" y="40779"/>
                  <a:pt x="0" y="44016"/>
                  <a:pt x="0" y="47625"/>
                </a:cubicBezTo>
                <a:lnTo>
                  <a:pt x="0" y="157758"/>
                </a:lnTo>
                <a:cubicBezTo>
                  <a:pt x="0" y="162708"/>
                  <a:pt x="3981" y="166688"/>
                  <a:pt x="8929" y="166688"/>
                </a:cubicBezTo>
                <a:cubicBezTo>
                  <a:pt x="13879" y="166688"/>
                  <a:pt x="17859" y="162708"/>
                  <a:pt x="17859" y="157758"/>
                </a:cubicBezTo>
                <a:lnTo>
                  <a:pt x="17859" y="60945"/>
                </a:lnTo>
                <a:close/>
                <a:moveTo>
                  <a:pt x="35719" y="87623"/>
                </a:moveTo>
                <a:lnTo>
                  <a:pt x="35719" y="130969"/>
                </a:lnTo>
                <a:cubicBezTo>
                  <a:pt x="35719" y="150690"/>
                  <a:pt x="67716" y="166688"/>
                  <a:pt x="107156" y="166688"/>
                </a:cubicBezTo>
                <a:cubicBezTo>
                  <a:pt x="146596" y="166688"/>
                  <a:pt x="178594" y="150690"/>
                  <a:pt x="178594" y="130969"/>
                </a:cubicBezTo>
                <a:lnTo>
                  <a:pt x="178594" y="87586"/>
                </a:lnTo>
                <a:lnTo>
                  <a:pt x="125425" y="109501"/>
                </a:lnTo>
                <a:cubicBezTo>
                  <a:pt x="119621" y="111882"/>
                  <a:pt x="113444" y="113110"/>
                  <a:pt x="107156" y="113110"/>
                </a:cubicBezTo>
                <a:cubicBezTo>
                  <a:pt x="100868" y="113110"/>
                  <a:pt x="94692" y="111882"/>
                  <a:pt x="88889" y="109501"/>
                </a:cubicBezTo>
                <a:lnTo>
                  <a:pt x="35719" y="87586"/>
                </a:ln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874487" y="6046377"/>
            <a:ext cx="10734675"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大模型训练就像培养一个</a:t>
            </a:r>
            <a:r>
              <a:rPr lang="en-US" sz="15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实习生</a:t>
            </a: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：先学习基础知识，再专项培训，最后根据反馈调整</a:t>
            </a:r>
            <a:endParaRPr lang="en-US" sz="1100"/>
          </a:p>
        </p:txBody>
      </p:sp>
      <p:grpSp>
        <p:nvGrpSpPr>
          <p:cNvPr id="96" name="组合 95"/>
          <p:cNvGrpSpPr/>
          <p:nvPr>
            <p:custDataLst>
              <p:tags r:id="rId1"/>
            </p:custDataLst>
          </p:nvPr>
        </p:nvGrpSpPr>
        <p:grpSpPr>
          <a:xfrm>
            <a:off x="492125" y="2563495"/>
            <a:ext cx="10603230" cy="2292985"/>
            <a:chOff x="775" y="4037"/>
            <a:chExt cx="16698" cy="3611"/>
          </a:xfrm>
        </p:grpSpPr>
        <p:grpSp>
          <p:nvGrpSpPr>
            <p:cNvPr id="21" name="组合 20"/>
            <p:cNvGrpSpPr/>
            <p:nvPr>
              <p:custDataLst>
                <p:tags r:id="rId2"/>
              </p:custDataLst>
            </p:nvPr>
          </p:nvGrpSpPr>
          <p:grpSpPr>
            <a:xfrm>
              <a:off x="6694" y="4280"/>
              <a:ext cx="1775" cy="2373"/>
              <a:chOff x="1725" y="2970"/>
              <a:chExt cx="1775" cy="2373"/>
            </a:xfrm>
          </p:grpSpPr>
          <p:sp>
            <p:nvSpPr>
              <p:cNvPr id="22" name="Shape 4"/>
              <p:cNvSpPr/>
              <p:nvPr>
                <p:custDataLst>
                  <p:tags r:id="rId3"/>
                </p:custDataLst>
              </p:nvPr>
            </p:nvSpPr>
            <p:spPr>
              <a:xfrm>
                <a:off x="1827" y="2970"/>
                <a:ext cx="1338" cy="1390"/>
              </a:xfrm>
              <a:custGeom>
                <a:avLst/>
                <a:gdLst/>
                <a:ahLst/>
                <a:cxnLst/>
                <a:rect l="l" t="t" r="r" b="b"/>
                <a:pathLst>
                  <a:path w="882361" h="882361">
                    <a:moveTo>
                      <a:pt x="441181" y="0"/>
                    </a:moveTo>
                    <a:lnTo>
                      <a:pt x="441181" y="0"/>
                    </a:lnTo>
                    <a:cubicBezTo>
                      <a:pt x="684675" y="0"/>
                      <a:pt x="882361" y="197686"/>
                      <a:pt x="882361" y="441181"/>
                    </a:cubicBezTo>
                    <a:lnTo>
                      <a:pt x="882361" y="441181"/>
                    </a:lnTo>
                    <a:cubicBezTo>
                      <a:pt x="882361" y="684675"/>
                      <a:pt x="684675" y="882361"/>
                      <a:pt x="441181" y="882361"/>
                    </a:cubicBezTo>
                    <a:lnTo>
                      <a:pt x="441181" y="882361"/>
                    </a:lnTo>
                    <a:cubicBezTo>
                      <a:pt x="197686" y="882361"/>
                      <a:pt x="0" y="684675"/>
                      <a:pt x="0" y="441181"/>
                    </a:cubicBezTo>
                    <a:lnTo>
                      <a:pt x="0" y="441181"/>
                    </a:lnTo>
                    <a:cubicBezTo>
                      <a:pt x="0" y="197686"/>
                      <a:pt x="197686" y="0"/>
                      <a:pt x="441181" y="0"/>
                    </a:cubicBezTo>
                    <a:close/>
                  </a:path>
                </a:pathLst>
              </a:custGeom>
              <a:solidFill>
                <a:srgbClr val="00CED1"/>
              </a:solidFill>
              <a:ln w="46182">
                <a:solidFill>
                  <a:srgbClr val="FFFFFF"/>
                </a:solidFill>
                <a:prstDash val="solid"/>
              </a:ln>
              <a:effectLst>
                <a:outerShdw blurRad="238125" dist="190500" dir="5400000" algn="bl" rotWithShape="0">
                  <a:srgbClr val="000000">
                    <a:alpha val="10196"/>
                  </a:srgbClr>
                </a:outerShdw>
              </a:effectLst>
            </p:spPr>
          </p:sp>
          <p:sp>
            <p:nvSpPr>
              <p:cNvPr id="23" name="Text 6"/>
              <p:cNvSpPr/>
              <p:nvPr>
                <p:custDataLst>
                  <p:tags r:id="rId4"/>
                </p:custDataLst>
              </p:nvPr>
            </p:nvSpPr>
            <p:spPr>
              <a:xfrm>
                <a:off x="1725" y="4563"/>
                <a:ext cx="1530" cy="420"/>
              </a:xfrm>
              <a:prstGeom prst="rect">
                <a:avLst/>
              </a:prstGeom>
              <a:noFill/>
            </p:spPr>
            <p:txBody>
              <a:bodyPr wrap="square" lIns="0" tIns="0" rIns="0" bIns="0" rtlCol="0" anchor="ctr"/>
              <a:p>
                <a:pPr algn="ctr">
                  <a:lnSpc>
                    <a:spcPct val="120000"/>
                  </a:lnSpc>
                </a:pPr>
                <a:r>
                  <a:rPr lang="zh-CN" altLang="en-US" sz="1500" b="1" dirty="0">
                    <a:solidFill>
                      <a:srgbClr val="333333"/>
                    </a:solidFill>
                    <a:latin typeface="MiSans" panose="00000500000000000000" charset="-122"/>
                    <a:ea typeface="MiSans" panose="00000500000000000000" charset="-122"/>
                    <a:cs typeface="MiSans" panose="00000500000000000000" pitchFamily="34" charset="-120"/>
                  </a:rPr>
                  <a:t>架构设计</a:t>
                </a:r>
                <a:endParaRPr lang="zh-CN" altLang="en-US" sz="1500" b="1" dirty="0">
                  <a:solidFill>
                    <a:srgbClr val="333333"/>
                  </a:solidFill>
                  <a:latin typeface="MiSans" panose="00000500000000000000" charset="-122"/>
                  <a:ea typeface="MiSans" panose="00000500000000000000" charset="-122"/>
                  <a:cs typeface="MiSans" panose="00000500000000000000" pitchFamily="34" charset="-120"/>
                </a:endParaRPr>
              </a:p>
            </p:txBody>
          </p:sp>
          <p:sp>
            <p:nvSpPr>
              <p:cNvPr id="24" name="Text 7"/>
              <p:cNvSpPr/>
              <p:nvPr>
                <p:custDataLst>
                  <p:tags r:id="rId5"/>
                </p:custDataLst>
              </p:nvPr>
            </p:nvSpPr>
            <p:spPr>
              <a:xfrm>
                <a:off x="1740" y="4983"/>
                <a:ext cx="1760" cy="360"/>
              </a:xfrm>
              <a:prstGeom prst="rect">
                <a:avLst/>
              </a:prstGeom>
              <a:noFill/>
            </p:spPr>
            <p:txBody>
              <a:bodyPr wrap="square" lIns="0" tIns="0" rIns="0" bIns="0" rtlCol="0" anchor="ctr"/>
              <a:p>
                <a:pPr algn="ctr">
                  <a:lnSpc>
                    <a:spcPct val="130000"/>
                  </a:lnSpc>
                </a:pPr>
                <a:r>
                  <a:rPr lang="zh-CN" altLang="en-US" sz="1200" dirty="0">
                    <a:solidFill>
                      <a:srgbClr val="666666"/>
                    </a:solidFill>
                    <a:latin typeface="MiSans" panose="00000500000000000000" charset="-122"/>
                    <a:ea typeface="MiSans" panose="00000500000000000000" charset="-122"/>
                    <a:cs typeface="MiSans" panose="00000500000000000000" pitchFamily="34" charset="-120"/>
                  </a:rPr>
                  <a:t>大模型架构</a:t>
                </a:r>
                <a:r>
                  <a:rPr lang="zh-CN" altLang="en-US" sz="1200" dirty="0">
                    <a:solidFill>
                      <a:srgbClr val="666666"/>
                    </a:solidFill>
                    <a:latin typeface="MiSans" panose="00000500000000000000" charset="-122"/>
                    <a:ea typeface="MiSans" panose="00000500000000000000" charset="-122"/>
                    <a:cs typeface="MiSans" panose="00000500000000000000" pitchFamily="34" charset="-120"/>
                  </a:rPr>
                  <a:t>设计</a:t>
                </a:r>
                <a:endParaRPr lang="zh-CN" altLang="en-US" sz="1200" dirty="0">
                  <a:solidFill>
                    <a:srgbClr val="666666"/>
                  </a:solidFill>
                  <a:latin typeface="MiSans" panose="00000500000000000000" charset="-122"/>
                  <a:ea typeface="MiSans" panose="00000500000000000000" charset="-122"/>
                  <a:cs typeface="MiSans" panose="00000500000000000000" pitchFamily="34" charset="-120"/>
                </a:endParaRPr>
              </a:p>
            </p:txBody>
          </p:sp>
        </p:grpSp>
        <p:sp>
          <p:nvSpPr>
            <p:cNvPr id="25" name="Shape 8"/>
            <p:cNvSpPr/>
            <p:nvPr>
              <p:custDataLst>
                <p:tags r:id="rId6"/>
              </p:custDataLst>
            </p:nvPr>
          </p:nvSpPr>
          <p:spPr>
            <a:xfrm>
              <a:off x="13412" y="4037"/>
              <a:ext cx="1390" cy="1390"/>
            </a:xfrm>
            <a:custGeom>
              <a:avLst/>
              <a:gdLst/>
              <a:ahLst/>
              <a:cxnLst/>
              <a:rect l="l" t="t" r="r" b="b"/>
              <a:pathLst>
                <a:path w="882361" h="882361">
                  <a:moveTo>
                    <a:pt x="441181" y="0"/>
                  </a:moveTo>
                  <a:lnTo>
                    <a:pt x="441181" y="0"/>
                  </a:lnTo>
                  <a:cubicBezTo>
                    <a:pt x="684675" y="0"/>
                    <a:pt x="882361" y="197686"/>
                    <a:pt x="882361" y="441181"/>
                  </a:cubicBezTo>
                  <a:lnTo>
                    <a:pt x="882361" y="441181"/>
                  </a:lnTo>
                  <a:cubicBezTo>
                    <a:pt x="882361" y="684675"/>
                    <a:pt x="684675" y="882361"/>
                    <a:pt x="441181" y="882361"/>
                  </a:cubicBezTo>
                  <a:lnTo>
                    <a:pt x="441181" y="882361"/>
                  </a:lnTo>
                  <a:cubicBezTo>
                    <a:pt x="197686" y="882361"/>
                    <a:pt x="0" y="684675"/>
                    <a:pt x="0" y="441181"/>
                  </a:cubicBezTo>
                  <a:lnTo>
                    <a:pt x="0" y="441181"/>
                  </a:lnTo>
                  <a:cubicBezTo>
                    <a:pt x="0" y="197686"/>
                    <a:pt x="197686" y="0"/>
                    <a:pt x="441181" y="0"/>
                  </a:cubicBezTo>
                  <a:close/>
                </a:path>
              </a:pathLst>
            </a:custGeom>
            <a:solidFill>
              <a:srgbClr val="00CED1"/>
            </a:solidFill>
            <a:ln w="46182">
              <a:solidFill>
                <a:srgbClr val="FFFFFF"/>
              </a:solidFill>
              <a:prstDash val="solid"/>
            </a:ln>
            <a:effectLst>
              <a:outerShdw blurRad="238125" dist="190500" dir="5400000" algn="bl" rotWithShape="0">
                <a:srgbClr val="000000">
                  <a:alpha val="10196"/>
                </a:srgbClr>
              </a:outerShdw>
            </a:effectLst>
          </p:spPr>
        </p:sp>
        <p:sp>
          <p:nvSpPr>
            <p:cNvPr id="26" name="Shape 9"/>
            <p:cNvSpPr/>
            <p:nvPr>
              <p:custDataLst>
                <p:tags r:id="rId7"/>
              </p:custDataLst>
            </p:nvPr>
          </p:nvSpPr>
          <p:spPr>
            <a:xfrm>
              <a:off x="13912" y="4505"/>
              <a:ext cx="394" cy="450"/>
            </a:xfrm>
            <a:custGeom>
              <a:avLst/>
              <a:gdLst/>
              <a:ahLst/>
              <a:cxnLst/>
              <a:rect l="l" t="t" r="r" b="b"/>
              <a:pathLst>
                <a:path w="250031" h="285750">
                  <a:moveTo>
                    <a:pt x="134671" y="-7255"/>
                  </a:moveTo>
                  <a:cubicBezTo>
                    <a:pt x="128308" y="-8539"/>
                    <a:pt x="121779" y="-8539"/>
                    <a:pt x="115416" y="-7255"/>
                  </a:cubicBezTo>
                  <a:lnTo>
                    <a:pt x="10771" y="13674"/>
                  </a:lnTo>
                  <a:cubicBezTo>
                    <a:pt x="4521" y="14901"/>
                    <a:pt x="0" y="20427"/>
                    <a:pt x="0" y="26789"/>
                  </a:cubicBezTo>
                  <a:cubicBezTo>
                    <a:pt x="0" y="32538"/>
                    <a:pt x="3628" y="37560"/>
                    <a:pt x="8930" y="39402"/>
                  </a:cubicBezTo>
                  <a:lnTo>
                    <a:pt x="8930" y="80367"/>
                  </a:lnTo>
                  <a:lnTo>
                    <a:pt x="167" y="124234"/>
                  </a:lnTo>
                  <a:cubicBezTo>
                    <a:pt x="56" y="124737"/>
                    <a:pt x="0" y="125295"/>
                    <a:pt x="0" y="125853"/>
                  </a:cubicBezTo>
                  <a:cubicBezTo>
                    <a:pt x="0" y="130318"/>
                    <a:pt x="3628" y="134001"/>
                    <a:pt x="8148" y="134001"/>
                  </a:cubicBezTo>
                  <a:lnTo>
                    <a:pt x="27626" y="134001"/>
                  </a:lnTo>
                  <a:cubicBezTo>
                    <a:pt x="32091" y="134001"/>
                    <a:pt x="35775" y="130373"/>
                    <a:pt x="35775" y="125853"/>
                  </a:cubicBezTo>
                  <a:cubicBezTo>
                    <a:pt x="35775" y="125295"/>
                    <a:pt x="35719" y="124792"/>
                    <a:pt x="35607" y="124234"/>
                  </a:cubicBezTo>
                  <a:lnTo>
                    <a:pt x="26789" y="80367"/>
                  </a:lnTo>
                  <a:lnTo>
                    <a:pt x="26789" y="43142"/>
                  </a:lnTo>
                  <a:lnTo>
                    <a:pt x="53578" y="48499"/>
                  </a:lnTo>
                  <a:lnTo>
                    <a:pt x="53578" y="80367"/>
                  </a:lnTo>
                  <a:cubicBezTo>
                    <a:pt x="53578" y="119825"/>
                    <a:pt x="85558" y="151805"/>
                    <a:pt x="125016" y="151805"/>
                  </a:cubicBezTo>
                  <a:cubicBezTo>
                    <a:pt x="164474" y="151805"/>
                    <a:pt x="196453" y="119825"/>
                    <a:pt x="196453" y="80367"/>
                  </a:cubicBezTo>
                  <a:lnTo>
                    <a:pt x="196453" y="48499"/>
                  </a:lnTo>
                  <a:lnTo>
                    <a:pt x="239260" y="39960"/>
                  </a:lnTo>
                  <a:cubicBezTo>
                    <a:pt x="245511" y="38677"/>
                    <a:pt x="250031" y="33151"/>
                    <a:pt x="250031" y="26789"/>
                  </a:cubicBezTo>
                  <a:cubicBezTo>
                    <a:pt x="250031" y="20427"/>
                    <a:pt x="245511" y="14901"/>
                    <a:pt x="239260" y="13674"/>
                  </a:cubicBezTo>
                  <a:lnTo>
                    <a:pt x="134671" y="-7255"/>
                  </a:lnTo>
                  <a:close/>
                  <a:moveTo>
                    <a:pt x="125016" y="125016"/>
                  </a:moveTo>
                  <a:cubicBezTo>
                    <a:pt x="100347" y="125016"/>
                    <a:pt x="80367" y="105035"/>
                    <a:pt x="80367" y="80367"/>
                  </a:cubicBezTo>
                  <a:lnTo>
                    <a:pt x="169664" y="80367"/>
                  </a:lnTo>
                  <a:cubicBezTo>
                    <a:pt x="169664" y="105035"/>
                    <a:pt x="149684" y="125016"/>
                    <a:pt x="125016" y="125016"/>
                  </a:cubicBezTo>
                  <a:close/>
                  <a:moveTo>
                    <a:pt x="67028" y="178650"/>
                  </a:moveTo>
                  <a:cubicBezTo>
                    <a:pt x="32761" y="194388"/>
                    <a:pt x="8930" y="228991"/>
                    <a:pt x="8930" y="269174"/>
                  </a:cubicBezTo>
                  <a:cubicBezTo>
                    <a:pt x="8930" y="278327"/>
                    <a:pt x="16352" y="285750"/>
                    <a:pt x="25505" y="285750"/>
                  </a:cubicBezTo>
                  <a:lnTo>
                    <a:pt x="111621" y="285750"/>
                  </a:lnTo>
                  <a:lnTo>
                    <a:pt x="111621" y="204267"/>
                  </a:lnTo>
                  <a:lnTo>
                    <a:pt x="79586" y="180268"/>
                  </a:lnTo>
                  <a:cubicBezTo>
                    <a:pt x="75958" y="177533"/>
                    <a:pt x="71103" y="176808"/>
                    <a:pt x="66973" y="178705"/>
                  </a:cubicBezTo>
                  <a:close/>
                  <a:moveTo>
                    <a:pt x="138410" y="285750"/>
                  </a:moveTo>
                  <a:lnTo>
                    <a:pt x="224526" y="285750"/>
                  </a:lnTo>
                  <a:cubicBezTo>
                    <a:pt x="233679" y="285750"/>
                    <a:pt x="241102" y="278327"/>
                    <a:pt x="241102" y="269174"/>
                  </a:cubicBezTo>
                  <a:cubicBezTo>
                    <a:pt x="241102" y="228991"/>
                    <a:pt x="217270" y="194388"/>
                    <a:pt x="183003" y="178705"/>
                  </a:cubicBezTo>
                  <a:cubicBezTo>
                    <a:pt x="178873" y="176808"/>
                    <a:pt x="174017" y="177533"/>
                    <a:pt x="170390" y="180268"/>
                  </a:cubicBezTo>
                  <a:lnTo>
                    <a:pt x="138354" y="204267"/>
                  </a:lnTo>
                  <a:lnTo>
                    <a:pt x="138354" y="285750"/>
                  </a:lnTo>
                  <a:close/>
                </a:path>
              </a:pathLst>
            </a:custGeom>
            <a:solidFill>
              <a:srgbClr val="FFFFFF"/>
            </a:solidFill>
          </p:spPr>
        </p:sp>
        <p:sp>
          <p:nvSpPr>
            <p:cNvPr id="27" name="Text 10"/>
            <p:cNvSpPr/>
            <p:nvPr>
              <p:custDataLst>
                <p:tags r:id="rId8"/>
              </p:custDataLst>
            </p:nvPr>
          </p:nvSpPr>
          <p:spPr>
            <a:xfrm>
              <a:off x="13310" y="5630"/>
              <a:ext cx="1590" cy="420"/>
            </a:xfrm>
            <a:prstGeom prst="rect">
              <a:avLst/>
            </a:prstGeom>
            <a:noFill/>
          </p:spPr>
          <p:txBody>
            <a:bodyPr wrap="square" lIns="0" tIns="0" rIns="0" bIns="0" rtlCol="0" anchor="ctr"/>
            <a:p>
              <a:pPr algn="ctr">
                <a:lnSpc>
                  <a:spcPct val="120000"/>
                </a:lnSpc>
              </a:pPr>
              <a:r>
                <a:rPr lang="en-US" sz="1500" b="1" dirty="0">
                  <a:solidFill>
                    <a:srgbClr val="333333"/>
                  </a:solidFill>
                  <a:latin typeface="MiSans" panose="00000500000000000000" charset="-122"/>
                  <a:ea typeface="MiSans" panose="00000500000000000000" charset="-122"/>
                  <a:cs typeface="MiSans" panose="00000500000000000000" pitchFamily="34" charset="-120"/>
                </a:rPr>
                <a:t>SFT</a:t>
              </a:r>
              <a:endParaRPr lang="en-US" sz="1600" dirty="0"/>
            </a:p>
          </p:txBody>
        </p:sp>
        <p:sp>
          <p:nvSpPr>
            <p:cNvPr id="28" name="Text 11"/>
            <p:cNvSpPr/>
            <p:nvPr>
              <p:custDataLst>
                <p:tags r:id="rId9"/>
              </p:custDataLst>
            </p:nvPr>
          </p:nvSpPr>
          <p:spPr>
            <a:xfrm>
              <a:off x="13325" y="6050"/>
              <a:ext cx="1560" cy="360"/>
            </a:xfrm>
            <a:prstGeom prst="rect">
              <a:avLst/>
            </a:prstGeom>
            <a:noFill/>
          </p:spPr>
          <p:txBody>
            <a:bodyPr wrap="square" lIns="0" tIns="0" rIns="0" bIns="0" rtlCol="0" anchor="ctr"/>
            <a:p>
              <a:pPr algn="ctr">
                <a:lnSpc>
                  <a:spcPct val="130000"/>
                </a:lnSpc>
              </a:pPr>
              <a:r>
                <a:rPr lang="en-US" sz="1200" dirty="0">
                  <a:solidFill>
                    <a:srgbClr val="666666"/>
                  </a:solidFill>
                  <a:latin typeface="MiSans" panose="00000500000000000000" charset="-122"/>
                  <a:ea typeface="MiSans" panose="00000500000000000000" charset="-122"/>
                  <a:cs typeface="MiSans" panose="00000500000000000000" pitchFamily="34" charset="-120"/>
                </a:rPr>
                <a:t>监督微调</a:t>
              </a:r>
              <a:endParaRPr lang="en-US" sz="1600" dirty="0"/>
            </a:p>
          </p:txBody>
        </p:sp>
        <p:grpSp>
          <p:nvGrpSpPr>
            <p:cNvPr id="53" name="组合 52"/>
            <p:cNvGrpSpPr/>
            <p:nvPr>
              <p:custDataLst>
                <p:tags r:id="rId10"/>
              </p:custDataLst>
            </p:nvPr>
          </p:nvGrpSpPr>
          <p:grpSpPr>
            <a:xfrm>
              <a:off x="15883" y="5276"/>
              <a:ext cx="1590" cy="2373"/>
              <a:chOff x="14967" y="5856"/>
              <a:chExt cx="1590" cy="2373"/>
            </a:xfrm>
          </p:grpSpPr>
          <p:sp>
            <p:nvSpPr>
              <p:cNvPr id="29" name="Shape 12"/>
              <p:cNvSpPr/>
              <p:nvPr>
                <p:custDataLst>
                  <p:tags r:id="rId11"/>
                </p:custDataLst>
              </p:nvPr>
            </p:nvSpPr>
            <p:spPr>
              <a:xfrm>
                <a:off x="15069" y="5856"/>
                <a:ext cx="1390" cy="1390"/>
              </a:xfrm>
              <a:custGeom>
                <a:avLst/>
                <a:gdLst/>
                <a:ahLst/>
                <a:cxnLst/>
                <a:rect l="l" t="t" r="r" b="b"/>
                <a:pathLst>
                  <a:path w="882361" h="882361">
                    <a:moveTo>
                      <a:pt x="441181" y="0"/>
                    </a:moveTo>
                    <a:lnTo>
                      <a:pt x="441181" y="0"/>
                    </a:lnTo>
                    <a:cubicBezTo>
                      <a:pt x="684675" y="0"/>
                      <a:pt x="882361" y="197686"/>
                      <a:pt x="882361" y="441181"/>
                    </a:cubicBezTo>
                    <a:lnTo>
                      <a:pt x="882361" y="441181"/>
                    </a:lnTo>
                    <a:cubicBezTo>
                      <a:pt x="882361" y="684675"/>
                      <a:pt x="684675" y="882361"/>
                      <a:pt x="441181" y="882361"/>
                    </a:cubicBezTo>
                    <a:lnTo>
                      <a:pt x="441181" y="882361"/>
                    </a:lnTo>
                    <a:cubicBezTo>
                      <a:pt x="197686" y="882361"/>
                      <a:pt x="0" y="684675"/>
                      <a:pt x="0" y="441181"/>
                    </a:cubicBezTo>
                    <a:lnTo>
                      <a:pt x="0" y="441181"/>
                    </a:lnTo>
                    <a:cubicBezTo>
                      <a:pt x="0" y="197686"/>
                      <a:pt x="197686" y="0"/>
                      <a:pt x="441181" y="0"/>
                    </a:cubicBezTo>
                    <a:close/>
                  </a:path>
                </a:pathLst>
              </a:custGeom>
              <a:solidFill>
                <a:srgbClr val="5B92E5"/>
              </a:solidFill>
              <a:ln w="46182">
                <a:solidFill>
                  <a:srgbClr val="FFFFFF"/>
                </a:solidFill>
                <a:prstDash val="solid"/>
              </a:ln>
              <a:effectLst>
                <a:outerShdw blurRad="142875" dist="95250" dir="5400000" algn="bl" rotWithShape="0">
                  <a:srgbClr val="000000">
                    <a:alpha val="10196"/>
                  </a:srgbClr>
                </a:outerShdw>
              </a:effectLst>
            </p:spPr>
          </p:sp>
          <p:sp>
            <p:nvSpPr>
              <p:cNvPr id="30" name="Shape 13"/>
              <p:cNvSpPr/>
              <p:nvPr>
                <p:custDataLst>
                  <p:tags r:id="rId12"/>
                </p:custDataLst>
              </p:nvPr>
            </p:nvSpPr>
            <p:spPr>
              <a:xfrm>
                <a:off x="15541" y="6324"/>
                <a:ext cx="450" cy="450"/>
              </a:xfrm>
              <a:custGeom>
                <a:avLst/>
                <a:gdLst/>
                <a:ahLst/>
                <a:cxnLst/>
                <a:rect l="l" t="t" r="r" b="b"/>
                <a:pathLst>
                  <a:path w="285750" h="285750">
                    <a:moveTo>
                      <a:pt x="44648" y="89297"/>
                    </a:moveTo>
                    <a:cubicBezTo>
                      <a:pt x="54527" y="89297"/>
                      <a:pt x="62508" y="97278"/>
                      <a:pt x="62508" y="107156"/>
                    </a:cubicBezTo>
                    <a:lnTo>
                      <a:pt x="62508" y="250031"/>
                    </a:lnTo>
                    <a:cubicBezTo>
                      <a:pt x="62508" y="259910"/>
                      <a:pt x="54527" y="267891"/>
                      <a:pt x="44648" y="267891"/>
                    </a:cubicBezTo>
                    <a:lnTo>
                      <a:pt x="17859" y="267891"/>
                    </a:lnTo>
                    <a:cubicBezTo>
                      <a:pt x="7981" y="267891"/>
                      <a:pt x="0" y="259910"/>
                      <a:pt x="0" y="250031"/>
                    </a:cubicBezTo>
                    <a:lnTo>
                      <a:pt x="0" y="107156"/>
                    </a:lnTo>
                    <a:cubicBezTo>
                      <a:pt x="0" y="97278"/>
                      <a:pt x="7981" y="89297"/>
                      <a:pt x="17859" y="89297"/>
                    </a:cubicBezTo>
                    <a:lnTo>
                      <a:pt x="44648" y="89297"/>
                    </a:lnTo>
                    <a:close/>
                    <a:moveTo>
                      <a:pt x="151023" y="8930"/>
                    </a:moveTo>
                    <a:cubicBezTo>
                      <a:pt x="166260" y="8930"/>
                      <a:pt x="178594" y="21264"/>
                      <a:pt x="178594" y="36500"/>
                    </a:cubicBezTo>
                    <a:lnTo>
                      <a:pt x="178594" y="38844"/>
                    </a:lnTo>
                    <a:cubicBezTo>
                      <a:pt x="178594" y="42639"/>
                      <a:pt x="177868" y="46434"/>
                      <a:pt x="176473" y="49950"/>
                    </a:cubicBezTo>
                    <a:lnTo>
                      <a:pt x="160734" y="89297"/>
                    </a:lnTo>
                    <a:lnTo>
                      <a:pt x="250031" y="89297"/>
                    </a:lnTo>
                    <a:cubicBezTo>
                      <a:pt x="264821" y="89297"/>
                      <a:pt x="276820" y="101296"/>
                      <a:pt x="276820" y="116086"/>
                    </a:cubicBezTo>
                    <a:cubicBezTo>
                      <a:pt x="276820" y="127081"/>
                      <a:pt x="270179" y="136513"/>
                      <a:pt x="260691" y="140643"/>
                    </a:cubicBezTo>
                    <a:cubicBezTo>
                      <a:pt x="270179" y="144773"/>
                      <a:pt x="276820" y="154205"/>
                      <a:pt x="276820" y="165199"/>
                    </a:cubicBezTo>
                    <a:cubicBezTo>
                      <a:pt x="276820" y="178259"/>
                      <a:pt x="267444" y="189142"/>
                      <a:pt x="255054" y="191486"/>
                    </a:cubicBezTo>
                    <a:cubicBezTo>
                      <a:pt x="257510" y="195560"/>
                      <a:pt x="258961" y="200304"/>
                      <a:pt x="258961" y="205383"/>
                    </a:cubicBezTo>
                    <a:cubicBezTo>
                      <a:pt x="258961" y="217773"/>
                      <a:pt x="250589" y="228154"/>
                      <a:pt x="239204" y="231223"/>
                    </a:cubicBezTo>
                    <a:cubicBezTo>
                      <a:pt x="240432" y="234293"/>
                      <a:pt x="241102" y="237641"/>
                      <a:pt x="241102" y="241102"/>
                    </a:cubicBezTo>
                    <a:cubicBezTo>
                      <a:pt x="241102" y="255891"/>
                      <a:pt x="229102" y="267891"/>
                      <a:pt x="214313" y="267891"/>
                    </a:cubicBezTo>
                    <a:lnTo>
                      <a:pt x="165255" y="267891"/>
                    </a:lnTo>
                    <a:cubicBezTo>
                      <a:pt x="144996" y="267891"/>
                      <a:pt x="125295" y="260970"/>
                      <a:pt x="109500" y="248301"/>
                    </a:cubicBezTo>
                    <a:lnTo>
                      <a:pt x="102691" y="242888"/>
                    </a:lnTo>
                    <a:cubicBezTo>
                      <a:pt x="94208" y="236134"/>
                      <a:pt x="89297" y="225865"/>
                      <a:pt x="89297" y="214982"/>
                    </a:cubicBezTo>
                    <a:lnTo>
                      <a:pt x="89297" y="110840"/>
                    </a:lnTo>
                    <a:cubicBezTo>
                      <a:pt x="89297" y="102524"/>
                      <a:pt x="91250" y="94320"/>
                      <a:pt x="94934" y="86897"/>
                    </a:cubicBezTo>
                    <a:lnTo>
                      <a:pt x="126299" y="24166"/>
                    </a:lnTo>
                    <a:cubicBezTo>
                      <a:pt x="130987" y="14846"/>
                      <a:pt x="140531" y="8930"/>
                      <a:pt x="151023" y="8930"/>
                    </a:cubicBezTo>
                    <a:close/>
                  </a:path>
                </a:pathLst>
              </a:custGeom>
              <a:solidFill>
                <a:srgbClr val="FFFFFF"/>
              </a:solidFill>
            </p:spPr>
          </p:sp>
          <p:sp>
            <p:nvSpPr>
              <p:cNvPr id="31" name="Text 14"/>
              <p:cNvSpPr/>
              <p:nvPr>
                <p:custDataLst>
                  <p:tags r:id="rId13"/>
                </p:custDataLst>
              </p:nvPr>
            </p:nvSpPr>
            <p:spPr>
              <a:xfrm>
                <a:off x="14967" y="7449"/>
                <a:ext cx="1590" cy="420"/>
              </a:xfrm>
              <a:prstGeom prst="rect">
                <a:avLst/>
              </a:prstGeom>
              <a:noFill/>
            </p:spPr>
            <p:txBody>
              <a:bodyPr wrap="square" lIns="0" tIns="0" rIns="0" bIns="0" rtlCol="0" anchor="ctr"/>
              <a:p>
                <a:pPr algn="ctr">
                  <a:lnSpc>
                    <a:spcPct val="120000"/>
                  </a:lnSpc>
                </a:pPr>
                <a:r>
                  <a:rPr lang="en-US" sz="1500" b="1" dirty="0">
                    <a:solidFill>
                      <a:srgbClr val="333333"/>
                    </a:solidFill>
                    <a:latin typeface="MiSans" panose="00000500000000000000" charset="-122"/>
                    <a:ea typeface="MiSans" panose="00000500000000000000" charset="-122"/>
                    <a:cs typeface="MiSans" panose="00000500000000000000" pitchFamily="34" charset="-120"/>
                  </a:rPr>
                  <a:t>RLHF</a:t>
                </a:r>
                <a:endParaRPr lang="en-US" sz="1600" dirty="0"/>
              </a:p>
            </p:txBody>
          </p:sp>
          <p:sp>
            <p:nvSpPr>
              <p:cNvPr id="32" name="Text 15"/>
              <p:cNvSpPr/>
              <p:nvPr>
                <p:custDataLst>
                  <p:tags r:id="rId14"/>
                </p:custDataLst>
              </p:nvPr>
            </p:nvSpPr>
            <p:spPr>
              <a:xfrm>
                <a:off x="14982" y="7869"/>
                <a:ext cx="1560" cy="360"/>
              </a:xfrm>
              <a:prstGeom prst="rect">
                <a:avLst/>
              </a:prstGeom>
              <a:noFill/>
            </p:spPr>
            <p:txBody>
              <a:bodyPr wrap="square" lIns="0" tIns="0" rIns="0" bIns="0" rtlCol="0" anchor="ctr"/>
              <a:p>
                <a:pPr algn="ctr">
                  <a:lnSpc>
                    <a:spcPct val="130000"/>
                  </a:lnSpc>
                </a:pPr>
                <a:r>
                  <a:rPr lang="en-US" sz="1200" dirty="0">
                    <a:solidFill>
                      <a:srgbClr val="666666"/>
                    </a:solidFill>
                    <a:latin typeface="MiSans" panose="00000500000000000000" charset="-122"/>
                    <a:ea typeface="MiSans" panose="00000500000000000000" charset="-122"/>
                    <a:cs typeface="MiSans" panose="00000500000000000000" pitchFamily="34" charset="-120"/>
                  </a:rPr>
                  <a:t>人类反馈</a:t>
                </a:r>
                <a:endParaRPr lang="en-US" sz="1600" dirty="0"/>
              </a:p>
            </p:txBody>
          </p:sp>
        </p:grpSp>
        <p:grpSp>
          <p:nvGrpSpPr>
            <p:cNvPr id="33" name="组合 32"/>
            <p:cNvGrpSpPr/>
            <p:nvPr>
              <p:custDataLst>
                <p:tags r:id="rId15"/>
              </p:custDataLst>
            </p:nvPr>
          </p:nvGrpSpPr>
          <p:grpSpPr>
            <a:xfrm>
              <a:off x="775" y="4037"/>
              <a:ext cx="1530" cy="2373"/>
              <a:chOff x="1725" y="2970"/>
              <a:chExt cx="1530" cy="2373"/>
            </a:xfrm>
          </p:grpSpPr>
          <p:sp>
            <p:nvSpPr>
              <p:cNvPr id="34" name="Shape 4"/>
              <p:cNvSpPr/>
              <p:nvPr>
                <p:custDataLst>
                  <p:tags r:id="rId16"/>
                </p:custDataLst>
              </p:nvPr>
            </p:nvSpPr>
            <p:spPr>
              <a:xfrm>
                <a:off x="1827" y="2970"/>
                <a:ext cx="1338" cy="1390"/>
              </a:xfrm>
              <a:custGeom>
                <a:avLst/>
                <a:gdLst/>
                <a:ahLst/>
                <a:cxnLst/>
                <a:rect l="l" t="t" r="r" b="b"/>
                <a:pathLst>
                  <a:path w="882361" h="882361">
                    <a:moveTo>
                      <a:pt x="441181" y="0"/>
                    </a:moveTo>
                    <a:lnTo>
                      <a:pt x="441181" y="0"/>
                    </a:lnTo>
                    <a:cubicBezTo>
                      <a:pt x="684675" y="0"/>
                      <a:pt x="882361" y="197686"/>
                      <a:pt x="882361" y="441181"/>
                    </a:cubicBezTo>
                    <a:lnTo>
                      <a:pt x="882361" y="441181"/>
                    </a:lnTo>
                    <a:cubicBezTo>
                      <a:pt x="882361" y="684675"/>
                      <a:pt x="684675" y="882361"/>
                      <a:pt x="441181" y="882361"/>
                    </a:cubicBezTo>
                    <a:lnTo>
                      <a:pt x="441181" y="882361"/>
                    </a:lnTo>
                    <a:cubicBezTo>
                      <a:pt x="197686" y="882361"/>
                      <a:pt x="0" y="684675"/>
                      <a:pt x="0" y="441181"/>
                    </a:cubicBezTo>
                    <a:lnTo>
                      <a:pt x="0" y="441181"/>
                    </a:lnTo>
                    <a:cubicBezTo>
                      <a:pt x="0" y="197686"/>
                      <a:pt x="197686" y="0"/>
                      <a:pt x="441181" y="0"/>
                    </a:cubicBezTo>
                    <a:close/>
                  </a:path>
                </a:pathLst>
              </a:custGeom>
              <a:solidFill>
                <a:srgbClr val="00CED1"/>
              </a:solidFill>
              <a:ln w="46182">
                <a:solidFill>
                  <a:srgbClr val="FFFFFF"/>
                </a:solidFill>
                <a:prstDash val="solid"/>
              </a:ln>
              <a:effectLst>
                <a:outerShdw blurRad="238125" dist="190500" dir="5400000" algn="bl" rotWithShape="0">
                  <a:srgbClr val="000000">
                    <a:alpha val="10196"/>
                  </a:srgbClr>
                </a:outerShdw>
              </a:effectLst>
            </p:spPr>
          </p:sp>
          <p:sp>
            <p:nvSpPr>
              <p:cNvPr id="35" name="Shape 5"/>
              <p:cNvSpPr/>
              <p:nvPr>
                <p:custDataLst>
                  <p:tags r:id="rId17"/>
                </p:custDataLst>
              </p:nvPr>
            </p:nvSpPr>
            <p:spPr>
              <a:xfrm>
                <a:off x="2188" y="3403"/>
                <a:ext cx="603" cy="485"/>
              </a:xfrm>
              <a:custGeom>
                <a:avLst/>
                <a:gdLst/>
                <a:ahLst/>
                <a:cxnLst/>
                <a:rect l="l" t="t" r="r" b="b"/>
                <a:pathLst>
                  <a:path w="250031" h="285750">
                    <a:moveTo>
                      <a:pt x="250031" y="114858"/>
                    </a:moveTo>
                    <a:cubicBezTo>
                      <a:pt x="241771" y="120328"/>
                      <a:pt x="232283" y="124737"/>
                      <a:pt x="222405" y="128253"/>
                    </a:cubicBezTo>
                    <a:cubicBezTo>
                      <a:pt x="196174" y="137629"/>
                      <a:pt x="161739" y="142875"/>
                      <a:pt x="125016" y="142875"/>
                    </a:cubicBezTo>
                    <a:cubicBezTo>
                      <a:pt x="88292" y="142875"/>
                      <a:pt x="53801" y="137573"/>
                      <a:pt x="27626" y="128253"/>
                    </a:cubicBezTo>
                    <a:cubicBezTo>
                      <a:pt x="17804" y="124737"/>
                      <a:pt x="8260" y="120328"/>
                      <a:pt x="0" y="114858"/>
                    </a:cubicBezTo>
                    <a:lnTo>
                      <a:pt x="0" y="160734"/>
                    </a:lnTo>
                    <a:cubicBezTo>
                      <a:pt x="0" y="185403"/>
                      <a:pt x="55978" y="205383"/>
                      <a:pt x="125016" y="205383"/>
                    </a:cubicBezTo>
                    <a:cubicBezTo>
                      <a:pt x="194053" y="205383"/>
                      <a:pt x="250031" y="185403"/>
                      <a:pt x="250031" y="160734"/>
                    </a:cubicBezTo>
                    <a:lnTo>
                      <a:pt x="250031" y="114858"/>
                    </a:lnTo>
                    <a:close/>
                    <a:moveTo>
                      <a:pt x="250031" y="71438"/>
                    </a:moveTo>
                    <a:lnTo>
                      <a:pt x="250031" y="44648"/>
                    </a:lnTo>
                    <a:cubicBezTo>
                      <a:pt x="250031" y="19980"/>
                      <a:pt x="194053" y="0"/>
                      <a:pt x="125016" y="0"/>
                    </a:cubicBezTo>
                    <a:cubicBezTo>
                      <a:pt x="55978" y="0"/>
                      <a:pt x="0" y="19980"/>
                      <a:pt x="0" y="44648"/>
                    </a:cubicBezTo>
                    <a:lnTo>
                      <a:pt x="0" y="71438"/>
                    </a:lnTo>
                    <a:cubicBezTo>
                      <a:pt x="0" y="96106"/>
                      <a:pt x="55978" y="116086"/>
                      <a:pt x="125016" y="116086"/>
                    </a:cubicBezTo>
                    <a:cubicBezTo>
                      <a:pt x="194053" y="116086"/>
                      <a:pt x="250031" y="96106"/>
                      <a:pt x="250031" y="71438"/>
                    </a:cubicBezTo>
                    <a:close/>
                    <a:moveTo>
                      <a:pt x="222405" y="217550"/>
                    </a:moveTo>
                    <a:cubicBezTo>
                      <a:pt x="196230" y="226870"/>
                      <a:pt x="161795" y="232172"/>
                      <a:pt x="125016" y="232172"/>
                    </a:cubicBezTo>
                    <a:cubicBezTo>
                      <a:pt x="88236" y="232172"/>
                      <a:pt x="53801" y="226870"/>
                      <a:pt x="27626" y="217550"/>
                    </a:cubicBezTo>
                    <a:cubicBezTo>
                      <a:pt x="17804" y="214033"/>
                      <a:pt x="8260" y="209624"/>
                      <a:pt x="0" y="204155"/>
                    </a:cubicBezTo>
                    <a:lnTo>
                      <a:pt x="0" y="241102"/>
                    </a:lnTo>
                    <a:cubicBezTo>
                      <a:pt x="0" y="265770"/>
                      <a:pt x="55978" y="285750"/>
                      <a:pt x="125016" y="285750"/>
                    </a:cubicBezTo>
                    <a:cubicBezTo>
                      <a:pt x="194053" y="285750"/>
                      <a:pt x="250031" y="265770"/>
                      <a:pt x="250031" y="241102"/>
                    </a:cubicBezTo>
                    <a:lnTo>
                      <a:pt x="250031" y="204155"/>
                    </a:lnTo>
                    <a:cubicBezTo>
                      <a:pt x="241771" y="209624"/>
                      <a:pt x="232283" y="214033"/>
                      <a:pt x="222405" y="217550"/>
                    </a:cubicBezTo>
                    <a:close/>
                  </a:path>
                </a:pathLst>
              </a:custGeom>
              <a:blipFill rotWithShape="1">
                <a:blip r:embed="rId18"/>
                <a:stretch>
                  <a:fillRect/>
                </a:stretch>
              </a:blipFill>
            </p:spPr>
          </p:sp>
          <p:sp>
            <p:nvSpPr>
              <p:cNvPr id="36" name="Text 6"/>
              <p:cNvSpPr/>
              <p:nvPr>
                <p:custDataLst>
                  <p:tags r:id="rId19"/>
                </p:custDataLst>
              </p:nvPr>
            </p:nvSpPr>
            <p:spPr>
              <a:xfrm>
                <a:off x="1725" y="4563"/>
                <a:ext cx="1530" cy="420"/>
              </a:xfrm>
              <a:prstGeom prst="rect">
                <a:avLst/>
              </a:prstGeom>
              <a:noFill/>
            </p:spPr>
            <p:txBody>
              <a:bodyPr wrap="square" lIns="0" tIns="0" rIns="0" bIns="0" rtlCol="0" anchor="ctr"/>
              <a:p>
                <a:pPr algn="ctr">
                  <a:lnSpc>
                    <a:spcPct val="120000"/>
                  </a:lnSpc>
                </a:pPr>
                <a:r>
                  <a:rPr lang="zh-CN" altLang="en-US" sz="1500" b="1" dirty="0">
                    <a:solidFill>
                      <a:srgbClr val="333333"/>
                    </a:solidFill>
                    <a:latin typeface="MiSans" panose="00000500000000000000" charset="-122"/>
                    <a:ea typeface="MiSans" panose="00000500000000000000" charset="-122"/>
                    <a:cs typeface="MiSans" panose="00000500000000000000" pitchFamily="34" charset="-120"/>
                  </a:rPr>
                  <a:t>数据</a:t>
                </a:r>
                <a:r>
                  <a:rPr lang="zh-CN" altLang="en-US" sz="1500" b="1" dirty="0">
                    <a:solidFill>
                      <a:srgbClr val="333333"/>
                    </a:solidFill>
                    <a:latin typeface="MiSans" panose="00000500000000000000" charset="-122"/>
                    <a:ea typeface="MiSans" panose="00000500000000000000" charset="-122"/>
                    <a:cs typeface="MiSans" panose="00000500000000000000" pitchFamily="34" charset="-120"/>
                  </a:rPr>
                  <a:t>收集</a:t>
                </a:r>
                <a:endParaRPr lang="zh-CN" altLang="en-US" sz="1500" b="1" dirty="0">
                  <a:solidFill>
                    <a:srgbClr val="333333"/>
                  </a:solidFill>
                  <a:latin typeface="MiSans" panose="00000500000000000000" charset="-122"/>
                  <a:ea typeface="MiSans" panose="00000500000000000000" charset="-122"/>
                  <a:cs typeface="MiSans" panose="00000500000000000000" pitchFamily="34" charset="-120"/>
                </a:endParaRPr>
              </a:p>
            </p:txBody>
          </p:sp>
          <p:sp>
            <p:nvSpPr>
              <p:cNvPr id="37" name="Text 7"/>
              <p:cNvSpPr/>
              <p:nvPr>
                <p:custDataLst>
                  <p:tags r:id="rId20"/>
                </p:custDataLst>
              </p:nvPr>
            </p:nvSpPr>
            <p:spPr>
              <a:xfrm>
                <a:off x="1740" y="4983"/>
                <a:ext cx="1501" cy="360"/>
              </a:xfrm>
              <a:prstGeom prst="rect">
                <a:avLst/>
              </a:prstGeom>
              <a:noFill/>
            </p:spPr>
            <p:txBody>
              <a:bodyPr wrap="square" lIns="0" tIns="0" rIns="0" bIns="0" rtlCol="0" anchor="ctr"/>
              <a:p>
                <a:pPr algn="ctr">
                  <a:lnSpc>
                    <a:spcPct val="130000"/>
                  </a:lnSpc>
                </a:pPr>
                <a:r>
                  <a:rPr lang="zh-CN" altLang="en-US" sz="1200" dirty="0">
                    <a:solidFill>
                      <a:srgbClr val="666666"/>
                    </a:solidFill>
                    <a:latin typeface="MiSans" panose="00000500000000000000" charset="-122"/>
                    <a:ea typeface="MiSans" panose="00000500000000000000" charset="-122"/>
                    <a:cs typeface="MiSans" panose="00000500000000000000" pitchFamily="34" charset="-120"/>
                  </a:rPr>
                  <a:t>收集训练</a:t>
                </a:r>
                <a:r>
                  <a:rPr lang="zh-CN" altLang="en-US" sz="1200" dirty="0">
                    <a:solidFill>
                      <a:srgbClr val="666666"/>
                    </a:solidFill>
                    <a:latin typeface="MiSans" panose="00000500000000000000" charset="-122"/>
                    <a:ea typeface="MiSans" panose="00000500000000000000" charset="-122"/>
                    <a:cs typeface="MiSans" panose="00000500000000000000" pitchFamily="34" charset="-120"/>
                  </a:rPr>
                  <a:t>数据</a:t>
                </a:r>
                <a:endParaRPr lang="zh-CN" altLang="en-US" sz="1200" dirty="0">
                  <a:solidFill>
                    <a:srgbClr val="666666"/>
                  </a:solidFill>
                  <a:latin typeface="MiSans" panose="00000500000000000000" charset="-122"/>
                  <a:ea typeface="MiSans" panose="00000500000000000000" charset="-122"/>
                  <a:cs typeface="MiSans" panose="00000500000000000000" pitchFamily="34" charset="-120"/>
                </a:endParaRPr>
              </a:p>
            </p:txBody>
          </p:sp>
        </p:grpSp>
        <p:sp>
          <p:nvSpPr>
            <p:cNvPr id="38" name="Shape 4"/>
            <p:cNvSpPr/>
            <p:nvPr>
              <p:custDataLst>
                <p:tags r:id="rId21"/>
              </p:custDataLst>
            </p:nvPr>
          </p:nvSpPr>
          <p:spPr>
            <a:xfrm>
              <a:off x="10267" y="5202"/>
              <a:ext cx="1338" cy="1390"/>
            </a:xfrm>
            <a:custGeom>
              <a:avLst/>
              <a:gdLst/>
              <a:ahLst/>
              <a:cxnLst/>
              <a:rect l="l" t="t" r="r" b="b"/>
              <a:pathLst>
                <a:path w="882361" h="882361">
                  <a:moveTo>
                    <a:pt x="441181" y="0"/>
                  </a:moveTo>
                  <a:lnTo>
                    <a:pt x="441181" y="0"/>
                  </a:lnTo>
                  <a:cubicBezTo>
                    <a:pt x="684675" y="0"/>
                    <a:pt x="882361" y="197686"/>
                    <a:pt x="882361" y="441181"/>
                  </a:cubicBezTo>
                  <a:lnTo>
                    <a:pt x="882361" y="441181"/>
                  </a:lnTo>
                  <a:cubicBezTo>
                    <a:pt x="882361" y="684675"/>
                    <a:pt x="684675" y="882361"/>
                    <a:pt x="441181" y="882361"/>
                  </a:cubicBezTo>
                  <a:lnTo>
                    <a:pt x="441181" y="882361"/>
                  </a:lnTo>
                  <a:cubicBezTo>
                    <a:pt x="197686" y="882361"/>
                    <a:pt x="0" y="684675"/>
                    <a:pt x="0" y="441181"/>
                  </a:cubicBezTo>
                  <a:lnTo>
                    <a:pt x="0" y="441181"/>
                  </a:lnTo>
                  <a:cubicBezTo>
                    <a:pt x="0" y="197686"/>
                    <a:pt x="197686" y="0"/>
                    <a:pt x="441181" y="0"/>
                  </a:cubicBezTo>
                  <a:close/>
                </a:path>
              </a:pathLst>
            </a:custGeom>
            <a:solidFill>
              <a:srgbClr val="5B92E5"/>
            </a:solidFill>
            <a:ln w="46182">
              <a:solidFill>
                <a:srgbClr val="FFFFFF"/>
              </a:solidFill>
              <a:prstDash val="solid"/>
            </a:ln>
            <a:effectLst>
              <a:outerShdw blurRad="142875" dist="95250" dir="5400000" algn="bl" rotWithShape="0">
                <a:srgbClr val="000000">
                  <a:alpha val="10196"/>
                </a:srgbClr>
              </a:outerShdw>
            </a:effectLst>
          </p:spPr>
        </p:sp>
        <p:sp>
          <p:nvSpPr>
            <p:cNvPr id="39" name="Shape 5"/>
            <p:cNvSpPr/>
            <p:nvPr>
              <p:custDataLst>
                <p:tags r:id="rId22"/>
              </p:custDataLst>
            </p:nvPr>
          </p:nvSpPr>
          <p:spPr>
            <a:xfrm>
              <a:off x="10767" y="5670"/>
              <a:ext cx="379" cy="450"/>
            </a:xfrm>
            <a:custGeom>
              <a:avLst/>
              <a:gdLst/>
              <a:ahLst/>
              <a:cxnLst/>
              <a:rect l="l" t="t" r="r" b="b"/>
              <a:pathLst>
                <a:path w="250031" h="285750">
                  <a:moveTo>
                    <a:pt x="250031" y="114858"/>
                  </a:moveTo>
                  <a:cubicBezTo>
                    <a:pt x="241771" y="120328"/>
                    <a:pt x="232283" y="124737"/>
                    <a:pt x="222405" y="128253"/>
                  </a:cubicBezTo>
                  <a:cubicBezTo>
                    <a:pt x="196174" y="137629"/>
                    <a:pt x="161739" y="142875"/>
                    <a:pt x="125016" y="142875"/>
                  </a:cubicBezTo>
                  <a:cubicBezTo>
                    <a:pt x="88292" y="142875"/>
                    <a:pt x="53801" y="137573"/>
                    <a:pt x="27626" y="128253"/>
                  </a:cubicBezTo>
                  <a:cubicBezTo>
                    <a:pt x="17804" y="124737"/>
                    <a:pt x="8260" y="120328"/>
                    <a:pt x="0" y="114858"/>
                  </a:cubicBezTo>
                  <a:lnTo>
                    <a:pt x="0" y="160734"/>
                  </a:lnTo>
                  <a:cubicBezTo>
                    <a:pt x="0" y="185403"/>
                    <a:pt x="55978" y="205383"/>
                    <a:pt x="125016" y="205383"/>
                  </a:cubicBezTo>
                  <a:cubicBezTo>
                    <a:pt x="194053" y="205383"/>
                    <a:pt x="250031" y="185403"/>
                    <a:pt x="250031" y="160734"/>
                  </a:cubicBezTo>
                  <a:lnTo>
                    <a:pt x="250031" y="114858"/>
                  </a:lnTo>
                  <a:close/>
                  <a:moveTo>
                    <a:pt x="250031" y="71438"/>
                  </a:moveTo>
                  <a:lnTo>
                    <a:pt x="250031" y="44648"/>
                  </a:lnTo>
                  <a:cubicBezTo>
                    <a:pt x="250031" y="19980"/>
                    <a:pt x="194053" y="0"/>
                    <a:pt x="125016" y="0"/>
                  </a:cubicBezTo>
                  <a:cubicBezTo>
                    <a:pt x="55978" y="0"/>
                    <a:pt x="0" y="19980"/>
                    <a:pt x="0" y="44648"/>
                  </a:cubicBezTo>
                  <a:lnTo>
                    <a:pt x="0" y="71438"/>
                  </a:lnTo>
                  <a:cubicBezTo>
                    <a:pt x="0" y="96106"/>
                    <a:pt x="55978" y="116086"/>
                    <a:pt x="125016" y="116086"/>
                  </a:cubicBezTo>
                  <a:cubicBezTo>
                    <a:pt x="194053" y="116086"/>
                    <a:pt x="250031" y="96106"/>
                    <a:pt x="250031" y="71438"/>
                  </a:cubicBezTo>
                  <a:close/>
                  <a:moveTo>
                    <a:pt x="222405" y="217550"/>
                  </a:moveTo>
                  <a:cubicBezTo>
                    <a:pt x="196230" y="226870"/>
                    <a:pt x="161795" y="232172"/>
                    <a:pt x="125016" y="232172"/>
                  </a:cubicBezTo>
                  <a:cubicBezTo>
                    <a:pt x="88236" y="232172"/>
                    <a:pt x="53801" y="226870"/>
                    <a:pt x="27626" y="217550"/>
                  </a:cubicBezTo>
                  <a:cubicBezTo>
                    <a:pt x="17804" y="214033"/>
                    <a:pt x="8260" y="209624"/>
                    <a:pt x="0" y="204155"/>
                  </a:cubicBezTo>
                  <a:lnTo>
                    <a:pt x="0" y="241102"/>
                  </a:lnTo>
                  <a:cubicBezTo>
                    <a:pt x="0" y="265770"/>
                    <a:pt x="55978" y="285750"/>
                    <a:pt x="125016" y="285750"/>
                  </a:cubicBezTo>
                  <a:cubicBezTo>
                    <a:pt x="194053" y="285750"/>
                    <a:pt x="250031" y="265770"/>
                    <a:pt x="250031" y="241102"/>
                  </a:cubicBezTo>
                  <a:lnTo>
                    <a:pt x="250031" y="204155"/>
                  </a:lnTo>
                  <a:cubicBezTo>
                    <a:pt x="241771" y="209624"/>
                    <a:pt x="232283" y="214033"/>
                    <a:pt x="222405" y="217550"/>
                  </a:cubicBezTo>
                  <a:close/>
                </a:path>
              </a:pathLst>
            </a:custGeom>
            <a:solidFill>
              <a:srgbClr val="FFFFFF"/>
            </a:solidFill>
          </p:spPr>
        </p:sp>
        <p:sp>
          <p:nvSpPr>
            <p:cNvPr id="40" name="Text 6"/>
            <p:cNvSpPr/>
            <p:nvPr>
              <p:custDataLst>
                <p:tags r:id="rId23"/>
              </p:custDataLst>
            </p:nvPr>
          </p:nvSpPr>
          <p:spPr>
            <a:xfrm>
              <a:off x="10165" y="6795"/>
              <a:ext cx="1530" cy="420"/>
            </a:xfrm>
            <a:prstGeom prst="rect">
              <a:avLst/>
            </a:prstGeom>
            <a:noFill/>
          </p:spPr>
          <p:txBody>
            <a:bodyPr wrap="square" lIns="0" tIns="0" rIns="0" bIns="0" rtlCol="0" anchor="ctr"/>
            <a:p>
              <a:pPr algn="ctr">
                <a:lnSpc>
                  <a:spcPct val="120000"/>
                </a:lnSpc>
              </a:pPr>
              <a:r>
                <a:rPr lang="en-US" sz="1500" b="1" dirty="0">
                  <a:solidFill>
                    <a:srgbClr val="333333"/>
                  </a:solidFill>
                  <a:latin typeface="MiSans" panose="00000500000000000000" charset="-122"/>
                  <a:ea typeface="MiSans" panose="00000500000000000000" charset="-122"/>
                  <a:cs typeface="MiSans" panose="00000500000000000000" pitchFamily="34" charset="-120"/>
                </a:rPr>
                <a:t>预训练</a:t>
              </a:r>
              <a:endParaRPr lang="en-US" sz="1600" dirty="0"/>
            </a:p>
          </p:txBody>
        </p:sp>
        <p:sp>
          <p:nvSpPr>
            <p:cNvPr id="41" name="Text 7"/>
            <p:cNvSpPr/>
            <p:nvPr>
              <p:custDataLst>
                <p:tags r:id="rId24"/>
              </p:custDataLst>
            </p:nvPr>
          </p:nvSpPr>
          <p:spPr>
            <a:xfrm>
              <a:off x="10180" y="7215"/>
              <a:ext cx="1501" cy="360"/>
            </a:xfrm>
            <a:prstGeom prst="rect">
              <a:avLst/>
            </a:prstGeom>
            <a:noFill/>
          </p:spPr>
          <p:txBody>
            <a:bodyPr wrap="square" lIns="0" tIns="0" rIns="0" bIns="0" rtlCol="0" anchor="ctr"/>
            <a:p>
              <a:pPr algn="ctr">
                <a:lnSpc>
                  <a:spcPct val="130000"/>
                </a:lnSpc>
              </a:pPr>
              <a:r>
                <a:rPr lang="en-US" sz="1200" dirty="0">
                  <a:solidFill>
                    <a:srgbClr val="666666"/>
                  </a:solidFill>
                  <a:latin typeface="MiSans" panose="00000500000000000000" charset="-122"/>
                  <a:ea typeface="MiSans" panose="00000500000000000000" charset="-122"/>
                  <a:cs typeface="MiSans" panose="00000500000000000000" pitchFamily="34" charset="-120"/>
                </a:rPr>
                <a:t>学习通用知识</a:t>
              </a:r>
              <a:endParaRPr lang="en-US" sz="1600" dirty="0"/>
            </a:p>
          </p:txBody>
        </p:sp>
        <p:sp>
          <p:nvSpPr>
            <p:cNvPr id="42" name="Shape 4"/>
            <p:cNvSpPr/>
            <p:nvPr>
              <p:custDataLst>
                <p:tags r:id="rId25"/>
              </p:custDataLst>
            </p:nvPr>
          </p:nvSpPr>
          <p:spPr>
            <a:xfrm>
              <a:off x="3783" y="5202"/>
              <a:ext cx="1338" cy="1390"/>
            </a:xfrm>
            <a:custGeom>
              <a:avLst/>
              <a:gdLst/>
              <a:ahLst/>
              <a:cxnLst/>
              <a:rect l="l" t="t" r="r" b="b"/>
              <a:pathLst>
                <a:path w="882361" h="882361">
                  <a:moveTo>
                    <a:pt x="441181" y="0"/>
                  </a:moveTo>
                  <a:lnTo>
                    <a:pt x="441181" y="0"/>
                  </a:lnTo>
                  <a:cubicBezTo>
                    <a:pt x="684675" y="0"/>
                    <a:pt x="882361" y="197686"/>
                    <a:pt x="882361" y="441181"/>
                  </a:cubicBezTo>
                  <a:lnTo>
                    <a:pt x="882361" y="441181"/>
                  </a:lnTo>
                  <a:cubicBezTo>
                    <a:pt x="882361" y="684675"/>
                    <a:pt x="684675" y="882361"/>
                    <a:pt x="441181" y="882361"/>
                  </a:cubicBezTo>
                  <a:lnTo>
                    <a:pt x="441181" y="882361"/>
                  </a:lnTo>
                  <a:cubicBezTo>
                    <a:pt x="197686" y="882361"/>
                    <a:pt x="0" y="684675"/>
                    <a:pt x="0" y="441181"/>
                  </a:cubicBezTo>
                  <a:lnTo>
                    <a:pt x="0" y="441181"/>
                  </a:lnTo>
                  <a:cubicBezTo>
                    <a:pt x="0" y="197686"/>
                    <a:pt x="197686" y="0"/>
                    <a:pt x="441181" y="0"/>
                  </a:cubicBezTo>
                  <a:close/>
                </a:path>
              </a:pathLst>
            </a:custGeom>
            <a:solidFill>
              <a:srgbClr val="5B92E5"/>
            </a:solidFill>
            <a:ln w="46182">
              <a:solidFill>
                <a:srgbClr val="FFFFFF"/>
              </a:solidFill>
              <a:prstDash val="solid"/>
            </a:ln>
            <a:effectLst>
              <a:outerShdw blurRad="142875" dist="95250" dir="5400000" algn="bl" rotWithShape="0">
                <a:srgbClr val="000000">
                  <a:alpha val="10196"/>
                </a:srgbClr>
              </a:outerShdw>
            </a:effectLst>
          </p:spPr>
          <p:txBody>
            <a:bodyPr/>
            <a:p>
              <a:endParaRPr lang="zh-CN" altLang="en-US"/>
            </a:p>
          </p:txBody>
        </p:sp>
        <p:sp>
          <p:nvSpPr>
            <p:cNvPr id="43" name="Text 6"/>
            <p:cNvSpPr/>
            <p:nvPr>
              <p:custDataLst>
                <p:tags r:id="rId26"/>
              </p:custDataLst>
            </p:nvPr>
          </p:nvSpPr>
          <p:spPr>
            <a:xfrm>
              <a:off x="3681" y="6795"/>
              <a:ext cx="1530" cy="420"/>
            </a:xfrm>
            <a:prstGeom prst="rect">
              <a:avLst/>
            </a:prstGeom>
            <a:noFill/>
          </p:spPr>
          <p:txBody>
            <a:bodyPr wrap="square" lIns="0" tIns="0" rIns="0" bIns="0" rtlCol="0" anchor="ctr"/>
            <a:p>
              <a:pPr algn="ctr">
                <a:lnSpc>
                  <a:spcPct val="120000"/>
                </a:lnSpc>
                <a:buClrTx/>
                <a:buSzTx/>
                <a:buFontTx/>
              </a:pPr>
              <a:r>
                <a:rPr lang="zh-CN" altLang="en-US" sz="1500" b="1" dirty="0">
                  <a:solidFill>
                    <a:srgbClr val="333333"/>
                  </a:solidFill>
                  <a:latin typeface="MiSans" panose="00000500000000000000" charset="-122"/>
                  <a:ea typeface="MiSans" panose="00000500000000000000" charset="-122"/>
                  <a:cs typeface="MiSans" panose="00000500000000000000" pitchFamily="34" charset="-120"/>
                </a:rPr>
                <a:t>词表构建</a:t>
              </a:r>
              <a:endParaRPr lang="zh-CN" altLang="en-US" sz="1500" b="1" dirty="0">
                <a:solidFill>
                  <a:srgbClr val="333333"/>
                </a:solidFill>
                <a:latin typeface="MiSans" panose="00000500000000000000" charset="-122"/>
                <a:ea typeface="MiSans" panose="00000500000000000000" charset="-122"/>
                <a:cs typeface="MiSans" panose="00000500000000000000" pitchFamily="34" charset="-120"/>
              </a:endParaRPr>
            </a:p>
          </p:txBody>
        </p:sp>
        <p:sp>
          <p:nvSpPr>
            <p:cNvPr id="44" name="Text 7"/>
            <p:cNvSpPr/>
            <p:nvPr>
              <p:custDataLst>
                <p:tags r:id="rId27"/>
              </p:custDataLst>
            </p:nvPr>
          </p:nvSpPr>
          <p:spPr>
            <a:xfrm>
              <a:off x="3544" y="7215"/>
              <a:ext cx="2084" cy="360"/>
            </a:xfrm>
            <a:prstGeom prst="rect">
              <a:avLst/>
            </a:prstGeom>
            <a:noFill/>
          </p:spPr>
          <p:txBody>
            <a:bodyPr wrap="square" lIns="0" tIns="0" rIns="0" bIns="0" rtlCol="0" anchor="ctr"/>
            <a:p>
              <a:pPr algn="ctr">
                <a:lnSpc>
                  <a:spcPct val="130000"/>
                </a:lnSpc>
              </a:pPr>
              <a:r>
                <a:rPr lang="zh-CN" altLang="en-US" sz="1200" dirty="0">
                  <a:solidFill>
                    <a:srgbClr val="666666"/>
                  </a:solidFill>
                  <a:latin typeface="MiSans" panose="00000500000000000000" charset="-122"/>
                  <a:ea typeface="MiSans" panose="00000500000000000000" charset="-122"/>
                  <a:cs typeface="MiSans" panose="00000500000000000000" pitchFamily="34" charset="-120"/>
                </a:rPr>
                <a:t>通过</a:t>
              </a:r>
              <a:r>
                <a:rPr lang="zh-CN" altLang="en-US" sz="1200" dirty="0">
                  <a:solidFill>
                    <a:srgbClr val="666666"/>
                  </a:solidFill>
                  <a:latin typeface="MiSans" panose="00000500000000000000" charset="-122"/>
                  <a:ea typeface="MiSans" panose="00000500000000000000" charset="-122"/>
                  <a:cs typeface="MiSans" panose="00000500000000000000" pitchFamily="34" charset="-120"/>
                </a:rPr>
                <a:t>切词构建</a:t>
              </a:r>
              <a:r>
                <a:rPr lang="zh-CN" altLang="en-US" sz="1200" dirty="0">
                  <a:solidFill>
                    <a:srgbClr val="666666"/>
                  </a:solidFill>
                  <a:latin typeface="MiSans" panose="00000500000000000000" charset="-122"/>
                  <a:ea typeface="MiSans" panose="00000500000000000000" charset="-122"/>
                  <a:cs typeface="MiSans" panose="00000500000000000000" pitchFamily="34" charset="-120"/>
                </a:rPr>
                <a:t>词表</a:t>
              </a:r>
              <a:endParaRPr lang="zh-CN" altLang="en-US" sz="1200" dirty="0">
                <a:solidFill>
                  <a:srgbClr val="666666"/>
                </a:solidFill>
                <a:latin typeface="MiSans" panose="00000500000000000000" charset="-122"/>
                <a:ea typeface="MiSans" panose="00000500000000000000" charset="-122"/>
                <a:cs typeface="MiSans" panose="00000500000000000000" pitchFamily="34" charset="-120"/>
              </a:endParaRPr>
            </a:p>
          </p:txBody>
        </p:sp>
        <p:cxnSp>
          <p:nvCxnSpPr>
            <p:cNvPr id="54" name="曲线连接符 53"/>
            <p:cNvCxnSpPr/>
            <p:nvPr>
              <p:custDataLst>
                <p:tags r:id="rId28"/>
              </p:custDataLst>
            </p:nvPr>
          </p:nvCxnSpPr>
          <p:spPr>
            <a:xfrm>
              <a:off x="2216" y="4897"/>
              <a:ext cx="1465" cy="773"/>
            </a:xfrm>
            <a:prstGeom prst="curvedConnector3">
              <a:avLst>
                <a:gd name="adj1" fmla="val 50034"/>
              </a:avLst>
            </a:prstGeom>
            <a:ln w="31750">
              <a:gradFill>
                <a:gsLst>
                  <a:gs pos="0">
                    <a:schemeClr val="accent5">
                      <a:hueOff val="-4200000"/>
                    </a:schemeClr>
                  </a:gs>
                  <a:gs pos="100000">
                    <a:schemeClr val="accent5"/>
                  </a:gs>
                </a:gsLst>
              </a:gradFill>
              <a:tailEnd type="arrow" w="med" len="med"/>
            </a:ln>
          </p:spPr>
          <p:style>
            <a:lnRef idx="0">
              <a:srgbClr val="FFFFFF"/>
            </a:lnRef>
            <a:fillRef idx="0">
              <a:srgbClr val="FFFFFF"/>
            </a:fillRef>
            <a:effectRef idx="0">
              <a:srgbClr val="FFFFFF"/>
            </a:effectRef>
            <a:fontRef idx="minor">
              <a:schemeClr val="tx1"/>
            </a:fontRef>
          </p:style>
        </p:cxnSp>
        <p:cxnSp>
          <p:nvCxnSpPr>
            <p:cNvPr id="55" name="曲线连接符 54"/>
            <p:cNvCxnSpPr/>
            <p:nvPr>
              <p:custDataLst>
                <p:tags r:id="rId29"/>
              </p:custDataLst>
            </p:nvPr>
          </p:nvCxnSpPr>
          <p:spPr>
            <a:xfrm flipV="1">
              <a:off x="5223" y="5202"/>
              <a:ext cx="1465" cy="691"/>
            </a:xfrm>
            <a:prstGeom prst="curvedConnector3">
              <a:avLst>
                <a:gd name="adj1" fmla="val 50034"/>
              </a:avLst>
            </a:prstGeom>
            <a:ln w="31750">
              <a:gradFill>
                <a:gsLst>
                  <a:gs pos="0">
                    <a:schemeClr val="accent5">
                      <a:hueOff val="-4200000"/>
                    </a:schemeClr>
                  </a:gs>
                  <a:gs pos="100000">
                    <a:schemeClr val="accent5"/>
                  </a:gs>
                </a:gsLst>
              </a:gradFill>
              <a:tailEnd type="arrow" w="med" len="med"/>
            </a:ln>
          </p:spPr>
          <p:style>
            <a:lnRef idx="0">
              <a:srgbClr val="FFFFFF"/>
            </a:lnRef>
            <a:fillRef idx="0">
              <a:srgbClr val="FFFFFF"/>
            </a:fillRef>
            <a:effectRef idx="0">
              <a:srgbClr val="FFFFFF"/>
            </a:effectRef>
            <a:fontRef idx="minor">
              <a:schemeClr val="tx1"/>
            </a:fontRef>
          </p:style>
        </p:cxnSp>
        <p:cxnSp>
          <p:nvCxnSpPr>
            <p:cNvPr id="56" name="曲线连接符 55"/>
            <p:cNvCxnSpPr/>
            <p:nvPr>
              <p:custDataLst>
                <p:tags r:id="rId30"/>
              </p:custDataLst>
            </p:nvPr>
          </p:nvCxnSpPr>
          <p:spPr>
            <a:xfrm>
              <a:off x="8223" y="5014"/>
              <a:ext cx="2012" cy="679"/>
            </a:xfrm>
            <a:prstGeom prst="curvedConnector3">
              <a:avLst>
                <a:gd name="adj1" fmla="val 50050"/>
              </a:avLst>
            </a:prstGeom>
            <a:ln w="31750">
              <a:gradFill>
                <a:gsLst>
                  <a:gs pos="0">
                    <a:schemeClr val="accent5">
                      <a:hueOff val="-4200000"/>
                    </a:schemeClr>
                  </a:gs>
                  <a:gs pos="100000">
                    <a:schemeClr val="accent5"/>
                  </a:gs>
                </a:gsLst>
              </a:gradFill>
              <a:tailEnd type="arrow" w="med" len="med"/>
            </a:ln>
          </p:spPr>
          <p:style>
            <a:lnRef idx="0">
              <a:srgbClr val="FFFFFF"/>
            </a:lnRef>
            <a:fillRef idx="0">
              <a:srgbClr val="FFFFFF"/>
            </a:fillRef>
            <a:effectRef idx="0">
              <a:srgbClr val="FFFFFF"/>
            </a:effectRef>
            <a:fontRef idx="minor">
              <a:schemeClr val="tx1"/>
            </a:fontRef>
          </p:style>
        </p:cxnSp>
        <p:cxnSp>
          <p:nvCxnSpPr>
            <p:cNvPr id="57" name="曲线连接符 56"/>
            <p:cNvCxnSpPr/>
            <p:nvPr>
              <p:custDataLst>
                <p:tags r:id="rId31"/>
              </p:custDataLst>
            </p:nvPr>
          </p:nvCxnSpPr>
          <p:spPr>
            <a:xfrm flipV="1">
              <a:off x="11711" y="5202"/>
              <a:ext cx="1599" cy="652"/>
            </a:xfrm>
            <a:prstGeom prst="curvedConnector3">
              <a:avLst>
                <a:gd name="adj1" fmla="val 50031"/>
              </a:avLst>
            </a:prstGeom>
            <a:ln w="31750">
              <a:gradFill>
                <a:gsLst>
                  <a:gs pos="0">
                    <a:schemeClr val="accent5">
                      <a:hueOff val="-4200000"/>
                    </a:schemeClr>
                  </a:gs>
                  <a:gs pos="100000">
                    <a:schemeClr val="accent5"/>
                  </a:gs>
                </a:gsLst>
              </a:gradFill>
              <a:tailEnd type="arrow" w="med" len="med"/>
            </a:ln>
          </p:spPr>
          <p:style>
            <a:lnRef idx="0">
              <a:srgbClr val="FFFFFF"/>
            </a:lnRef>
            <a:fillRef idx="0">
              <a:srgbClr val="FFFFFF"/>
            </a:fillRef>
            <a:effectRef idx="0">
              <a:srgbClr val="FFFFFF"/>
            </a:effectRef>
            <a:fontRef idx="minor">
              <a:schemeClr val="tx1"/>
            </a:fontRef>
          </p:style>
        </p:cxnSp>
        <p:cxnSp>
          <p:nvCxnSpPr>
            <p:cNvPr id="59" name="曲线连接符 58"/>
            <p:cNvCxnSpPr/>
            <p:nvPr>
              <p:custDataLst>
                <p:tags r:id="rId32"/>
              </p:custDataLst>
            </p:nvPr>
          </p:nvCxnSpPr>
          <p:spPr>
            <a:xfrm>
              <a:off x="14849" y="4664"/>
              <a:ext cx="1294" cy="763"/>
            </a:xfrm>
            <a:prstGeom prst="curvedConnector3">
              <a:avLst>
                <a:gd name="adj1" fmla="val 50077"/>
              </a:avLst>
            </a:prstGeom>
            <a:ln w="31750">
              <a:gradFill>
                <a:gsLst>
                  <a:gs pos="0">
                    <a:schemeClr val="accent5">
                      <a:hueOff val="-4200000"/>
                    </a:schemeClr>
                  </a:gs>
                  <a:gs pos="100000">
                    <a:schemeClr val="accent5"/>
                  </a:gs>
                </a:gsLst>
              </a:gradFill>
              <a:tailEnd type="arrow" w="med" len="med"/>
            </a:ln>
          </p:spPr>
          <p:style>
            <a:lnRef idx="0">
              <a:srgbClr val="FFFFFF"/>
            </a:lnRef>
            <a:fillRef idx="0">
              <a:srgbClr val="FFFFFF"/>
            </a:fillRef>
            <a:effectRef idx="0">
              <a:srgbClr val="FFFFFF"/>
            </a:effectRef>
            <a:fontRef idx="minor">
              <a:schemeClr val="tx1"/>
            </a:fontRef>
          </p:style>
        </p:cxnSp>
        <p:pic>
          <p:nvPicPr>
            <p:cNvPr id="94" name="图片 93" descr="vocabulary (1)"/>
            <p:cNvPicPr>
              <a:picLocks noChangeAspect="1"/>
            </p:cNvPicPr>
            <p:nvPr>
              <p:custDataLst>
                <p:tags r:id="rId33"/>
              </p:custDataLst>
            </p:nvPr>
          </p:nvPicPr>
          <p:blipFill>
            <a:blip r:embed="rId34"/>
            <a:stretch>
              <a:fillRect/>
            </a:stretch>
          </p:blipFill>
          <p:spPr>
            <a:xfrm>
              <a:off x="4226" y="5630"/>
              <a:ext cx="453" cy="453"/>
            </a:xfrm>
            <a:prstGeom prst="rect">
              <a:avLst/>
            </a:prstGeom>
            <a:solidFill>
              <a:schemeClr val="tx1">
                <a:alpha val="0"/>
              </a:schemeClr>
            </a:solidFill>
          </p:spPr>
        </p:pic>
        <p:pic>
          <p:nvPicPr>
            <p:cNvPr id="95" name="图片 94" descr="architecture-outlined"/>
            <p:cNvPicPr preferRelativeResize="0">
              <a:picLocks noChangeAspect="1"/>
            </p:cNvPicPr>
            <p:nvPr>
              <p:custDataLst>
                <p:tags r:id="rId35"/>
              </p:custDataLst>
            </p:nvPr>
          </p:nvPicPr>
          <p:blipFill>
            <a:blip r:embed="rId36"/>
            <a:stretch>
              <a:fillRect/>
            </a:stretch>
          </p:blipFill>
          <p:spPr>
            <a:xfrm>
              <a:off x="7152" y="4669"/>
              <a:ext cx="607" cy="607"/>
            </a:xfrm>
            <a:prstGeom prst="rect">
              <a:avLst/>
            </a:prstGeom>
          </p:spPr>
        </p:pic>
      </p:grpSp>
    </p:spTree>
  </p:cSld>
  <p:clrMapOvr>
    <a:masterClrMapping/>
  </p:clrMapOvr>
  <p:transition spd="slow">
    <p:fade/>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61780" y="361780"/>
            <a:ext cx="11661389" cy="578849"/>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000" b="0" i="0" u="none" strike="noStrike">
                <a:solidFill>
                  <a:srgbClr val="5B92E5"/>
                </a:solidFill>
                <a:latin typeface="Alimama ShuHeiTi"/>
                <a:ea typeface="Alimama ShuHeiTi"/>
                <a:cs typeface="Alimama ShuHeiTi"/>
                <a:sym typeface="Alimama ShuHeiTi"/>
              </a:rPr>
              <a:t>Step 1 数据收集</a:t>
            </a:r>
            <a:endParaRPr lang="en-US" sz="1100"/>
          </a:p>
        </p:txBody>
      </p:sp>
      <p:sp>
        <p:nvSpPr>
          <p:cNvPr id="3" name="Freeform 3"/>
          <p:cNvSpPr/>
          <p:nvPr/>
        </p:nvSpPr>
        <p:spPr>
          <a:xfrm>
            <a:off x="4194546" y="1230000"/>
            <a:ext cx="759739" cy="868274"/>
          </a:xfrm>
          <a:custGeom>
            <a:avLst/>
            <a:gdLst/>
            <a:ahLst/>
            <a:cxnLst/>
            <a:rect l="l" t="t" r="r" b="b"/>
            <a:pathLst>
              <a:path w="759739" h="868274">
                <a:moveTo>
                  <a:pt x="651205" y="868274"/>
                </a:moveTo>
                <a:lnTo>
                  <a:pt x="162801" y="868274"/>
                </a:lnTo>
                <a:cubicBezTo>
                  <a:pt x="72921" y="868274"/>
                  <a:pt x="0" y="795351"/>
                  <a:pt x="0" y="705472"/>
                </a:cubicBezTo>
                <a:lnTo>
                  <a:pt x="0" y="162801"/>
                </a:lnTo>
                <a:cubicBezTo>
                  <a:pt x="0" y="72921"/>
                  <a:pt x="72921" y="0"/>
                  <a:pt x="162801" y="0"/>
                </a:cubicBezTo>
                <a:lnTo>
                  <a:pt x="678337" y="0"/>
                </a:lnTo>
                <a:cubicBezTo>
                  <a:pt x="723278" y="0"/>
                  <a:pt x="759739" y="36460"/>
                  <a:pt x="759739" y="81401"/>
                </a:cubicBezTo>
                <a:lnTo>
                  <a:pt x="759739" y="569805"/>
                </a:lnTo>
                <a:cubicBezTo>
                  <a:pt x="759739" y="605246"/>
                  <a:pt x="737015" y="635433"/>
                  <a:pt x="705472" y="646626"/>
                </a:cubicBezTo>
                <a:lnTo>
                  <a:pt x="705472" y="759739"/>
                </a:lnTo>
                <a:cubicBezTo>
                  <a:pt x="735487" y="759739"/>
                  <a:pt x="759739" y="783989"/>
                  <a:pt x="759739" y="814006"/>
                </a:cubicBezTo>
                <a:cubicBezTo>
                  <a:pt x="759739" y="844022"/>
                  <a:pt x="735487" y="868274"/>
                  <a:pt x="705472" y="868274"/>
                </a:cubicBezTo>
                <a:lnTo>
                  <a:pt x="651205" y="868274"/>
                </a:lnTo>
                <a:close/>
                <a:moveTo>
                  <a:pt x="162801" y="651205"/>
                </a:moveTo>
                <a:cubicBezTo>
                  <a:pt x="132785" y="651205"/>
                  <a:pt x="108534" y="675455"/>
                  <a:pt x="108534" y="705472"/>
                </a:cubicBezTo>
                <a:cubicBezTo>
                  <a:pt x="108534" y="735487"/>
                  <a:pt x="132785" y="759739"/>
                  <a:pt x="162801" y="759739"/>
                </a:cubicBezTo>
                <a:lnTo>
                  <a:pt x="596938" y="759739"/>
                </a:lnTo>
                <a:lnTo>
                  <a:pt x="596938" y="651205"/>
                </a:lnTo>
                <a:lnTo>
                  <a:pt x="162801" y="651205"/>
                </a:lnTo>
                <a:close/>
                <a:moveTo>
                  <a:pt x="217068" y="257769"/>
                </a:moveTo>
                <a:cubicBezTo>
                  <a:pt x="217068" y="280323"/>
                  <a:pt x="235214" y="298469"/>
                  <a:pt x="257769" y="298469"/>
                </a:cubicBezTo>
                <a:lnTo>
                  <a:pt x="556237" y="298469"/>
                </a:lnTo>
                <a:cubicBezTo>
                  <a:pt x="578792" y="298469"/>
                  <a:pt x="596938" y="280323"/>
                  <a:pt x="596938" y="257769"/>
                </a:cubicBezTo>
                <a:cubicBezTo>
                  <a:pt x="596938" y="235214"/>
                  <a:pt x="578792" y="217068"/>
                  <a:pt x="556237" y="217068"/>
                </a:cubicBezTo>
                <a:lnTo>
                  <a:pt x="257769" y="217068"/>
                </a:lnTo>
                <a:cubicBezTo>
                  <a:pt x="235214" y="217068"/>
                  <a:pt x="217068" y="235214"/>
                  <a:pt x="217068" y="257769"/>
                </a:cubicBezTo>
                <a:close/>
                <a:moveTo>
                  <a:pt x="257769" y="379868"/>
                </a:moveTo>
                <a:cubicBezTo>
                  <a:pt x="235214" y="379868"/>
                  <a:pt x="217068" y="398015"/>
                  <a:pt x="217068" y="420569"/>
                </a:cubicBezTo>
                <a:cubicBezTo>
                  <a:pt x="217068" y="443125"/>
                  <a:pt x="235214" y="461270"/>
                  <a:pt x="257769" y="461270"/>
                </a:cubicBezTo>
                <a:lnTo>
                  <a:pt x="556237" y="461270"/>
                </a:lnTo>
                <a:cubicBezTo>
                  <a:pt x="578792" y="461270"/>
                  <a:pt x="596938" y="443125"/>
                  <a:pt x="596938" y="420569"/>
                </a:cubicBezTo>
                <a:cubicBezTo>
                  <a:pt x="596938" y="398015"/>
                  <a:pt x="578792" y="379868"/>
                  <a:pt x="556237" y="379868"/>
                </a:cubicBezTo>
                <a:lnTo>
                  <a:pt x="257769" y="379868"/>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4289513" y="2242880"/>
            <a:ext cx="569805" cy="651205"/>
          </a:xfrm>
          <a:custGeom>
            <a:avLst/>
            <a:gdLst/>
            <a:ahLst/>
            <a:cxnLst/>
            <a:rect l="l" t="t" r="r" b="b"/>
            <a:pathLst>
              <a:path w="569805" h="651205">
                <a:moveTo>
                  <a:pt x="488404" y="651205"/>
                </a:moveTo>
                <a:lnTo>
                  <a:pt x="122102" y="651205"/>
                </a:lnTo>
                <a:cubicBezTo>
                  <a:pt x="54691" y="651205"/>
                  <a:pt x="0" y="596514"/>
                  <a:pt x="0" y="529104"/>
                </a:cubicBezTo>
                <a:lnTo>
                  <a:pt x="0" y="122102"/>
                </a:lnTo>
                <a:cubicBezTo>
                  <a:pt x="0" y="54691"/>
                  <a:pt x="54691" y="0"/>
                  <a:pt x="122102" y="0"/>
                </a:cubicBezTo>
                <a:lnTo>
                  <a:pt x="508754" y="0"/>
                </a:lnTo>
                <a:cubicBezTo>
                  <a:pt x="542459" y="0"/>
                  <a:pt x="569805" y="27346"/>
                  <a:pt x="569805" y="61050"/>
                </a:cubicBezTo>
                <a:lnTo>
                  <a:pt x="569805" y="427352"/>
                </a:lnTo>
                <a:cubicBezTo>
                  <a:pt x="569805" y="453935"/>
                  <a:pt x="552761" y="476575"/>
                  <a:pt x="529104" y="484969"/>
                </a:cubicBezTo>
                <a:lnTo>
                  <a:pt x="529104" y="569805"/>
                </a:lnTo>
                <a:cubicBezTo>
                  <a:pt x="551616" y="569805"/>
                  <a:pt x="569805" y="587992"/>
                  <a:pt x="569805" y="610504"/>
                </a:cubicBezTo>
                <a:cubicBezTo>
                  <a:pt x="569805" y="633018"/>
                  <a:pt x="551616" y="651205"/>
                  <a:pt x="529104" y="651205"/>
                </a:cubicBezTo>
                <a:lnTo>
                  <a:pt x="488404" y="651205"/>
                </a:lnTo>
                <a:close/>
                <a:moveTo>
                  <a:pt x="122102" y="488404"/>
                </a:moveTo>
                <a:cubicBezTo>
                  <a:pt x="99590" y="488404"/>
                  <a:pt x="81401" y="506592"/>
                  <a:pt x="81401" y="529104"/>
                </a:cubicBezTo>
                <a:cubicBezTo>
                  <a:pt x="81401" y="551616"/>
                  <a:pt x="99590" y="569805"/>
                  <a:pt x="122102" y="569805"/>
                </a:cubicBezTo>
                <a:lnTo>
                  <a:pt x="447703" y="569805"/>
                </a:lnTo>
                <a:lnTo>
                  <a:pt x="447703" y="488404"/>
                </a:lnTo>
                <a:lnTo>
                  <a:pt x="122102" y="488404"/>
                </a:lnTo>
                <a:close/>
                <a:moveTo>
                  <a:pt x="162801" y="193326"/>
                </a:moveTo>
                <a:cubicBezTo>
                  <a:pt x="162801" y="210242"/>
                  <a:pt x="176411" y="223851"/>
                  <a:pt x="193326" y="223851"/>
                </a:cubicBezTo>
                <a:lnTo>
                  <a:pt x="417178" y="223851"/>
                </a:lnTo>
                <a:cubicBezTo>
                  <a:pt x="434094" y="223851"/>
                  <a:pt x="447703" y="210242"/>
                  <a:pt x="447703" y="193326"/>
                </a:cubicBezTo>
                <a:cubicBezTo>
                  <a:pt x="447703" y="176411"/>
                  <a:pt x="434094" y="162801"/>
                  <a:pt x="417178" y="162801"/>
                </a:cubicBezTo>
                <a:lnTo>
                  <a:pt x="193326" y="162801"/>
                </a:lnTo>
                <a:cubicBezTo>
                  <a:pt x="176411" y="162801"/>
                  <a:pt x="162801" y="176411"/>
                  <a:pt x="162801" y="193326"/>
                </a:cubicBezTo>
                <a:close/>
                <a:moveTo>
                  <a:pt x="193326" y="284902"/>
                </a:moveTo>
                <a:cubicBezTo>
                  <a:pt x="176411" y="284902"/>
                  <a:pt x="162801" y="298511"/>
                  <a:pt x="162801" y="315427"/>
                </a:cubicBezTo>
                <a:cubicBezTo>
                  <a:pt x="162801" y="332342"/>
                  <a:pt x="176411" y="345953"/>
                  <a:pt x="193326" y="345953"/>
                </a:cubicBezTo>
                <a:lnTo>
                  <a:pt x="417178" y="345953"/>
                </a:lnTo>
                <a:cubicBezTo>
                  <a:pt x="434094" y="345953"/>
                  <a:pt x="447703" y="332342"/>
                  <a:pt x="447703" y="315427"/>
                </a:cubicBezTo>
                <a:cubicBezTo>
                  <a:pt x="447703" y="298511"/>
                  <a:pt x="434094" y="284902"/>
                  <a:pt x="417178" y="284902"/>
                </a:cubicBezTo>
                <a:lnTo>
                  <a:pt x="193326" y="28490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4336997" y="3038761"/>
            <a:ext cx="474836" cy="542671"/>
          </a:xfrm>
          <a:custGeom>
            <a:avLst/>
            <a:gdLst/>
            <a:ahLst/>
            <a:cxnLst/>
            <a:rect l="l" t="t" r="r" b="b"/>
            <a:pathLst>
              <a:path w="474836" h="542671">
                <a:moveTo>
                  <a:pt x="407003" y="542671"/>
                </a:moveTo>
                <a:lnTo>
                  <a:pt x="101751" y="542671"/>
                </a:lnTo>
                <a:cubicBezTo>
                  <a:pt x="45576" y="542671"/>
                  <a:pt x="0" y="497095"/>
                  <a:pt x="0" y="440920"/>
                </a:cubicBezTo>
                <a:lnTo>
                  <a:pt x="0" y="101751"/>
                </a:lnTo>
                <a:cubicBezTo>
                  <a:pt x="0" y="45576"/>
                  <a:pt x="45576" y="0"/>
                  <a:pt x="101751" y="0"/>
                </a:cubicBezTo>
                <a:lnTo>
                  <a:pt x="423962" y="0"/>
                </a:lnTo>
                <a:cubicBezTo>
                  <a:pt x="452049" y="0"/>
                  <a:pt x="474836" y="22788"/>
                  <a:pt x="474836" y="50875"/>
                </a:cubicBezTo>
                <a:lnTo>
                  <a:pt x="474836" y="356128"/>
                </a:lnTo>
                <a:cubicBezTo>
                  <a:pt x="474836" y="378280"/>
                  <a:pt x="460634" y="397146"/>
                  <a:pt x="440920" y="404141"/>
                </a:cubicBezTo>
                <a:lnTo>
                  <a:pt x="440920" y="474836"/>
                </a:lnTo>
                <a:cubicBezTo>
                  <a:pt x="459680" y="474836"/>
                  <a:pt x="474836" y="489993"/>
                  <a:pt x="474836" y="508754"/>
                </a:cubicBezTo>
                <a:cubicBezTo>
                  <a:pt x="474836" y="527514"/>
                  <a:pt x="459680" y="542671"/>
                  <a:pt x="440920" y="542671"/>
                </a:cubicBezTo>
                <a:lnTo>
                  <a:pt x="407003" y="542671"/>
                </a:lnTo>
                <a:close/>
                <a:moveTo>
                  <a:pt x="101751" y="407003"/>
                </a:moveTo>
                <a:cubicBezTo>
                  <a:pt x="82989" y="407003"/>
                  <a:pt x="67835" y="422159"/>
                  <a:pt x="67835" y="440920"/>
                </a:cubicBezTo>
                <a:cubicBezTo>
                  <a:pt x="67835" y="459680"/>
                  <a:pt x="82989" y="474836"/>
                  <a:pt x="101751" y="474836"/>
                </a:cubicBezTo>
                <a:lnTo>
                  <a:pt x="373087" y="474836"/>
                </a:lnTo>
                <a:lnTo>
                  <a:pt x="373087" y="407003"/>
                </a:lnTo>
                <a:lnTo>
                  <a:pt x="101751" y="407003"/>
                </a:lnTo>
                <a:close/>
                <a:moveTo>
                  <a:pt x="135668" y="161105"/>
                </a:moveTo>
                <a:cubicBezTo>
                  <a:pt x="135668" y="175202"/>
                  <a:pt x="147009" y="186543"/>
                  <a:pt x="161105" y="186543"/>
                </a:cubicBezTo>
                <a:lnTo>
                  <a:pt x="347649" y="186543"/>
                </a:lnTo>
                <a:cubicBezTo>
                  <a:pt x="361746" y="186543"/>
                  <a:pt x="373087" y="175202"/>
                  <a:pt x="373087" y="161105"/>
                </a:cubicBezTo>
                <a:cubicBezTo>
                  <a:pt x="373087" y="147009"/>
                  <a:pt x="361746" y="135668"/>
                  <a:pt x="347649" y="135668"/>
                </a:cubicBezTo>
                <a:lnTo>
                  <a:pt x="161105" y="135668"/>
                </a:lnTo>
                <a:cubicBezTo>
                  <a:pt x="147009" y="135668"/>
                  <a:pt x="135668" y="147009"/>
                  <a:pt x="135668" y="161105"/>
                </a:cubicBezTo>
                <a:close/>
                <a:moveTo>
                  <a:pt x="161105" y="237418"/>
                </a:moveTo>
                <a:cubicBezTo>
                  <a:pt x="147009" y="237418"/>
                  <a:pt x="135668" y="248759"/>
                  <a:pt x="135668" y="262856"/>
                </a:cubicBezTo>
                <a:cubicBezTo>
                  <a:pt x="135668" y="276953"/>
                  <a:pt x="147009" y="288294"/>
                  <a:pt x="161105" y="288294"/>
                </a:cubicBezTo>
                <a:lnTo>
                  <a:pt x="347649" y="288294"/>
                </a:lnTo>
                <a:cubicBezTo>
                  <a:pt x="361746" y="288294"/>
                  <a:pt x="373087" y="276953"/>
                  <a:pt x="373087" y="262856"/>
                </a:cubicBezTo>
                <a:cubicBezTo>
                  <a:pt x="373087" y="248759"/>
                  <a:pt x="361746" y="237418"/>
                  <a:pt x="347649" y="237418"/>
                </a:cubicBezTo>
                <a:lnTo>
                  <a:pt x="161105" y="237418"/>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4384480" y="3726109"/>
            <a:ext cx="379868" cy="434136"/>
          </a:xfrm>
          <a:custGeom>
            <a:avLst/>
            <a:gdLst/>
            <a:ahLst/>
            <a:cxnLst/>
            <a:rect l="l" t="t" r="r" b="b"/>
            <a:pathLst>
              <a:path w="379868" h="434136">
                <a:moveTo>
                  <a:pt x="325603" y="434136"/>
                </a:moveTo>
                <a:lnTo>
                  <a:pt x="81401" y="434136"/>
                </a:lnTo>
                <a:cubicBezTo>
                  <a:pt x="36460" y="434136"/>
                  <a:pt x="0" y="397676"/>
                  <a:pt x="0" y="352736"/>
                </a:cubicBezTo>
                <a:lnTo>
                  <a:pt x="0" y="81401"/>
                </a:lnTo>
                <a:cubicBezTo>
                  <a:pt x="0" y="36460"/>
                  <a:pt x="36460" y="0"/>
                  <a:pt x="81401" y="0"/>
                </a:cubicBezTo>
                <a:lnTo>
                  <a:pt x="339169" y="0"/>
                </a:lnTo>
                <a:cubicBezTo>
                  <a:pt x="361639" y="0"/>
                  <a:pt x="379868" y="18230"/>
                  <a:pt x="379868" y="40700"/>
                </a:cubicBezTo>
                <a:lnTo>
                  <a:pt x="379868" y="284902"/>
                </a:lnTo>
                <a:cubicBezTo>
                  <a:pt x="379868" y="302624"/>
                  <a:pt x="368507" y="317717"/>
                  <a:pt x="352736" y="323313"/>
                </a:cubicBezTo>
                <a:lnTo>
                  <a:pt x="352736" y="379868"/>
                </a:lnTo>
                <a:cubicBezTo>
                  <a:pt x="367744" y="379868"/>
                  <a:pt x="379868" y="391994"/>
                  <a:pt x="379868" y="407003"/>
                </a:cubicBezTo>
                <a:cubicBezTo>
                  <a:pt x="379868" y="422011"/>
                  <a:pt x="367744" y="434136"/>
                  <a:pt x="352736" y="434136"/>
                </a:cubicBezTo>
                <a:lnTo>
                  <a:pt x="325603" y="434136"/>
                </a:lnTo>
                <a:close/>
                <a:moveTo>
                  <a:pt x="81401" y="325603"/>
                </a:moveTo>
                <a:cubicBezTo>
                  <a:pt x="66392" y="325603"/>
                  <a:pt x="54267" y="337729"/>
                  <a:pt x="54267" y="352736"/>
                </a:cubicBezTo>
                <a:cubicBezTo>
                  <a:pt x="54267" y="367744"/>
                  <a:pt x="66392" y="379868"/>
                  <a:pt x="81401" y="379868"/>
                </a:cubicBezTo>
                <a:lnTo>
                  <a:pt x="298469" y="379868"/>
                </a:lnTo>
                <a:lnTo>
                  <a:pt x="298469" y="325603"/>
                </a:lnTo>
                <a:lnTo>
                  <a:pt x="81401" y="325603"/>
                </a:lnTo>
                <a:close/>
                <a:moveTo>
                  <a:pt x="108534" y="128883"/>
                </a:moveTo>
                <a:cubicBezTo>
                  <a:pt x="108534" y="140162"/>
                  <a:pt x="117607" y="149234"/>
                  <a:pt x="128883" y="149234"/>
                </a:cubicBezTo>
                <a:lnTo>
                  <a:pt x="278119" y="149234"/>
                </a:lnTo>
                <a:cubicBezTo>
                  <a:pt x="289396" y="149234"/>
                  <a:pt x="298469" y="140162"/>
                  <a:pt x="298469" y="128883"/>
                </a:cubicBezTo>
                <a:cubicBezTo>
                  <a:pt x="298469" y="117607"/>
                  <a:pt x="289396" y="108534"/>
                  <a:pt x="278119" y="108534"/>
                </a:cubicBezTo>
                <a:lnTo>
                  <a:pt x="128883" y="108534"/>
                </a:lnTo>
                <a:cubicBezTo>
                  <a:pt x="117607" y="108534"/>
                  <a:pt x="108534" y="117607"/>
                  <a:pt x="108534" y="128883"/>
                </a:cubicBezTo>
                <a:close/>
                <a:moveTo>
                  <a:pt x="128883" y="189935"/>
                </a:moveTo>
                <a:cubicBezTo>
                  <a:pt x="117607" y="189935"/>
                  <a:pt x="108534" y="199006"/>
                  <a:pt x="108534" y="210285"/>
                </a:cubicBezTo>
                <a:cubicBezTo>
                  <a:pt x="108534" y="221562"/>
                  <a:pt x="117607" y="230635"/>
                  <a:pt x="128883" y="230635"/>
                </a:cubicBezTo>
                <a:lnTo>
                  <a:pt x="278119" y="230635"/>
                </a:lnTo>
                <a:cubicBezTo>
                  <a:pt x="289396" y="230635"/>
                  <a:pt x="298469" y="221562"/>
                  <a:pt x="298469" y="210285"/>
                </a:cubicBezTo>
                <a:cubicBezTo>
                  <a:pt x="298469" y="199006"/>
                  <a:pt x="289396" y="189935"/>
                  <a:pt x="278119" y="189935"/>
                </a:cubicBezTo>
                <a:lnTo>
                  <a:pt x="128883" y="189935"/>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5713998" y="1284267"/>
            <a:ext cx="759739" cy="759739"/>
          </a:xfrm>
          <a:custGeom>
            <a:avLst/>
            <a:gdLst/>
            <a:ahLst/>
            <a:cxnLst/>
            <a:rect l="l" t="t" r="r" b="b"/>
            <a:pathLst>
              <a:path w="759739" h="759739">
                <a:moveTo>
                  <a:pt x="108534" y="0"/>
                </a:moveTo>
                <a:cubicBezTo>
                  <a:pt x="48671" y="0"/>
                  <a:pt x="0" y="48672"/>
                  <a:pt x="0" y="108534"/>
                </a:cubicBezTo>
                <a:lnTo>
                  <a:pt x="0" y="217069"/>
                </a:lnTo>
                <a:cubicBezTo>
                  <a:pt x="0" y="276932"/>
                  <a:pt x="48671" y="325601"/>
                  <a:pt x="108534" y="325601"/>
                </a:cubicBezTo>
                <a:lnTo>
                  <a:pt x="651205" y="325601"/>
                </a:lnTo>
                <a:cubicBezTo>
                  <a:pt x="711068" y="325601"/>
                  <a:pt x="759739" y="276932"/>
                  <a:pt x="759739" y="217069"/>
                </a:cubicBezTo>
                <a:lnTo>
                  <a:pt x="759739" y="108534"/>
                </a:lnTo>
                <a:cubicBezTo>
                  <a:pt x="759739" y="48672"/>
                  <a:pt x="711068" y="0"/>
                  <a:pt x="651205" y="0"/>
                </a:cubicBezTo>
                <a:lnTo>
                  <a:pt x="108534" y="0"/>
                </a:lnTo>
                <a:close/>
                <a:moveTo>
                  <a:pt x="474836" y="122100"/>
                </a:moveTo>
                <a:cubicBezTo>
                  <a:pt x="497300" y="122100"/>
                  <a:pt x="515537" y="140338"/>
                  <a:pt x="515537" y="162801"/>
                </a:cubicBezTo>
                <a:cubicBezTo>
                  <a:pt x="515537" y="185264"/>
                  <a:pt x="497300" y="203502"/>
                  <a:pt x="474836" y="203502"/>
                </a:cubicBezTo>
                <a:cubicBezTo>
                  <a:pt x="452374" y="203502"/>
                  <a:pt x="434136" y="185264"/>
                  <a:pt x="434136" y="162801"/>
                </a:cubicBezTo>
                <a:cubicBezTo>
                  <a:pt x="434136" y="140338"/>
                  <a:pt x="452374" y="122100"/>
                  <a:pt x="474836" y="122100"/>
                </a:cubicBezTo>
                <a:close/>
                <a:moveTo>
                  <a:pt x="569805" y="162801"/>
                </a:moveTo>
                <a:cubicBezTo>
                  <a:pt x="569805" y="140338"/>
                  <a:pt x="588040" y="122100"/>
                  <a:pt x="610504" y="122100"/>
                </a:cubicBezTo>
                <a:cubicBezTo>
                  <a:pt x="632968" y="122100"/>
                  <a:pt x="651205" y="140338"/>
                  <a:pt x="651205" y="162801"/>
                </a:cubicBezTo>
                <a:cubicBezTo>
                  <a:pt x="651205" y="185264"/>
                  <a:pt x="632968" y="203502"/>
                  <a:pt x="610504" y="203502"/>
                </a:cubicBezTo>
                <a:cubicBezTo>
                  <a:pt x="588040" y="203502"/>
                  <a:pt x="569805" y="185264"/>
                  <a:pt x="569805" y="162801"/>
                </a:cubicBezTo>
                <a:close/>
                <a:moveTo>
                  <a:pt x="108534" y="434137"/>
                </a:moveTo>
                <a:cubicBezTo>
                  <a:pt x="48671" y="434137"/>
                  <a:pt x="0" y="482807"/>
                  <a:pt x="0" y="542671"/>
                </a:cubicBezTo>
                <a:lnTo>
                  <a:pt x="0" y="651205"/>
                </a:lnTo>
                <a:cubicBezTo>
                  <a:pt x="0" y="711068"/>
                  <a:pt x="48671" y="759739"/>
                  <a:pt x="108534" y="759739"/>
                </a:cubicBezTo>
                <a:lnTo>
                  <a:pt x="651205" y="759739"/>
                </a:lnTo>
                <a:cubicBezTo>
                  <a:pt x="711068" y="759739"/>
                  <a:pt x="759739" y="711068"/>
                  <a:pt x="759739" y="651205"/>
                </a:cubicBezTo>
                <a:lnTo>
                  <a:pt x="759739" y="542671"/>
                </a:lnTo>
                <a:cubicBezTo>
                  <a:pt x="759739" y="482807"/>
                  <a:pt x="711068" y="434137"/>
                  <a:pt x="651205" y="434137"/>
                </a:cubicBezTo>
                <a:lnTo>
                  <a:pt x="108534" y="434137"/>
                </a:lnTo>
                <a:close/>
                <a:moveTo>
                  <a:pt x="474836" y="556237"/>
                </a:moveTo>
                <a:cubicBezTo>
                  <a:pt x="497300" y="556237"/>
                  <a:pt x="515537" y="574474"/>
                  <a:pt x="515537" y="596938"/>
                </a:cubicBezTo>
                <a:cubicBezTo>
                  <a:pt x="515537" y="619401"/>
                  <a:pt x="497300" y="637638"/>
                  <a:pt x="474836" y="637638"/>
                </a:cubicBezTo>
                <a:cubicBezTo>
                  <a:pt x="452374" y="637638"/>
                  <a:pt x="434136" y="619401"/>
                  <a:pt x="434136" y="596938"/>
                </a:cubicBezTo>
                <a:cubicBezTo>
                  <a:pt x="434136" y="574474"/>
                  <a:pt x="452374" y="556237"/>
                  <a:pt x="474836" y="556237"/>
                </a:cubicBezTo>
                <a:close/>
                <a:moveTo>
                  <a:pt x="569805" y="596938"/>
                </a:moveTo>
                <a:cubicBezTo>
                  <a:pt x="569805" y="574474"/>
                  <a:pt x="588040" y="556237"/>
                  <a:pt x="610504" y="556237"/>
                </a:cubicBezTo>
                <a:cubicBezTo>
                  <a:pt x="632968" y="556237"/>
                  <a:pt x="651205" y="574474"/>
                  <a:pt x="651205" y="596938"/>
                </a:cubicBezTo>
                <a:cubicBezTo>
                  <a:pt x="651205" y="619401"/>
                  <a:pt x="632968" y="637638"/>
                  <a:pt x="610504" y="637638"/>
                </a:cubicBezTo>
                <a:cubicBezTo>
                  <a:pt x="588040" y="637638"/>
                  <a:pt x="569805" y="619401"/>
                  <a:pt x="569805" y="596938"/>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5808965" y="2242880"/>
            <a:ext cx="569805" cy="651205"/>
          </a:xfrm>
          <a:custGeom>
            <a:avLst/>
            <a:gdLst/>
            <a:ahLst/>
            <a:cxnLst/>
            <a:rect l="l" t="t" r="r" b="b"/>
            <a:pathLst>
              <a:path w="569805" h="651205">
                <a:moveTo>
                  <a:pt x="569805" y="261755"/>
                </a:moveTo>
                <a:cubicBezTo>
                  <a:pt x="550981" y="274218"/>
                  <a:pt x="529358" y="284265"/>
                  <a:pt x="506846" y="292279"/>
                </a:cubicBezTo>
                <a:cubicBezTo>
                  <a:pt x="447067" y="313647"/>
                  <a:pt x="368592" y="325603"/>
                  <a:pt x="284902" y="325603"/>
                </a:cubicBezTo>
                <a:cubicBezTo>
                  <a:pt x="201212" y="325603"/>
                  <a:pt x="122610" y="313519"/>
                  <a:pt x="62958" y="292279"/>
                </a:cubicBezTo>
                <a:cubicBezTo>
                  <a:pt x="40573" y="284265"/>
                  <a:pt x="18824" y="274218"/>
                  <a:pt x="0" y="261755"/>
                </a:cubicBezTo>
                <a:lnTo>
                  <a:pt x="0" y="366304"/>
                </a:lnTo>
                <a:cubicBezTo>
                  <a:pt x="0" y="422520"/>
                  <a:pt x="127570" y="468053"/>
                  <a:pt x="284902" y="468053"/>
                </a:cubicBezTo>
                <a:cubicBezTo>
                  <a:pt x="442234" y="468053"/>
                  <a:pt x="569805" y="422520"/>
                  <a:pt x="569805" y="366304"/>
                </a:cubicBezTo>
                <a:lnTo>
                  <a:pt x="569805" y="261755"/>
                </a:lnTo>
                <a:close/>
                <a:moveTo>
                  <a:pt x="569805" y="162801"/>
                </a:moveTo>
                <a:lnTo>
                  <a:pt x="569805" y="101751"/>
                </a:lnTo>
                <a:cubicBezTo>
                  <a:pt x="569805" y="45533"/>
                  <a:pt x="442234" y="0"/>
                  <a:pt x="284902" y="0"/>
                </a:cubicBezTo>
                <a:cubicBezTo>
                  <a:pt x="127570" y="0"/>
                  <a:pt x="0" y="45533"/>
                  <a:pt x="0" y="101751"/>
                </a:cubicBezTo>
                <a:lnTo>
                  <a:pt x="0" y="162801"/>
                </a:lnTo>
                <a:cubicBezTo>
                  <a:pt x="0" y="219018"/>
                  <a:pt x="127570" y="264552"/>
                  <a:pt x="284902" y="264552"/>
                </a:cubicBezTo>
                <a:cubicBezTo>
                  <a:pt x="442234" y="264552"/>
                  <a:pt x="569805" y="219018"/>
                  <a:pt x="569805" y="162801"/>
                </a:cubicBezTo>
                <a:close/>
                <a:moveTo>
                  <a:pt x="506846" y="495780"/>
                </a:moveTo>
                <a:cubicBezTo>
                  <a:pt x="447195" y="517021"/>
                  <a:pt x="368719" y="529104"/>
                  <a:pt x="284902" y="529104"/>
                </a:cubicBezTo>
                <a:cubicBezTo>
                  <a:pt x="201085" y="529104"/>
                  <a:pt x="122610" y="517021"/>
                  <a:pt x="62958" y="495780"/>
                </a:cubicBezTo>
                <a:cubicBezTo>
                  <a:pt x="40573" y="487768"/>
                  <a:pt x="18824" y="477719"/>
                  <a:pt x="0" y="465256"/>
                </a:cubicBezTo>
                <a:lnTo>
                  <a:pt x="0" y="549454"/>
                </a:lnTo>
                <a:cubicBezTo>
                  <a:pt x="0" y="605671"/>
                  <a:pt x="127570" y="651205"/>
                  <a:pt x="284902" y="651205"/>
                </a:cubicBezTo>
                <a:cubicBezTo>
                  <a:pt x="442234" y="651205"/>
                  <a:pt x="569805" y="605671"/>
                  <a:pt x="569805" y="549454"/>
                </a:cubicBezTo>
                <a:lnTo>
                  <a:pt x="569805" y="465256"/>
                </a:lnTo>
                <a:cubicBezTo>
                  <a:pt x="550981" y="477719"/>
                  <a:pt x="529358" y="487768"/>
                  <a:pt x="506846" y="49578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5856449" y="3072678"/>
            <a:ext cx="474836" cy="474838"/>
          </a:xfrm>
          <a:custGeom>
            <a:avLst/>
            <a:gdLst/>
            <a:ahLst/>
            <a:cxnLst/>
            <a:rect l="l" t="t" r="r" b="b"/>
            <a:pathLst>
              <a:path w="474836" h="474838">
                <a:moveTo>
                  <a:pt x="67835" y="0"/>
                </a:moveTo>
                <a:cubicBezTo>
                  <a:pt x="30419" y="0"/>
                  <a:pt x="0" y="30419"/>
                  <a:pt x="0" y="67834"/>
                </a:cubicBezTo>
                <a:lnTo>
                  <a:pt x="0" y="241764"/>
                </a:lnTo>
                <a:cubicBezTo>
                  <a:pt x="19185" y="228302"/>
                  <a:pt x="42609" y="220460"/>
                  <a:pt x="67835" y="220460"/>
                </a:cubicBezTo>
                <a:lnTo>
                  <a:pt x="407003" y="220460"/>
                </a:lnTo>
                <a:cubicBezTo>
                  <a:pt x="432229" y="220460"/>
                  <a:pt x="455653" y="228302"/>
                  <a:pt x="474836" y="241764"/>
                </a:cubicBezTo>
                <a:lnTo>
                  <a:pt x="474836" y="67834"/>
                </a:lnTo>
                <a:cubicBezTo>
                  <a:pt x="474836" y="30419"/>
                  <a:pt x="444417" y="0"/>
                  <a:pt x="407003" y="0"/>
                </a:cubicBezTo>
                <a:lnTo>
                  <a:pt x="67835" y="0"/>
                </a:lnTo>
                <a:close/>
                <a:moveTo>
                  <a:pt x="474836" y="339170"/>
                </a:moveTo>
                <a:cubicBezTo>
                  <a:pt x="474836" y="301754"/>
                  <a:pt x="444417" y="271335"/>
                  <a:pt x="407003" y="271335"/>
                </a:cubicBezTo>
                <a:lnTo>
                  <a:pt x="67835" y="271335"/>
                </a:lnTo>
                <a:cubicBezTo>
                  <a:pt x="30419" y="271335"/>
                  <a:pt x="0" y="301754"/>
                  <a:pt x="0" y="339170"/>
                </a:cubicBezTo>
                <a:lnTo>
                  <a:pt x="0" y="407003"/>
                </a:lnTo>
                <a:cubicBezTo>
                  <a:pt x="0" y="444417"/>
                  <a:pt x="30419" y="474837"/>
                  <a:pt x="67835" y="474837"/>
                </a:cubicBezTo>
                <a:lnTo>
                  <a:pt x="407003" y="474837"/>
                </a:lnTo>
                <a:cubicBezTo>
                  <a:pt x="444417" y="474837"/>
                  <a:pt x="474836" y="444417"/>
                  <a:pt x="474836" y="407003"/>
                </a:cubicBezTo>
                <a:lnTo>
                  <a:pt x="474836" y="339170"/>
                </a:lnTo>
                <a:close/>
                <a:moveTo>
                  <a:pt x="237418" y="373086"/>
                </a:moveTo>
                <a:cubicBezTo>
                  <a:pt x="237418" y="354366"/>
                  <a:pt x="252616" y="339170"/>
                  <a:pt x="271335" y="339170"/>
                </a:cubicBezTo>
                <a:cubicBezTo>
                  <a:pt x="290055" y="339170"/>
                  <a:pt x="305252" y="354366"/>
                  <a:pt x="305252" y="373086"/>
                </a:cubicBezTo>
                <a:cubicBezTo>
                  <a:pt x="305252" y="391805"/>
                  <a:pt x="290055" y="407003"/>
                  <a:pt x="271335" y="407003"/>
                </a:cubicBezTo>
                <a:cubicBezTo>
                  <a:pt x="252616" y="407003"/>
                  <a:pt x="237418" y="391805"/>
                  <a:pt x="237418" y="373086"/>
                </a:cubicBezTo>
                <a:close/>
                <a:moveTo>
                  <a:pt x="373087" y="339170"/>
                </a:moveTo>
                <a:cubicBezTo>
                  <a:pt x="391805" y="339170"/>
                  <a:pt x="407003" y="354366"/>
                  <a:pt x="407003" y="373086"/>
                </a:cubicBezTo>
                <a:cubicBezTo>
                  <a:pt x="407003" y="391805"/>
                  <a:pt x="391805" y="407003"/>
                  <a:pt x="373087" y="407003"/>
                </a:cubicBezTo>
                <a:cubicBezTo>
                  <a:pt x="354367" y="407003"/>
                  <a:pt x="339169" y="391805"/>
                  <a:pt x="339169" y="373086"/>
                </a:cubicBezTo>
                <a:cubicBezTo>
                  <a:pt x="339169" y="354366"/>
                  <a:pt x="354367" y="339170"/>
                  <a:pt x="373087" y="33917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5849665" y="3753243"/>
            <a:ext cx="488404" cy="379870"/>
          </a:xfrm>
          <a:custGeom>
            <a:avLst/>
            <a:gdLst/>
            <a:ahLst/>
            <a:cxnLst/>
            <a:rect l="l" t="t" r="r" b="b"/>
            <a:pathLst>
              <a:path w="488404" h="379870">
                <a:moveTo>
                  <a:pt x="0" y="257768"/>
                </a:moveTo>
                <a:cubicBezTo>
                  <a:pt x="0" y="325178"/>
                  <a:pt x="54691" y="379869"/>
                  <a:pt x="122102" y="379869"/>
                </a:cubicBezTo>
                <a:lnTo>
                  <a:pt x="379868" y="379869"/>
                </a:lnTo>
                <a:cubicBezTo>
                  <a:pt x="439818" y="379869"/>
                  <a:pt x="488404" y="331283"/>
                  <a:pt x="488404" y="271335"/>
                </a:cubicBezTo>
                <a:cubicBezTo>
                  <a:pt x="488404" y="227582"/>
                  <a:pt x="462542" y="189849"/>
                  <a:pt x="425233" y="172721"/>
                </a:cubicBezTo>
                <a:cubicBezTo>
                  <a:pt x="430914" y="161613"/>
                  <a:pt x="434136" y="148979"/>
                  <a:pt x="434136" y="135667"/>
                </a:cubicBezTo>
                <a:cubicBezTo>
                  <a:pt x="434136" y="90727"/>
                  <a:pt x="397676" y="54267"/>
                  <a:pt x="352736" y="54267"/>
                </a:cubicBezTo>
                <a:cubicBezTo>
                  <a:pt x="337729" y="54267"/>
                  <a:pt x="323737" y="58337"/>
                  <a:pt x="311696" y="65374"/>
                </a:cubicBezTo>
                <a:cubicBezTo>
                  <a:pt x="291261" y="26540"/>
                  <a:pt x="250476" y="0"/>
                  <a:pt x="203501" y="0"/>
                </a:cubicBezTo>
                <a:cubicBezTo>
                  <a:pt x="136092" y="0"/>
                  <a:pt x="81401" y="54691"/>
                  <a:pt x="81401" y="122100"/>
                </a:cubicBezTo>
                <a:cubicBezTo>
                  <a:pt x="81401" y="128884"/>
                  <a:pt x="81994" y="135582"/>
                  <a:pt x="83012" y="142027"/>
                </a:cubicBezTo>
                <a:cubicBezTo>
                  <a:pt x="34765" y="158308"/>
                  <a:pt x="0" y="204010"/>
                  <a:pt x="0" y="257768"/>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7181727" y="1230000"/>
            <a:ext cx="864542" cy="868274"/>
          </a:xfrm>
          <a:custGeom>
            <a:avLst/>
            <a:gdLst/>
            <a:ahLst/>
            <a:cxnLst/>
            <a:rect l="l" t="t" r="r" b="b"/>
            <a:pathLst>
              <a:path w="864542" h="868274">
                <a:moveTo>
                  <a:pt x="594224" y="474836"/>
                </a:moveTo>
                <a:lnTo>
                  <a:pt x="270487" y="474836"/>
                </a:lnTo>
                <a:cubicBezTo>
                  <a:pt x="275404" y="584219"/>
                  <a:pt x="299656" y="684952"/>
                  <a:pt x="334081" y="758721"/>
                </a:cubicBezTo>
                <a:cubicBezTo>
                  <a:pt x="353414" y="800270"/>
                  <a:pt x="374273" y="829608"/>
                  <a:pt x="393606" y="847584"/>
                </a:cubicBezTo>
                <a:cubicBezTo>
                  <a:pt x="412599" y="865389"/>
                  <a:pt x="425657" y="868274"/>
                  <a:pt x="432440" y="868274"/>
                </a:cubicBezTo>
                <a:cubicBezTo>
                  <a:pt x="439224" y="868274"/>
                  <a:pt x="452282" y="865389"/>
                  <a:pt x="471275" y="847584"/>
                </a:cubicBezTo>
                <a:cubicBezTo>
                  <a:pt x="490608" y="829608"/>
                  <a:pt x="511467" y="800100"/>
                  <a:pt x="530799" y="758721"/>
                </a:cubicBezTo>
                <a:cubicBezTo>
                  <a:pt x="565225" y="684952"/>
                  <a:pt x="589475" y="584219"/>
                  <a:pt x="594394" y="474836"/>
                </a:cubicBezTo>
                <a:close/>
                <a:moveTo>
                  <a:pt x="270318" y="393436"/>
                </a:moveTo>
                <a:lnTo>
                  <a:pt x="594055" y="393436"/>
                </a:lnTo>
                <a:cubicBezTo>
                  <a:pt x="589306" y="284055"/>
                  <a:pt x="565056" y="183321"/>
                  <a:pt x="530630" y="109551"/>
                </a:cubicBezTo>
                <a:cubicBezTo>
                  <a:pt x="511297" y="68174"/>
                  <a:pt x="490438" y="38665"/>
                  <a:pt x="471106" y="20690"/>
                </a:cubicBezTo>
                <a:cubicBezTo>
                  <a:pt x="452112" y="2883"/>
                  <a:pt x="439054" y="0"/>
                  <a:pt x="432271" y="0"/>
                </a:cubicBezTo>
                <a:cubicBezTo>
                  <a:pt x="425487" y="0"/>
                  <a:pt x="412428" y="2883"/>
                  <a:pt x="393436" y="20690"/>
                </a:cubicBezTo>
                <a:cubicBezTo>
                  <a:pt x="374102" y="38665"/>
                  <a:pt x="353244" y="68174"/>
                  <a:pt x="333912" y="109551"/>
                </a:cubicBezTo>
                <a:cubicBezTo>
                  <a:pt x="299486" y="183321"/>
                  <a:pt x="275235" y="284055"/>
                  <a:pt x="270318" y="393436"/>
                </a:cubicBezTo>
                <a:close/>
                <a:moveTo>
                  <a:pt x="188917" y="393436"/>
                </a:moveTo>
                <a:cubicBezTo>
                  <a:pt x="194852" y="248272"/>
                  <a:pt x="232331" y="113452"/>
                  <a:pt x="287106" y="24929"/>
                </a:cubicBezTo>
                <a:cubicBezTo>
                  <a:pt x="130919" y="80214"/>
                  <a:pt x="15941" y="222495"/>
                  <a:pt x="0" y="393436"/>
                </a:cubicBezTo>
                <a:lnTo>
                  <a:pt x="188917" y="393436"/>
                </a:lnTo>
                <a:close/>
                <a:moveTo>
                  <a:pt x="0" y="474836"/>
                </a:moveTo>
                <a:cubicBezTo>
                  <a:pt x="15941" y="645778"/>
                  <a:pt x="130919" y="788059"/>
                  <a:pt x="287106" y="843344"/>
                </a:cubicBezTo>
                <a:cubicBezTo>
                  <a:pt x="232331" y="754821"/>
                  <a:pt x="194852" y="620001"/>
                  <a:pt x="188917" y="474836"/>
                </a:cubicBezTo>
                <a:lnTo>
                  <a:pt x="0" y="474836"/>
                </a:lnTo>
                <a:close/>
                <a:moveTo>
                  <a:pt x="675625" y="474836"/>
                </a:moveTo>
                <a:cubicBezTo>
                  <a:pt x="669689" y="620001"/>
                  <a:pt x="632211" y="754821"/>
                  <a:pt x="577435" y="843344"/>
                </a:cubicBezTo>
                <a:cubicBezTo>
                  <a:pt x="733623" y="787890"/>
                  <a:pt x="848601" y="645778"/>
                  <a:pt x="864542" y="474836"/>
                </a:cubicBezTo>
                <a:lnTo>
                  <a:pt x="675625" y="474836"/>
                </a:lnTo>
                <a:close/>
                <a:moveTo>
                  <a:pt x="864542" y="393436"/>
                </a:moveTo>
                <a:cubicBezTo>
                  <a:pt x="848601" y="222495"/>
                  <a:pt x="733623" y="80214"/>
                  <a:pt x="577435" y="24929"/>
                </a:cubicBezTo>
                <a:cubicBezTo>
                  <a:pt x="632211" y="113452"/>
                  <a:pt x="669689" y="248272"/>
                  <a:pt x="675625" y="393436"/>
                </a:cubicBezTo>
                <a:lnTo>
                  <a:pt x="864542" y="393436"/>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7287717" y="2283580"/>
            <a:ext cx="651205" cy="569805"/>
          </a:xfrm>
          <a:custGeom>
            <a:avLst/>
            <a:gdLst/>
            <a:ahLst/>
            <a:cxnLst/>
            <a:rect l="l" t="t" r="r" b="b"/>
            <a:pathLst>
              <a:path w="651205" h="569805">
                <a:moveTo>
                  <a:pt x="0" y="488404"/>
                </a:moveTo>
                <a:lnTo>
                  <a:pt x="0" y="111926"/>
                </a:lnTo>
                <a:cubicBezTo>
                  <a:pt x="0" y="95010"/>
                  <a:pt x="13609" y="81402"/>
                  <a:pt x="30524" y="81402"/>
                </a:cubicBezTo>
                <a:cubicBezTo>
                  <a:pt x="47441" y="81402"/>
                  <a:pt x="61050" y="95010"/>
                  <a:pt x="61050" y="111926"/>
                </a:cubicBezTo>
                <a:lnTo>
                  <a:pt x="61050" y="478230"/>
                </a:lnTo>
                <a:cubicBezTo>
                  <a:pt x="61050" y="495145"/>
                  <a:pt x="74659" y="508754"/>
                  <a:pt x="91576" y="508754"/>
                </a:cubicBezTo>
                <a:cubicBezTo>
                  <a:pt x="108492" y="508754"/>
                  <a:pt x="122102" y="495145"/>
                  <a:pt x="122102" y="478230"/>
                </a:cubicBezTo>
                <a:lnTo>
                  <a:pt x="122102" y="81402"/>
                </a:lnTo>
                <a:cubicBezTo>
                  <a:pt x="122102" y="36503"/>
                  <a:pt x="158604" y="0"/>
                  <a:pt x="203501" y="0"/>
                </a:cubicBezTo>
                <a:lnTo>
                  <a:pt x="569805" y="0"/>
                </a:lnTo>
                <a:cubicBezTo>
                  <a:pt x="614702" y="0"/>
                  <a:pt x="651205" y="36503"/>
                  <a:pt x="651205" y="81402"/>
                </a:cubicBezTo>
                <a:lnTo>
                  <a:pt x="651205" y="488404"/>
                </a:lnTo>
                <a:cubicBezTo>
                  <a:pt x="651205" y="533301"/>
                  <a:pt x="614702" y="569804"/>
                  <a:pt x="569805" y="569804"/>
                </a:cubicBezTo>
                <a:lnTo>
                  <a:pt x="81401" y="569804"/>
                </a:lnTo>
                <a:cubicBezTo>
                  <a:pt x="36504" y="569804"/>
                  <a:pt x="0" y="533301"/>
                  <a:pt x="0" y="488404"/>
                </a:cubicBezTo>
                <a:close/>
                <a:moveTo>
                  <a:pt x="203501" y="122101"/>
                </a:moveTo>
                <a:lnTo>
                  <a:pt x="203501" y="203502"/>
                </a:lnTo>
                <a:cubicBezTo>
                  <a:pt x="203501" y="226014"/>
                  <a:pt x="221689" y="244202"/>
                  <a:pt x="244202" y="244202"/>
                </a:cubicBezTo>
                <a:lnTo>
                  <a:pt x="325603" y="244202"/>
                </a:lnTo>
                <a:cubicBezTo>
                  <a:pt x="348115" y="244202"/>
                  <a:pt x="366304" y="226014"/>
                  <a:pt x="366304" y="203502"/>
                </a:cubicBezTo>
                <a:lnTo>
                  <a:pt x="366304" y="122101"/>
                </a:lnTo>
                <a:cubicBezTo>
                  <a:pt x="366304" y="99589"/>
                  <a:pt x="348115" y="81402"/>
                  <a:pt x="325603" y="81402"/>
                </a:cubicBezTo>
                <a:lnTo>
                  <a:pt x="244202" y="81402"/>
                </a:lnTo>
                <a:cubicBezTo>
                  <a:pt x="221689" y="81402"/>
                  <a:pt x="203501" y="99589"/>
                  <a:pt x="203501" y="122101"/>
                </a:cubicBezTo>
                <a:close/>
                <a:moveTo>
                  <a:pt x="234027" y="427353"/>
                </a:moveTo>
                <a:cubicBezTo>
                  <a:pt x="217112" y="427353"/>
                  <a:pt x="203501" y="440963"/>
                  <a:pt x="203501" y="457879"/>
                </a:cubicBezTo>
                <a:cubicBezTo>
                  <a:pt x="203501" y="474796"/>
                  <a:pt x="217112" y="488404"/>
                  <a:pt x="234027" y="488404"/>
                </a:cubicBezTo>
                <a:lnTo>
                  <a:pt x="539279" y="488404"/>
                </a:lnTo>
                <a:cubicBezTo>
                  <a:pt x="556195" y="488404"/>
                  <a:pt x="569805" y="474796"/>
                  <a:pt x="569805" y="457879"/>
                </a:cubicBezTo>
                <a:cubicBezTo>
                  <a:pt x="569805" y="440963"/>
                  <a:pt x="556195" y="427353"/>
                  <a:pt x="539279" y="427353"/>
                </a:cubicBezTo>
                <a:lnTo>
                  <a:pt x="234027" y="427353"/>
                </a:lnTo>
                <a:close/>
                <a:moveTo>
                  <a:pt x="203501" y="335778"/>
                </a:moveTo>
                <a:cubicBezTo>
                  <a:pt x="203501" y="352694"/>
                  <a:pt x="217112" y="366303"/>
                  <a:pt x="234027" y="366303"/>
                </a:cubicBezTo>
                <a:lnTo>
                  <a:pt x="539279" y="366303"/>
                </a:lnTo>
                <a:cubicBezTo>
                  <a:pt x="556195" y="366303"/>
                  <a:pt x="569805" y="352694"/>
                  <a:pt x="569805" y="335778"/>
                </a:cubicBezTo>
                <a:cubicBezTo>
                  <a:pt x="569805" y="318862"/>
                  <a:pt x="556195" y="305253"/>
                  <a:pt x="539279" y="305253"/>
                </a:cubicBezTo>
                <a:lnTo>
                  <a:pt x="234027" y="305253"/>
                </a:lnTo>
                <a:cubicBezTo>
                  <a:pt x="217112" y="305253"/>
                  <a:pt x="203501" y="318862"/>
                  <a:pt x="203501" y="335778"/>
                </a:cubicBezTo>
                <a:close/>
                <a:moveTo>
                  <a:pt x="457878" y="183151"/>
                </a:moveTo>
                <a:cubicBezTo>
                  <a:pt x="440962" y="183151"/>
                  <a:pt x="427352" y="196761"/>
                  <a:pt x="427352" y="213677"/>
                </a:cubicBezTo>
                <a:cubicBezTo>
                  <a:pt x="427352" y="230594"/>
                  <a:pt x="440962" y="244202"/>
                  <a:pt x="457878" y="244202"/>
                </a:cubicBezTo>
                <a:lnTo>
                  <a:pt x="539279" y="244202"/>
                </a:lnTo>
                <a:cubicBezTo>
                  <a:pt x="556195" y="244202"/>
                  <a:pt x="569805" y="230594"/>
                  <a:pt x="569805" y="213677"/>
                </a:cubicBezTo>
                <a:cubicBezTo>
                  <a:pt x="569805" y="196761"/>
                  <a:pt x="556195" y="183151"/>
                  <a:pt x="539279" y="183151"/>
                </a:cubicBezTo>
                <a:lnTo>
                  <a:pt x="457878" y="183151"/>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7409818" y="3038761"/>
            <a:ext cx="407003" cy="542671"/>
          </a:xfrm>
          <a:custGeom>
            <a:avLst/>
            <a:gdLst/>
            <a:ahLst/>
            <a:cxnLst/>
            <a:rect l="l" t="t" r="r" b="b"/>
            <a:pathLst>
              <a:path w="407003" h="542671">
                <a:moveTo>
                  <a:pt x="0" y="67835"/>
                </a:moveTo>
                <a:cubicBezTo>
                  <a:pt x="0" y="30419"/>
                  <a:pt x="30419" y="0"/>
                  <a:pt x="67835" y="0"/>
                </a:cubicBezTo>
                <a:lnTo>
                  <a:pt x="226289" y="0"/>
                </a:lnTo>
                <a:cubicBezTo>
                  <a:pt x="244309" y="0"/>
                  <a:pt x="261584" y="7101"/>
                  <a:pt x="274303" y="19820"/>
                </a:cubicBezTo>
                <a:lnTo>
                  <a:pt x="387184" y="132806"/>
                </a:lnTo>
                <a:cubicBezTo>
                  <a:pt x="399901" y="145525"/>
                  <a:pt x="407003" y="162801"/>
                  <a:pt x="407003" y="180820"/>
                </a:cubicBezTo>
                <a:lnTo>
                  <a:pt x="407003" y="474836"/>
                </a:lnTo>
                <a:cubicBezTo>
                  <a:pt x="407003" y="512251"/>
                  <a:pt x="376584" y="542671"/>
                  <a:pt x="339169" y="542671"/>
                </a:cubicBezTo>
                <a:lnTo>
                  <a:pt x="67835" y="542671"/>
                </a:lnTo>
                <a:cubicBezTo>
                  <a:pt x="30419" y="542671"/>
                  <a:pt x="0" y="512251"/>
                  <a:pt x="0" y="474836"/>
                </a:cubicBezTo>
                <a:lnTo>
                  <a:pt x="0" y="67835"/>
                </a:lnTo>
                <a:close/>
                <a:moveTo>
                  <a:pt x="220461" y="62004"/>
                </a:moveTo>
                <a:lnTo>
                  <a:pt x="220461" y="161105"/>
                </a:lnTo>
                <a:cubicBezTo>
                  <a:pt x="220461" y="175202"/>
                  <a:pt x="231800" y="186543"/>
                  <a:pt x="245897" y="186543"/>
                </a:cubicBezTo>
                <a:lnTo>
                  <a:pt x="344999" y="186543"/>
                </a:lnTo>
                <a:lnTo>
                  <a:pt x="220461" y="62004"/>
                </a:lnTo>
                <a:close/>
                <a:moveTo>
                  <a:pt x="127188" y="271335"/>
                </a:moveTo>
                <a:cubicBezTo>
                  <a:pt x="113092" y="271335"/>
                  <a:pt x="101751" y="282677"/>
                  <a:pt x="101751" y="296774"/>
                </a:cubicBezTo>
                <a:cubicBezTo>
                  <a:pt x="101751" y="310871"/>
                  <a:pt x="113092" y="322210"/>
                  <a:pt x="127188" y="322210"/>
                </a:cubicBezTo>
                <a:lnTo>
                  <a:pt x="279815" y="322210"/>
                </a:lnTo>
                <a:cubicBezTo>
                  <a:pt x="293911" y="322210"/>
                  <a:pt x="305252" y="310871"/>
                  <a:pt x="305252" y="296774"/>
                </a:cubicBezTo>
                <a:cubicBezTo>
                  <a:pt x="305252" y="282677"/>
                  <a:pt x="293911" y="271335"/>
                  <a:pt x="279815" y="271335"/>
                </a:cubicBezTo>
                <a:lnTo>
                  <a:pt x="127188" y="271335"/>
                </a:lnTo>
                <a:close/>
                <a:moveTo>
                  <a:pt x="127188" y="373087"/>
                </a:moveTo>
                <a:cubicBezTo>
                  <a:pt x="113092" y="373087"/>
                  <a:pt x="101751" y="384426"/>
                  <a:pt x="101751" y="398523"/>
                </a:cubicBezTo>
                <a:cubicBezTo>
                  <a:pt x="101751" y="412620"/>
                  <a:pt x="113092" y="423962"/>
                  <a:pt x="127188" y="423962"/>
                </a:cubicBezTo>
                <a:lnTo>
                  <a:pt x="279815" y="423962"/>
                </a:lnTo>
                <a:cubicBezTo>
                  <a:pt x="293911" y="423962"/>
                  <a:pt x="305252" y="412620"/>
                  <a:pt x="305252" y="398523"/>
                </a:cubicBezTo>
                <a:cubicBezTo>
                  <a:pt x="305252" y="384426"/>
                  <a:pt x="293911" y="373087"/>
                  <a:pt x="279815" y="373087"/>
                </a:cubicBezTo>
                <a:lnTo>
                  <a:pt x="127188" y="373087"/>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7366489" y="3722972"/>
            <a:ext cx="493746" cy="440411"/>
          </a:xfrm>
          <a:custGeom>
            <a:avLst/>
            <a:gdLst/>
            <a:ahLst/>
            <a:cxnLst/>
            <a:rect l="l" t="t" r="r" b="b"/>
            <a:pathLst>
              <a:path w="493746" h="440411">
                <a:moveTo>
                  <a:pt x="308561" y="4156"/>
                </a:moveTo>
                <a:cubicBezTo>
                  <a:pt x="294145" y="0"/>
                  <a:pt x="279137" y="8394"/>
                  <a:pt x="274982" y="22809"/>
                </a:cubicBezTo>
                <a:lnTo>
                  <a:pt x="166448" y="402678"/>
                </a:lnTo>
                <a:cubicBezTo>
                  <a:pt x="162293" y="417094"/>
                  <a:pt x="170687" y="432101"/>
                  <a:pt x="185103" y="436257"/>
                </a:cubicBezTo>
                <a:cubicBezTo>
                  <a:pt x="199517" y="440411"/>
                  <a:pt x="214525" y="432016"/>
                  <a:pt x="218680" y="417602"/>
                </a:cubicBezTo>
                <a:lnTo>
                  <a:pt x="327214" y="37732"/>
                </a:lnTo>
                <a:cubicBezTo>
                  <a:pt x="331369" y="23319"/>
                  <a:pt x="322974" y="8308"/>
                  <a:pt x="308561" y="4156"/>
                </a:cubicBezTo>
                <a:close/>
                <a:moveTo>
                  <a:pt x="363334" y="119557"/>
                </a:moveTo>
                <a:cubicBezTo>
                  <a:pt x="352736" y="130156"/>
                  <a:pt x="352736" y="147370"/>
                  <a:pt x="363334" y="157968"/>
                </a:cubicBezTo>
                <a:lnTo>
                  <a:pt x="425573" y="220205"/>
                </a:lnTo>
                <a:lnTo>
                  <a:pt x="363334" y="282443"/>
                </a:lnTo>
                <a:cubicBezTo>
                  <a:pt x="352736" y="293042"/>
                  <a:pt x="352736" y="310255"/>
                  <a:pt x="363334" y="320854"/>
                </a:cubicBezTo>
                <a:cubicBezTo>
                  <a:pt x="373934" y="331454"/>
                  <a:pt x="391147" y="331454"/>
                  <a:pt x="401746" y="320854"/>
                </a:cubicBezTo>
                <a:lnTo>
                  <a:pt x="483147" y="239454"/>
                </a:lnTo>
                <a:cubicBezTo>
                  <a:pt x="493746" y="228854"/>
                  <a:pt x="493746" y="211641"/>
                  <a:pt x="483147" y="201042"/>
                </a:cubicBezTo>
                <a:lnTo>
                  <a:pt x="401746" y="119642"/>
                </a:lnTo>
                <a:cubicBezTo>
                  <a:pt x="391147" y="109044"/>
                  <a:pt x="373934" y="109044"/>
                  <a:pt x="363334" y="119642"/>
                </a:cubicBezTo>
                <a:close/>
                <a:moveTo>
                  <a:pt x="130411" y="119557"/>
                </a:moveTo>
                <a:cubicBezTo>
                  <a:pt x="119812" y="108958"/>
                  <a:pt x="102600" y="108958"/>
                  <a:pt x="92000" y="119557"/>
                </a:cubicBezTo>
                <a:lnTo>
                  <a:pt x="10600" y="200957"/>
                </a:lnTo>
                <a:cubicBezTo>
                  <a:pt x="0" y="211555"/>
                  <a:pt x="0" y="228769"/>
                  <a:pt x="10600" y="239368"/>
                </a:cubicBezTo>
                <a:lnTo>
                  <a:pt x="92000" y="320769"/>
                </a:lnTo>
                <a:cubicBezTo>
                  <a:pt x="102600" y="331369"/>
                  <a:pt x="119812" y="331369"/>
                  <a:pt x="130411" y="320769"/>
                </a:cubicBezTo>
                <a:cubicBezTo>
                  <a:pt x="141009" y="310170"/>
                  <a:pt x="141009" y="292957"/>
                  <a:pt x="130411" y="282358"/>
                </a:cubicBezTo>
                <a:lnTo>
                  <a:pt x="68172" y="220205"/>
                </a:lnTo>
                <a:lnTo>
                  <a:pt x="130326" y="157968"/>
                </a:lnTo>
                <a:cubicBezTo>
                  <a:pt x="140924" y="147370"/>
                  <a:pt x="140924" y="130156"/>
                  <a:pt x="130326" y="119557"/>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4633770" y="4538435"/>
            <a:ext cx="2918088" cy="1832747"/>
          </a:xfrm>
          <a:custGeom>
            <a:avLst/>
            <a:gdLst/>
            <a:ahLst/>
            <a:cxnLst/>
            <a:rect l="l" t="t" r="r" b="b"/>
            <a:pathLst>
              <a:path w="2918088" h="1832747">
                <a:moveTo>
                  <a:pt x="144714" y="0"/>
                </a:moveTo>
                <a:lnTo>
                  <a:pt x="2773374" y="0"/>
                </a:lnTo>
                <a:cubicBezTo>
                  <a:pt x="2853244" y="0"/>
                  <a:pt x="2918088" y="64844"/>
                  <a:pt x="2918088" y="144714"/>
                </a:cubicBezTo>
                <a:lnTo>
                  <a:pt x="2918088" y="1688033"/>
                </a:lnTo>
                <a:cubicBezTo>
                  <a:pt x="2918088" y="1767904"/>
                  <a:pt x="2853244" y="1832747"/>
                  <a:pt x="2773374" y="1832747"/>
                </a:cubicBezTo>
                <a:lnTo>
                  <a:pt x="144714" y="1832747"/>
                </a:lnTo>
                <a:cubicBezTo>
                  <a:pt x="64844" y="1832747"/>
                  <a:pt x="0" y="1767904"/>
                  <a:pt x="0" y="1688033"/>
                </a:cubicBezTo>
                <a:lnTo>
                  <a:pt x="0" y="144714"/>
                </a:lnTo>
                <a:cubicBezTo>
                  <a:pt x="0" y="64844"/>
                  <a:pt x="64844" y="0"/>
                  <a:pt x="144714" y="0"/>
                </a:cubicBezTo>
                <a:close/>
              </a:path>
            </a:pathLst>
          </a:custGeom>
          <a:noFill/>
          <a:ln w="38100">
            <a:solidFill>
              <a:srgbClr val="1E90FF">
                <a:alpha val="100000"/>
              </a:srgbClr>
            </a:solidFill>
            <a:prstDash val="solid"/>
          </a:ln>
        </p:spPr>
        <p:txBody>
          <a:bodyPr wrap="square" lIns="91440" tIns="45720" rIns="91440" bIns="45720" rtlCol="0" anchor="t">
            <a:noAutofit/>
          </a:bodyPr>
          <a:lstStyle/>
          <a:p>
            <a:pPr algn="ctr">
              <a:defRPr/>
            </a:pPr>
          </a:p>
        </p:txBody>
      </p:sp>
      <p:sp>
        <p:nvSpPr>
          <p:cNvPr id="16" name="AutoShape 16"/>
          <p:cNvSpPr/>
          <p:nvPr/>
        </p:nvSpPr>
        <p:spPr>
          <a:xfrm>
            <a:off x="5047992" y="4670280"/>
            <a:ext cx="2107371" cy="253246"/>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训练数据规模</a:t>
            </a:r>
            <a:endParaRPr lang="en-US" sz="1100"/>
          </a:p>
        </p:txBody>
      </p:sp>
      <p:sp>
        <p:nvSpPr>
          <p:cNvPr id="17" name="AutoShape 17"/>
          <p:cNvSpPr/>
          <p:nvPr/>
        </p:nvSpPr>
        <p:spPr>
          <a:xfrm>
            <a:off x="4915494" y="5097430"/>
            <a:ext cx="2354588" cy="678338"/>
          </a:xfrm>
          <a:prstGeom prst="rect">
            <a:avLst/>
          </a:prstGeom>
          <a:noFill/>
          <a:ln w="12700">
            <a:noFill/>
            <a:prstDash val="solid"/>
          </a:ln>
        </p:spPr>
        <p:txBody>
          <a:bodyPr wrap="square" lIns="0" tIns="0" rIns="0" bIns="0" rtlCol="0" anchor="ctr">
            <a:noAutofit/>
          </a:bodyPr>
          <a:lstStyle/>
          <a:p>
            <a:pPr indent="0" algn="ctr">
              <a:lnSpc>
                <a:spcPct val="83000"/>
              </a:lnSpc>
              <a:defRPr/>
            </a:pPr>
            <a:r>
              <a:rPr lang="en-US" sz="53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万亿级</a:t>
            </a:r>
            <a:endParaRPr lang="en-US" sz="1100"/>
          </a:p>
        </p:txBody>
      </p:sp>
      <p:sp>
        <p:nvSpPr>
          <p:cNvPr id="18" name="AutoShape 18"/>
          <p:cNvSpPr/>
          <p:nvPr/>
        </p:nvSpPr>
        <p:spPr>
          <a:xfrm>
            <a:off x="5030058" y="5845138"/>
            <a:ext cx="2125460" cy="289424"/>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Token</a:t>
            </a:r>
            <a:endParaRPr lang="en-US" sz="1100"/>
          </a:p>
        </p:txBody>
      </p:sp>
      <p:sp>
        <p:nvSpPr>
          <p:cNvPr id="19" name="AutoShape 19"/>
          <p:cNvSpPr/>
          <p:nvPr/>
        </p:nvSpPr>
        <p:spPr>
          <a:xfrm>
            <a:off x="321080" y="6601450"/>
            <a:ext cx="11549840" cy="253246"/>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包括网页、书籍、论文、代码等多种类型的文本数据</a:t>
            </a:r>
            <a:endParaRPr lang="en-US" sz="1100"/>
          </a:p>
        </p:txBody>
      </p:sp>
    </p:spTree>
  </p:cSld>
  <p:clrMapOvr>
    <a:masterClrMapping/>
  </p:clrMapOvr>
  <p:transition spd="slow">
    <p:fade/>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2 构建词表</a:t>
            </a:r>
            <a:endParaRPr lang="en-US" sz="1100"/>
          </a:p>
        </p:txBody>
      </p:sp>
      <p:sp>
        <p:nvSpPr>
          <p:cNvPr id="3" name="Freeform 3"/>
          <p:cNvSpPr/>
          <p:nvPr/>
        </p:nvSpPr>
        <p:spPr>
          <a:xfrm>
            <a:off x="2871842" y="1983470"/>
            <a:ext cx="4543425" cy="2247900"/>
          </a:xfrm>
          <a:custGeom>
            <a:avLst/>
            <a:gdLst/>
            <a:ahLst/>
            <a:cxnLst/>
            <a:rect l="l" t="t" r="r" b="b"/>
            <a:pathLst>
              <a:path w="4543425" h="2247900">
                <a:moveTo>
                  <a:pt x="152408" y="0"/>
                </a:moveTo>
                <a:lnTo>
                  <a:pt x="4391017" y="0"/>
                </a:lnTo>
                <a:cubicBezTo>
                  <a:pt x="4475190" y="0"/>
                  <a:pt x="4543425" y="68235"/>
                  <a:pt x="4543425" y="152408"/>
                </a:cubicBezTo>
                <a:lnTo>
                  <a:pt x="4543425" y="2095492"/>
                </a:lnTo>
                <a:cubicBezTo>
                  <a:pt x="4543425" y="2179665"/>
                  <a:pt x="4475190" y="2247900"/>
                  <a:pt x="4391017" y="2247900"/>
                </a:cubicBezTo>
                <a:lnTo>
                  <a:pt x="152408" y="2247900"/>
                </a:lnTo>
                <a:cubicBezTo>
                  <a:pt x="68235" y="2247900"/>
                  <a:pt x="0" y="2179665"/>
                  <a:pt x="0" y="2095492"/>
                </a:cubicBezTo>
                <a:lnTo>
                  <a:pt x="0" y="152408"/>
                </a:lnTo>
                <a:cubicBezTo>
                  <a:pt x="0" y="68292"/>
                  <a:pt x="68292" y="0"/>
                  <a:pt x="152408"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3133671" y="2288177"/>
            <a:ext cx="40195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词表示意</a:t>
            </a:r>
            <a:endParaRPr lang="en-US" sz="1100"/>
          </a:p>
        </p:txBody>
      </p:sp>
      <p:sp>
        <p:nvSpPr>
          <p:cNvPr id="5" name="Freeform 5"/>
          <p:cNvSpPr/>
          <p:nvPr/>
        </p:nvSpPr>
        <p:spPr>
          <a:xfrm>
            <a:off x="3180863" y="2711383"/>
            <a:ext cx="884959" cy="542059"/>
          </a:xfrm>
          <a:custGeom>
            <a:avLst/>
            <a:gdLst/>
            <a:ahLst/>
            <a:cxnLst/>
            <a:rect l="l" t="t" r="r" b="b"/>
            <a:pathLst>
              <a:path w="884959" h="542059">
                <a:moveTo>
                  <a:pt x="76203" y="0"/>
                </a:moveTo>
                <a:lnTo>
                  <a:pt x="808756" y="0"/>
                </a:lnTo>
                <a:cubicBezTo>
                  <a:pt x="850842" y="0"/>
                  <a:pt x="884959" y="34117"/>
                  <a:pt x="884959" y="76203"/>
                </a:cubicBezTo>
                <a:lnTo>
                  <a:pt x="884959" y="465856"/>
                </a:lnTo>
                <a:cubicBezTo>
                  <a:pt x="884959" y="507942"/>
                  <a:pt x="850842" y="542059"/>
                  <a:pt x="808756" y="542059"/>
                </a:cubicBezTo>
                <a:lnTo>
                  <a:pt x="76203" y="542059"/>
                </a:lnTo>
                <a:cubicBezTo>
                  <a:pt x="34117" y="542059"/>
                  <a:pt x="0" y="507942"/>
                  <a:pt x="0" y="465856"/>
                </a:cubicBezTo>
                <a:lnTo>
                  <a:pt x="0" y="76203"/>
                </a:lnTo>
                <a:cubicBezTo>
                  <a:pt x="0" y="34145"/>
                  <a:pt x="34145" y="0"/>
                  <a:pt x="76203"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6" name="AutoShape 6"/>
          <p:cNvSpPr/>
          <p:nvPr/>
        </p:nvSpPr>
        <p:spPr>
          <a:xfrm>
            <a:off x="3299438" y="2791885"/>
            <a:ext cx="647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the</a:t>
            </a:r>
            <a:endParaRPr lang="en-US" sz="1100"/>
          </a:p>
        </p:txBody>
      </p:sp>
      <p:sp>
        <p:nvSpPr>
          <p:cNvPr id="7" name="AutoShape 7"/>
          <p:cNvSpPr/>
          <p:nvPr/>
        </p:nvSpPr>
        <p:spPr>
          <a:xfrm>
            <a:off x="3308963" y="3020411"/>
            <a:ext cx="62865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1</a:t>
            </a:r>
            <a:endParaRPr lang="en-US" sz="1100"/>
          </a:p>
        </p:txBody>
      </p:sp>
      <p:sp>
        <p:nvSpPr>
          <p:cNvPr id="8" name="Freeform 8"/>
          <p:cNvSpPr/>
          <p:nvPr/>
        </p:nvSpPr>
        <p:spPr>
          <a:xfrm>
            <a:off x="4192894" y="2711383"/>
            <a:ext cx="884959" cy="542059"/>
          </a:xfrm>
          <a:custGeom>
            <a:avLst/>
            <a:gdLst/>
            <a:ahLst/>
            <a:cxnLst/>
            <a:rect l="l" t="t" r="r" b="b"/>
            <a:pathLst>
              <a:path w="884959" h="542059">
                <a:moveTo>
                  <a:pt x="76203" y="0"/>
                </a:moveTo>
                <a:lnTo>
                  <a:pt x="808756" y="0"/>
                </a:lnTo>
                <a:cubicBezTo>
                  <a:pt x="850842" y="0"/>
                  <a:pt x="884959" y="34117"/>
                  <a:pt x="884959" y="76203"/>
                </a:cubicBezTo>
                <a:lnTo>
                  <a:pt x="884959" y="465856"/>
                </a:lnTo>
                <a:cubicBezTo>
                  <a:pt x="884959" y="507942"/>
                  <a:pt x="850842" y="542059"/>
                  <a:pt x="808756" y="542059"/>
                </a:cubicBezTo>
                <a:lnTo>
                  <a:pt x="76203" y="542059"/>
                </a:lnTo>
                <a:cubicBezTo>
                  <a:pt x="34117" y="542059"/>
                  <a:pt x="0" y="507942"/>
                  <a:pt x="0" y="465856"/>
                </a:cubicBezTo>
                <a:lnTo>
                  <a:pt x="0" y="76203"/>
                </a:lnTo>
                <a:cubicBezTo>
                  <a:pt x="0" y="34145"/>
                  <a:pt x="34145" y="0"/>
                  <a:pt x="76203"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9" name="AutoShape 9"/>
          <p:cNvSpPr/>
          <p:nvPr/>
        </p:nvSpPr>
        <p:spPr>
          <a:xfrm>
            <a:off x="4311469" y="2791885"/>
            <a:ext cx="647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is</a:t>
            </a:r>
            <a:endParaRPr lang="en-US" sz="1100"/>
          </a:p>
        </p:txBody>
      </p:sp>
      <p:sp>
        <p:nvSpPr>
          <p:cNvPr id="10" name="AutoShape 10"/>
          <p:cNvSpPr/>
          <p:nvPr/>
        </p:nvSpPr>
        <p:spPr>
          <a:xfrm>
            <a:off x="4320994" y="3020411"/>
            <a:ext cx="62865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2</a:t>
            </a:r>
            <a:endParaRPr lang="en-US" sz="1100"/>
          </a:p>
        </p:txBody>
      </p:sp>
      <p:sp>
        <p:nvSpPr>
          <p:cNvPr id="11" name="Freeform 11"/>
          <p:cNvSpPr/>
          <p:nvPr/>
        </p:nvSpPr>
        <p:spPr>
          <a:xfrm>
            <a:off x="5204925" y="2711383"/>
            <a:ext cx="884959" cy="542059"/>
          </a:xfrm>
          <a:custGeom>
            <a:avLst/>
            <a:gdLst/>
            <a:ahLst/>
            <a:cxnLst/>
            <a:rect l="l" t="t" r="r" b="b"/>
            <a:pathLst>
              <a:path w="884959" h="542059">
                <a:moveTo>
                  <a:pt x="76203" y="0"/>
                </a:moveTo>
                <a:lnTo>
                  <a:pt x="808756" y="0"/>
                </a:lnTo>
                <a:cubicBezTo>
                  <a:pt x="850842" y="0"/>
                  <a:pt x="884959" y="34117"/>
                  <a:pt x="884959" y="76203"/>
                </a:cubicBezTo>
                <a:lnTo>
                  <a:pt x="884959" y="465856"/>
                </a:lnTo>
                <a:cubicBezTo>
                  <a:pt x="884959" y="507942"/>
                  <a:pt x="850842" y="542059"/>
                  <a:pt x="808756" y="542059"/>
                </a:cubicBezTo>
                <a:lnTo>
                  <a:pt x="76203" y="542059"/>
                </a:lnTo>
                <a:cubicBezTo>
                  <a:pt x="34117" y="542059"/>
                  <a:pt x="0" y="507942"/>
                  <a:pt x="0" y="465856"/>
                </a:cubicBezTo>
                <a:lnTo>
                  <a:pt x="0" y="76203"/>
                </a:lnTo>
                <a:cubicBezTo>
                  <a:pt x="0" y="34145"/>
                  <a:pt x="34145" y="0"/>
                  <a:pt x="76203"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2" name="AutoShape 12"/>
          <p:cNvSpPr/>
          <p:nvPr/>
        </p:nvSpPr>
        <p:spPr>
          <a:xfrm>
            <a:off x="5323501" y="2791885"/>
            <a:ext cx="647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100"/>
          </a:p>
        </p:txBody>
      </p:sp>
      <p:sp>
        <p:nvSpPr>
          <p:cNvPr id="13" name="AutoShape 13"/>
          <p:cNvSpPr/>
          <p:nvPr/>
        </p:nvSpPr>
        <p:spPr>
          <a:xfrm>
            <a:off x="5333026" y="3020411"/>
            <a:ext cx="62865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3</a:t>
            </a:r>
            <a:endParaRPr lang="en-US" sz="1100"/>
          </a:p>
        </p:txBody>
      </p:sp>
      <p:sp>
        <p:nvSpPr>
          <p:cNvPr id="14" name="Freeform 14"/>
          <p:cNvSpPr/>
          <p:nvPr/>
        </p:nvSpPr>
        <p:spPr>
          <a:xfrm>
            <a:off x="6216957" y="2711383"/>
            <a:ext cx="884959" cy="542059"/>
          </a:xfrm>
          <a:custGeom>
            <a:avLst/>
            <a:gdLst/>
            <a:ahLst/>
            <a:cxnLst/>
            <a:rect l="l" t="t" r="r" b="b"/>
            <a:pathLst>
              <a:path w="884959" h="542059">
                <a:moveTo>
                  <a:pt x="76203" y="0"/>
                </a:moveTo>
                <a:lnTo>
                  <a:pt x="808756" y="0"/>
                </a:lnTo>
                <a:cubicBezTo>
                  <a:pt x="850842" y="0"/>
                  <a:pt x="884959" y="34117"/>
                  <a:pt x="884959" y="76203"/>
                </a:cubicBezTo>
                <a:lnTo>
                  <a:pt x="884959" y="465856"/>
                </a:lnTo>
                <a:cubicBezTo>
                  <a:pt x="884959" y="507942"/>
                  <a:pt x="850842" y="542059"/>
                  <a:pt x="808756" y="542059"/>
                </a:cubicBezTo>
                <a:lnTo>
                  <a:pt x="76203" y="542059"/>
                </a:lnTo>
                <a:cubicBezTo>
                  <a:pt x="34117" y="542059"/>
                  <a:pt x="0" y="507942"/>
                  <a:pt x="0" y="465856"/>
                </a:cubicBezTo>
                <a:lnTo>
                  <a:pt x="0" y="76203"/>
                </a:lnTo>
                <a:cubicBezTo>
                  <a:pt x="0" y="34145"/>
                  <a:pt x="34145" y="0"/>
                  <a:pt x="76203"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5" name="AutoShape 15"/>
          <p:cNvSpPr/>
          <p:nvPr/>
        </p:nvSpPr>
        <p:spPr>
          <a:xfrm>
            <a:off x="6335532" y="2791885"/>
            <a:ext cx="647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of</a:t>
            </a:r>
            <a:endParaRPr lang="en-US" sz="1100"/>
          </a:p>
        </p:txBody>
      </p:sp>
      <p:sp>
        <p:nvSpPr>
          <p:cNvPr id="16" name="AutoShape 16"/>
          <p:cNvSpPr/>
          <p:nvPr/>
        </p:nvSpPr>
        <p:spPr>
          <a:xfrm>
            <a:off x="6345057" y="3020411"/>
            <a:ext cx="62865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4</a:t>
            </a:r>
            <a:endParaRPr lang="en-US" sz="1100"/>
          </a:p>
        </p:txBody>
      </p:sp>
      <p:sp>
        <p:nvSpPr>
          <p:cNvPr id="17" name="Freeform 17"/>
          <p:cNvSpPr/>
          <p:nvPr/>
        </p:nvSpPr>
        <p:spPr>
          <a:xfrm>
            <a:off x="3180863" y="3376105"/>
            <a:ext cx="884959" cy="542059"/>
          </a:xfrm>
          <a:custGeom>
            <a:avLst/>
            <a:gdLst/>
            <a:ahLst/>
            <a:cxnLst/>
            <a:rect l="l" t="t" r="r" b="b"/>
            <a:pathLst>
              <a:path w="884959" h="542059">
                <a:moveTo>
                  <a:pt x="76203" y="0"/>
                </a:moveTo>
                <a:lnTo>
                  <a:pt x="808756" y="0"/>
                </a:lnTo>
                <a:cubicBezTo>
                  <a:pt x="850842" y="0"/>
                  <a:pt x="884959" y="34117"/>
                  <a:pt x="884959" y="76203"/>
                </a:cubicBezTo>
                <a:lnTo>
                  <a:pt x="884959" y="465856"/>
                </a:lnTo>
                <a:cubicBezTo>
                  <a:pt x="884959" y="507942"/>
                  <a:pt x="850842" y="542059"/>
                  <a:pt x="808756" y="542059"/>
                </a:cubicBezTo>
                <a:lnTo>
                  <a:pt x="76203" y="542059"/>
                </a:lnTo>
                <a:cubicBezTo>
                  <a:pt x="34117" y="542059"/>
                  <a:pt x="0" y="507942"/>
                  <a:pt x="0" y="465856"/>
                </a:cubicBezTo>
                <a:lnTo>
                  <a:pt x="0" y="76203"/>
                </a:lnTo>
                <a:cubicBezTo>
                  <a:pt x="0" y="34145"/>
                  <a:pt x="34145" y="0"/>
                  <a:pt x="76203"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8" name="AutoShape 18"/>
          <p:cNvSpPr/>
          <p:nvPr/>
        </p:nvSpPr>
        <p:spPr>
          <a:xfrm>
            <a:off x="3299438" y="3456608"/>
            <a:ext cx="647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to</a:t>
            </a:r>
            <a:endParaRPr lang="en-US" sz="1100"/>
          </a:p>
        </p:txBody>
      </p:sp>
      <p:sp>
        <p:nvSpPr>
          <p:cNvPr id="19" name="AutoShape 19"/>
          <p:cNvSpPr/>
          <p:nvPr/>
        </p:nvSpPr>
        <p:spPr>
          <a:xfrm>
            <a:off x="3308963" y="3685115"/>
            <a:ext cx="62865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5</a:t>
            </a:r>
            <a:endParaRPr lang="en-US" sz="1100"/>
          </a:p>
        </p:txBody>
      </p:sp>
      <p:sp>
        <p:nvSpPr>
          <p:cNvPr id="20" name="Freeform 20"/>
          <p:cNvSpPr/>
          <p:nvPr/>
        </p:nvSpPr>
        <p:spPr>
          <a:xfrm>
            <a:off x="4192894" y="3376105"/>
            <a:ext cx="884959" cy="542059"/>
          </a:xfrm>
          <a:custGeom>
            <a:avLst/>
            <a:gdLst/>
            <a:ahLst/>
            <a:cxnLst/>
            <a:rect l="l" t="t" r="r" b="b"/>
            <a:pathLst>
              <a:path w="884959" h="542059">
                <a:moveTo>
                  <a:pt x="76203" y="0"/>
                </a:moveTo>
                <a:lnTo>
                  <a:pt x="808756" y="0"/>
                </a:lnTo>
                <a:cubicBezTo>
                  <a:pt x="850842" y="0"/>
                  <a:pt x="884959" y="34117"/>
                  <a:pt x="884959" y="76203"/>
                </a:cubicBezTo>
                <a:lnTo>
                  <a:pt x="884959" y="465856"/>
                </a:lnTo>
                <a:cubicBezTo>
                  <a:pt x="884959" y="507942"/>
                  <a:pt x="850842" y="542059"/>
                  <a:pt x="808756" y="542059"/>
                </a:cubicBezTo>
                <a:lnTo>
                  <a:pt x="76203" y="542059"/>
                </a:lnTo>
                <a:cubicBezTo>
                  <a:pt x="34117" y="542059"/>
                  <a:pt x="0" y="507942"/>
                  <a:pt x="0" y="465856"/>
                </a:cubicBezTo>
                <a:lnTo>
                  <a:pt x="0" y="76203"/>
                </a:lnTo>
                <a:cubicBezTo>
                  <a:pt x="0" y="34145"/>
                  <a:pt x="34145" y="0"/>
                  <a:pt x="76203" y="0"/>
                </a:cubicBezTo>
                <a:close/>
              </a:path>
            </a:pathLst>
          </a:custGeom>
          <a:solidFill>
            <a:srgbClr val="FFFFFF">
              <a:alpha val="100000"/>
            </a:srgbClr>
          </a:solidFill>
          <a:ln w="12700">
            <a:solidFill>
              <a:srgbClr val="CCCCCC">
                <a:alpha val="100000"/>
              </a:srgbClr>
            </a:solidFill>
            <a:prstDash val="solid"/>
          </a:ln>
        </p:spPr>
        <p:txBody>
          <a:bodyPr wrap="square" lIns="91440" tIns="45720" rIns="91440" bIns="45720" rtlCol="0" anchor="t">
            <a:noAutofit/>
          </a:bodyPr>
          <a:lstStyle/>
          <a:p>
            <a:pPr algn="ctr">
              <a:defRPr/>
            </a:pPr>
          </a:p>
        </p:txBody>
      </p:sp>
      <p:sp>
        <p:nvSpPr>
          <p:cNvPr id="21" name="AutoShape 21"/>
          <p:cNvSpPr/>
          <p:nvPr/>
        </p:nvSpPr>
        <p:spPr>
          <a:xfrm>
            <a:off x="4311469" y="3456608"/>
            <a:ext cx="647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22" name="Freeform 22"/>
          <p:cNvSpPr/>
          <p:nvPr/>
        </p:nvSpPr>
        <p:spPr>
          <a:xfrm>
            <a:off x="5204925" y="3376105"/>
            <a:ext cx="884959" cy="542059"/>
          </a:xfrm>
          <a:custGeom>
            <a:avLst/>
            <a:gdLst/>
            <a:ahLst/>
            <a:cxnLst/>
            <a:rect l="l" t="t" r="r" b="b"/>
            <a:pathLst>
              <a:path w="884959" h="542059">
                <a:moveTo>
                  <a:pt x="76203" y="0"/>
                </a:moveTo>
                <a:lnTo>
                  <a:pt x="808756" y="0"/>
                </a:lnTo>
                <a:cubicBezTo>
                  <a:pt x="850842" y="0"/>
                  <a:pt x="884959" y="34117"/>
                  <a:pt x="884959" y="76203"/>
                </a:cubicBezTo>
                <a:lnTo>
                  <a:pt x="884959" y="465856"/>
                </a:lnTo>
                <a:cubicBezTo>
                  <a:pt x="884959" y="507942"/>
                  <a:pt x="850842" y="542059"/>
                  <a:pt x="808756" y="542059"/>
                </a:cubicBezTo>
                <a:lnTo>
                  <a:pt x="76203" y="542059"/>
                </a:lnTo>
                <a:cubicBezTo>
                  <a:pt x="34117" y="542059"/>
                  <a:pt x="0" y="507942"/>
                  <a:pt x="0" y="465856"/>
                </a:cubicBezTo>
                <a:lnTo>
                  <a:pt x="0" y="76203"/>
                </a:lnTo>
                <a:cubicBezTo>
                  <a:pt x="0" y="34145"/>
                  <a:pt x="34145" y="0"/>
                  <a:pt x="76203" y="0"/>
                </a:cubicBezTo>
                <a:close/>
              </a:path>
            </a:pathLst>
          </a:custGeom>
          <a:solidFill>
            <a:srgbClr val="FFFFFF">
              <a:alpha val="100000"/>
            </a:srgbClr>
          </a:solid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23" name="AutoShape 23"/>
          <p:cNvSpPr/>
          <p:nvPr/>
        </p:nvSpPr>
        <p:spPr>
          <a:xfrm>
            <a:off x="5323501" y="3456608"/>
            <a:ext cx="647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学习</a:t>
            </a:r>
            <a:endParaRPr lang="en-US" sz="1100"/>
          </a:p>
        </p:txBody>
      </p:sp>
      <p:sp>
        <p:nvSpPr>
          <p:cNvPr id="24" name="AutoShape 24"/>
          <p:cNvSpPr/>
          <p:nvPr/>
        </p:nvSpPr>
        <p:spPr>
          <a:xfrm>
            <a:off x="5333026" y="3685115"/>
            <a:ext cx="62865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99999</a:t>
            </a:r>
            <a:endParaRPr lang="en-US" sz="1100"/>
          </a:p>
        </p:txBody>
      </p:sp>
      <p:sp>
        <p:nvSpPr>
          <p:cNvPr id="25" name="Freeform 25"/>
          <p:cNvSpPr/>
          <p:nvPr/>
        </p:nvSpPr>
        <p:spPr>
          <a:xfrm>
            <a:off x="6216957" y="3376105"/>
            <a:ext cx="884959" cy="542059"/>
          </a:xfrm>
          <a:custGeom>
            <a:avLst/>
            <a:gdLst/>
            <a:ahLst/>
            <a:cxnLst/>
            <a:rect l="l" t="t" r="r" b="b"/>
            <a:pathLst>
              <a:path w="884959" h="542059">
                <a:moveTo>
                  <a:pt x="76203" y="0"/>
                </a:moveTo>
                <a:lnTo>
                  <a:pt x="808756" y="0"/>
                </a:lnTo>
                <a:cubicBezTo>
                  <a:pt x="850842" y="0"/>
                  <a:pt x="884959" y="34117"/>
                  <a:pt x="884959" y="76203"/>
                </a:cubicBezTo>
                <a:lnTo>
                  <a:pt x="884959" y="465856"/>
                </a:lnTo>
                <a:cubicBezTo>
                  <a:pt x="884959" y="507942"/>
                  <a:pt x="850842" y="542059"/>
                  <a:pt x="808756" y="542059"/>
                </a:cubicBezTo>
                <a:lnTo>
                  <a:pt x="76203" y="542059"/>
                </a:lnTo>
                <a:cubicBezTo>
                  <a:pt x="34117" y="542059"/>
                  <a:pt x="0" y="507942"/>
                  <a:pt x="0" y="465856"/>
                </a:cubicBezTo>
                <a:lnTo>
                  <a:pt x="0" y="76203"/>
                </a:lnTo>
                <a:cubicBezTo>
                  <a:pt x="0" y="34145"/>
                  <a:pt x="34145" y="0"/>
                  <a:pt x="76203" y="0"/>
                </a:cubicBezTo>
                <a:close/>
              </a:path>
            </a:pathLst>
          </a:custGeom>
          <a:solidFill>
            <a:srgbClr val="FFFFFF">
              <a:alpha val="100000"/>
            </a:srgbClr>
          </a:solid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26" name="AutoShape 26"/>
          <p:cNvSpPr/>
          <p:nvPr/>
        </p:nvSpPr>
        <p:spPr>
          <a:xfrm>
            <a:off x="6335532" y="3456608"/>
            <a:ext cx="647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智能</a:t>
            </a:r>
            <a:endParaRPr lang="en-US" sz="1100"/>
          </a:p>
        </p:txBody>
      </p:sp>
      <p:sp>
        <p:nvSpPr>
          <p:cNvPr id="27" name="AutoShape 27"/>
          <p:cNvSpPr/>
          <p:nvPr/>
        </p:nvSpPr>
        <p:spPr>
          <a:xfrm>
            <a:off x="6345057" y="3685115"/>
            <a:ext cx="62865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100000</a:t>
            </a:r>
            <a:endParaRPr lang="en-US" sz="1100"/>
          </a:p>
        </p:txBody>
      </p:sp>
      <p:sp>
        <p:nvSpPr>
          <p:cNvPr id="28" name="Freeform 28"/>
          <p:cNvSpPr/>
          <p:nvPr/>
        </p:nvSpPr>
        <p:spPr>
          <a:xfrm>
            <a:off x="7796158" y="2133786"/>
            <a:ext cx="1524000" cy="1524000"/>
          </a:xfrm>
          <a:custGeom>
            <a:avLst/>
            <a:gdLst/>
            <a:ahLst/>
            <a:cxnLst/>
            <a:rect l="l" t="t" r="r" b="b"/>
            <a:pathLst>
              <a:path w="1524000" h="1524000">
                <a:moveTo>
                  <a:pt x="762000" y="0"/>
                </a:moveTo>
                <a:lnTo>
                  <a:pt x="762000" y="0"/>
                </a:lnTo>
                <a:cubicBezTo>
                  <a:pt x="1182559" y="0"/>
                  <a:pt x="1524000" y="341441"/>
                  <a:pt x="1524000" y="762000"/>
                </a:cubicBezTo>
                <a:lnTo>
                  <a:pt x="1524000" y="762000"/>
                </a:lnTo>
                <a:cubicBezTo>
                  <a:pt x="1524000" y="1182559"/>
                  <a:pt x="1182559" y="1524000"/>
                  <a:pt x="762000" y="1524000"/>
                </a:cubicBezTo>
                <a:lnTo>
                  <a:pt x="762000" y="1524000"/>
                </a:lnTo>
                <a:cubicBezTo>
                  <a:pt x="341441" y="1524000"/>
                  <a:pt x="0" y="1182559"/>
                  <a:pt x="0" y="762000"/>
                </a:cubicBezTo>
                <a:lnTo>
                  <a:pt x="0" y="762000"/>
                </a:lnTo>
                <a:cubicBezTo>
                  <a:pt x="0" y="341441"/>
                  <a:pt x="341441" y="0"/>
                  <a:pt x="7620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9" name="AutoShape 29"/>
          <p:cNvSpPr/>
          <p:nvPr/>
        </p:nvSpPr>
        <p:spPr>
          <a:xfrm>
            <a:off x="7886050" y="2476779"/>
            <a:ext cx="1343025" cy="533400"/>
          </a:xfrm>
          <a:prstGeom prst="rect">
            <a:avLst/>
          </a:prstGeom>
          <a:noFill/>
          <a:ln w="12700">
            <a:noFill/>
            <a:prstDash val="solid"/>
          </a:ln>
        </p:spPr>
        <p:txBody>
          <a:bodyPr wrap="square" lIns="0" tIns="0" rIns="0" bIns="0" rtlCol="0" anchor="ctr">
            <a:noAutofit/>
          </a:bodyPr>
          <a:lstStyle/>
          <a:p>
            <a:pPr indent="0" algn="ctr">
              <a:lnSpc>
                <a:spcPct val="83000"/>
              </a:lnSpc>
              <a:defRPr/>
            </a:pPr>
            <a:r>
              <a:rPr lang="en-US" sz="3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10万+</a:t>
            </a:r>
            <a:endParaRPr lang="en-US" sz="1100"/>
          </a:p>
        </p:txBody>
      </p:sp>
      <p:sp>
        <p:nvSpPr>
          <p:cNvPr id="30" name="AutoShape 30"/>
          <p:cNvSpPr/>
          <p:nvPr/>
        </p:nvSpPr>
        <p:spPr>
          <a:xfrm>
            <a:off x="7976538" y="3048130"/>
            <a:ext cx="11620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Token</a:t>
            </a:r>
            <a:endParaRPr lang="en-US" sz="1100"/>
          </a:p>
        </p:txBody>
      </p:sp>
      <p:sp>
        <p:nvSpPr>
          <p:cNvPr id="31" name="AutoShape 31"/>
          <p:cNvSpPr/>
          <p:nvPr/>
        </p:nvSpPr>
        <p:spPr>
          <a:xfrm>
            <a:off x="8172315" y="3810130"/>
            <a:ext cx="771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词表大小</a:t>
            </a:r>
            <a:endParaRPr lang="en-US" sz="1100"/>
          </a:p>
        </p:txBody>
      </p:sp>
      <p:sp>
        <p:nvSpPr>
          <p:cNvPr id="32" name="Freeform 32"/>
          <p:cNvSpPr/>
          <p:nvPr/>
        </p:nvSpPr>
        <p:spPr>
          <a:xfrm>
            <a:off x="3736019" y="4550625"/>
            <a:ext cx="226055" cy="228600"/>
          </a:xfrm>
          <a:custGeom>
            <a:avLst/>
            <a:gdLst/>
            <a:ahLst/>
            <a:cxnLst/>
            <a:rect l="l" t="t" r="r" b="b"/>
            <a:pathLst>
              <a:path w="226055" h="228600">
                <a:moveTo>
                  <a:pt x="85725" y="114300"/>
                </a:moveTo>
                <a:lnTo>
                  <a:pt x="68089" y="131936"/>
                </a:lnTo>
                <a:cubicBezTo>
                  <a:pt x="62462" y="129748"/>
                  <a:pt x="56391" y="128587"/>
                  <a:pt x="50006" y="128587"/>
                </a:cubicBezTo>
                <a:cubicBezTo>
                  <a:pt x="22369" y="128587"/>
                  <a:pt x="0" y="150956"/>
                  <a:pt x="0" y="178594"/>
                </a:cubicBezTo>
                <a:cubicBezTo>
                  <a:pt x="0" y="206231"/>
                  <a:pt x="22369" y="228600"/>
                  <a:pt x="50006" y="228600"/>
                </a:cubicBezTo>
                <a:cubicBezTo>
                  <a:pt x="77644" y="228600"/>
                  <a:pt x="100012" y="206231"/>
                  <a:pt x="100012" y="178594"/>
                </a:cubicBezTo>
                <a:cubicBezTo>
                  <a:pt x="100012" y="172209"/>
                  <a:pt x="98807" y="166138"/>
                  <a:pt x="96664" y="160511"/>
                </a:cubicBezTo>
                <a:lnTo>
                  <a:pt x="222885" y="34290"/>
                </a:lnTo>
                <a:cubicBezTo>
                  <a:pt x="226055" y="31120"/>
                  <a:pt x="226055" y="26030"/>
                  <a:pt x="222885" y="22860"/>
                </a:cubicBezTo>
                <a:cubicBezTo>
                  <a:pt x="210249" y="10223"/>
                  <a:pt x="189801" y="10223"/>
                  <a:pt x="177165" y="22860"/>
                </a:cubicBezTo>
                <a:lnTo>
                  <a:pt x="114300" y="85725"/>
                </a:lnTo>
                <a:lnTo>
                  <a:pt x="96664" y="68089"/>
                </a:lnTo>
                <a:cubicBezTo>
                  <a:pt x="98852" y="62462"/>
                  <a:pt x="100012" y="56391"/>
                  <a:pt x="100012" y="50006"/>
                </a:cubicBezTo>
                <a:cubicBezTo>
                  <a:pt x="100012" y="22369"/>
                  <a:pt x="77644" y="0"/>
                  <a:pt x="50006" y="0"/>
                </a:cubicBezTo>
                <a:cubicBezTo>
                  <a:pt x="22369" y="0"/>
                  <a:pt x="0" y="22369"/>
                  <a:pt x="0" y="50006"/>
                </a:cubicBezTo>
                <a:cubicBezTo>
                  <a:pt x="0" y="77644"/>
                  <a:pt x="22369" y="100013"/>
                  <a:pt x="50006" y="100013"/>
                </a:cubicBezTo>
                <a:cubicBezTo>
                  <a:pt x="56391" y="100013"/>
                  <a:pt x="62462" y="98807"/>
                  <a:pt x="68089" y="96664"/>
                </a:cubicBezTo>
                <a:lnTo>
                  <a:pt x="85725" y="114300"/>
                </a:lnTo>
                <a:close/>
                <a:moveTo>
                  <a:pt x="129436" y="158011"/>
                </a:moveTo>
                <a:lnTo>
                  <a:pt x="177165" y="205740"/>
                </a:lnTo>
                <a:cubicBezTo>
                  <a:pt x="189801" y="218377"/>
                  <a:pt x="210249" y="218377"/>
                  <a:pt x="222885" y="205740"/>
                </a:cubicBezTo>
                <a:cubicBezTo>
                  <a:pt x="226055" y="202570"/>
                  <a:pt x="226055" y="197480"/>
                  <a:pt x="222885" y="194310"/>
                </a:cubicBezTo>
                <a:lnTo>
                  <a:pt x="158011" y="129436"/>
                </a:lnTo>
                <a:lnTo>
                  <a:pt x="129436" y="158011"/>
                </a:lnTo>
                <a:close/>
                <a:moveTo>
                  <a:pt x="28575" y="50006"/>
                </a:moveTo>
                <a:cubicBezTo>
                  <a:pt x="28575" y="38177"/>
                  <a:pt x="38177" y="28575"/>
                  <a:pt x="50006" y="28575"/>
                </a:cubicBezTo>
                <a:cubicBezTo>
                  <a:pt x="61834" y="28575"/>
                  <a:pt x="71437" y="38177"/>
                  <a:pt x="71437" y="50006"/>
                </a:cubicBezTo>
                <a:cubicBezTo>
                  <a:pt x="71437" y="61834"/>
                  <a:pt x="61834" y="71437"/>
                  <a:pt x="50006" y="71437"/>
                </a:cubicBezTo>
                <a:cubicBezTo>
                  <a:pt x="38177" y="71437"/>
                  <a:pt x="28575" y="61834"/>
                  <a:pt x="28575" y="50006"/>
                </a:cubicBezTo>
                <a:close/>
                <a:moveTo>
                  <a:pt x="50006" y="157163"/>
                </a:moveTo>
                <a:cubicBezTo>
                  <a:pt x="61834" y="157163"/>
                  <a:pt x="71437" y="166766"/>
                  <a:pt x="71437" y="178594"/>
                </a:cubicBezTo>
                <a:cubicBezTo>
                  <a:pt x="71437" y="190423"/>
                  <a:pt x="61834" y="200025"/>
                  <a:pt x="50006" y="200025"/>
                </a:cubicBezTo>
                <a:cubicBezTo>
                  <a:pt x="38177" y="200025"/>
                  <a:pt x="28575" y="190423"/>
                  <a:pt x="28575" y="178594"/>
                </a:cubicBezTo>
                <a:cubicBezTo>
                  <a:pt x="28575" y="166766"/>
                  <a:pt x="38177" y="157163"/>
                  <a:pt x="50006" y="157163"/>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4107386" y="4531686"/>
            <a:ext cx="771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分词统计</a:t>
            </a:r>
            <a:endParaRPr lang="en-US" sz="1100"/>
          </a:p>
        </p:txBody>
      </p:sp>
      <p:sp>
        <p:nvSpPr>
          <p:cNvPr id="34" name="Freeform 34"/>
          <p:cNvSpPr/>
          <p:nvPr/>
        </p:nvSpPr>
        <p:spPr>
          <a:xfrm>
            <a:off x="5121717" y="4592409"/>
            <a:ext cx="191653" cy="145255"/>
          </a:xfrm>
          <a:custGeom>
            <a:avLst/>
            <a:gdLst/>
            <a:ahLst/>
            <a:cxnLst/>
            <a:rect l="l" t="t" r="r" b="b"/>
            <a:pathLst>
              <a:path w="191653" h="145255">
                <a:moveTo>
                  <a:pt x="187002" y="81036"/>
                </a:moveTo>
                <a:cubicBezTo>
                  <a:pt x="191653" y="76385"/>
                  <a:pt x="191653" y="68832"/>
                  <a:pt x="187002" y="64181"/>
                </a:cubicBezTo>
                <a:lnTo>
                  <a:pt x="127471" y="4650"/>
                </a:lnTo>
                <a:cubicBezTo>
                  <a:pt x="122820" y="0"/>
                  <a:pt x="115266" y="0"/>
                  <a:pt x="110617" y="4650"/>
                </a:cubicBezTo>
                <a:cubicBezTo>
                  <a:pt x="105966" y="9301"/>
                  <a:pt x="105966" y="16854"/>
                  <a:pt x="110617" y="21504"/>
                </a:cubicBezTo>
                <a:lnTo>
                  <a:pt x="149833" y="60721"/>
                </a:lnTo>
                <a:lnTo>
                  <a:pt x="11906" y="60721"/>
                </a:lnTo>
                <a:cubicBezTo>
                  <a:pt x="5321" y="60721"/>
                  <a:pt x="0" y="66041"/>
                  <a:pt x="0" y="72627"/>
                </a:cubicBezTo>
                <a:cubicBezTo>
                  <a:pt x="0" y="79213"/>
                  <a:pt x="5321" y="84533"/>
                  <a:pt x="11906" y="84533"/>
                </a:cubicBezTo>
                <a:lnTo>
                  <a:pt x="149833" y="84533"/>
                </a:lnTo>
                <a:lnTo>
                  <a:pt x="110617" y="123750"/>
                </a:lnTo>
                <a:cubicBezTo>
                  <a:pt x="105966" y="128400"/>
                  <a:pt x="105966" y="135953"/>
                  <a:pt x="110617" y="140604"/>
                </a:cubicBezTo>
                <a:cubicBezTo>
                  <a:pt x="115266" y="145254"/>
                  <a:pt x="122820" y="145254"/>
                  <a:pt x="127471" y="140604"/>
                </a:cubicBezTo>
                <a:lnTo>
                  <a:pt x="187002" y="81073"/>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5" name="Freeform 35"/>
          <p:cNvSpPr/>
          <p:nvPr/>
        </p:nvSpPr>
        <p:spPr>
          <a:xfrm>
            <a:off x="5653579" y="4564912"/>
            <a:ext cx="258604" cy="201409"/>
          </a:xfrm>
          <a:custGeom>
            <a:avLst/>
            <a:gdLst/>
            <a:ahLst/>
            <a:cxnLst/>
            <a:rect l="l" t="t" r="r" b="b"/>
            <a:pathLst>
              <a:path w="258604" h="201409">
                <a:moveTo>
                  <a:pt x="111532" y="152966"/>
                </a:moveTo>
                <a:lnTo>
                  <a:pt x="68670" y="195829"/>
                </a:lnTo>
                <a:cubicBezTo>
                  <a:pt x="63088" y="201410"/>
                  <a:pt x="54025" y="201410"/>
                  <a:pt x="48444" y="195829"/>
                </a:cubicBezTo>
                <a:lnTo>
                  <a:pt x="5581" y="152966"/>
                </a:lnTo>
                <a:cubicBezTo>
                  <a:pt x="0" y="147385"/>
                  <a:pt x="0" y="138321"/>
                  <a:pt x="5581" y="132740"/>
                </a:cubicBezTo>
                <a:cubicBezTo>
                  <a:pt x="11162" y="127159"/>
                  <a:pt x="20226" y="127159"/>
                  <a:pt x="25807" y="132740"/>
                </a:cubicBezTo>
                <a:lnTo>
                  <a:pt x="44291" y="151224"/>
                </a:lnTo>
                <a:lnTo>
                  <a:pt x="44291" y="14288"/>
                </a:lnTo>
                <a:cubicBezTo>
                  <a:pt x="44291" y="6385"/>
                  <a:pt x="50676" y="0"/>
                  <a:pt x="58579" y="0"/>
                </a:cubicBezTo>
                <a:cubicBezTo>
                  <a:pt x="66482" y="0"/>
                  <a:pt x="72867" y="6385"/>
                  <a:pt x="72867" y="14288"/>
                </a:cubicBezTo>
                <a:lnTo>
                  <a:pt x="72867" y="151224"/>
                </a:lnTo>
                <a:lnTo>
                  <a:pt x="91351" y="132740"/>
                </a:lnTo>
                <a:cubicBezTo>
                  <a:pt x="96932" y="127159"/>
                  <a:pt x="105996" y="127159"/>
                  <a:pt x="111577" y="132740"/>
                </a:cubicBezTo>
                <a:cubicBezTo>
                  <a:pt x="117158" y="138321"/>
                  <a:pt x="117158" y="147385"/>
                  <a:pt x="111577" y="152966"/>
                </a:cubicBezTo>
                <a:close/>
                <a:moveTo>
                  <a:pt x="144304" y="200026"/>
                </a:moveTo>
                <a:cubicBezTo>
                  <a:pt x="136401" y="200026"/>
                  <a:pt x="130017" y="193641"/>
                  <a:pt x="130017" y="185738"/>
                </a:cubicBezTo>
                <a:cubicBezTo>
                  <a:pt x="130017" y="177835"/>
                  <a:pt x="136401" y="171450"/>
                  <a:pt x="144304" y="171450"/>
                </a:cubicBezTo>
                <a:lnTo>
                  <a:pt x="158591" y="171450"/>
                </a:lnTo>
                <a:cubicBezTo>
                  <a:pt x="166493" y="171450"/>
                  <a:pt x="172879" y="177835"/>
                  <a:pt x="172879" y="185738"/>
                </a:cubicBezTo>
                <a:cubicBezTo>
                  <a:pt x="172879" y="193641"/>
                  <a:pt x="166493" y="200026"/>
                  <a:pt x="158591" y="200026"/>
                </a:cubicBezTo>
                <a:lnTo>
                  <a:pt x="144304" y="200026"/>
                </a:lnTo>
                <a:close/>
                <a:moveTo>
                  <a:pt x="144304" y="142876"/>
                </a:moveTo>
                <a:cubicBezTo>
                  <a:pt x="136401" y="142876"/>
                  <a:pt x="130017" y="136491"/>
                  <a:pt x="130017" y="128588"/>
                </a:cubicBezTo>
                <a:cubicBezTo>
                  <a:pt x="130017" y="120685"/>
                  <a:pt x="136401" y="114300"/>
                  <a:pt x="144304" y="114300"/>
                </a:cubicBezTo>
                <a:lnTo>
                  <a:pt x="187167" y="114300"/>
                </a:lnTo>
                <a:cubicBezTo>
                  <a:pt x="195068" y="114300"/>
                  <a:pt x="201454" y="120685"/>
                  <a:pt x="201454" y="128588"/>
                </a:cubicBezTo>
                <a:cubicBezTo>
                  <a:pt x="201454" y="136491"/>
                  <a:pt x="195068" y="142876"/>
                  <a:pt x="187167" y="142876"/>
                </a:cubicBezTo>
                <a:lnTo>
                  <a:pt x="144304" y="142876"/>
                </a:lnTo>
                <a:close/>
                <a:moveTo>
                  <a:pt x="144304" y="85726"/>
                </a:moveTo>
                <a:cubicBezTo>
                  <a:pt x="136401" y="85726"/>
                  <a:pt x="130017" y="79341"/>
                  <a:pt x="130017" y="71438"/>
                </a:cubicBezTo>
                <a:cubicBezTo>
                  <a:pt x="130017" y="63535"/>
                  <a:pt x="136401" y="57150"/>
                  <a:pt x="144304" y="57150"/>
                </a:cubicBezTo>
                <a:lnTo>
                  <a:pt x="215741" y="57150"/>
                </a:lnTo>
                <a:cubicBezTo>
                  <a:pt x="223643" y="57150"/>
                  <a:pt x="230029" y="63535"/>
                  <a:pt x="230029" y="71438"/>
                </a:cubicBezTo>
                <a:cubicBezTo>
                  <a:pt x="230029" y="79341"/>
                  <a:pt x="223643" y="85726"/>
                  <a:pt x="215741" y="85726"/>
                </a:cubicBezTo>
                <a:lnTo>
                  <a:pt x="144304" y="85726"/>
                </a:lnTo>
                <a:close/>
                <a:moveTo>
                  <a:pt x="144304" y="28576"/>
                </a:moveTo>
                <a:cubicBezTo>
                  <a:pt x="136401" y="28576"/>
                  <a:pt x="130017" y="22191"/>
                  <a:pt x="130017" y="14288"/>
                </a:cubicBezTo>
                <a:cubicBezTo>
                  <a:pt x="130017" y="6385"/>
                  <a:pt x="136401" y="0"/>
                  <a:pt x="144304" y="0"/>
                </a:cubicBezTo>
                <a:lnTo>
                  <a:pt x="244317" y="0"/>
                </a:lnTo>
                <a:cubicBezTo>
                  <a:pt x="252218" y="0"/>
                  <a:pt x="258604" y="6385"/>
                  <a:pt x="258604" y="14288"/>
                </a:cubicBezTo>
                <a:cubicBezTo>
                  <a:pt x="258604" y="22191"/>
                  <a:pt x="252218" y="28576"/>
                  <a:pt x="244317" y="28576"/>
                </a:cubicBezTo>
                <a:lnTo>
                  <a:pt x="144304" y="28576"/>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6" name="AutoShape 36"/>
          <p:cNvSpPr/>
          <p:nvPr/>
        </p:nvSpPr>
        <p:spPr>
          <a:xfrm>
            <a:off x="6040663" y="4531686"/>
            <a:ext cx="771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频率排序</a:t>
            </a:r>
            <a:endParaRPr lang="en-US" sz="1100"/>
          </a:p>
        </p:txBody>
      </p:sp>
      <p:sp>
        <p:nvSpPr>
          <p:cNvPr id="37" name="Freeform 37"/>
          <p:cNvSpPr/>
          <p:nvPr/>
        </p:nvSpPr>
        <p:spPr>
          <a:xfrm>
            <a:off x="7054994" y="4592409"/>
            <a:ext cx="191653" cy="145255"/>
          </a:xfrm>
          <a:custGeom>
            <a:avLst/>
            <a:gdLst/>
            <a:ahLst/>
            <a:cxnLst/>
            <a:rect l="l" t="t" r="r" b="b"/>
            <a:pathLst>
              <a:path w="191653" h="145255">
                <a:moveTo>
                  <a:pt x="187002" y="81036"/>
                </a:moveTo>
                <a:cubicBezTo>
                  <a:pt x="191653" y="76385"/>
                  <a:pt x="191653" y="68832"/>
                  <a:pt x="187002" y="64181"/>
                </a:cubicBezTo>
                <a:lnTo>
                  <a:pt x="127471" y="4650"/>
                </a:lnTo>
                <a:cubicBezTo>
                  <a:pt x="122820" y="0"/>
                  <a:pt x="115266" y="0"/>
                  <a:pt x="110617" y="4650"/>
                </a:cubicBezTo>
                <a:cubicBezTo>
                  <a:pt x="105966" y="9301"/>
                  <a:pt x="105966" y="16854"/>
                  <a:pt x="110617" y="21504"/>
                </a:cubicBezTo>
                <a:lnTo>
                  <a:pt x="149833" y="60721"/>
                </a:lnTo>
                <a:lnTo>
                  <a:pt x="11906" y="60721"/>
                </a:lnTo>
                <a:cubicBezTo>
                  <a:pt x="5321" y="60721"/>
                  <a:pt x="0" y="66041"/>
                  <a:pt x="0" y="72627"/>
                </a:cubicBezTo>
                <a:cubicBezTo>
                  <a:pt x="0" y="79213"/>
                  <a:pt x="5321" y="84533"/>
                  <a:pt x="11906" y="84533"/>
                </a:cubicBezTo>
                <a:lnTo>
                  <a:pt x="149833" y="84533"/>
                </a:lnTo>
                <a:lnTo>
                  <a:pt x="110617" y="123750"/>
                </a:lnTo>
                <a:cubicBezTo>
                  <a:pt x="105966" y="128400"/>
                  <a:pt x="105966" y="135953"/>
                  <a:pt x="110617" y="140604"/>
                </a:cubicBezTo>
                <a:cubicBezTo>
                  <a:pt x="115266" y="145254"/>
                  <a:pt x="122820" y="145254"/>
                  <a:pt x="127471" y="140604"/>
                </a:cubicBezTo>
                <a:lnTo>
                  <a:pt x="187002" y="81073"/>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8" name="Freeform 38"/>
          <p:cNvSpPr/>
          <p:nvPr/>
        </p:nvSpPr>
        <p:spPr>
          <a:xfrm>
            <a:off x="7601144" y="4572056"/>
            <a:ext cx="230029" cy="185738"/>
          </a:xfrm>
          <a:custGeom>
            <a:avLst/>
            <a:gdLst/>
            <a:ahLst/>
            <a:cxnLst/>
            <a:rect l="l" t="t" r="r" b="b"/>
            <a:pathLst>
              <a:path w="230029" h="185738">
                <a:moveTo>
                  <a:pt x="1429" y="10717"/>
                </a:moveTo>
                <a:cubicBezTo>
                  <a:pt x="1429" y="4822"/>
                  <a:pt x="6205" y="0"/>
                  <a:pt x="12145" y="0"/>
                </a:cubicBezTo>
                <a:lnTo>
                  <a:pt x="33577" y="0"/>
                </a:lnTo>
                <a:cubicBezTo>
                  <a:pt x="39514" y="0"/>
                  <a:pt x="44292" y="4778"/>
                  <a:pt x="44292" y="10717"/>
                </a:cubicBezTo>
                <a:lnTo>
                  <a:pt x="44292" y="57150"/>
                </a:lnTo>
                <a:lnTo>
                  <a:pt x="55006" y="57150"/>
                </a:lnTo>
                <a:cubicBezTo>
                  <a:pt x="60945" y="57150"/>
                  <a:pt x="65723" y="61928"/>
                  <a:pt x="65723" y="67867"/>
                </a:cubicBezTo>
                <a:cubicBezTo>
                  <a:pt x="65723" y="73804"/>
                  <a:pt x="60945" y="78582"/>
                  <a:pt x="55006" y="78582"/>
                </a:cubicBezTo>
                <a:lnTo>
                  <a:pt x="12145" y="78582"/>
                </a:lnTo>
                <a:cubicBezTo>
                  <a:pt x="6205" y="78582"/>
                  <a:pt x="1429" y="73804"/>
                  <a:pt x="1429" y="67867"/>
                </a:cubicBezTo>
                <a:cubicBezTo>
                  <a:pt x="1429" y="61928"/>
                  <a:pt x="6205" y="57150"/>
                  <a:pt x="12145" y="57150"/>
                </a:cubicBezTo>
                <a:lnTo>
                  <a:pt x="22860" y="57150"/>
                </a:lnTo>
                <a:lnTo>
                  <a:pt x="22860" y="21432"/>
                </a:lnTo>
                <a:lnTo>
                  <a:pt x="12145" y="21432"/>
                </a:lnTo>
                <a:cubicBezTo>
                  <a:pt x="6205" y="21432"/>
                  <a:pt x="1429" y="16654"/>
                  <a:pt x="1429" y="10717"/>
                </a:cubicBezTo>
                <a:close/>
                <a:moveTo>
                  <a:pt x="15001" y="113051"/>
                </a:moveTo>
                <a:cubicBezTo>
                  <a:pt x="20092" y="109210"/>
                  <a:pt x="26298" y="107156"/>
                  <a:pt x="32682" y="107156"/>
                </a:cubicBezTo>
                <a:lnTo>
                  <a:pt x="34871" y="107156"/>
                </a:lnTo>
                <a:cubicBezTo>
                  <a:pt x="49918" y="107156"/>
                  <a:pt x="62152" y="119390"/>
                  <a:pt x="62152" y="134437"/>
                </a:cubicBezTo>
                <a:cubicBezTo>
                  <a:pt x="62152" y="143188"/>
                  <a:pt x="57954" y="151358"/>
                  <a:pt x="50899" y="156493"/>
                </a:cubicBezTo>
                <a:lnTo>
                  <a:pt x="40184" y="164306"/>
                </a:lnTo>
                <a:lnTo>
                  <a:pt x="55006" y="164306"/>
                </a:lnTo>
                <a:cubicBezTo>
                  <a:pt x="60945" y="164306"/>
                  <a:pt x="65723" y="169084"/>
                  <a:pt x="65723" y="175021"/>
                </a:cubicBezTo>
                <a:cubicBezTo>
                  <a:pt x="65723" y="180960"/>
                  <a:pt x="60945" y="185738"/>
                  <a:pt x="55006" y="185738"/>
                </a:cubicBezTo>
                <a:lnTo>
                  <a:pt x="14511" y="185738"/>
                </a:lnTo>
                <a:cubicBezTo>
                  <a:pt x="7279" y="185738"/>
                  <a:pt x="1429" y="179889"/>
                  <a:pt x="1429" y="172655"/>
                </a:cubicBezTo>
                <a:cubicBezTo>
                  <a:pt x="1429" y="168459"/>
                  <a:pt x="3438" y="164530"/>
                  <a:pt x="6832" y="162074"/>
                </a:cubicBezTo>
                <a:lnTo>
                  <a:pt x="38309" y="139169"/>
                </a:lnTo>
                <a:cubicBezTo>
                  <a:pt x="39827" y="138053"/>
                  <a:pt x="40720" y="136312"/>
                  <a:pt x="40720" y="134437"/>
                </a:cubicBezTo>
                <a:cubicBezTo>
                  <a:pt x="40720" y="131222"/>
                  <a:pt x="38085" y="128588"/>
                  <a:pt x="34871" y="128588"/>
                </a:cubicBezTo>
                <a:lnTo>
                  <a:pt x="32682" y="128588"/>
                </a:lnTo>
                <a:cubicBezTo>
                  <a:pt x="30943" y="128588"/>
                  <a:pt x="29245" y="129168"/>
                  <a:pt x="27862" y="130196"/>
                </a:cubicBezTo>
                <a:lnTo>
                  <a:pt x="18574" y="137160"/>
                </a:lnTo>
                <a:cubicBezTo>
                  <a:pt x="13841" y="140731"/>
                  <a:pt x="7144" y="139750"/>
                  <a:pt x="3571" y="135016"/>
                </a:cubicBezTo>
                <a:cubicBezTo>
                  <a:pt x="0" y="130284"/>
                  <a:pt x="983" y="123586"/>
                  <a:pt x="5715" y="120015"/>
                </a:cubicBezTo>
                <a:lnTo>
                  <a:pt x="15001" y="113051"/>
                </a:lnTo>
                <a:close/>
                <a:moveTo>
                  <a:pt x="101442" y="7144"/>
                </a:moveTo>
                <a:lnTo>
                  <a:pt x="215742" y="7144"/>
                </a:lnTo>
                <a:cubicBezTo>
                  <a:pt x="223643" y="7144"/>
                  <a:pt x="230029" y="13530"/>
                  <a:pt x="230029" y="21432"/>
                </a:cubicBezTo>
                <a:cubicBezTo>
                  <a:pt x="230029" y="29333"/>
                  <a:pt x="223643" y="35719"/>
                  <a:pt x="215742" y="35719"/>
                </a:cubicBezTo>
                <a:lnTo>
                  <a:pt x="101442" y="35719"/>
                </a:lnTo>
                <a:cubicBezTo>
                  <a:pt x="93540" y="35719"/>
                  <a:pt x="87154" y="29333"/>
                  <a:pt x="87154" y="21432"/>
                </a:cubicBezTo>
                <a:cubicBezTo>
                  <a:pt x="87154" y="13530"/>
                  <a:pt x="93540" y="7144"/>
                  <a:pt x="101442" y="7144"/>
                </a:cubicBezTo>
                <a:close/>
                <a:moveTo>
                  <a:pt x="101442" y="78582"/>
                </a:moveTo>
                <a:lnTo>
                  <a:pt x="215742" y="78582"/>
                </a:lnTo>
                <a:cubicBezTo>
                  <a:pt x="223643" y="78582"/>
                  <a:pt x="230029" y="84966"/>
                  <a:pt x="230029" y="92869"/>
                </a:cubicBezTo>
                <a:cubicBezTo>
                  <a:pt x="230029" y="100772"/>
                  <a:pt x="223643" y="107156"/>
                  <a:pt x="215742" y="107156"/>
                </a:cubicBezTo>
                <a:lnTo>
                  <a:pt x="101442" y="107156"/>
                </a:lnTo>
                <a:cubicBezTo>
                  <a:pt x="93540" y="107156"/>
                  <a:pt x="87154" y="100772"/>
                  <a:pt x="87154" y="92869"/>
                </a:cubicBezTo>
                <a:cubicBezTo>
                  <a:pt x="87154" y="84966"/>
                  <a:pt x="93540" y="78582"/>
                  <a:pt x="101442" y="78582"/>
                </a:cubicBezTo>
                <a:close/>
                <a:moveTo>
                  <a:pt x="101442" y="150019"/>
                </a:moveTo>
                <a:lnTo>
                  <a:pt x="215742" y="150019"/>
                </a:lnTo>
                <a:cubicBezTo>
                  <a:pt x="223643" y="150019"/>
                  <a:pt x="230029" y="156405"/>
                  <a:pt x="230029" y="164306"/>
                </a:cubicBezTo>
                <a:cubicBezTo>
                  <a:pt x="230029" y="172208"/>
                  <a:pt x="223643" y="178594"/>
                  <a:pt x="215742" y="178594"/>
                </a:cubicBezTo>
                <a:lnTo>
                  <a:pt x="101442" y="178594"/>
                </a:lnTo>
                <a:cubicBezTo>
                  <a:pt x="93540" y="178594"/>
                  <a:pt x="87154" y="172208"/>
                  <a:pt x="87154" y="164306"/>
                </a:cubicBezTo>
                <a:cubicBezTo>
                  <a:pt x="87154" y="156405"/>
                  <a:pt x="93540" y="150019"/>
                  <a:pt x="101442" y="150019"/>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9" name="AutoShape 39"/>
          <p:cNvSpPr/>
          <p:nvPr/>
        </p:nvSpPr>
        <p:spPr>
          <a:xfrm>
            <a:off x="7973940" y="4531686"/>
            <a:ext cx="6000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分配ID</a:t>
            </a:r>
            <a:endParaRPr lang="en-US" sz="1100"/>
          </a:p>
        </p:txBody>
      </p:sp>
      <p:sp>
        <p:nvSpPr>
          <p:cNvPr id="40" name="Freeform 40"/>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1" name="AutoShape 41"/>
          <p:cNvSpPr/>
          <p:nvPr/>
        </p:nvSpPr>
        <p:spPr>
          <a:xfrm>
            <a:off x="609519" y="5962594"/>
            <a:ext cx="55276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Vocabulary（词表）</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模型所能识别的所有token及其编号的集合</a:t>
            </a:r>
            <a:endParaRPr lang="en-US" sz="1100"/>
          </a:p>
        </p:txBody>
      </p:sp>
    </p:spTree>
  </p:cSld>
  <p:clrMapOvr>
    <a:masterClrMapping/>
  </p:clrMapOvr>
  <p:transition spd="slow">
    <p:fade/>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3 架构设计</a:t>
            </a:r>
            <a:endParaRPr lang="en-US" sz="1100"/>
          </a:p>
        </p:txBody>
      </p:sp>
      <p:sp>
        <p:nvSpPr>
          <p:cNvPr id="3" name="Freeform 3"/>
          <p:cNvSpPr/>
          <p:nvPr/>
        </p:nvSpPr>
        <p:spPr>
          <a:xfrm>
            <a:off x="3929468" y="1329984"/>
            <a:ext cx="1905000" cy="1981200"/>
          </a:xfrm>
          <a:custGeom>
            <a:avLst/>
            <a:gdLst/>
            <a:ahLst/>
            <a:cxnLst/>
            <a:rect l="l" t="t" r="r" b="b"/>
            <a:pathLst>
              <a:path w="1905000" h="1981200">
                <a:moveTo>
                  <a:pt x="152400" y="0"/>
                </a:moveTo>
                <a:lnTo>
                  <a:pt x="1752600" y="0"/>
                </a:lnTo>
                <a:cubicBezTo>
                  <a:pt x="1836712" y="0"/>
                  <a:pt x="1905000" y="68288"/>
                  <a:pt x="1905000" y="152400"/>
                </a:cubicBezTo>
                <a:lnTo>
                  <a:pt x="1905000" y="1828800"/>
                </a:lnTo>
                <a:cubicBezTo>
                  <a:pt x="1905000" y="1912912"/>
                  <a:pt x="1836712" y="1981200"/>
                  <a:pt x="1752600" y="1981200"/>
                </a:cubicBezTo>
                <a:lnTo>
                  <a:pt x="152400" y="1981200"/>
                </a:lnTo>
                <a:cubicBezTo>
                  <a:pt x="68288" y="1981200"/>
                  <a:pt x="0" y="1912912"/>
                  <a:pt x="0" y="1828800"/>
                </a:cubicBezTo>
                <a:lnTo>
                  <a:pt x="0" y="152400"/>
                </a:lnTo>
                <a:cubicBezTo>
                  <a:pt x="0" y="68288"/>
                  <a:pt x="68288" y="0"/>
                  <a:pt x="1524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4595001" y="1670391"/>
            <a:ext cx="571500" cy="500062"/>
          </a:xfrm>
          <a:custGeom>
            <a:avLst/>
            <a:gdLst/>
            <a:ahLst/>
            <a:cxnLst/>
            <a:rect l="l" t="t" r="r" b="b"/>
            <a:pathLst>
              <a:path w="571500" h="500062">
                <a:moveTo>
                  <a:pt x="214313" y="35718"/>
                </a:moveTo>
                <a:cubicBezTo>
                  <a:pt x="214313" y="15962"/>
                  <a:pt x="230274" y="0"/>
                  <a:pt x="250031" y="0"/>
                </a:cubicBezTo>
                <a:lnTo>
                  <a:pt x="321469" y="0"/>
                </a:lnTo>
                <a:cubicBezTo>
                  <a:pt x="341226" y="0"/>
                  <a:pt x="357187" y="15962"/>
                  <a:pt x="357187" y="35718"/>
                </a:cubicBezTo>
                <a:lnTo>
                  <a:pt x="357187" y="107156"/>
                </a:lnTo>
                <a:cubicBezTo>
                  <a:pt x="357187" y="126913"/>
                  <a:pt x="341226" y="142875"/>
                  <a:pt x="321469" y="142875"/>
                </a:cubicBezTo>
                <a:lnTo>
                  <a:pt x="312539" y="142875"/>
                </a:lnTo>
                <a:lnTo>
                  <a:pt x="312539" y="214312"/>
                </a:lnTo>
                <a:lnTo>
                  <a:pt x="446484" y="214312"/>
                </a:lnTo>
                <a:cubicBezTo>
                  <a:pt x="490910" y="214312"/>
                  <a:pt x="526852" y="250255"/>
                  <a:pt x="526852" y="294679"/>
                </a:cubicBezTo>
                <a:lnTo>
                  <a:pt x="526852" y="357187"/>
                </a:lnTo>
                <a:lnTo>
                  <a:pt x="535781" y="357187"/>
                </a:lnTo>
                <a:cubicBezTo>
                  <a:pt x="555537" y="357187"/>
                  <a:pt x="571500" y="373149"/>
                  <a:pt x="571500" y="392906"/>
                </a:cubicBezTo>
                <a:lnTo>
                  <a:pt x="571500" y="464343"/>
                </a:lnTo>
                <a:cubicBezTo>
                  <a:pt x="571500" y="484100"/>
                  <a:pt x="555537" y="500062"/>
                  <a:pt x="535781" y="500062"/>
                </a:cubicBezTo>
                <a:lnTo>
                  <a:pt x="464344" y="500062"/>
                </a:lnTo>
                <a:cubicBezTo>
                  <a:pt x="444588" y="500062"/>
                  <a:pt x="428625" y="484100"/>
                  <a:pt x="428625" y="464343"/>
                </a:cubicBezTo>
                <a:lnTo>
                  <a:pt x="428625" y="392906"/>
                </a:lnTo>
                <a:cubicBezTo>
                  <a:pt x="428625" y="373149"/>
                  <a:pt x="444588" y="357187"/>
                  <a:pt x="464344" y="357187"/>
                </a:cubicBezTo>
                <a:lnTo>
                  <a:pt x="473273" y="357187"/>
                </a:lnTo>
                <a:lnTo>
                  <a:pt x="473273" y="294679"/>
                </a:lnTo>
                <a:cubicBezTo>
                  <a:pt x="473273" y="279834"/>
                  <a:pt x="461330" y="267890"/>
                  <a:pt x="446484" y="267890"/>
                </a:cubicBezTo>
                <a:lnTo>
                  <a:pt x="312539" y="267890"/>
                </a:lnTo>
                <a:lnTo>
                  <a:pt x="312539" y="357187"/>
                </a:lnTo>
                <a:lnTo>
                  <a:pt x="321469" y="357187"/>
                </a:lnTo>
                <a:cubicBezTo>
                  <a:pt x="341226" y="357187"/>
                  <a:pt x="357187" y="373149"/>
                  <a:pt x="357187" y="392906"/>
                </a:cubicBezTo>
                <a:lnTo>
                  <a:pt x="357187" y="464343"/>
                </a:lnTo>
                <a:cubicBezTo>
                  <a:pt x="357187" y="484100"/>
                  <a:pt x="341226" y="500062"/>
                  <a:pt x="321469" y="500062"/>
                </a:cubicBezTo>
                <a:lnTo>
                  <a:pt x="250031" y="500062"/>
                </a:lnTo>
                <a:cubicBezTo>
                  <a:pt x="230274" y="500062"/>
                  <a:pt x="214313" y="484100"/>
                  <a:pt x="214313" y="464343"/>
                </a:cubicBezTo>
                <a:lnTo>
                  <a:pt x="214313" y="392906"/>
                </a:lnTo>
                <a:cubicBezTo>
                  <a:pt x="214313" y="373149"/>
                  <a:pt x="230274" y="357187"/>
                  <a:pt x="250031" y="357187"/>
                </a:cubicBezTo>
                <a:lnTo>
                  <a:pt x="258961" y="357187"/>
                </a:lnTo>
                <a:lnTo>
                  <a:pt x="258961" y="267890"/>
                </a:lnTo>
                <a:lnTo>
                  <a:pt x="125016" y="267890"/>
                </a:lnTo>
                <a:cubicBezTo>
                  <a:pt x="110170" y="267890"/>
                  <a:pt x="98227" y="279834"/>
                  <a:pt x="98227" y="294679"/>
                </a:cubicBezTo>
                <a:lnTo>
                  <a:pt x="98227" y="357187"/>
                </a:lnTo>
                <a:lnTo>
                  <a:pt x="107156" y="357187"/>
                </a:lnTo>
                <a:cubicBezTo>
                  <a:pt x="126912" y="357187"/>
                  <a:pt x="142875" y="373149"/>
                  <a:pt x="142875" y="392906"/>
                </a:cubicBezTo>
                <a:lnTo>
                  <a:pt x="142875" y="464343"/>
                </a:lnTo>
                <a:cubicBezTo>
                  <a:pt x="142875" y="484100"/>
                  <a:pt x="126912" y="500062"/>
                  <a:pt x="107156" y="500062"/>
                </a:cubicBezTo>
                <a:lnTo>
                  <a:pt x="35719" y="500062"/>
                </a:lnTo>
                <a:cubicBezTo>
                  <a:pt x="15963" y="500062"/>
                  <a:pt x="0" y="484100"/>
                  <a:pt x="0" y="464343"/>
                </a:cubicBezTo>
                <a:lnTo>
                  <a:pt x="0" y="392906"/>
                </a:lnTo>
                <a:cubicBezTo>
                  <a:pt x="0" y="373149"/>
                  <a:pt x="15963" y="357187"/>
                  <a:pt x="35719" y="357187"/>
                </a:cubicBezTo>
                <a:lnTo>
                  <a:pt x="44648" y="357187"/>
                </a:lnTo>
                <a:lnTo>
                  <a:pt x="44648" y="294679"/>
                </a:lnTo>
                <a:cubicBezTo>
                  <a:pt x="44648" y="250255"/>
                  <a:pt x="80590" y="214312"/>
                  <a:pt x="125016" y="214312"/>
                </a:cubicBezTo>
                <a:lnTo>
                  <a:pt x="258961" y="214312"/>
                </a:lnTo>
                <a:lnTo>
                  <a:pt x="258961" y="142875"/>
                </a:lnTo>
                <a:lnTo>
                  <a:pt x="250031" y="142875"/>
                </a:lnTo>
                <a:cubicBezTo>
                  <a:pt x="230274" y="142875"/>
                  <a:pt x="214313" y="126913"/>
                  <a:pt x="214313" y="107156"/>
                </a:cubicBezTo>
                <a:lnTo>
                  <a:pt x="214313" y="35718"/>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4177010" y="2358517"/>
            <a:ext cx="14097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Transformer</a:t>
            </a:r>
            <a:endParaRPr lang="en-US" sz="1100"/>
          </a:p>
        </p:txBody>
      </p:sp>
      <p:sp>
        <p:nvSpPr>
          <p:cNvPr id="6" name="AutoShape 6"/>
          <p:cNvSpPr/>
          <p:nvPr/>
        </p:nvSpPr>
        <p:spPr>
          <a:xfrm>
            <a:off x="4191297" y="2739517"/>
            <a:ext cx="13811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核心架构</a:t>
            </a:r>
            <a:endParaRPr lang="en-US" sz="1100"/>
          </a:p>
        </p:txBody>
      </p:sp>
      <p:sp>
        <p:nvSpPr>
          <p:cNvPr id="7" name="AutoShape 7"/>
          <p:cNvSpPr/>
          <p:nvPr/>
        </p:nvSpPr>
        <p:spPr>
          <a:xfrm>
            <a:off x="6213168" y="2091723"/>
            <a:ext cx="504825" cy="457200"/>
          </a:xfrm>
          <a:prstGeom prst="rect">
            <a:avLst/>
          </a:prstGeom>
          <a:noFill/>
          <a:ln w="12700">
            <a:noFill/>
            <a:prstDash val="solid"/>
          </a:ln>
        </p:spPr>
        <p:txBody>
          <a:bodyPr wrap="square" lIns="0" tIns="0" rIns="0" bIns="0" rtlCol="0" anchor="ctr">
            <a:noAutofit/>
          </a:bodyPr>
          <a:lstStyle/>
          <a:p>
            <a:pPr indent="0" algn="l">
              <a:lnSpc>
                <a:spcPct val="83000"/>
              </a:lnSpc>
              <a:defRPr/>
            </a:pPr>
            <a:r>
              <a:rPr lang="en-US" sz="36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Freeform 8"/>
          <p:cNvSpPr/>
          <p:nvPr/>
        </p:nvSpPr>
        <p:spPr>
          <a:xfrm>
            <a:off x="6886818" y="1312662"/>
            <a:ext cx="1358610" cy="2015835"/>
          </a:xfrm>
          <a:custGeom>
            <a:avLst/>
            <a:gdLst/>
            <a:ahLst/>
            <a:cxnLst/>
            <a:rect l="l" t="t" r="r" b="b"/>
            <a:pathLst>
              <a:path w="1358610" h="2015835">
                <a:moveTo>
                  <a:pt x="152395" y="0"/>
                </a:moveTo>
                <a:lnTo>
                  <a:pt x="1206216" y="0"/>
                </a:lnTo>
                <a:cubicBezTo>
                  <a:pt x="1290325" y="0"/>
                  <a:pt x="1358610" y="68287"/>
                  <a:pt x="1358610" y="152395"/>
                </a:cubicBezTo>
                <a:lnTo>
                  <a:pt x="1358610" y="1863441"/>
                </a:lnTo>
                <a:cubicBezTo>
                  <a:pt x="1358610" y="1947607"/>
                  <a:pt x="1290382" y="2015835"/>
                  <a:pt x="1206216" y="2015835"/>
                </a:cubicBezTo>
                <a:lnTo>
                  <a:pt x="152395" y="2015835"/>
                </a:lnTo>
                <a:cubicBezTo>
                  <a:pt x="68229" y="2015835"/>
                  <a:pt x="0" y="1947607"/>
                  <a:pt x="0" y="1863441"/>
                </a:cubicBezTo>
                <a:lnTo>
                  <a:pt x="0" y="152395"/>
                </a:lnTo>
                <a:cubicBezTo>
                  <a:pt x="0" y="68229"/>
                  <a:pt x="68229" y="0"/>
                  <a:pt x="152395" y="0"/>
                </a:cubicBezTo>
                <a:close/>
              </a:path>
            </a:pathLst>
          </a:custGeom>
          <a:solidFill>
            <a:srgbClr val="1E90FF">
              <a:alpha val="100000"/>
            </a:srgbClr>
          </a:solidFill>
          <a:ln w="38100">
            <a:solidFill>
              <a:srgbClr val="1E90FF">
                <a:alpha val="100000"/>
              </a:srgbClr>
            </a:solidFill>
            <a:prstDash val="solid"/>
          </a:ln>
        </p:spPr>
        <p:txBody>
          <a:bodyPr wrap="square" lIns="91440" tIns="45720" rIns="91440" bIns="45720" rtlCol="0" anchor="t">
            <a:noAutofit/>
          </a:bodyPr>
          <a:lstStyle/>
          <a:p>
            <a:pPr algn="ctr">
              <a:defRPr/>
            </a:pPr>
          </a:p>
        </p:txBody>
      </p:sp>
      <p:sp>
        <p:nvSpPr>
          <p:cNvPr id="9" name="Freeform 9"/>
          <p:cNvSpPr/>
          <p:nvPr/>
        </p:nvSpPr>
        <p:spPr>
          <a:xfrm>
            <a:off x="7280266" y="1670391"/>
            <a:ext cx="571500" cy="500062"/>
          </a:xfrm>
          <a:custGeom>
            <a:avLst/>
            <a:gdLst/>
            <a:ahLst/>
            <a:cxnLst/>
            <a:rect l="l" t="t" r="r" b="b"/>
            <a:pathLst>
              <a:path w="571500" h="500062">
                <a:moveTo>
                  <a:pt x="0" y="53579"/>
                </a:moveTo>
                <a:cubicBezTo>
                  <a:pt x="0" y="23998"/>
                  <a:pt x="23999" y="0"/>
                  <a:pt x="53577" y="0"/>
                </a:cubicBezTo>
                <a:lnTo>
                  <a:pt x="160734" y="0"/>
                </a:lnTo>
                <a:cubicBezTo>
                  <a:pt x="190315" y="0"/>
                  <a:pt x="214312" y="23998"/>
                  <a:pt x="214312" y="53579"/>
                </a:cubicBezTo>
                <a:lnTo>
                  <a:pt x="214312" y="71437"/>
                </a:lnTo>
                <a:lnTo>
                  <a:pt x="357188" y="71437"/>
                </a:lnTo>
                <a:lnTo>
                  <a:pt x="357188" y="53579"/>
                </a:lnTo>
                <a:cubicBezTo>
                  <a:pt x="357188" y="23998"/>
                  <a:pt x="381185" y="0"/>
                  <a:pt x="410766" y="0"/>
                </a:cubicBezTo>
                <a:lnTo>
                  <a:pt x="517923" y="0"/>
                </a:lnTo>
                <a:cubicBezTo>
                  <a:pt x="547501" y="0"/>
                  <a:pt x="571500" y="23998"/>
                  <a:pt x="571500" y="53579"/>
                </a:cubicBezTo>
                <a:lnTo>
                  <a:pt x="571500" y="160733"/>
                </a:lnTo>
                <a:cubicBezTo>
                  <a:pt x="571500" y="190314"/>
                  <a:pt x="547501" y="214312"/>
                  <a:pt x="517923" y="214312"/>
                </a:cubicBezTo>
                <a:lnTo>
                  <a:pt x="410766" y="214312"/>
                </a:lnTo>
                <a:cubicBezTo>
                  <a:pt x="381185" y="214312"/>
                  <a:pt x="357188" y="190314"/>
                  <a:pt x="357188" y="160733"/>
                </a:cubicBezTo>
                <a:lnTo>
                  <a:pt x="357188" y="142875"/>
                </a:lnTo>
                <a:lnTo>
                  <a:pt x="214312" y="142875"/>
                </a:lnTo>
                <a:lnTo>
                  <a:pt x="214312" y="160733"/>
                </a:lnTo>
                <a:cubicBezTo>
                  <a:pt x="214312" y="168882"/>
                  <a:pt x="212415" y="176696"/>
                  <a:pt x="209178" y="183616"/>
                </a:cubicBezTo>
                <a:lnTo>
                  <a:pt x="285750" y="285750"/>
                </a:lnTo>
                <a:lnTo>
                  <a:pt x="375048" y="285750"/>
                </a:lnTo>
                <a:cubicBezTo>
                  <a:pt x="404626" y="285750"/>
                  <a:pt x="428625" y="309748"/>
                  <a:pt x="428625" y="339329"/>
                </a:cubicBezTo>
                <a:lnTo>
                  <a:pt x="428625" y="446483"/>
                </a:lnTo>
                <a:cubicBezTo>
                  <a:pt x="428625" y="476064"/>
                  <a:pt x="404626" y="500062"/>
                  <a:pt x="375048" y="500062"/>
                </a:cubicBezTo>
                <a:lnTo>
                  <a:pt x="267891" y="500062"/>
                </a:lnTo>
                <a:cubicBezTo>
                  <a:pt x="238310" y="500062"/>
                  <a:pt x="214312" y="476064"/>
                  <a:pt x="214312" y="446483"/>
                </a:cubicBezTo>
                <a:lnTo>
                  <a:pt x="214312" y="339329"/>
                </a:lnTo>
                <a:cubicBezTo>
                  <a:pt x="214312" y="331180"/>
                  <a:pt x="216210" y="323366"/>
                  <a:pt x="219447" y="316446"/>
                </a:cubicBezTo>
                <a:lnTo>
                  <a:pt x="142875" y="214312"/>
                </a:lnTo>
                <a:lnTo>
                  <a:pt x="53577" y="214312"/>
                </a:lnTo>
                <a:cubicBezTo>
                  <a:pt x="23999" y="214312"/>
                  <a:pt x="0" y="190314"/>
                  <a:pt x="0" y="160733"/>
                </a:cubicBezTo>
                <a:lnTo>
                  <a:pt x="0" y="53579"/>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7151678" y="2358517"/>
            <a:ext cx="828675"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MoE</a:t>
            </a:r>
            <a:endParaRPr lang="en-US" sz="1100"/>
          </a:p>
        </p:txBody>
      </p:sp>
      <p:sp>
        <p:nvSpPr>
          <p:cNvPr id="11" name="AutoShape 11"/>
          <p:cNvSpPr/>
          <p:nvPr/>
        </p:nvSpPr>
        <p:spPr>
          <a:xfrm>
            <a:off x="7165966" y="2739517"/>
            <a:ext cx="80010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混合专家</a:t>
            </a:r>
            <a:endParaRPr lang="en-US" sz="1100"/>
          </a:p>
        </p:txBody>
      </p:sp>
      <p:sp>
        <p:nvSpPr>
          <p:cNvPr id="12" name="Freeform 12"/>
          <p:cNvSpPr/>
          <p:nvPr/>
        </p:nvSpPr>
        <p:spPr>
          <a:xfrm>
            <a:off x="381000" y="3650084"/>
            <a:ext cx="5600700" cy="2057400"/>
          </a:xfrm>
          <a:custGeom>
            <a:avLst/>
            <a:gdLst/>
            <a:ahLst/>
            <a:cxnLst/>
            <a:rect l="l" t="t" r="r" b="b"/>
            <a:pathLst>
              <a:path w="5600700" h="2057400">
                <a:moveTo>
                  <a:pt x="114309" y="0"/>
                </a:moveTo>
                <a:lnTo>
                  <a:pt x="5486391" y="0"/>
                </a:lnTo>
                <a:cubicBezTo>
                  <a:pt x="5549522" y="0"/>
                  <a:pt x="5600700" y="51178"/>
                  <a:pt x="5600700" y="114309"/>
                </a:cubicBezTo>
                <a:lnTo>
                  <a:pt x="5600700" y="1943091"/>
                </a:lnTo>
                <a:cubicBezTo>
                  <a:pt x="5600700" y="2006222"/>
                  <a:pt x="5549522" y="2057400"/>
                  <a:pt x="5486391" y="2057400"/>
                </a:cubicBezTo>
                <a:lnTo>
                  <a:pt x="114309" y="2057400"/>
                </a:lnTo>
                <a:cubicBezTo>
                  <a:pt x="51178" y="2057400"/>
                  <a:pt x="0" y="2006222"/>
                  <a:pt x="0" y="1943091"/>
                </a:cubicBezTo>
                <a:lnTo>
                  <a:pt x="0" y="114309"/>
                </a:lnTo>
                <a:cubicBezTo>
                  <a:pt x="0" y="51220"/>
                  <a:pt x="51220" y="0"/>
                  <a:pt x="114309"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13" name="Freeform 13"/>
          <p:cNvSpPr/>
          <p:nvPr/>
        </p:nvSpPr>
        <p:spPr>
          <a:xfrm>
            <a:off x="638094" y="3897548"/>
            <a:ext cx="228600" cy="228600"/>
          </a:xfrm>
          <a:custGeom>
            <a:avLst/>
            <a:gdLst/>
            <a:ahLst/>
            <a:cxnLst/>
            <a:rect l="l" t="t" r="r" b="b"/>
            <a:pathLst>
              <a:path w="228600" h="228600">
                <a:moveTo>
                  <a:pt x="114300" y="228600"/>
                </a:moveTo>
                <a:cubicBezTo>
                  <a:pt x="177383" y="228600"/>
                  <a:pt x="228600" y="177383"/>
                  <a:pt x="228600" y="114300"/>
                </a:cubicBezTo>
                <a:cubicBezTo>
                  <a:pt x="228600" y="51217"/>
                  <a:pt x="177383" y="0"/>
                  <a:pt x="114300" y="0"/>
                </a:cubicBezTo>
                <a:cubicBezTo>
                  <a:pt x="51217" y="0"/>
                  <a:pt x="0" y="51217"/>
                  <a:pt x="0" y="114300"/>
                </a:cubicBezTo>
                <a:cubicBezTo>
                  <a:pt x="0" y="177383"/>
                  <a:pt x="51217" y="228600"/>
                  <a:pt x="114300" y="228600"/>
                </a:cubicBezTo>
                <a:close/>
                <a:moveTo>
                  <a:pt x="151983" y="94967"/>
                </a:moveTo>
                <a:lnTo>
                  <a:pt x="116265" y="152117"/>
                </a:lnTo>
                <a:cubicBezTo>
                  <a:pt x="114389" y="155109"/>
                  <a:pt x="111175" y="156983"/>
                  <a:pt x="107646" y="157162"/>
                </a:cubicBezTo>
                <a:cubicBezTo>
                  <a:pt x="104120" y="157342"/>
                  <a:pt x="100728" y="155734"/>
                  <a:pt x="98628" y="152876"/>
                </a:cubicBezTo>
                <a:lnTo>
                  <a:pt x="77197" y="124301"/>
                </a:lnTo>
                <a:cubicBezTo>
                  <a:pt x="73624" y="119569"/>
                  <a:pt x="74607" y="112871"/>
                  <a:pt x="79339" y="109299"/>
                </a:cubicBezTo>
                <a:cubicBezTo>
                  <a:pt x="84073" y="105727"/>
                  <a:pt x="90769" y="106710"/>
                  <a:pt x="94342" y="111442"/>
                </a:cubicBezTo>
                <a:lnTo>
                  <a:pt x="106397" y="127516"/>
                </a:lnTo>
                <a:lnTo>
                  <a:pt x="133811" y="83627"/>
                </a:lnTo>
                <a:cubicBezTo>
                  <a:pt x="136936" y="78626"/>
                  <a:pt x="143546" y="77064"/>
                  <a:pt x="148590" y="80234"/>
                </a:cubicBezTo>
                <a:cubicBezTo>
                  <a:pt x="153634" y="83403"/>
                  <a:pt x="155153" y="89967"/>
                  <a:pt x="151983" y="95013"/>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1009461" y="3878591"/>
            <a:ext cx="11715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Transformer</a:t>
            </a:r>
            <a:endParaRPr lang="en-US" sz="1100"/>
          </a:p>
        </p:txBody>
      </p:sp>
      <p:sp>
        <p:nvSpPr>
          <p:cNvPr id="15" name="AutoShape 15"/>
          <p:cNvSpPr/>
          <p:nvPr/>
        </p:nvSpPr>
        <p:spPr>
          <a:xfrm>
            <a:off x="609519" y="4297617"/>
            <a:ext cx="5219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目前大语言模型的标准架构</a:t>
            </a:r>
            <a:endParaRPr lang="en-US" sz="1100"/>
          </a:p>
        </p:txBody>
      </p:sp>
      <p:sp>
        <p:nvSpPr>
          <p:cNvPr id="16" name="AutoShape 16"/>
          <p:cNvSpPr/>
          <p:nvPr/>
        </p:nvSpPr>
        <p:spPr>
          <a:xfrm>
            <a:off x="609519" y="4602305"/>
            <a:ext cx="5219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Self-Attention机制</a:t>
            </a:r>
            <a:endParaRPr lang="en-US" sz="1100"/>
          </a:p>
        </p:txBody>
      </p:sp>
      <p:sp>
        <p:nvSpPr>
          <p:cNvPr id="17" name="AutoShape 17"/>
          <p:cNvSpPr/>
          <p:nvPr/>
        </p:nvSpPr>
        <p:spPr>
          <a:xfrm>
            <a:off x="609519" y="4906994"/>
            <a:ext cx="5219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多层堆叠设计</a:t>
            </a:r>
            <a:endParaRPr lang="en-US" sz="1100"/>
          </a:p>
        </p:txBody>
      </p:sp>
      <p:sp>
        <p:nvSpPr>
          <p:cNvPr id="18" name="AutoShape 18"/>
          <p:cNvSpPr/>
          <p:nvPr/>
        </p:nvSpPr>
        <p:spPr>
          <a:xfrm>
            <a:off x="609519" y="5211700"/>
            <a:ext cx="5219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支持并行计算</a:t>
            </a:r>
            <a:endParaRPr lang="en-US" sz="1100"/>
          </a:p>
        </p:txBody>
      </p:sp>
      <p:sp>
        <p:nvSpPr>
          <p:cNvPr id="19" name="Freeform 19"/>
          <p:cNvSpPr/>
          <p:nvPr/>
        </p:nvSpPr>
        <p:spPr>
          <a:xfrm>
            <a:off x="6218850" y="3658743"/>
            <a:ext cx="5579918" cy="2036618"/>
          </a:xfrm>
          <a:custGeom>
            <a:avLst/>
            <a:gdLst/>
            <a:ahLst/>
            <a:cxnLst/>
            <a:rect l="l" t="t" r="r" b="b"/>
            <a:pathLst>
              <a:path w="5579918" h="2036618">
                <a:moveTo>
                  <a:pt x="114295" y="0"/>
                </a:moveTo>
                <a:lnTo>
                  <a:pt x="5465623" y="0"/>
                </a:lnTo>
                <a:cubicBezTo>
                  <a:pt x="5528747" y="0"/>
                  <a:pt x="5579918" y="51172"/>
                  <a:pt x="5579918" y="114295"/>
                </a:cubicBezTo>
                <a:lnTo>
                  <a:pt x="5579918" y="1922323"/>
                </a:lnTo>
                <a:cubicBezTo>
                  <a:pt x="5579918" y="1985447"/>
                  <a:pt x="5528747" y="2036618"/>
                  <a:pt x="5465623" y="2036618"/>
                </a:cubicBezTo>
                <a:lnTo>
                  <a:pt x="114295" y="2036618"/>
                </a:lnTo>
                <a:cubicBezTo>
                  <a:pt x="51172" y="2036618"/>
                  <a:pt x="0" y="1985447"/>
                  <a:pt x="0" y="1922323"/>
                </a:cubicBezTo>
                <a:lnTo>
                  <a:pt x="0" y="114295"/>
                </a:lnTo>
                <a:cubicBezTo>
                  <a:pt x="0" y="51214"/>
                  <a:pt x="51214" y="0"/>
                  <a:pt x="114295" y="0"/>
                </a:cubicBezTo>
                <a:close/>
              </a:path>
            </a:pathLst>
          </a:custGeom>
          <a:noFill/>
          <a:ln w="12700" cap="flat">
            <a:solidFill>
              <a:srgbClr val="8DAAC2">
                <a:alpha val="100000"/>
              </a:srgbClr>
            </a:solidFill>
            <a:prstDash val="solid"/>
          </a:ln>
        </p:spPr>
        <p:txBody>
          <a:bodyPr wrap="square" lIns="91440" tIns="45720" rIns="91440" bIns="45720" rtlCol="0" anchor="t">
            <a:noAutofit/>
          </a:bodyPr>
          <a:lstStyle/>
          <a:p>
            <a:pPr algn="ctr">
              <a:defRPr/>
            </a:pPr>
          </a:p>
        </p:txBody>
      </p:sp>
      <p:sp>
        <p:nvSpPr>
          <p:cNvPr id="20" name="Freeform 20"/>
          <p:cNvSpPr/>
          <p:nvPr/>
        </p:nvSpPr>
        <p:spPr>
          <a:xfrm>
            <a:off x="6484604" y="3914868"/>
            <a:ext cx="228600" cy="228600"/>
          </a:xfrm>
          <a:custGeom>
            <a:avLst/>
            <a:gdLst/>
            <a:ahLst/>
            <a:cxnLst/>
            <a:rect l="l" t="t" r="r" b="b"/>
            <a:pathLst>
              <a:path w="228600" h="228600">
                <a:moveTo>
                  <a:pt x="114300" y="228600"/>
                </a:moveTo>
                <a:cubicBezTo>
                  <a:pt x="177383" y="228600"/>
                  <a:pt x="228600" y="177383"/>
                  <a:pt x="228600" y="114300"/>
                </a:cubicBezTo>
                <a:cubicBezTo>
                  <a:pt x="228600" y="51217"/>
                  <a:pt x="177383" y="0"/>
                  <a:pt x="114300" y="0"/>
                </a:cubicBezTo>
                <a:cubicBezTo>
                  <a:pt x="51217" y="0"/>
                  <a:pt x="0" y="51217"/>
                  <a:pt x="0" y="114300"/>
                </a:cubicBezTo>
                <a:cubicBezTo>
                  <a:pt x="0" y="177383"/>
                  <a:pt x="51217" y="228600"/>
                  <a:pt x="114300" y="228600"/>
                </a:cubicBezTo>
                <a:close/>
                <a:moveTo>
                  <a:pt x="103584" y="153591"/>
                </a:moveTo>
                <a:lnTo>
                  <a:pt x="103584" y="125016"/>
                </a:lnTo>
                <a:lnTo>
                  <a:pt x="75009" y="125016"/>
                </a:lnTo>
                <a:cubicBezTo>
                  <a:pt x="69071" y="125016"/>
                  <a:pt x="64294" y="120239"/>
                  <a:pt x="64294" y="114300"/>
                </a:cubicBezTo>
                <a:cubicBezTo>
                  <a:pt x="64294" y="108361"/>
                  <a:pt x="69071" y="103584"/>
                  <a:pt x="75009" y="103584"/>
                </a:cubicBezTo>
                <a:lnTo>
                  <a:pt x="103584" y="103584"/>
                </a:lnTo>
                <a:lnTo>
                  <a:pt x="103584" y="75009"/>
                </a:lnTo>
                <a:cubicBezTo>
                  <a:pt x="103584" y="69071"/>
                  <a:pt x="108361" y="64294"/>
                  <a:pt x="114300" y="64294"/>
                </a:cubicBezTo>
                <a:cubicBezTo>
                  <a:pt x="120239" y="64294"/>
                  <a:pt x="125016" y="69071"/>
                  <a:pt x="125016" y="75009"/>
                </a:cubicBezTo>
                <a:lnTo>
                  <a:pt x="125016" y="103584"/>
                </a:lnTo>
                <a:lnTo>
                  <a:pt x="153591" y="103584"/>
                </a:lnTo>
                <a:cubicBezTo>
                  <a:pt x="159529" y="103584"/>
                  <a:pt x="164306" y="108361"/>
                  <a:pt x="164306" y="114300"/>
                </a:cubicBezTo>
                <a:cubicBezTo>
                  <a:pt x="164306" y="120239"/>
                  <a:pt x="159529" y="125016"/>
                  <a:pt x="153591" y="125016"/>
                </a:cubicBezTo>
                <a:lnTo>
                  <a:pt x="125016" y="125016"/>
                </a:lnTo>
                <a:lnTo>
                  <a:pt x="125016" y="153591"/>
                </a:lnTo>
                <a:cubicBezTo>
                  <a:pt x="125016" y="159529"/>
                  <a:pt x="120239" y="164306"/>
                  <a:pt x="114300" y="164306"/>
                </a:cubicBezTo>
                <a:cubicBezTo>
                  <a:pt x="108361" y="164306"/>
                  <a:pt x="103584" y="159529"/>
                  <a:pt x="103584" y="153591"/>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6855970" y="3895911"/>
            <a:ext cx="12477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MoE（可选）</a:t>
            </a:r>
            <a:endParaRPr lang="en-US" sz="1100"/>
          </a:p>
        </p:txBody>
      </p:sp>
      <p:sp>
        <p:nvSpPr>
          <p:cNvPr id="22" name="AutoShape 22"/>
          <p:cNvSpPr/>
          <p:nvPr/>
        </p:nvSpPr>
        <p:spPr>
          <a:xfrm>
            <a:off x="6456029" y="4314937"/>
            <a:ext cx="5181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混合专家系统</a:t>
            </a:r>
            <a:endParaRPr lang="en-US" sz="1100"/>
          </a:p>
        </p:txBody>
      </p:sp>
      <p:sp>
        <p:nvSpPr>
          <p:cNvPr id="23" name="AutoShape 23"/>
          <p:cNvSpPr/>
          <p:nvPr/>
        </p:nvSpPr>
        <p:spPr>
          <a:xfrm>
            <a:off x="6456029" y="4619625"/>
            <a:ext cx="5181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只激活部分参数</a:t>
            </a:r>
            <a:endParaRPr lang="en-US" sz="1100"/>
          </a:p>
        </p:txBody>
      </p:sp>
      <p:sp>
        <p:nvSpPr>
          <p:cNvPr id="24" name="AutoShape 24"/>
          <p:cNvSpPr/>
          <p:nvPr/>
        </p:nvSpPr>
        <p:spPr>
          <a:xfrm>
            <a:off x="6456029" y="4924313"/>
            <a:ext cx="5181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提升计算效率</a:t>
            </a:r>
            <a:endParaRPr lang="en-US" sz="1100"/>
          </a:p>
        </p:txBody>
      </p:sp>
      <p:sp>
        <p:nvSpPr>
          <p:cNvPr id="25" name="AutoShape 25"/>
          <p:cNvSpPr/>
          <p:nvPr/>
        </p:nvSpPr>
        <p:spPr>
          <a:xfrm>
            <a:off x="6456029" y="5229020"/>
            <a:ext cx="5181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支持更大模型</a:t>
            </a:r>
            <a:endParaRPr lang="en-US" sz="1100"/>
          </a:p>
        </p:txBody>
      </p:sp>
      <p:sp>
        <p:nvSpPr>
          <p:cNvPr id="26" name="Freeform 26"/>
          <p:cNvSpPr/>
          <p:nvPr/>
        </p:nvSpPr>
        <p:spPr>
          <a:xfrm>
            <a:off x="381000" y="5931880"/>
            <a:ext cx="11430000" cy="542925"/>
          </a:xfrm>
          <a:custGeom>
            <a:avLst/>
            <a:gdLst/>
            <a:ahLst/>
            <a:cxnLst/>
            <a:rect l="l" t="t" r="r" b="b"/>
            <a:pathLst>
              <a:path w="11430000" h="542925">
                <a:moveTo>
                  <a:pt x="76200" y="0"/>
                </a:moveTo>
                <a:lnTo>
                  <a:pt x="11353800" y="0"/>
                </a:lnTo>
                <a:cubicBezTo>
                  <a:pt x="11395884" y="0"/>
                  <a:pt x="11430000" y="34116"/>
                  <a:pt x="11430000" y="76200"/>
                </a:cubicBezTo>
                <a:lnTo>
                  <a:pt x="11430000" y="466725"/>
                </a:lnTo>
                <a:cubicBezTo>
                  <a:pt x="11430000" y="508809"/>
                  <a:pt x="11395884" y="542925"/>
                  <a:pt x="11353800" y="542925"/>
                </a:cubicBezTo>
                <a:lnTo>
                  <a:pt x="76200" y="542925"/>
                </a:lnTo>
                <a:cubicBezTo>
                  <a:pt x="34116" y="542925"/>
                  <a:pt x="0" y="508809"/>
                  <a:pt x="0" y="466725"/>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609519" y="6071108"/>
            <a:ext cx="48799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MoE（混合专家系统）</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条件计算架构，只激活部分参数</a:t>
            </a:r>
            <a:endParaRPr lang="en-US" sz="1100"/>
          </a:p>
        </p:txBody>
      </p:sp>
    </p:spTree>
  </p:cSld>
  <p:clrMapOvr>
    <a:masterClrMapping/>
  </p:clrMapOvr>
  <p:transition spd="slow">
    <p:fade/>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4 预训练</a:t>
            </a:r>
            <a:endParaRPr lang="en-US" sz="1100"/>
          </a:p>
        </p:txBody>
      </p:sp>
      <p:sp>
        <p:nvSpPr>
          <p:cNvPr id="3" name="Freeform 3"/>
          <p:cNvSpPr/>
          <p:nvPr/>
        </p:nvSpPr>
        <p:spPr>
          <a:xfrm>
            <a:off x="381000" y="1295344"/>
            <a:ext cx="11430000" cy="2238375"/>
          </a:xfrm>
          <a:custGeom>
            <a:avLst/>
            <a:gdLst/>
            <a:ahLst/>
            <a:cxnLst/>
            <a:rect l="l" t="t" r="r" b="b"/>
            <a:pathLst>
              <a:path w="11430000" h="2238375">
                <a:moveTo>
                  <a:pt x="152411" y="0"/>
                </a:moveTo>
                <a:lnTo>
                  <a:pt x="11277589" y="0"/>
                </a:lnTo>
                <a:cubicBezTo>
                  <a:pt x="11361763" y="0"/>
                  <a:pt x="11430000" y="68237"/>
                  <a:pt x="11430000" y="152411"/>
                </a:cubicBezTo>
                <a:lnTo>
                  <a:pt x="11430000" y="2085964"/>
                </a:lnTo>
                <a:cubicBezTo>
                  <a:pt x="11430000" y="2170138"/>
                  <a:pt x="11361763" y="2238375"/>
                  <a:pt x="11277589" y="2238375"/>
                </a:cubicBezTo>
                <a:lnTo>
                  <a:pt x="152411" y="2238375"/>
                </a:lnTo>
                <a:cubicBezTo>
                  <a:pt x="68237" y="2238375"/>
                  <a:pt x="0" y="2170138"/>
                  <a:pt x="0" y="2085964"/>
                </a:cubicBezTo>
                <a:lnTo>
                  <a:pt x="0" y="152411"/>
                </a:lnTo>
                <a:cubicBezTo>
                  <a:pt x="0" y="68293"/>
                  <a:pt x="68293" y="0"/>
                  <a:pt x="152411"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42829" y="1600033"/>
            <a:ext cx="109061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预训练任务：预测被遮盖的词</a:t>
            </a:r>
            <a:endParaRPr lang="en-US" sz="1100"/>
          </a:p>
        </p:txBody>
      </p:sp>
      <p:sp>
        <p:nvSpPr>
          <p:cNvPr id="5" name="Freeform 5"/>
          <p:cNvSpPr/>
          <p:nvPr/>
        </p:nvSpPr>
        <p:spPr>
          <a:xfrm>
            <a:off x="3230247" y="2103750"/>
            <a:ext cx="522143" cy="474518"/>
          </a:xfrm>
          <a:custGeom>
            <a:avLst/>
            <a:gdLst/>
            <a:ahLst/>
            <a:cxnLst/>
            <a:rect l="l" t="t" r="r" b="b"/>
            <a:pathLst>
              <a:path w="522143" h="474518">
                <a:moveTo>
                  <a:pt x="76197" y="0"/>
                </a:moveTo>
                <a:lnTo>
                  <a:pt x="445945" y="0"/>
                </a:lnTo>
                <a:cubicBezTo>
                  <a:pt x="488028" y="0"/>
                  <a:pt x="522143" y="34115"/>
                  <a:pt x="522143" y="76197"/>
                </a:cubicBezTo>
                <a:lnTo>
                  <a:pt x="522143" y="398320"/>
                </a:lnTo>
                <a:cubicBezTo>
                  <a:pt x="522143" y="440403"/>
                  <a:pt x="488028" y="474518"/>
                  <a:pt x="445945" y="474518"/>
                </a:cubicBezTo>
                <a:lnTo>
                  <a:pt x="76197" y="474518"/>
                </a:lnTo>
                <a:cubicBezTo>
                  <a:pt x="34115" y="474518"/>
                  <a:pt x="0" y="440403"/>
                  <a:pt x="0" y="398320"/>
                </a:cubicBezTo>
                <a:lnTo>
                  <a:pt x="0" y="76197"/>
                </a:lnTo>
                <a:cubicBezTo>
                  <a:pt x="0" y="34115"/>
                  <a:pt x="34115" y="0"/>
                  <a:pt x="76197"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6" name="AutoShape 6"/>
          <p:cNvSpPr/>
          <p:nvPr/>
        </p:nvSpPr>
        <p:spPr>
          <a:xfrm>
            <a:off x="3221588" y="2095091"/>
            <a:ext cx="619125" cy="457200"/>
          </a:xfrm>
          <a:prstGeom prst="rect">
            <a:avLst/>
          </a:prstGeom>
          <a:noFill/>
          <a:ln w="12700">
            <a:noFill/>
            <a:prstDash val="solid"/>
          </a:ln>
        </p:spPr>
        <p:txBody>
          <a:bodyPr wrap="square" lIns="152400" tIns="76200" rIns="152400" bIns="76200" rtlCol="0" anchor="ctr">
            <a:noAutofit/>
          </a:bodyPr>
          <a:lstStyle/>
          <a:p>
            <a:pPr indent="0" algn="l">
              <a:lnSpc>
                <a:spcPct val="108000"/>
              </a:lnSpc>
              <a:defRPr/>
            </a:pPr>
            <a:r>
              <a:rPr lang="en-US" sz="18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100"/>
          </a:p>
        </p:txBody>
      </p:sp>
      <p:sp>
        <p:nvSpPr>
          <p:cNvPr id="7" name="Freeform 7"/>
          <p:cNvSpPr/>
          <p:nvPr/>
        </p:nvSpPr>
        <p:spPr>
          <a:xfrm>
            <a:off x="3888473" y="2103750"/>
            <a:ext cx="484043" cy="474518"/>
          </a:xfrm>
          <a:custGeom>
            <a:avLst/>
            <a:gdLst/>
            <a:ahLst/>
            <a:cxnLst/>
            <a:rect l="l" t="t" r="r" b="b"/>
            <a:pathLst>
              <a:path w="484043" h="474518">
                <a:moveTo>
                  <a:pt x="76197" y="0"/>
                </a:moveTo>
                <a:lnTo>
                  <a:pt x="407845" y="0"/>
                </a:lnTo>
                <a:cubicBezTo>
                  <a:pt x="449928" y="0"/>
                  <a:pt x="484043" y="34115"/>
                  <a:pt x="484043" y="76197"/>
                </a:cubicBezTo>
                <a:lnTo>
                  <a:pt x="484043" y="398320"/>
                </a:lnTo>
                <a:cubicBezTo>
                  <a:pt x="484043" y="440403"/>
                  <a:pt x="449928" y="474518"/>
                  <a:pt x="407845" y="474518"/>
                </a:cubicBezTo>
                <a:lnTo>
                  <a:pt x="76197" y="474518"/>
                </a:lnTo>
                <a:cubicBezTo>
                  <a:pt x="34115" y="474518"/>
                  <a:pt x="0" y="440403"/>
                  <a:pt x="0" y="398320"/>
                </a:cubicBezTo>
                <a:lnTo>
                  <a:pt x="0" y="76197"/>
                </a:lnTo>
                <a:cubicBezTo>
                  <a:pt x="0" y="34115"/>
                  <a:pt x="34115" y="0"/>
                  <a:pt x="76197"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8" name="AutoShape 8"/>
          <p:cNvSpPr/>
          <p:nvPr/>
        </p:nvSpPr>
        <p:spPr>
          <a:xfrm>
            <a:off x="3879814" y="2095091"/>
            <a:ext cx="581025" cy="457200"/>
          </a:xfrm>
          <a:prstGeom prst="rect">
            <a:avLst/>
          </a:prstGeom>
          <a:noFill/>
          <a:ln w="12700">
            <a:noFill/>
            <a:prstDash val="solid"/>
          </a:ln>
        </p:spPr>
        <p:txBody>
          <a:bodyPr wrap="square" lIns="152400" tIns="76200" rIns="152400" bIns="76200" rtlCol="0" anchor="ctr">
            <a:noAutofit/>
          </a:bodyPr>
          <a:lstStyle/>
          <a:p>
            <a:pPr indent="0" algn="l">
              <a:lnSpc>
                <a:spcPct val="108000"/>
              </a:lnSpc>
              <a:defRPr/>
            </a:pPr>
            <a:r>
              <a:rPr lang="en-US" sz="18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is</a:t>
            </a:r>
            <a:endParaRPr lang="en-US" sz="1100"/>
          </a:p>
        </p:txBody>
      </p:sp>
      <p:sp>
        <p:nvSpPr>
          <p:cNvPr id="9" name="Freeform 9"/>
          <p:cNvSpPr/>
          <p:nvPr/>
        </p:nvSpPr>
        <p:spPr>
          <a:xfrm>
            <a:off x="4496097" y="2112411"/>
            <a:ext cx="1095375" cy="457200"/>
          </a:xfrm>
          <a:custGeom>
            <a:avLst/>
            <a:gdLst/>
            <a:ahLst/>
            <a:cxnLst/>
            <a:rect l="l" t="t" r="r" b="b"/>
            <a:pathLst>
              <a:path w="1095375" h="457200">
                <a:moveTo>
                  <a:pt x="76203" y="0"/>
                </a:moveTo>
                <a:lnTo>
                  <a:pt x="1019172" y="0"/>
                </a:lnTo>
                <a:cubicBezTo>
                  <a:pt x="1061258" y="0"/>
                  <a:pt x="1095375" y="34117"/>
                  <a:pt x="1095375" y="76203"/>
                </a:cubicBezTo>
                <a:lnTo>
                  <a:pt x="1095375" y="380997"/>
                </a:lnTo>
                <a:cubicBezTo>
                  <a:pt x="1095375" y="423083"/>
                  <a:pt x="1061258" y="457200"/>
                  <a:pt x="1019172" y="457200"/>
                </a:cubicBezTo>
                <a:lnTo>
                  <a:pt x="76203" y="457200"/>
                </a:lnTo>
                <a:cubicBezTo>
                  <a:pt x="34145" y="457200"/>
                  <a:pt x="0" y="423055"/>
                  <a:pt x="0" y="380997"/>
                </a:cubicBezTo>
                <a:lnTo>
                  <a:pt x="0" y="76203"/>
                </a:lnTo>
                <a:cubicBezTo>
                  <a:pt x="0" y="34145"/>
                  <a:pt x="34145" y="0"/>
                  <a:pt x="76203"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4496097" y="2112411"/>
            <a:ext cx="1209675" cy="457200"/>
          </a:xfrm>
          <a:prstGeom prst="rect">
            <a:avLst/>
          </a:prstGeom>
          <a:noFill/>
          <a:ln w="12700">
            <a:noFill/>
            <a:prstDash val="solid"/>
          </a:ln>
        </p:spPr>
        <p:txBody>
          <a:bodyPr wrap="square" lIns="152400" tIns="76200" rIns="152400" bIns="7620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[MASK]</a:t>
            </a:r>
            <a:endParaRPr lang="en-US" sz="1100"/>
          </a:p>
        </p:txBody>
      </p:sp>
      <p:sp>
        <p:nvSpPr>
          <p:cNvPr id="11" name="Freeform 11"/>
          <p:cNvSpPr/>
          <p:nvPr/>
        </p:nvSpPr>
        <p:spPr>
          <a:xfrm>
            <a:off x="5716218" y="2103750"/>
            <a:ext cx="531668" cy="474518"/>
          </a:xfrm>
          <a:custGeom>
            <a:avLst/>
            <a:gdLst/>
            <a:ahLst/>
            <a:cxnLst/>
            <a:rect l="l" t="t" r="r" b="b"/>
            <a:pathLst>
              <a:path w="531668" h="474518">
                <a:moveTo>
                  <a:pt x="76197" y="0"/>
                </a:moveTo>
                <a:lnTo>
                  <a:pt x="455470" y="0"/>
                </a:lnTo>
                <a:cubicBezTo>
                  <a:pt x="497553" y="0"/>
                  <a:pt x="531668" y="34115"/>
                  <a:pt x="531668" y="76197"/>
                </a:cubicBezTo>
                <a:lnTo>
                  <a:pt x="531668" y="398320"/>
                </a:lnTo>
                <a:cubicBezTo>
                  <a:pt x="531668" y="440403"/>
                  <a:pt x="497553" y="474518"/>
                  <a:pt x="455470" y="474518"/>
                </a:cubicBezTo>
                <a:lnTo>
                  <a:pt x="76197" y="474518"/>
                </a:lnTo>
                <a:cubicBezTo>
                  <a:pt x="34115" y="474518"/>
                  <a:pt x="0" y="440403"/>
                  <a:pt x="0" y="398320"/>
                </a:cubicBezTo>
                <a:lnTo>
                  <a:pt x="0" y="76197"/>
                </a:lnTo>
                <a:cubicBezTo>
                  <a:pt x="0" y="34115"/>
                  <a:pt x="34115" y="0"/>
                  <a:pt x="76197"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2" name="AutoShape 12"/>
          <p:cNvSpPr/>
          <p:nvPr/>
        </p:nvSpPr>
        <p:spPr>
          <a:xfrm>
            <a:off x="5707559" y="2095091"/>
            <a:ext cx="628650" cy="457200"/>
          </a:xfrm>
          <a:prstGeom prst="rect">
            <a:avLst/>
          </a:prstGeom>
          <a:noFill/>
          <a:ln w="12700">
            <a:noFill/>
            <a:prstDash val="solid"/>
          </a:ln>
        </p:spPr>
        <p:txBody>
          <a:bodyPr wrap="square" lIns="152400" tIns="76200" rIns="152400" bIns="76200" rtlCol="0" anchor="ctr">
            <a:noAutofit/>
          </a:bodyPr>
          <a:lstStyle/>
          <a:p>
            <a:pPr indent="0" algn="l">
              <a:lnSpc>
                <a:spcPct val="108000"/>
              </a:lnSpc>
              <a:defRPr/>
            </a:pPr>
            <a:r>
              <a:rPr lang="en-US" sz="18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of</a:t>
            </a:r>
            <a:endParaRPr lang="en-US" sz="1100"/>
          </a:p>
        </p:txBody>
      </p:sp>
      <p:sp>
        <p:nvSpPr>
          <p:cNvPr id="13" name="Freeform 13"/>
          <p:cNvSpPr/>
          <p:nvPr/>
        </p:nvSpPr>
        <p:spPr>
          <a:xfrm>
            <a:off x="6379450" y="2103750"/>
            <a:ext cx="1341293" cy="474518"/>
          </a:xfrm>
          <a:custGeom>
            <a:avLst/>
            <a:gdLst/>
            <a:ahLst/>
            <a:cxnLst/>
            <a:rect l="l" t="t" r="r" b="b"/>
            <a:pathLst>
              <a:path w="1341293" h="474518">
                <a:moveTo>
                  <a:pt x="76197" y="0"/>
                </a:moveTo>
                <a:lnTo>
                  <a:pt x="1265095" y="0"/>
                </a:lnTo>
                <a:cubicBezTo>
                  <a:pt x="1307178" y="0"/>
                  <a:pt x="1341293" y="34115"/>
                  <a:pt x="1341293" y="76197"/>
                </a:cubicBezTo>
                <a:lnTo>
                  <a:pt x="1341293" y="398320"/>
                </a:lnTo>
                <a:cubicBezTo>
                  <a:pt x="1341293" y="440403"/>
                  <a:pt x="1307178" y="474518"/>
                  <a:pt x="1265095" y="474518"/>
                </a:cubicBezTo>
                <a:lnTo>
                  <a:pt x="76197" y="474518"/>
                </a:lnTo>
                <a:cubicBezTo>
                  <a:pt x="34115" y="474518"/>
                  <a:pt x="0" y="440403"/>
                  <a:pt x="0" y="398320"/>
                </a:cubicBezTo>
                <a:lnTo>
                  <a:pt x="0" y="76197"/>
                </a:lnTo>
                <a:cubicBezTo>
                  <a:pt x="0" y="34115"/>
                  <a:pt x="34115" y="0"/>
                  <a:pt x="76197"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4" name="AutoShape 14"/>
          <p:cNvSpPr/>
          <p:nvPr/>
        </p:nvSpPr>
        <p:spPr>
          <a:xfrm>
            <a:off x="6370791" y="2095091"/>
            <a:ext cx="1438275" cy="457200"/>
          </a:xfrm>
          <a:prstGeom prst="rect">
            <a:avLst/>
          </a:prstGeom>
          <a:noFill/>
          <a:ln w="12700">
            <a:noFill/>
            <a:prstDash val="solid"/>
          </a:ln>
        </p:spPr>
        <p:txBody>
          <a:bodyPr wrap="square" lIns="152400" tIns="76200" rIns="152400" bIns="76200" rtlCol="0" anchor="ctr">
            <a:noAutofit/>
          </a:bodyPr>
          <a:lstStyle/>
          <a:p>
            <a:pPr indent="0" algn="l">
              <a:lnSpc>
                <a:spcPct val="108000"/>
              </a:lnSpc>
              <a:defRPr/>
            </a:pPr>
            <a:r>
              <a:rPr lang="en-US" sz="18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computer</a:t>
            </a:r>
            <a:endParaRPr lang="en-US" sz="1100"/>
          </a:p>
        </p:txBody>
      </p:sp>
      <p:sp>
        <p:nvSpPr>
          <p:cNvPr id="15" name="Freeform 15"/>
          <p:cNvSpPr/>
          <p:nvPr/>
        </p:nvSpPr>
        <p:spPr>
          <a:xfrm>
            <a:off x="7847571" y="2103750"/>
            <a:ext cx="1112693" cy="474518"/>
          </a:xfrm>
          <a:custGeom>
            <a:avLst/>
            <a:gdLst/>
            <a:ahLst/>
            <a:cxnLst/>
            <a:rect l="l" t="t" r="r" b="b"/>
            <a:pathLst>
              <a:path w="1112693" h="474518">
                <a:moveTo>
                  <a:pt x="76197" y="0"/>
                </a:moveTo>
                <a:lnTo>
                  <a:pt x="1036495" y="0"/>
                </a:lnTo>
                <a:cubicBezTo>
                  <a:pt x="1078578" y="0"/>
                  <a:pt x="1112693" y="34115"/>
                  <a:pt x="1112693" y="76197"/>
                </a:cubicBezTo>
                <a:lnTo>
                  <a:pt x="1112693" y="398320"/>
                </a:lnTo>
                <a:cubicBezTo>
                  <a:pt x="1112693" y="440403"/>
                  <a:pt x="1078578" y="474518"/>
                  <a:pt x="1036495" y="474518"/>
                </a:cubicBezTo>
                <a:lnTo>
                  <a:pt x="76197" y="474518"/>
                </a:lnTo>
                <a:cubicBezTo>
                  <a:pt x="34115" y="474518"/>
                  <a:pt x="0" y="440403"/>
                  <a:pt x="0" y="398320"/>
                </a:cubicBezTo>
                <a:lnTo>
                  <a:pt x="0" y="76197"/>
                </a:lnTo>
                <a:cubicBezTo>
                  <a:pt x="0" y="34115"/>
                  <a:pt x="34115" y="0"/>
                  <a:pt x="76197"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6" name="AutoShape 16"/>
          <p:cNvSpPr/>
          <p:nvPr/>
        </p:nvSpPr>
        <p:spPr>
          <a:xfrm>
            <a:off x="7838912" y="2095091"/>
            <a:ext cx="1209675" cy="457200"/>
          </a:xfrm>
          <a:prstGeom prst="rect">
            <a:avLst/>
          </a:prstGeom>
          <a:noFill/>
          <a:ln w="12700">
            <a:noFill/>
            <a:prstDash val="solid"/>
          </a:ln>
        </p:spPr>
        <p:txBody>
          <a:bodyPr wrap="square" lIns="152400" tIns="76200" rIns="152400" bIns="76200" rtlCol="0" anchor="ctr">
            <a:noAutofit/>
          </a:bodyPr>
          <a:lstStyle/>
          <a:p>
            <a:pPr indent="0" algn="l">
              <a:lnSpc>
                <a:spcPct val="108000"/>
              </a:lnSpc>
              <a:defRPr/>
            </a:pPr>
            <a:r>
              <a:rPr lang="en-US" sz="18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science</a:t>
            </a:r>
            <a:endParaRPr lang="en-US" sz="1100"/>
          </a:p>
        </p:txBody>
      </p:sp>
      <p:sp>
        <p:nvSpPr>
          <p:cNvPr id="17" name="Freeform 17"/>
          <p:cNvSpPr/>
          <p:nvPr/>
        </p:nvSpPr>
        <p:spPr>
          <a:xfrm>
            <a:off x="4181799" y="2824078"/>
            <a:ext cx="1131743" cy="398318"/>
          </a:xfrm>
          <a:custGeom>
            <a:avLst/>
            <a:gdLst/>
            <a:ahLst/>
            <a:cxnLst/>
            <a:rect l="l" t="t" r="r" b="b"/>
            <a:pathLst>
              <a:path w="1131743" h="398318">
                <a:moveTo>
                  <a:pt x="76197" y="0"/>
                </a:moveTo>
                <a:lnTo>
                  <a:pt x="1055545" y="0"/>
                </a:lnTo>
                <a:cubicBezTo>
                  <a:pt x="1097600" y="0"/>
                  <a:pt x="1131743" y="34143"/>
                  <a:pt x="1131743" y="76197"/>
                </a:cubicBezTo>
                <a:lnTo>
                  <a:pt x="1131743" y="322120"/>
                </a:lnTo>
                <a:cubicBezTo>
                  <a:pt x="1131743" y="364175"/>
                  <a:pt x="1097600" y="398318"/>
                  <a:pt x="1055545" y="398318"/>
                </a:cubicBezTo>
                <a:lnTo>
                  <a:pt x="76197" y="398318"/>
                </a:lnTo>
                <a:cubicBezTo>
                  <a:pt x="34143" y="398318"/>
                  <a:pt x="0" y="364175"/>
                  <a:pt x="0" y="322120"/>
                </a:cubicBezTo>
                <a:lnTo>
                  <a:pt x="0" y="76197"/>
                </a:lnTo>
                <a:cubicBezTo>
                  <a:pt x="0" y="34115"/>
                  <a:pt x="34115" y="0"/>
                  <a:pt x="76197" y="0"/>
                </a:cubicBezTo>
                <a:close/>
              </a:path>
            </a:pathLst>
          </a:custGeom>
          <a:no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18" name="AutoShape 18"/>
          <p:cNvSpPr/>
          <p:nvPr/>
        </p:nvSpPr>
        <p:spPr>
          <a:xfrm>
            <a:off x="4342804" y="2917571"/>
            <a:ext cx="157920" cy="199159"/>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a</a:t>
            </a:r>
            <a:endParaRPr lang="en-US" sz="1100"/>
          </a:p>
        </p:txBody>
      </p:sp>
      <p:sp>
        <p:nvSpPr>
          <p:cNvPr id="19" name="AutoShape 19"/>
          <p:cNvSpPr/>
          <p:nvPr/>
        </p:nvSpPr>
        <p:spPr>
          <a:xfrm>
            <a:off x="4544805" y="2934891"/>
            <a:ext cx="676329" cy="17318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概率: 85%</a:t>
            </a:r>
            <a:endParaRPr lang="en-US" sz="1100"/>
          </a:p>
        </p:txBody>
      </p:sp>
      <p:sp>
        <p:nvSpPr>
          <p:cNvPr id="20" name="Freeform 20"/>
          <p:cNvSpPr/>
          <p:nvPr/>
        </p:nvSpPr>
        <p:spPr>
          <a:xfrm>
            <a:off x="5480798" y="2819748"/>
            <a:ext cx="1246909" cy="408709"/>
          </a:xfrm>
          <a:custGeom>
            <a:avLst/>
            <a:gdLst/>
            <a:ahLst/>
            <a:cxnLst/>
            <a:rect l="l" t="t" r="r" b="b"/>
            <a:pathLst>
              <a:path w="1246909" h="408709">
                <a:moveTo>
                  <a:pt x="76200" y="0"/>
                </a:moveTo>
                <a:lnTo>
                  <a:pt x="1170709" y="0"/>
                </a:lnTo>
                <a:cubicBezTo>
                  <a:pt x="1212793" y="0"/>
                  <a:pt x="1246909" y="34116"/>
                  <a:pt x="1246909" y="76200"/>
                </a:cubicBezTo>
                <a:lnTo>
                  <a:pt x="1246909" y="332509"/>
                </a:lnTo>
                <a:cubicBezTo>
                  <a:pt x="1246909" y="374593"/>
                  <a:pt x="1212793" y="408709"/>
                  <a:pt x="1170709" y="408709"/>
                </a:cubicBezTo>
                <a:lnTo>
                  <a:pt x="76200" y="408709"/>
                </a:lnTo>
                <a:cubicBezTo>
                  <a:pt x="34116" y="408709"/>
                  <a:pt x="0" y="374593"/>
                  <a:pt x="0" y="332509"/>
                </a:cubicBezTo>
                <a:lnTo>
                  <a:pt x="0" y="76200"/>
                </a:lnTo>
                <a:cubicBezTo>
                  <a:pt x="0" y="34144"/>
                  <a:pt x="34144" y="0"/>
                  <a:pt x="76200" y="0"/>
                </a:cubicBezTo>
                <a:close/>
              </a:path>
            </a:pathLst>
          </a:custGeom>
          <a:solidFill>
            <a:srgbClr val="FFFFFF">
              <a:alpha val="100000"/>
            </a:srgbClr>
          </a:solidFill>
          <a:ln w="12700">
            <a:solidFill>
              <a:srgbClr val="CCCCCC">
                <a:alpha val="100000"/>
              </a:srgbClr>
            </a:solidFill>
            <a:prstDash val="solid"/>
          </a:ln>
        </p:spPr>
        <p:txBody>
          <a:bodyPr wrap="square" lIns="91440" tIns="45720" rIns="91440" bIns="45720" rtlCol="0" anchor="t">
            <a:noAutofit/>
          </a:bodyPr>
          <a:lstStyle/>
          <a:p>
            <a:pPr algn="ctr">
              <a:defRPr/>
            </a:pPr>
          </a:p>
        </p:txBody>
      </p:sp>
      <p:sp>
        <p:nvSpPr>
          <p:cNvPr id="21" name="AutoShape 21"/>
          <p:cNvSpPr/>
          <p:nvPr/>
        </p:nvSpPr>
        <p:spPr>
          <a:xfrm>
            <a:off x="5637474" y="2908920"/>
            <a:ext cx="302419" cy="199159"/>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the</a:t>
            </a:r>
            <a:endParaRPr lang="en-US" sz="1100"/>
          </a:p>
        </p:txBody>
      </p:sp>
      <p:sp>
        <p:nvSpPr>
          <p:cNvPr id="22" name="AutoShape 22"/>
          <p:cNvSpPr/>
          <p:nvPr/>
        </p:nvSpPr>
        <p:spPr>
          <a:xfrm>
            <a:off x="5983973" y="2926240"/>
            <a:ext cx="649675" cy="17318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概率: 10%</a:t>
            </a:r>
            <a:endParaRPr lang="en-US" sz="1100"/>
          </a:p>
        </p:txBody>
      </p:sp>
      <p:sp>
        <p:nvSpPr>
          <p:cNvPr id="23" name="Freeform 23"/>
          <p:cNvSpPr/>
          <p:nvPr/>
        </p:nvSpPr>
        <p:spPr>
          <a:xfrm>
            <a:off x="6884654" y="2819748"/>
            <a:ext cx="1132609" cy="408709"/>
          </a:xfrm>
          <a:custGeom>
            <a:avLst/>
            <a:gdLst/>
            <a:ahLst/>
            <a:cxnLst/>
            <a:rect l="l" t="t" r="r" b="b"/>
            <a:pathLst>
              <a:path w="1132609" h="408709">
                <a:moveTo>
                  <a:pt x="76200" y="0"/>
                </a:moveTo>
                <a:lnTo>
                  <a:pt x="1056409" y="0"/>
                </a:lnTo>
                <a:cubicBezTo>
                  <a:pt x="1098493" y="0"/>
                  <a:pt x="1132609" y="34116"/>
                  <a:pt x="1132609" y="76200"/>
                </a:cubicBezTo>
                <a:lnTo>
                  <a:pt x="1132609" y="332509"/>
                </a:lnTo>
                <a:cubicBezTo>
                  <a:pt x="1132609" y="374593"/>
                  <a:pt x="1098493" y="408709"/>
                  <a:pt x="1056409" y="408709"/>
                </a:cubicBezTo>
                <a:lnTo>
                  <a:pt x="76200" y="408709"/>
                </a:lnTo>
                <a:cubicBezTo>
                  <a:pt x="34116" y="408709"/>
                  <a:pt x="0" y="374593"/>
                  <a:pt x="0" y="332509"/>
                </a:cubicBezTo>
                <a:lnTo>
                  <a:pt x="0" y="76200"/>
                </a:lnTo>
                <a:cubicBezTo>
                  <a:pt x="0" y="34144"/>
                  <a:pt x="34144" y="0"/>
                  <a:pt x="76200" y="0"/>
                </a:cubicBezTo>
                <a:close/>
              </a:path>
            </a:pathLst>
          </a:custGeom>
          <a:solidFill>
            <a:srgbClr val="FFFFFF">
              <a:alpha val="100000"/>
            </a:srgbClr>
          </a:solidFill>
          <a:ln w="12700">
            <a:solidFill>
              <a:srgbClr val="CCCCCC">
                <a:alpha val="100000"/>
              </a:srgbClr>
            </a:solidFill>
            <a:prstDash val="solid"/>
          </a:ln>
        </p:spPr>
        <p:txBody>
          <a:bodyPr wrap="square" lIns="91440" tIns="45720" rIns="91440" bIns="45720" rtlCol="0" anchor="t">
            <a:noAutofit/>
          </a:bodyPr>
          <a:lstStyle/>
          <a:p>
            <a:pPr algn="ctr">
              <a:defRPr/>
            </a:pPr>
          </a:p>
        </p:txBody>
      </p:sp>
      <p:sp>
        <p:nvSpPr>
          <p:cNvPr id="24" name="AutoShape 24"/>
          <p:cNvSpPr/>
          <p:nvPr/>
        </p:nvSpPr>
        <p:spPr>
          <a:xfrm>
            <a:off x="7041329" y="2908920"/>
            <a:ext cx="245864" cy="199159"/>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an</a:t>
            </a:r>
            <a:endParaRPr lang="en-US" sz="1100"/>
          </a:p>
        </p:txBody>
      </p:sp>
      <p:sp>
        <p:nvSpPr>
          <p:cNvPr id="25" name="AutoShape 25"/>
          <p:cNvSpPr/>
          <p:nvPr/>
        </p:nvSpPr>
        <p:spPr>
          <a:xfrm>
            <a:off x="7331273" y="2926240"/>
            <a:ext cx="593256" cy="17318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概率: 5%</a:t>
            </a:r>
            <a:endParaRPr lang="en-US" sz="1100"/>
          </a:p>
        </p:txBody>
      </p:sp>
      <p:sp>
        <p:nvSpPr>
          <p:cNvPr id="26" name="Freeform 26"/>
          <p:cNvSpPr/>
          <p:nvPr/>
        </p:nvSpPr>
        <p:spPr>
          <a:xfrm>
            <a:off x="3384351" y="3781460"/>
            <a:ext cx="2549235" cy="1711035"/>
          </a:xfrm>
          <a:custGeom>
            <a:avLst/>
            <a:gdLst/>
            <a:ahLst/>
            <a:cxnLst/>
            <a:rect l="l" t="t" r="r" b="b"/>
            <a:pathLst>
              <a:path w="2549235" h="1711035">
                <a:moveTo>
                  <a:pt x="114297" y="0"/>
                </a:moveTo>
                <a:lnTo>
                  <a:pt x="2434939" y="0"/>
                </a:lnTo>
                <a:cubicBezTo>
                  <a:pt x="2498065" y="0"/>
                  <a:pt x="2549235" y="51173"/>
                  <a:pt x="2549235" y="114297"/>
                </a:cubicBezTo>
                <a:lnTo>
                  <a:pt x="2549235" y="1596739"/>
                </a:lnTo>
                <a:cubicBezTo>
                  <a:pt x="2549235" y="1659865"/>
                  <a:pt x="2498065" y="1711035"/>
                  <a:pt x="2434939" y="1711035"/>
                </a:cubicBezTo>
                <a:lnTo>
                  <a:pt x="114297" y="1711035"/>
                </a:lnTo>
                <a:cubicBezTo>
                  <a:pt x="51173" y="1711035"/>
                  <a:pt x="0" y="1659865"/>
                  <a:pt x="0" y="1596739"/>
                </a:cubicBezTo>
                <a:lnTo>
                  <a:pt x="0" y="114297"/>
                </a:lnTo>
                <a:cubicBezTo>
                  <a:pt x="0" y="51173"/>
                  <a:pt x="51173" y="0"/>
                  <a:pt x="114297" y="0"/>
                </a:cubicBezTo>
                <a:close/>
              </a:path>
            </a:pathLst>
          </a:custGeom>
          <a:noFill/>
          <a:ln w="38100">
            <a:solidFill>
              <a:srgbClr val="00CED1">
                <a:alpha val="100000"/>
              </a:srgbClr>
            </a:solidFill>
            <a:prstDash val="solid"/>
          </a:ln>
        </p:spPr>
        <p:txBody>
          <a:bodyPr wrap="square" lIns="91440" tIns="45720" rIns="91440" bIns="45720" rtlCol="0" anchor="t">
            <a:noAutofit/>
          </a:bodyPr>
          <a:lstStyle/>
          <a:p>
            <a:pPr algn="ctr">
              <a:defRPr/>
            </a:pPr>
          </a:p>
        </p:txBody>
      </p:sp>
      <p:sp>
        <p:nvSpPr>
          <p:cNvPr id="27" name="AutoShape 27"/>
          <p:cNvSpPr/>
          <p:nvPr/>
        </p:nvSpPr>
        <p:spPr>
          <a:xfrm>
            <a:off x="3587326" y="4027289"/>
            <a:ext cx="21431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训练数据</a:t>
            </a:r>
            <a:endParaRPr lang="en-US" sz="1100"/>
          </a:p>
        </p:txBody>
      </p:sp>
      <p:sp>
        <p:nvSpPr>
          <p:cNvPr id="28" name="AutoShape 28"/>
          <p:cNvSpPr/>
          <p:nvPr/>
        </p:nvSpPr>
        <p:spPr>
          <a:xfrm>
            <a:off x="3496838" y="4370003"/>
            <a:ext cx="2324100" cy="533400"/>
          </a:xfrm>
          <a:prstGeom prst="rect">
            <a:avLst/>
          </a:prstGeom>
          <a:noFill/>
          <a:ln w="12700">
            <a:noFill/>
            <a:prstDash val="solid"/>
          </a:ln>
        </p:spPr>
        <p:txBody>
          <a:bodyPr wrap="square" lIns="0" tIns="0" rIns="0" bIns="0" rtlCol="0" anchor="ctr">
            <a:noAutofit/>
          </a:bodyPr>
          <a:lstStyle/>
          <a:p>
            <a:pPr indent="0" algn="ctr">
              <a:lnSpc>
                <a:spcPct val="83000"/>
              </a:lnSpc>
              <a:defRPr/>
            </a:pPr>
            <a:r>
              <a:rPr lang="en-US" sz="4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万亿级</a:t>
            </a:r>
            <a:endParaRPr lang="en-US" sz="1100"/>
          </a:p>
        </p:txBody>
      </p:sp>
      <p:sp>
        <p:nvSpPr>
          <p:cNvPr id="29" name="AutoShape 29"/>
          <p:cNvSpPr/>
          <p:nvPr/>
        </p:nvSpPr>
        <p:spPr>
          <a:xfrm>
            <a:off x="3582563" y="4979529"/>
            <a:ext cx="2152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Token</a:t>
            </a:r>
            <a:endParaRPr lang="en-US" sz="1100"/>
          </a:p>
        </p:txBody>
      </p:sp>
      <p:sp>
        <p:nvSpPr>
          <p:cNvPr id="30" name="Freeform 30"/>
          <p:cNvSpPr/>
          <p:nvPr/>
        </p:nvSpPr>
        <p:spPr>
          <a:xfrm>
            <a:off x="6336019" y="3779695"/>
            <a:ext cx="2486025" cy="1714500"/>
          </a:xfrm>
          <a:custGeom>
            <a:avLst/>
            <a:gdLst/>
            <a:ahLst/>
            <a:cxnLst/>
            <a:rect l="l" t="t" r="r" b="b"/>
            <a:pathLst>
              <a:path w="2486025" h="1714500">
                <a:moveTo>
                  <a:pt x="114306" y="0"/>
                </a:moveTo>
                <a:lnTo>
                  <a:pt x="2371719" y="0"/>
                </a:lnTo>
                <a:cubicBezTo>
                  <a:pt x="2434849" y="0"/>
                  <a:pt x="2486025" y="51176"/>
                  <a:pt x="2486025" y="114306"/>
                </a:cubicBezTo>
                <a:lnTo>
                  <a:pt x="2486025" y="1600194"/>
                </a:lnTo>
                <a:cubicBezTo>
                  <a:pt x="2486025" y="1663324"/>
                  <a:pt x="2434849" y="1714500"/>
                  <a:pt x="2371719" y="1714500"/>
                </a:cubicBezTo>
                <a:lnTo>
                  <a:pt x="114306" y="1714500"/>
                </a:lnTo>
                <a:cubicBezTo>
                  <a:pt x="51176" y="1714500"/>
                  <a:pt x="0" y="1663324"/>
                  <a:pt x="0" y="1600194"/>
                </a:cubicBezTo>
                <a:lnTo>
                  <a:pt x="0" y="114306"/>
                </a:lnTo>
                <a:cubicBezTo>
                  <a:pt x="0" y="51176"/>
                  <a:pt x="51176" y="0"/>
                  <a:pt x="114306"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6521675" y="4008220"/>
            <a:ext cx="21145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训练成本</a:t>
            </a:r>
            <a:endParaRPr lang="en-US" sz="1100"/>
          </a:p>
        </p:txBody>
      </p:sp>
      <p:sp>
        <p:nvSpPr>
          <p:cNvPr id="32" name="AutoShape 32"/>
          <p:cNvSpPr/>
          <p:nvPr/>
        </p:nvSpPr>
        <p:spPr>
          <a:xfrm>
            <a:off x="6462938" y="4350934"/>
            <a:ext cx="2232025" cy="6096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32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数百万美元</a:t>
            </a:r>
            <a:endParaRPr lang="en-US" sz="1100"/>
          </a:p>
        </p:txBody>
      </p:sp>
      <p:sp>
        <p:nvSpPr>
          <p:cNvPr id="33" name="AutoShape 33"/>
          <p:cNvSpPr/>
          <p:nvPr/>
        </p:nvSpPr>
        <p:spPr>
          <a:xfrm>
            <a:off x="6526438" y="5036753"/>
            <a:ext cx="210502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GPU/TPU算力</a:t>
            </a:r>
            <a:endParaRPr lang="en-US" sz="1100"/>
          </a:p>
        </p:txBody>
      </p:sp>
      <p:sp>
        <p:nvSpPr>
          <p:cNvPr id="34" name="Freeform 34"/>
          <p:cNvSpPr/>
          <p:nvPr/>
        </p:nvSpPr>
        <p:spPr>
          <a:xfrm>
            <a:off x="381000" y="5737864"/>
            <a:ext cx="11430000" cy="742950"/>
          </a:xfrm>
          <a:custGeom>
            <a:avLst/>
            <a:gdLst/>
            <a:ahLst/>
            <a:cxnLst/>
            <a:rect l="l" t="t" r="r" b="b"/>
            <a:pathLst>
              <a:path w="11430000" h="742950">
                <a:moveTo>
                  <a:pt x="76197" y="0"/>
                </a:moveTo>
                <a:lnTo>
                  <a:pt x="11353803" y="0"/>
                </a:lnTo>
                <a:cubicBezTo>
                  <a:pt x="11395885" y="0"/>
                  <a:pt x="11430000" y="34115"/>
                  <a:pt x="11430000" y="76197"/>
                </a:cubicBezTo>
                <a:lnTo>
                  <a:pt x="11430000" y="666753"/>
                </a:lnTo>
                <a:cubicBezTo>
                  <a:pt x="11430000" y="708835"/>
                  <a:pt x="11395885" y="742950"/>
                  <a:pt x="11353803" y="742950"/>
                </a:cubicBezTo>
                <a:lnTo>
                  <a:pt x="76197" y="742950"/>
                </a:lnTo>
                <a:cubicBezTo>
                  <a:pt x="34115" y="742950"/>
                  <a:pt x="0" y="708835"/>
                  <a:pt x="0" y="666753"/>
                </a:cubicBezTo>
                <a:lnTo>
                  <a:pt x="0" y="76197"/>
                </a:lnTo>
                <a:cubicBezTo>
                  <a:pt x="0" y="34143"/>
                  <a:pt x="34143" y="0"/>
                  <a:pt x="76197"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5" name="AutoShape 35"/>
          <p:cNvSpPr/>
          <p:nvPr/>
        </p:nvSpPr>
        <p:spPr>
          <a:xfrm>
            <a:off x="609519" y="5974091"/>
            <a:ext cx="6677674" cy="20935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Pre-training（预训练</a:t>
            </a:r>
            <a:r>
              <a:rPr lang="en-US" sz="1400"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t>
            </a: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a:t>
            </a:r>
            <a:r>
              <a:rPr lang="en-US" sz="14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在大规模无标注数据上训练，学习通用语言表示</a:t>
            </a:r>
            <a:endParaRPr lang="en-US" sz="1100" dirty="0"/>
          </a:p>
        </p:txBody>
      </p:sp>
    </p:spTree>
  </p:cSld>
  <p:clrMapOvr>
    <a:masterClrMapping/>
  </p:clrMapOvr>
  <p:transition spd="slow">
    <p:fade/>
  </p:transition>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5 监督微调</a:t>
            </a:r>
            <a:endParaRPr lang="en-US" sz="1100"/>
          </a:p>
        </p:txBody>
      </p:sp>
      <p:sp>
        <p:nvSpPr>
          <p:cNvPr id="3" name="Freeform 3"/>
          <p:cNvSpPr/>
          <p:nvPr/>
        </p:nvSpPr>
        <p:spPr>
          <a:xfrm>
            <a:off x="381000" y="1758479"/>
            <a:ext cx="5562600" cy="2390775"/>
          </a:xfrm>
          <a:custGeom>
            <a:avLst/>
            <a:gdLst/>
            <a:ahLst/>
            <a:cxnLst/>
            <a:rect l="l" t="t" r="r" b="b"/>
            <a:pathLst>
              <a:path w="5562600" h="2390775">
                <a:moveTo>
                  <a:pt x="152411" y="0"/>
                </a:moveTo>
                <a:lnTo>
                  <a:pt x="5410189" y="0"/>
                </a:lnTo>
                <a:cubicBezTo>
                  <a:pt x="5494363" y="0"/>
                  <a:pt x="5562600" y="68237"/>
                  <a:pt x="5562600" y="152411"/>
                </a:cubicBezTo>
                <a:lnTo>
                  <a:pt x="5562600" y="2238364"/>
                </a:lnTo>
                <a:cubicBezTo>
                  <a:pt x="5562600" y="2322538"/>
                  <a:pt x="5494363" y="2390775"/>
                  <a:pt x="5410189" y="2390775"/>
                </a:cubicBezTo>
                <a:lnTo>
                  <a:pt x="152411" y="2390775"/>
                </a:lnTo>
                <a:cubicBezTo>
                  <a:pt x="68237" y="2390775"/>
                  <a:pt x="0" y="2322538"/>
                  <a:pt x="0" y="2238364"/>
                </a:cubicBezTo>
                <a:lnTo>
                  <a:pt x="0" y="152411"/>
                </a:lnTo>
                <a:cubicBezTo>
                  <a:pt x="0" y="68237"/>
                  <a:pt x="68237" y="0"/>
                  <a:pt x="152411"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609519" y="1991656"/>
            <a:ext cx="285750" cy="228600"/>
          </a:xfrm>
          <a:custGeom>
            <a:avLst/>
            <a:gdLst/>
            <a:ahLst/>
            <a:cxnLst/>
            <a:rect l="l" t="t" r="r" b="b"/>
            <a:pathLst>
              <a:path w="285750" h="228600">
                <a:moveTo>
                  <a:pt x="157163" y="14287"/>
                </a:moveTo>
                <a:cubicBezTo>
                  <a:pt x="157163" y="6384"/>
                  <a:pt x="150778" y="0"/>
                  <a:pt x="142875" y="0"/>
                </a:cubicBezTo>
                <a:cubicBezTo>
                  <a:pt x="134972" y="0"/>
                  <a:pt x="128587" y="6384"/>
                  <a:pt x="128587" y="14287"/>
                </a:cubicBezTo>
                <a:lnTo>
                  <a:pt x="128587" y="42862"/>
                </a:lnTo>
                <a:lnTo>
                  <a:pt x="85725" y="42862"/>
                </a:lnTo>
                <a:cubicBezTo>
                  <a:pt x="62061" y="42862"/>
                  <a:pt x="42863" y="62061"/>
                  <a:pt x="42863" y="85724"/>
                </a:cubicBezTo>
                <a:lnTo>
                  <a:pt x="42863" y="185737"/>
                </a:lnTo>
                <a:cubicBezTo>
                  <a:pt x="42863" y="209401"/>
                  <a:pt x="62061" y="228600"/>
                  <a:pt x="85725" y="228600"/>
                </a:cubicBezTo>
                <a:lnTo>
                  <a:pt x="200025" y="228600"/>
                </a:lnTo>
                <a:cubicBezTo>
                  <a:pt x="223689" y="228600"/>
                  <a:pt x="242887" y="209401"/>
                  <a:pt x="242887" y="185737"/>
                </a:cubicBezTo>
                <a:lnTo>
                  <a:pt x="242887" y="85724"/>
                </a:lnTo>
                <a:cubicBezTo>
                  <a:pt x="242887" y="62061"/>
                  <a:pt x="223689" y="42862"/>
                  <a:pt x="200025" y="42862"/>
                </a:cubicBezTo>
                <a:lnTo>
                  <a:pt x="157163" y="42862"/>
                </a:lnTo>
                <a:lnTo>
                  <a:pt x="157163" y="14287"/>
                </a:lnTo>
                <a:close/>
                <a:moveTo>
                  <a:pt x="71437" y="178593"/>
                </a:moveTo>
                <a:cubicBezTo>
                  <a:pt x="71437" y="172655"/>
                  <a:pt x="76215" y="167878"/>
                  <a:pt x="82152" y="167878"/>
                </a:cubicBezTo>
                <a:lnTo>
                  <a:pt x="96441" y="167878"/>
                </a:lnTo>
                <a:cubicBezTo>
                  <a:pt x="102379" y="167878"/>
                  <a:pt x="107156" y="172655"/>
                  <a:pt x="107156" y="178593"/>
                </a:cubicBezTo>
                <a:cubicBezTo>
                  <a:pt x="107156" y="184530"/>
                  <a:pt x="102379" y="189310"/>
                  <a:pt x="96441" y="189310"/>
                </a:cubicBezTo>
                <a:lnTo>
                  <a:pt x="82152" y="189310"/>
                </a:lnTo>
                <a:cubicBezTo>
                  <a:pt x="76215" y="189310"/>
                  <a:pt x="71437" y="184530"/>
                  <a:pt x="71437" y="178593"/>
                </a:cubicBezTo>
                <a:close/>
                <a:moveTo>
                  <a:pt x="125016" y="178593"/>
                </a:moveTo>
                <a:cubicBezTo>
                  <a:pt x="125016" y="172655"/>
                  <a:pt x="129793" y="167878"/>
                  <a:pt x="135731" y="167878"/>
                </a:cubicBezTo>
                <a:lnTo>
                  <a:pt x="150019" y="167878"/>
                </a:lnTo>
                <a:cubicBezTo>
                  <a:pt x="155957" y="167878"/>
                  <a:pt x="160734" y="172655"/>
                  <a:pt x="160734" y="178593"/>
                </a:cubicBezTo>
                <a:cubicBezTo>
                  <a:pt x="160734" y="184530"/>
                  <a:pt x="155957" y="189310"/>
                  <a:pt x="150019" y="189310"/>
                </a:cubicBezTo>
                <a:lnTo>
                  <a:pt x="135731" y="189310"/>
                </a:lnTo>
                <a:cubicBezTo>
                  <a:pt x="129793" y="189310"/>
                  <a:pt x="125016" y="184530"/>
                  <a:pt x="125016" y="178593"/>
                </a:cubicBezTo>
                <a:close/>
                <a:moveTo>
                  <a:pt x="178594" y="178593"/>
                </a:moveTo>
                <a:cubicBezTo>
                  <a:pt x="178594" y="172655"/>
                  <a:pt x="183371" y="167878"/>
                  <a:pt x="189309" y="167878"/>
                </a:cubicBezTo>
                <a:lnTo>
                  <a:pt x="203598" y="167878"/>
                </a:lnTo>
                <a:cubicBezTo>
                  <a:pt x="209535" y="167878"/>
                  <a:pt x="214312" y="172655"/>
                  <a:pt x="214312" y="178593"/>
                </a:cubicBezTo>
                <a:cubicBezTo>
                  <a:pt x="214312" y="184530"/>
                  <a:pt x="209535" y="189310"/>
                  <a:pt x="203598" y="189310"/>
                </a:cubicBezTo>
                <a:lnTo>
                  <a:pt x="189309" y="189310"/>
                </a:lnTo>
                <a:cubicBezTo>
                  <a:pt x="183371" y="189310"/>
                  <a:pt x="178594" y="184530"/>
                  <a:pt x="178594" y="178593"/>
                </a:cubicBezTo>
                <a:close/>
                <a:moveTo>
                  <a:pt x="100013" y="92868"/>
                </a:moveTo>
                <a:cubicBezTo>
                  <a:pt x="111841" y="92868"/>
                  <a:pt x="121444" y="102471"/>
                  <a:pt x="121444" y="114300"/>
                </a:cubicBezTo>
                <a:cubicBezTo>
                  <a:pt x="121444" y="126128"/>
                  <a:pt x="111841" y="135731"/>
                  <a:pt x="100013" y="135731"/>
                </a:cubicBezTo>
                <a:cubicBezTo>
                  <a:pt x="88184" y="135731"/>
                  <a:pt x="78581" y="126128"/>
                  <a:pt x="78581" y="114300"/>
                </a:cubicBezTo>
                <a:cubicBezTo>
                  <a:pt x="78581" y="102471"/>
                  <a:pt x="88184" y="92868"/>
                  <a:pt x="100013" y="92868"/>
                </a:cubicBezTo>
                <a:close/>
                <a:moveTo>
                  <a:pt x="164306" y="114300"/>
                </a:moveTo>
                <a:cubicBezTo>
                  <a:pt x="164306" y="102471"/>
                  <a:pt x="173909" y="92868"/>
                  <a:pt x="185737" y="92868"/>
                </a:cubicBezTo>
                <a:cubicBezTo>
                  <a:pt x="197566" y="92868"/>
                  <a:pt x="207169" y="102471"/>
                  <a:pt x="207169" y="114300"/>
                </a:cubicBezTo>
                <a:cubicBezTo>
                  <a:pt x="207169" y="126128"/>
                  <a:pt x="197566" y="135731"/>
                  <a:pt x="185737" y="135731"/>
                </a:cubicBezTo>
                <a:cubicBezTo>
                  <a:pt x="173909" y="135731"/>
                  <a:pt x="164306" y="126128"/>
                  <a:pt x="164306" y="114300"/>
                </a:cubicBezTo>
                <a:close/>
                <a:moveTo>
                  <a:pt x="28575" y="114300"/>
                </a:moveTo>
                <a:cubicBezTo>
                  <a:pt x="28575" y="106398"/>
                  <a:pt x="22189" y="100012"/>
                  <a:pt x="14287" y="100012"/>
                </a:cubicBezTo>
                <a:cubicBezTo>
                  <a:pt x="6386" y="100012"/>
                  <a:pt x="0" y="106398"/>
                  <a:pt x="0" y="114300"/>
                </a:cubicBezTo>
                <a:lnTo>
                  <a:pt x="0" y="157162"/>
                </a:lnTo>
                <a:cubicBezTo>
                  <a:pt x="0" y="165065"/>
                  <a:pt x="6386" y="171450"/>
                  <a:pt x="14287" y="171450"/>
                </a:cubicBezTo>
                <a:cubicBezTo>
                  <a:pt x="22189" y="171450"/>
                  <a:pt x="28575" y="165065"/>
                  <a:pt x="28575" y="157162"/>
                </a:cubicBezTo>
                <a:lnTo>
                  <a:pt x="28575" y="114300"/>
                </a:lnTo>
                <a:close/>
                <a:moveTo>
                  <a:pt x="271462" y="100012"/>
                </a:moveTo>
                <a:cubicBezTo>
                  <a:pt x="263561" y="100012"/>
                  <a:pt x="257175" y="106398"/>
                  <a:pt x="257175" y="114300"/>
                </a:cubicBezTo>
                <a:lnTo>
                  <a:pt x="257175" y="157162"/>
                </a:lnTo>
                <a:cubicBezTo>
                  <a:pt x="257175" y="165065"/>
                  <a:pt x="263561" y="171450"/>
                  <a:pt x="271462" y="171450"/>
                </a:cubicBezTo>
                <a:cubicBezTo>
                  <a:pt x="279364" y="171450"/>
                  <a:pt x="285750" y="165065"/>
                  <a:pt x="285750" y="157162"/>
                </a:cubicBezTo>
                <a:lnTo>
                  <a:pt x="285750" y="114300"/>
                </a:lnTo>
                <a:cubicBezTo>
                  <a:pt x="285750" y="106398"/>
                  <a:pt x="279364" y="100012"/>
                  <a:pt x="271462" y="100012"/>
                </a:cubicBezTo>
                <a:close/>
              </a:path>
            </a:pathLst>
          </a:custGeom>
          <a:solidFill>
            <a:srgbClr val="666666">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1009461" y="1986986"/>
            <a:ext cx="6667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微调前</a:t>
            </a:r>
            <a:endParaRPr lang="en-US" sz="1100"/>
          </a:p>
        </p:txBody>
      </p:sp>
      <p:sp>
        <p:nvSpPr>
          <p:cNvPr id="6" name="Freeform 6"/>
          <p:cNvSpPr/>
          <p:nvPr/>
        </p:nvSpPr>
        <p:spPr>
          <a:xfrm>
            <a:off x="609519" y="2406011"/>
            <a:ext cx="5105400" cy="457200"/>
          </a:xfrm>
          <a:custGeom>
            <a:avLst/>
            <a:gdLst/>
            <a:ahLst/>
            <a:cxnLst/>
            <a:rect l="l" t="t" r="r" b="b"/>
            <a:pathLst>
              <a:path w="5105400" h="457200">
                <a:moveTo>
                  <a:pt x="76203" y="0"/>
                </a:moveTo>
                <a:lnTo>
                  <a:pt x="5029197" y="0"/>
                </a:lnTo>
                <a:cubicBezTo>
                  <a:pt x="5071283" y="0"/>
                  <a:pt x="5105400" y="34117"/>
                  <a:pt x="5105400" y="76203"/>
                </a:cubicBezTo>
                <a:lnTo>
                  <a:pt x="5105400" y="380997"/>
                </a:lnTo>
                <a:cubicBezTo>
                  <a:pt x="5105400" y="423083"/>
                  <a:pt x="5071283" y="457200"/>
                  <a:pt x="5029197" y="457200"/>
                </a:cubicBezTo>
                <a:lnTo>
                  <a:pt x="76203" y="457200"/>
                </a:lnTo>
                <a:cubicBezTo>
                  <a:pt x="34145" y="457200"/>
                  <a:pt x="0" y="423055"/>
                  <a:pt x="0" y="380997"/>
                </a:cubicBezTo>
                <a:lnTo>
                  <a:pt x="0" y="76203"/>
                </a:lnTo>
                <a:cubicBezTo>
                  <a:pt x="0" y="34145"/>
                  <a:pt x="34145" y="0"/>
                  <a:pt x="762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723711" y="2520200"/>
            <a:ext cx="495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用户：你好</a:t>
            </a:r>
            <a:endParaRPr lang="en-US" sz="1100"/>
          </a:p>
        </p:txBody>
      </p:sp>
      <p:sp>
        <p:nvSpPr>
          <p:cNvPr id="8" name="Freeform 8"/>
          <p:cNvSpPr/>
          <p:nvPr/>
        </p:nvSpPr>
        <p:spPr>
          <a:xfrm>
            <a:off x="609519" y="2977102"/>
            <a:ext cx="5105400" cy="457200"/>
          </a:xfrm>
          <a:custGeom>
            <a:avLst/>
            <a:gdLst/>
            <a:ahLst/>
            <a:cxnLst/>
            <a:rect l="l" t="t" r="r" b="b"/>
            <a:pathLst>
              <a:path w="5105400" h="457200">
                <a:moveTo>
                  <a:pt x="76203" y="0"/>
                </a:moveTo>
                <a:lnTo>
                  <a:pt x="5029197" y="0"/>
                </a:lnTo>
                <a:cubicBezTo>
                  <a:pt x="5071283" y="0"/>
                  <a:pt x="5105400" y="34117"/>
                  <a:pt x="5105400" y="76203"/>
                </a:cubicBezTo>
                <a:lnTo>
                  <a:pt x="5105400" y="380997"/>
                </a:lnTo>
                <a:cubicBezTo>
                  <a:pt x="5105400" y="423083"/>
                  <a:pt x="5071283" y="457200"/>
                  <a:pt x="5029197" y="457200"/>
                </a:cubicBezTo>
                <a:lnTo>
                  <a:pt x="76203" y="457200"/>
                </a:lnTo>
                <a:cubicBezTo>
                  <a:pt x="34145" y="457200"/>
                  <a:pt x="0" y="423055"/>
                  <a:pt x="0" y="380997"/>
                </a:cubicBezTo>
                <a:lnTo>
                  <a:pt x="0" y="76203"/>
                </a:lnTo>
                <a:cubicBezTo>
                  <a:pt x="0" y="34145"/>
                  <a:pt x="34145" y="0"/>
                  <a:pt x="762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723711" y="3091290"/>
            <a:ext cx="495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AI：你好是一个常用的问候语，通常用于...</a:t>
            </a:r>
            <a:endParaRPr lang="en-US" sz="1100"/>
          </a:p>
        </p:txBody>
      </p:sp>
      <p:sp>
        <p:nvSpPr>
          <p:cNvPr id="10" name="Freeform 10"/>
          <p:cNvSpPr/>
          <p:nvPr/>
        </p:nvSpPr>
        <p:spPr>
          <a:xfrm>
            <a:off x="2666973" y="3612338"/>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49709" y="49709"/>
                </a:moveTo>
                <a:cubicBezTo>
                  <a:pt x="52507" y="46911"/>
                  <a:pt x="57031" y="46911"/>
                  <a:pt x="59799" y="49709"/>
                </a:cubicBezTo>
                <a:lnTo>
                  <a:pt x="76170" y="66079"/>
                </a:lnTo>
                <a:lnTo>
                  <a:pt x="92541" y="49709"/>
                </a:lnTo>
                <a:cubicBezTo>
                  <a:pt x="95339" y="46911"/>
                  <a:pt x="99864" y="46911"/>
                  <a:pt x="102633" y="49709"/>
                </a:cubicBezTo>
                <a:cubicBezTo>
                  <a:pt x="105400" y="52507"/>
                  <a:pt x="105430" y="57031"/>
                  <a:pt x="102633" y="59799"/>
                </a:cubicBezTo>
                <a:lnTo>
                  <a:pt x="86261" y="76170"/>
                </a:lnTo>
                <a:lnTo>
                  <a:pt x="102633" y="92541"/>
                </a:lnTo>
                <a:cubicBezTo>
                  <a:pt x="105430" y="95339"/>
                  <a:pt x="105430" y="99864"/>
                  <a:pt x="102633" y="102633"/>
                </a:cubicBezTo>
                <a:cubicBezTo>
                  <a:pt x="99833" y="105400"/>
                  <a:pt x="95310" y="105430"/>
                  <a:pt x="92541" y="102633"/>
                </a:cubicBezTo>
                <a:lnTo>
                  <a:pt x="76170" y="86261"/>
                </a:lnTo>
                <a:lnTo>
                  <a:pt x="59799" y="102633"/>
                </a:lnTo>
                <a:cubicBezTo>
                  <a:pt x="57001" y="105430"/>
                  <a:pt x="52476" y="105430"/>
                  <a:pt x="49709" y="102633"/>
                </a:cubicBezTo>
                <a:cubicBezTo>
                  <a:pt x="46940" y="99833"/>
                  <a:pt x="46911" y="95310"/>
                  <a:pt x="49709" y="92541"/>
                </a:cubicBezTo>
                <a:lnTo>
                  <a:pt x="66079" y="76170"/>
                </a:lnTo>
                <a:lnTo>
                  <a:pt x="49709" y="59799"/>
                </a:lnTo>
                <a:cubicBezTo>
                  <a:pt x="46911" y="57001"/>
                  <a:pt x="46911" y="52476"/>
                  <a:pt x="49709" y="49709"/>
                </a:cubicBezTo>
                <a:close/>
              </a:path>
            </a:pathLst>
          </a:custGeom>
          <a:solidFill>
            <a:srgbClr val="666666">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819069" y="3586349"/>
            <a:ext cx="493395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过于学术化</a:t>
            </a:r>
            <a:endParaRPr lang="en-US" sz="1100"/>
          </a:p>
        </p:txBody>
      </p:sp>
      <p:sp>
        <p:nvSpPr>
          <p:cNvPr id="12" name="Freeform 12"/>
          <p:cNvSpPr/>
          <p:nvPr/>
        </p:nvSpPr>
        <p:spPr>
          <a:xfrm>
            <a:off x="6265664" y="1775797"/>
            <a:ext cx="5530560" cy="2358735"/>
          </a:xfrm>
          <a:custGeom>
            <a:avLst/>
            <a:gdLst/>
            <a:ahLst/>
            <a:cxnLst/>
            <a:rect l="l" t="t" r="r" b="b"/>
            <a:pathLst>
              <a:path w="5530560" h="2358735">
                <a:moveTo>
                  <a:pt x="152397" y="0"/>
                </a:moveTo>
                <a:lnTo>
                  <a:pt x="5378163" y="0"/>
                </a:lnTo>
                <a:cubicBezTo>
                  <a:pt x="5462330" y="0"/>
                  <a:pt x="5530560" y="68231"/>
                  <a:pt x="5530560" y="152397"/>
                </a:cubicBezTo>
                <a:lnTo>
                  <a:pt x="5530560" y="2206338"/>
                </a:lnTo>
                <a:cubicBezTo>
                  <a:pt x="5530560" y="2290505"/>
                  <a:pt x="5462330" y="2358735"/>
                  <a:pt x="5378163" y="2358735"/>
                </a:cubicBezTo>
                <a:lnTo>
                  <a:pt x="152397" y="2358735"/>
                </a:lnTo>
                <a:cubicBezTo>
                  <a:pt x="68231" y="2358735"/>
                  <a:pt x="0" y="2290505"/>
                  <a:pt x="0" y="2206338"/>
                </a:cubicBezTo>
                <a:lnTo>
                  <a:pt x="0" y="152397"/>
                </a:lnTo>
                <a:cubicBezTo>
                  <a:pt x="0" y="68287"/>
                  <a:pt x="68287" y="0"/>
                  <a:pt x="152397" y="0"/>
                </a:cubicBezTo>
                <a:close/>
              </a:path>
            </a:pathLst>
          </a:custGeom>
          <a:solidFill>
            <a:srgbClr val="FFFFFF">
              <a:alpha val="100000"/>
            </a:srgbClr>
          </a:solidFill>
          <a:ln w="38100">
            <a:solidFill>
              <a:srgbClr val="5B92E5">
                <a:alpha val="100000"/>
              </a:srgbClr>
            </a:solidFill>
            <a:prstDash val="solid"/>
          </a:ln>
        </p:spPr>
        <p:txBody>
          <a:bodyPr wrap="square" lIns="91440" tIns="45720" rIns="91440" bIns="45720" rtlCol="0" anchor="t">
            <a:noAutofit/>
          </a:bodyPr>
          <a:lstStyle/>
          <a:p>
            <a:pPr algn="ctr">
              <a:defRPr/>
            </a:pPr>
          </a:p>
        </p:txBody>
      </p:sp>
      <p:sp>
        <p:nvSpPr>
          <p:cNvPr id="13" name="Freeform 13"/>
          <p:cNvSpPr/>
          <p:nvPr/>
        </p:nvSpPr>
        <p:spPr>
          <a:xfrm>
            <a:off x="6511501" y="2026276"/>
            <a:ext cx="285750" cy="228600"/>
          </a:xfrm>
          <a:custGeom>
            <a:avLst/>
            <a:gdLst/>
            <a:ahLst/>
            <a:cxnLst/>
            <a:rect l="l" t="t" r="r" b="b"/>
            <a:pathLst>
              <a:path w="285750" h="228600">
                <a:moveTo>
                  <a:pt x="157163" y="14288"/>
                </a:moveTo>
                <a:cubicBezTo>
                  <a:pt x="157163" y="6385"/>
                  <a:pt x="150778" y="0"/>
                  <a:pt x="142875" y="0"/>
                </a:cubicBezTo>
                <a:cubicBezTo>
                  <a:pt x="134972" y="0"/>
                  <a:pt x="128587" y="6385"/>
                  <a:pt x="128587" y="14288"/>
                </a:cubicBezTo>
                <a:lnTo>
                  <a:pt x="128587" y="42863"/>
                </a:lnTo>
                <a:lnTo>
                  <a:pt x="85725" y="42863"/>
                </a:lnTo>
                <a:cubicBezTo>
                  <a:pt x="62061" y="42863"/>
                  <a:pt x="42863" y="62062"/>
                  <a:pt x="42863" y="85726"/>
                </a:cubicBezTo>
                <a:lnTo>
                  <a:pt x="42863" y="185738"/>
                </a:lnTo>
                <a:cubicBezTo>
                  <a:pt x="42863" y="209402"/>
                  <a:pt x="62061" y="228600"/>
                  <a:pt x="85725" y="228600"/>
                </a:cubicBezTo>
                <a:lnTo>
                  <a:pt x="200025" y="228600"/>
                </a:lnTo>
                <a:cubicBezTo>
                  <a:pt x="223689" y="228600"/>
                  <a:pt x="242887" y="209402"/>
                  <a:pt x="242887" y="185738"/>
                </a:cubicBezTo>
                <a:lnTo>
                  <a:pt x="242887" y="85726"/>
                </a:lnTo>
                <a:cubicBezTo>
                  <a:pt x="242887" y="62062"/>
                  <a:pt x="223689" y="42863"/>
                  <a:pt x="200025" y="42863"/>
                </a:cubicBezTo>
                <a:lnTo>
                  <a:pt x="157163" y="42863"/>
                </a:lnTo>
                <a:lnTo>
                  <a:pt x="157163" y="14288"/>
                </a:lnTo>
                <a:close/>
                <a:moveTo>
                  <a:pt x="71437" y="178594"/>
                </a:moveTo>
                <a:cubicBezTo>
                  <a:pt x="71437" y="172656"/>
                  <a:pt x="76215" y="167879"/>
                  <a:pt x="82152" y="167879"/>
                </a:cubicBezTo>
                <a:lnTo>
                  <a:pt x="96441" y="167879"/>
                </a:lnTo>
                <a:cubicBezTo>
                  <a:pt x="102379" y="167879"/>
                  <a:pt x="107156" y="172656"/>
                  <a:pt x="107156" y="178594"/>
                </a:cubicBezTo>
                <a:cubicBezTo>
                  <a:pt x="107156" y="184532"/>
                  <a:pt x="102379" y="189311"/>
                  <a:pt x="96441" y="189311"/>
                </a:cubicBezTo>
                <a:lnTo>
                  <a:pt x="82152" y="189311"/>
                </a:lnTo>
                <a:cubicBezTo>
                  <a:pt x="76215" y="189311"/>
                  <a:pt x="71437" y="184532"/>
                  <a:pt x="71437" y="178594"/>
                </a:cubicBezTo>
                <a:close/>
                <a:moveTo>
                  <a:pt x="125016" y="178594"/>
                </a:moveTo>
                <a:cubicBezTo>
                  <a:pt x="125016" y="172656"/>
                  <a:pt x="129793" y="167879"/>
                  <a:pt x="135731" y="167879"/>
                </a:cubicBezTo>
                <a:lnTo>
                  <a:pt x="150019" y="167879"/>
                </a:lnTo>
                <a:cubicBezTo>
                  <a:pt x="155957" y="167879"/>
                  <a:pt x="160734" y="172656"/>
                  <a:pt x="160734" y="178594"/>
                </a:cubicBezTo>
                <a:cubicBezTo>
                  <a:pt x="160734" y="184532"/>
                  <a:pt x="155957" y="189311"/>
                  <a:pt x="150019" y="189311"/>
                </a:cubicBezTo>
                <a:lnTo>
                  <a:pt x="135731" y="189311"/>
                </a:lnTo>
                <a:cubicBezTo>
                  <a:pt x="129793" y="189311"/>
                  <a:pt x="125016" y="184532"/>
                  <a:pt x="125016" y="178594"/>
                </a:cubicBezTo>
                <a:close/>
                <a:moveTo>
                  <a:pt x="178594" y="178594"/>
                </a:moveTo>
                <a:cubicBezTo>
                  <a:pt x="178594" y="172656"/>
                  <a:pt x="183371" y="167879"/>
                  <a:pt x="189309" y="167879"/>
                </a:cubicBezTo>
                <a:lnTo>
                  <a:pt x="203598" y="167879"/>
                </a:lnTo>
                <a:cubicBezTo>
                  <a:pt x="209535" y="167879"/>
                  <a:pt x="214313" y="172656"/>
                  <a:pt x="214313" y="178594"/>
                </a:cubicBezTo>
                <a:cubicBezTo>
                  <a:pt x="214313" y="184532"/>
                  <a:pt x="209535" y="189311"/>
                  <a:pt x="203598" y="189311"/>
                </a:cubicBezTo>
                <a:lnTo>
                  <a:pt x="189309" y="189311"/>
                </a:lnTo>
                <a:cubicBezTo>
                  <a:pt x="183371" y="189311"/>
                  <a:pt x="178594" y="184532"/>
                  <a:pt x="178594" y="178594"/>
                </a:cubicBezTo>
                <a:close/>
                <a:moveTo>
                  <a:pt x="100013" y="92869"/>
                </a:moveTo>
                <a:cubicBezTo>
                  <a:pt x="111841" y="92869"/>
                  <a:pt x="121444" y="102472"/>
                  <a:pt x="121444" y="114300"/>
                </a:cubicBezTo>
                <a:cubicBezTo>
                  <a:pt x="121444" y="126129"/>
                  <a:pt x="111841" y="135732"/>
                  <a:pt x="100013" y="135732"/>
                </a:cubicBezTo>
                <a:cubicBezTo>
                  <a:pt x="88184" y="135732"/>
                  <a:pt x="78581" y="126129"/>
                  <a:pt x="78581" y="114300"/>
                </a:cubicBezTo>
                <a:cubicBezTo>
                  <a:pt x="78581" y="102472"/>
                  <a:pt x="88184" y="92869"/>
                  <a:pt x="100013" y="92869"/>
                </a:cubicBezTo>
                <a:close/>
                <a:moveTo>
                  <a:pt x="164306" y="114300"/>
                </a:moveTo>
                <a:cubicBezTo>
                  <a:pt x="164306" y="102472"/>
                  <a:pt x="173909" y="92869"/>
                  <a:pt x="185737" y="92869"/>
                </a:cubicBezTo>
                <a:cubicBezTo>
                  <a:pt x="197566" y="92869"/>
                  <a:pt x="207169" y="102472"/>
                  <a:pt x="207169" y="114300"/>
                </a:cubicBezTo>
                <a:cubicBezTo>
                  <a:pt x="207169" y="126129"/>
                  <a:pt x="197566" y="135732"/>
                  <a:pt x="185737" y="135732"/>
                </a:cubicBezTo>
                <a:cubicBezTo>
                  <a:pt x="173909" y="135732"/>
                  <a:pt x="164306" y="126129"/>
                  <a:pt x="164306" y="114300"/>
                </a:cubicBezTo>
                <a:close/>
                <a:moveTo>
                  <a:pt x="28575" y="114300"/>
                </a:moveTo>
                <a:cubicBezTo>
                  <a:pt x="28575" y="106399"/>
                  <a:pt x="22189" y="100013"/>
                  <a:pt x="14287" y="100013"/>
                </a:cubicBezTo>
                <a:cubicBezTo>
                  <a:pt x="6386" y="100013"/>
                  <a:pt x="0" y="106399"/>
                  <a:pt x="0" y="114300"/>
                </a:cubicBezTo>
                <a:lnTo>
                  <a:pt x="0" y="157163"/>
                </a:lnTo>
                <a:cubicBezTo>
                  <a:pt x="0" y="165066"/>
                  <a:pt x="6386" y="171450"/>
                  <a:pt x="14287" y="171450"/>
                </a:cubicBezTo>
                <a:cubicBezTo>
                  <a:pt x="22189" y="171450"/>
                  <a:pt x="28575" y="165066"/>
                  <a:pt x="28575" y="157163"/>
                </a:cubicBezTo>
                <a:lnTo>
                  <a:pt x="28575" y="114300"/>
                </a:lnTo>
                <a:close/>
                <a:moveTo>
                  <a:pt x="271463" y="100013"/>
                </a:moveTo>
                <a:cubicBezTo>
                  <a:pt x="263561" y="100013"/>
                  <a:pt x="257175" y="106399"/>
                  <a:pt x="257175" y="114300"/>
                </a:cubicBezTo>
                <a:lnTo>
                  <a:pt x="257175" y="157163"/>
                </a:lnTo>
                <a:cubicBezTo>
                  <a:pt x="257175" y="165066"/>
                  <a:pt x="263561" y="171450"/>
                  <a:pt x="271463" y="171450"/>
                </a:cubicBezTo>
                <a:cubicBezTo>
                  <a:pt x="279364" y="171450"/>
                  <a:pt x="285750" y="165066"/>
                  <a:pt x="285750" y="157163"/>
                </a:cubicBezTo>
                <a:lnTo>
                  <a:pt x="285750" y="114300"/>
                </a:lnTo>
                <a:cubicBezTo>
                  <a:pt x="285750" y="106399"/>
                  <a:pt x="279364" y="100013"/>
                  <a:pt x="271463" y="100013"/>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6911443" y="2021625"/>
            <a:ext cx="6667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微调后</a:t>
            </a:r>
            <a:endParaRPr lang="en-US" sz="1100"/>
          </a:p>
        </p:txBody>
      </p:sp>
      <p:sp>
        <p:nvSpPr>
          <p:cNvPr id="15" name="Freeform 15"/>
          <p:cNvSpPr/>
          <p:nvPr/>
        </p:nvSpPr>
        <p:spPr>
          <a:xfrm>
            <a:off x="6511501" y="2440651"/>
            <a:ext cx="5038725" cy="457200"/>
          </a:xfrm>
          <a:custGeom>
            <a:avLst/>
            <a:gdLst/>
            <a:ahLst/>
            <a:cxnLst/>
            <a:rect l="l" t="t" r="r" b="b"/>
            <a:pathLst>
              <a:path w="5038725" h="457200">
                <a:moveTo>
                  <a:pt x="76203" y="0"/>
                </a:moveTo>
                <a:lnTo>
                  <a:pt x="4962522" y="0"/>
                </a:lnTo>
                <a:cubicBezTo>
                  <a:pt x="5004608" y="0"/>
                  <a:pt x="5038725" y="34117"/>
                  <a:pt x="5038725" y="76203"/>
                </a:cubicBezTo>
                <a:lnTo>
                  <a:pt x="5038725" y="380997"/>
                </a:lnTo>
                <a:cubicBezTo>
                  <a:pt x="5038725" y="423083"/>
                  <a:pt x="5004608" y="457200"/>
                  <a:pt x="4962522" y="457200"/>
                </a:cubicBezTo>
                <a:lnTo>
                  <a:pt x="76203" y="457200"/>
                </a:lnTo>
                <a:cubicBezTo>
                  <a:pt x="34145" y="457200"/>
                  <a:pt x="0" y="423055"/>
                  <a:pt x="0" y="380997"/>
                </a:cubicBezTo>
                <a:lnTo>
                  <a:pt x="0" y="76203"/>
                </a:lnTo>
                <a:cubicBezTo>
                  <a:pt x="0" y="34145"/>
                  <a:pt x="34145" y="0"/>
                  <a:pt x="76203"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6625693" y="2554839"/>
            <a:ext cx="48863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用户：你好</a:t>
            </a:r>
            <a:endParaRPr lang="en-US" sz="1100"/>
          </a:p>
        </p:txBody>
      </p:sp>
      <p:sp>
        <p:nvSpPr>
          <p:cNvPr id="17" name="Freeform 17"/>
          <p:cNvSpPr/>
          <p:nvPr/>
        </p:nvSpPr>
        <p:spPr>
          <a:xfrm>
            <a:off x="6520160" y="3020401"/>
            <a:ext cx="5017943" cy="474518"/>
          </a:xfrm>
          <a:custGeom>
            <a:avLst/>
            <a:gdLst/>
            <a:ahLst/>
            <a:cxnLst/>
            <a:rect l="l" t="t" r="r" b="b"/>
            <a:pathLst>
              <a:path w="5017943" h="474518">
                <a:moveTo>
                  <a:pt x="76197" y="0"/>
                </a:moveTo>
                <a:lnTo>
                  <a:pt x="4941745" y="0"/>
                </a:lnTo>
                <a:cubicBezTo>
                  <a:pt x="4983828" y="0"/>
                  <a:pt x="5017943" y="34115"/>
                  <a:pt x="5017943" y="76197"/>
                </a:cubicBezTo>
                <a:lnTo>
                  <a:pt x="5017943" y="398320"/>
                </a:lnTo>
                <a:cubicBezTo>
                  <a:pt x="5017943" y="440403"/>
                  <a:pt x="4983828" y="474518"/>
                  <a:pt x="4941745" y="474518"/>
                </a:cubicBezTo>
                <a:lnTo>
                  <a:pt x="76197" y="474518"/>
                </a:lnTo>
                <a:cubicBezTo>
                  <a:pt x="34115" y="474518"/>
                  <a:pt x="0" y="440403"/>
                  <a:pt x="0" y="398320"/>
                </a:cubicBezTo>
                <a:lnTo>
                  <a:pt x="0" y="76197"/>
                </a:lnTo>
                <a:cubicBezTo>
                  <a:pt x="0" y="34115"/>
                  <a:pt x="34115" y="0"/>
                  <a:pt x="76197" y="0"/>
                </a:cubicBezTo>
                <a:close/>
              </a:path>
            </a:pathLst>
          </a:custGeom>
          <a:solidFill>
            <a:srgbClr val="00CED1">
              <a:alpha val="100000"/>
            </a:srgbClr>
          </a:solidFill>
          <a:ln w="12700">
            <a:solidFill>
              <a:srgbClr val="00CED1">
                <a:alpha val="100000"/>
              </a:srgbClr>
            </a:solidFill>
            <a:prstDash val="solid"/>
          </a:ln>
        </p:spPr>
        <p:txBody>
          <a:bodyPr wrap="square" lIns="91440" tIns="45720" rIns="91440" bIns="45720" rtlCol="0" anchor="t">
            <a:noAutofit/>
          </a:bodyPr>
          <a:lstStyle/>
          <a:p>
            <a:pPr algn="ctr">
              <a:defRPr/>
            </a:pPr>
          </a:p>
        </p:txBody>
      </p:sp>
      <p:sp>
        <p:nvSpPr>
          <p:cNvPr id="18" name="AutoShape 18"/>
          <p:cNvSpPr/>
          <p:nvPr/>
        </p:nvSpPr>
        <p:spPr>
          <a:xfrm>
            <a:off x="6643011" y="3143250"/>
            <a:ext cx="48482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AI：你好！很高兴见到你，有什么我可以帮助你的吗？😊</a:t>
            </a:r>
            <a:endParaRPr lang="en-US" sz="1100"/>
          </a:p>
        </p:txBody>
      </p:sp>
      <p:sp>
        <p:nvSpPr>
          <p:cNvPr id="19" name="Freeform 19"/>
          <p:cNvSpPr/>
          <p:nvPr/>
        </p:nvSpPr>
        <p:spPr>
          <a:xfrm>
            <a:off x="8534319" y="3681599"/>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09" y="101411"/>
                </a:lnTo>
                <a:cubicBezTo>
                  <a:pt x="76260" y="103406"/>
                  <a:pt x="74116" y="104656"/>
                  <a:pt x="71765" y="104775"/>
                </a:cubicBezTo>
                <a:cubicBezTo>
                  <a:pt x="69413" y="104894"/>
                  <a:pt x="67151" y="103823"/>
                  <a:pt x="65752" y="101917"/>
                </a:cubicBezTo>
                <a:lnTo>
                  <a:pt x="51465" y="82867"/>
                </a:lnTo>
                <a:cubicBezTo>
                  <a:pt x="49084" y="79712"/>
                  <a:pt x="49738" y="75247"/>
                  <a:pt x="52894" y="72866"/>
                </a:cubicBezTo>
                <a:cubicBezTo>
                  <a:pt x="56049" y="70485"/>
                  <a:pt x="60514" y="71140"/>
                  <a:pt x="62895" y="74295"/>
                </a:cubicBezTo>
                <a:lnTo>
                  <a:pt x="70931" y="85011"/>
                </a:lnTo>
                <a:lnTo>
                  <a:pt x="89209" y="55750"/>
                </a:lnTo>
                <a:cubicBezTo>
                  <a:pt x="91291" y="52417"/>
                  <a:pt x="95696" y="51375"/>
                  <a:pt x="99060" y="53489"/>
                </a:cubicBezTo>
                <a:cubicBezTo>
                  <a:pt x="102424" y="55602"/>
                  <a:pt x="103436" y="59978"/>
                  <a:pt x="101322" y="63341"/>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6721051" y="3655628"/>
            <a:ext cx="486727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友好、自然</a:t>
            </a:r>
            <a:endParaRPr lang="en-US" sz="1100"/>
          </a:p>
        </p:txBody>
      </p:sp>
      <p:sp>
        <p:nvSpPr>
          <p:cNvPr id="21" name="Freeform 21"/>
          <p:cNvSpPr/>
          <p:nvPr/>
        </p:nvSpPr>
        <p:spPr>
          <a:xfrm>
            <a:off x="381000" y="4375826"/>
            <a:ext cx="11430000" cy="647700"/>
          </a:xfrm>
          <a:custGeom>
            <a:avLst/>
            <a:gdLst/>
            <a:ahLst/>
            <a:cxnLst/>
            <a:rect l="l" t="t" r="r" b="b"/>
            <a:pathLst>
              <a:path w="11430000" h="647700">
                <a:moveTo>
                  <a:pt x="114300" y="0"/>
                </a:moveTo>
                <a:lnTo>
                  <a:pt x="11315700" y="0"/>
                </a:lnTo>
                <a:cubicBezTo>
                  <a:pt x="11378827" y="0"/>
                  <a:pt x="11430000" y="51173"/>
                  <a:pt x="11430000" y="114300"/>
                </a:cubicBezTo>
                <a:lnTo>
                  <a:pt x="11430000" y="533400"/>
                </a:lnTo>
                <a:cubicBezTo>
                  <a:pt x="11430000" y="596527"/>
                  <a:pt x="11378827" y="647700"/>
                  <a:pt x="11315700" y="647700"/>
                </a:cubicBezTo>
                <a:lnTo>
                  <a:pt x="114300" y="647700"/>
                </a:lnTo>
                <a:cubicBezTo>
                  <a:pt x="51217" y="647700"/>
                  <a:pt x="0" y="596483"/>
                  <a:pt x="0" y="533400"/>
                </a:cubicBezTo>
                <a:lnTo>
                  <a:pt x="0" y="114300"/>
                </a:lnTo>
                <a:cubicBezTo>
                  <a:pt x="0" y="51217"/>
                  <a:pt x="51217" y="0"/>
                  <a:pt x="114300" y="0"/>
                </a:cubicBezTo>
                <a:close/>
              </a:path>
            </a:pathLst>
          </a:custGeom>
          <a:no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528637" y="4566326"/>
            <a:ext cx="111347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使用高质量的</a:t>
            </a:r>
            <a:r>
              <a:rPr lang="en-US" sz="14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指令-回答</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数据对，让模型学会按照人类期望的方式回应</a:t>
            </a:r>
            <a:endParaRPr lang="en-US" sz="1100"/>
          </a:p>
        </p:txBody>
      </p:sp>
      <p:sp>
        <p:nvSpPr>
          <p:cNvPr id="23" name="Freeform 23"/>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609519" y="5962594"/>
            <a:ext cx="80994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SFT（Supervised Fine-Tuning）</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使用标注的指令-回答数据对模型进行微调，使其对齐人类意图</a:t>
            </a:r>
            <a:endParaRPr lang="en-US" sz="1100"/>
          </a:p>
        </p:txBody>
      </p:sp>
    </p:spTree>
  </p:cSld>
  <p:clrMapOvr>
    <a:masterClrMapping/>
  </p:clrMapOvr>
  <p:transition spd="slow">
    <p:fade/>
  </p:transition>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6 RLHF</a:t>
            </a:r>
            <a:endParaRPr lang="en-US" sz="1100"/>
          </a:p>
        </p:txBody>
      </p:sp>
      <p:sp>
        <p:nvSpPr>
          <p:cNvPr id="3" name="Freeform 3"/>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09519" y="5962594"/>
            <a:ext cx="8832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RLHF（Reinforcement Learning from Human Feedback）</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基于人类反馈的强化学习，用于对齐人类偏好</a:t>
            </a:r>
            <a:endParaRPr lang="en-US" sz="1100"/>
          </a:p>
        </p:txBody>
      </p:sp>
      <p:sp>
        <p:nvSpPr>
          <p:cNvPr id="5" name="Freeform 5"/>
          <p:cNvSpPr/>
          <p:nvPr/>
        </p:nvSpPr>
        <p:spPr>
          <a:xfrm>
            <a:off x="3444294" y="1523926"/>
            <a:ext cx="340355" cy="340222"/>
          </a:xfrm>
          <a:custGeom>
            <a:avLst/>
            <a:gdLst/>
            <a:ahLst/>
            <a:cxnLst/>
            <a:rect l="l" t="t" r="r" b="b"/>
            <a:pathLst>
              <a:path w="340355" h="340222">
                <a:moveTo>
                  <a:pt x="247531" y="18150"/>
                </a:moveTo>
                <a:cubicBezTo>
                  <a:pt x="257577" y="6629"/>
                  <a:pt x="272111" y="0"/>
                  <a:pt x="287447" y="0"/>
                </a:cubicBezTo>
                <a:cubicBezTo>
                  <a:pt x="316647" y="0"/>
                  <a:pt x="340355" y="23708"/>
                  <a:pt x="340355" y="52908"/>
                </a:cubicBezTo>
                <a:cubicBezTo>
                  <a:pt x="340355" y="68177"/>
                  <a:pt x="333725" y="82779"/>
                  <a:pt x="322204" y="92824"/>
                </a:cubicBezTo>
                <a:lnTo>
                  <a:pt x="187389" y="210160"/>
                </a:lnTo>
                <a:lnTo>
                  <a:pt x="180224" y="202927"/>
                </a:lnTo>
                <a:lnTo>
                  <a:pt x="137361" y="160064"/>
                </a:lnTo>
                <a:lnTo>
                  <a:pt x="130128" y="152899"/>
                </a:lnTo>
                <a:lnTo>
                  <a:pt x="247531" y="18150"/>
                </a:lnTo>
                <a:close/>
                <a:moveTo>
                  <a:pt x="105281" y="173459"/>
                </a:moveTo>
                <a:cubicBezTo>
                  <a:pt x="105884" y="174128"/>
                  <a:pt x="123297" y="191541"/>
                  <a:pt x="157452" y="225698"/>
                </a:cubicBezTo>
                <a:lnTo>
                  <a:pt x="166762" y="235007"/>
                </a:lnTo>
                <a:lnTo>
                  <a:pt x="155310" y="284701"/>
                </a:lnTo>
                <a:cubicBezTo>
                  <a:pt x="152698" y="296153"/>
                  <a:pt x="143990" y="305261"/>
                  <a:pt x="132673" y="308409"/>
                </a:cubicBezTo>
                <a:lnTo>
                  <a:pt x="18953" y="340222"/>
                </a:lnTo>
                <a:lnTo>
                  <a:pt x="80769" y="278406"/>
                </a:lnTo>
                <a:cubicBezTo>
                  <a:pt x="81572" y="278472"/>
                  <a:pt x="82309" y="278539"/>
                  <a:pt x="83113" y="278539"/>
                </a:cubicBezTo>
                <a:cubicBezTo>
                  <a:pt x="94967" y="278539"/>
                  <a:pt x="104544" y="268962"/>
                  <a:pt x="104544" y="257108"/>
                </a:cubicBezTo>
                <a:cubicBezTo>
                  <a:pt x="104544" y="245254"/>
                  <a:pt x="94967" y="235676"/>
                  <a:pt x="83113" y="235676"/>
                </a:cubicBezTo>
                <a:cubicBezTo>
                  <a:pt x="71259" y="235676"/>
                  <a:pt x="61682" y="245254"/>
                  <a:pt x="61682" y="257108"/>
                </a:cubicBezTo>
                <a:cubicBezTo>
                  <a:pt x="61682" y="257912"/>
                  <a:pt x="61749" y="258716"/>
                  <a:pt x="61816" y="259452"/>
                </a:cubicBezTo>
                <a:lnTo>
                  <a:pt x="0" y="321335"/>
                </a:lnTo>
                <a:lnTo>
                  <a:pt x="31879" y="207615"/>
                </a:lnTo>
                <a:cubicBezTo>
                  <a:pt x="35027" y="196298"/>
                  <a:pt x="44135" y="187590"/>
                  <a:pt x="55587" y="184978"/>
                </a:cubicBezTo>
                <a:lnTo>
                  <a:pt x="105281" y="173459"/>
                </a:lnTo>
                <a:close/>
              </a:path>
            </a:pathLst>
          </a:custGeom>
          <a:solidFill>
            <a:srgbClr val="666666">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2274833" y="1981126"/>
            <a:ext cx="2676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写一首关于春天的诗</a:t>
            </a:r>
            <a:endParaRPr lang="en-US" sz="1100"/>
          </a:p>
        </p:txBody>
      </p:sp>
      <p:sp>
        <p:nvSpPr>
          <p:cNvPr id="7" name="Freeform 7"/>
          <p:cNvSpPr/>
          <p:nvPr/>
        </p:nvSpPr>
        <p:spPr>
          <a:xfrm>
            <a:off x="2326355" y="2408847"/>
            <a:ext cx="2570018" cy="1312718"/>
          </a:xfrm>
          <a:custGeom>
            <a:avLst/>
            <a:gdLst/>
            <a:ahLst/>
            <a:cxnLst/>
            <a:rect l="l" t="t" r="r" b="b"/>
            <a:pathLst>
              <a:path w="2570018" h="1312718">
                <a:moveTo>
                  <a:pt x="76203" y="0"/>
                </a:moveTo>
                <a:lnTo>
                  <a:pt x="2493815" y="0"/>
                </a:lnTo>
                <a:cubicBezTo>
                  <a:pt x="2535900" y="0"/>
                  <a:pt x="2570018" y="34117"/>
                  <a:pt x="2570018" y="76203"/>
                </a:cubicBezTo>
                <a:lnTo>
                  <a:pt x="2570018" y="1236515"/>
                </a:lnTo>
                <a:cubicBezTo>
                  <a:pt x="2570018" y="1278600"/>
                  <a:pt x="2535900" y="1312718"/>
                  <a:pt x="2493815" y="1312718"/>
                </a:cubicBezTo>
                <a:lnTo>
                  <a:pt x="76203" y="1312718"/>
                </a:lnTo>
                <a:cubicBezTo>
                  <a:pt x="34117" y="1312718"/>
                  <a:pt x="0" y="1278600"/>
                  <a:pt x="0" y="1236515"/>
                </a:cubicBezTo>
                <a:lnTo>
                  <a:pt x="0" y="76203"/>
                </a:lnTo>
                <a:cubicBezTo>
                  <a:pt x="0" y="34146"/>
                  <a:pt x="34146" y="0"/>
                  <a:pt x="76203" y="0"/>
                </a:cubicBezTo>
                <a:close/>
              </a:path>
            </a:pathLst>
          </a:custGeom>
          <a:solidFill>
            <a:srgbClr val="FFFFFF">
              <a:alpha val="100000"/>
            </a:srgbClr>
          </a:solid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8" name="AutoShape 8"/>
          <p:cNvSpPr/>
          <p:nvPr/>
        </p:nvSpPr>
        <p:spPr>
          <a:xfrm>
            <a:off x="2487360" y="2569852"/>
            <a:ext cx="2324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诗A：</a:t>
            </a:r>
            <a:endParaRPr lang="en-US" sz="1100"/>
          </a:p>
        </p:txBody>
      </p:sp>
      <p:sp>
        <p:nvSpPr>
          <p:cNvPr id="9" name="AutoShape 9"/>
          <p:cNvSpPr/>
          <p:nvPr/>
        </p:nvSpPr>
        <p:spPr>
          <a:xfrm>
            <a:off x="2487360" y="2874652"/>
            <a:ext cx="2314575" cy="3810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"春风拂面柳丝长，</a:t>
            </a:r>
            <a:endParaRPr lang="en-US" sz="1100"/>
          </a:p>
          <a:p>
            <a:pPr indent="0" algn="l">
              <a:lnSpc>
                <a:spcPct val="117000"/>
              </a:lnSpc>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桃花映日满园香。"</a:t>
            </a:r>
            <a:endPar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0" name="Freeform 10"/>
          <p:cNvSpPr/>
          <p:nvPr/>
        </p:nvSpPr>
        <p:spPr>
          <a:xfrm>
            <a:off x="2500249" y="3379143"/>
            <a:ext cx="164722" cy="156895"/>
          </a:xfrm>
          <a:custGeom>
            <a:avLst/>
            <a:gdLst/>
            <a:ahLst/>
            <a:cxnLst/>
            <a:rect l="l" t="t" r="r" b="b"/>
            <a:pathLst>
              <a:path w="164722" h="156895">
                <a:moveTo>
                  <a:pt x="88761" y="3899"/>
                </a:moveTo>
                <a:cubicBezTo>
                  <a:pt x="87540" y="1518"/>
                  <a:pt x="85070" y="0"/>
                  <a:pt x="82391" y="0"/>
                </a:cubicBezTo>
                <a:cubicBezTo>
                  <a:pt x="79712" y="0"/>
                  <a:pt x="77242" y="1518"/>
                  <a:pt x="76021" y="3899"/>
                </a:cubicBezTo>
                <a:lnTo>
                  <a:pt x="54112" y="46821"/>
                </a:lnTo>
                <a:lnTo>
                  <a:pt x="6518" y="54381"/>
                </a:lnTo>
                <a:cubicBezTo>
                  <a:pt x="3869" y="54799"/>
                  <a:pt x="1666" y="56674"/>
                  <a:pt x="833" y="59234"/>
                </a:cubicBezTo>
                <a:cubicBezTo>
                  <a:pt x="0" y="61793"/>
                  <a:pt x="683" y="64591"/>
                  <a:pt x="2559" y="66496"/>
                </a:cubicBezTo>
                <a:lnTo>
                  <a:pt x="36611" y="100578"/>
                </a:lnTo>
                <a:lnTo>
                  <a:pt x="29110" y="148173"/>
                </a:lnTo>
                <a:cubicBezTo>
                  <a:pt x="28695" y="150821"/>
                  <a:pt x="29794" y="153501"/>
                  <a:pt x="31967" y="155078"/>
                </a:cubicBezTo>
                <a:cubicBezTo>
                  <a:pt x="34140" y="156656"/>
                  <a:pt x="36998" y="156895"/>
                  <a:pt x="39410" y="155674"/>
                </a:cubicBezTo>
                <a:lnTo>
                  <a:pt x="82391" y="133826"/>
                </a:lnTo>
                <a:lnTo>
                  <a:pt x="125343" y="155674"/>
                </a:lnTo>
                <a:cubicBezTo>
                  <a:pt x="127724" y="156895"/>
                  <a:pt x="130611" y="156656"/>
                  <a:pt x="132784" y="155078"/>
                </a:cubicBezTo>
                <a:cubicBezTo>
                  <a:pt x="134957" y="153501"/>
                  <a:pt x="136058" y="150852"/>
                  <a:pt x="135641" y="148173"/>
                </a:cubicBezTo>
                <a:lnTo>
                  <a:pt x="128111" y="100578"/>
                </a:lnTo>
                <a:lnTo>
                  <a:pt x="162163" y="66496"/>
                </a:lnTo>
                <a:cubicBezTo>
                  <a:pt x="164068" y="64591"/>
                  <a:pt x="164722" y="61793"/>
                  <a:pt x="163889" y="59234"/>
                </a:cubicBezTo>
                <a:cubicBezTo>
                  <a:pt x="163056" y="56674"/>
                  <a:pt x="160883" y="54799"/>
                  <a:pt x="158204" y="54381"/>
                </a:cubicBezTo>
                <a:lnTo>
                  <a:pt x="110638" y="46821"/>
                </a:lnTo>
                <a:lnTo>
                  <a:pt x="88761" y="3899"/>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2766877" y="3379143"/>
            <a:ext cx="164722" cy="156895"/>
          </a:xfrm>
          <a:custGeom>
            <a:avLst/>
            <a:gdLst/>
            <a:ahLst/>
            <a:cxnLst/>
            <a:rect l="l" t="t" r="r" b="b"/>
            <a:pathLst>
              <a:path w="164722" h="156895">
                <a:moveTo>
                  <a:pt x="88761" y="3899"/>
                </a:moveTo>
                <a:cubicBezTo>
                  <a:pt x="87540" y="1518"/>
                  <a:pt x="85070" y="0"/>
                  <a:pt x="82391" y="0"/>
                </a:cubicBezTo>
                <a:cubicBezTo>
                  <a:pt x="79712" y="0"/>
                  <a:pt x="77242" y="1518"/>
                  <a:pt x="76021" y="3899"/>
                </a:cubicBezTo>
                <a:lnTo>
                  <a:pt x="54112" y="46821"/>
                </a:lnTo>
                <a:lnTo>
                  <a:pt x="6518" y="54381"/>
                </a:lnTo>
                <a:cubicBezTo>
                  <a:pt x="3869" y="54799"/>
                  <a:pt x="1666" y="56674"/>
                  <a:pt x="833" y="59234"/>
                </a:cubicBezTo>
                <a:cubicBezTo>
                  <a:pt x="0" y="61793"/>
                  <a:pt x="683" y="64591"/>
                  <a:pt x="2559" y="66496"/>
                </a:cubicBezTo>
                <a:lnTo>
                  <a:pt x="36611" y="100578"/>
                </a:lnTo>
                <a:lnTo>
                  <a:pt x="29110" y="148173"/>
                </a:lnTo>
                <a:cubicBezTo>
                  <a:pt x="28695" y="150821"/>
                  <a:pt x="29794" y="153501"/>
                  <a:pt x="31967" y="155078"/>
                </a:cubicBezTo>
                <a:cubicBezTo>
                  <a:pt x="34140" y="156656"/>
                  <a:pt x="36998" y="156895"/>
                  <a:pt x="39410" y="155674"/>
                </a:cubicBezTo>
                <a:lnTo>
                  <a:pt x="82391" y="133826"/>
                </a:lnTo>
                <a:lnTo>
                  <a:pt x="125343" y="155674"/>
                </a:lnTo>
                <a:cubicBezTo>
                  <a:pt x="127724" y="156895"/>
                  <a:pt x="130611" y="156656"/>
                  <a:pt x="132784" y="155078"/>
                </a:cubicBezTo>
                <a:cubicBezTo>
                  <a:pt x="134957" y="153501"/>
                  <a:pt x="136058" y="150852"/>
                  <a:pt x="135641" y="148173"/>
                </a:cubicBezTo>
                <a:lnTo>
                  <a:pt x="128111" y="100578"/>
                </a:lnTo>
                <a:lnTo>
                  <a:pt x="162163" y="66496"/>
                </a:lnTo>
                <a:cubicBezTo>
                  <a:pt x="164068" y="64591"/>
                  <a:pt x="164722" y="61793"/>
                  <a:pt x="163889" y="59234"/>
                </a:cubicBezTo>
                <a:cubicBezTo>
                  <a:pt x="163056" y="56674"/>
                  <a:pt x="160883" y="54799"/>
                  <a:pt x="158204" y="54381"/>
                </a:cubicBezTo>
                <a:lnTo>
                  <a:pt x="110638" y="46821"/>
                </a:lnTo>
                <a:lnTo>
                  <a:pt x="88761" y="3899"/>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3033505" y="3379143"/>
            <a:ext cx="164722" cy="156895"/>
          </a:xfrm>
          <a:custGeom>
            <a:avLst/>
            <a:gdLst/>
            <a:ahLst/>
            <a:cxnLst/>
            <a:rect l="l" t="t" r="r" b="b"/>
            <a:pathLst>
              <a:path w="164722" h="156895">
                <a:moveTo>
                  <a:pt x="88761" y="3899"/>
                </a:moveTo>
                <a:cubicBezTo>
                  <a:pt x="87540" y="1518"/>
                  <a:pt x="85070" y="0"/>
                  <a:pt x="82391" y="0"/>
                </a:cubicBezTo>
                <a:cubicBezTo>
                  <a:pt x="79712" y="0"/>
                  <a:pt x="77242" y="1518"/>
                  <a:pt x="76021" y="3899"/>
                </a:cubicBezTo>
                <a:lnTo>
                  <a:pt x="54112" y="46821"/>
                </a:lnTo>
                <a:lnTo>
                  <a:pt x="6518" y="54381"/>
                </a:lnTo>
                <a:cubicBezTo>
                  <a:pt x="3869" y="54799"/>
                  <a:pt x="1666" y="56674"/>
                  <a:pt x="833" y="59234"/>
                </a:cubicBezTo>
                <a:cubicBezTo>
                  <a:pt x="0" y="61793"/>
                  <a:pt x="683" y="64591"/>
                  <a:pt x="2559" y="66496"/>
                </a:cubicBezTo>
                <a:lnTo>
                  <a:pt x="36611" y="100578"/>
                </a:lnTo>
                <a:lnTo>
                  <a:pt x="29110" y="148173"/>
                </a:lnTo>
                <a:cubicBezTo>
                  <a:pt x="28695" y="150821"/>
                  <a:pt x="29794" y="153501"/>
                  <a:pt x="31967" y="155078"/>
                </a:cubicBezTo>
                <a:cubicBezTo>
                  <a:pt x="34140" y="156656"/>
                  <a:pt x="36998" y="156895"/>
                  <a:pt x="39410" y="155674"/>
                </a:cubicBezTo>
                <a:lnTo>
                  <a:pt x="82391" y="133826"/>
                </a:lnTo>
                <a:lnTo>
                  <a:pt x="125343" y="155674"/>
                </a:lnTo>
                <a:cubicBezTo>
                  <a:pt x="127724" y="156895"/>
                  <a:pt x="130611" y="156656"/>
                  <a:pt x="132784" y="155078"/>
                </a:cubicBezTo>
                <a:cubicBezTo>
                  <a:pt x="134957" y="153501"/>
                  <a:pt x="136058" y="150852"/>
                  <a:pt x="135641" y="148173"/>
                </a:cubicBezTo>
                <a:lnTo>
                  <a:pt x="128111" y="100578"/>
                </a:lnTo>
                <a:lnTo>
                  <a:pt x="162163" y="66496"/>
                </a:lnTo>
                <a:cubicBezTo>
                  <a:pt x="164068" y="64591"/>
                  <a:pt x="164722" y="61793"/>
                  <a:pt x="163889" y="59234"/>
                </a:cubicBezTo>
                <a:cubicBezTo>
                  <a:pt x="163056" y="56674"/>
                  <a:pt x="160883" y="54799"/>
                  <a:pt x="158204" y="54381"/>
                </a:cubicBezTo>
                <a:lnTo>
                  <a:pt x="110638" y="46821"/>
                </a:lnTo>
                <a:lnTo>
                  <a:pt x="88761" y="3899"/>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3300132" y="3379143"/>
            <a:ext cx="164722" cy="156895"/>
          </a:xfrm>
          <a:custGeom>
            <a:avLst/>
            <a:gdLst/>
            <a:ahLst/>
            <a:cxnLst/>
            <a:rect l="l" t="t" r="r" b="b"/>
            <a:pathLst>
              <a:path w="164722" h="156895">
                <a:moveTo>
                  <a:pt x="88761" y="3899"/>
                </a:moveTo>
                <a:cubicBezTo>
                  <a:pt x="87540" y="1518"/>
                  <a:pt x="85070" y="0"/>
                  <a:pt x="82391" y="0"/>
                </a:cubicBezTo>
                <a:cubicBezTo>
                  <a:pt x="79712" y="0"/>
                  <a:pt x="77242" y="1518"/>
                  <a:pt x="76021" y="3899"/>
                </a:cubicBezTo>
                <a:lnTo>
                  <a:pt x="54112" y="46821"/>
                </a:lnTo>
                <a:lnTo>
                  <a:pt x="6518" y="54381"/>
                </a:lnTo>
                <a:cubicBezTo>
                  <a:pt x="3869" y="54799"/>
                  <a:pt x="1666" y="56674"/>
                  <a:pt x="833" y="59234"/>
                </a:cubicBezTo>
                <a:cubicBezTo>
                  <a:pt x="0" y="61793"/>
                  <a:pt x="683" y="64591"/>
                  <a:pt x="2559" y="66496"/>
                </a:cubicBezTo>
                <a:lnTo>
                  <a:pt x="36611" y="100578"/>
                </a:lnTo>
                <a:lnTo>
                  <a:pt x="29110" y="148173"/>
                </a:lnTo>
                <a:cubicBezTo>
                  <a:pt x="28695" y="150821"/>
                  <a:pt x="29794" y="153501"/>
                  <a:pt x="31967" y="155078"/>
                </a:cubicBezTo>
                <a:cubicBezTo>
                  <a:pt x="34140" y="156656"/>
                  <a:pt x="36998" y="156895"/>
                  <a:pt x="39410" y="155674"/>
                </a:cubicBezTo>
                <a:lnTo>
                  <a:pt x="82391" y="133826"/>
                </a:lnTo>
                <a:lnTo>
                  <a:pt x="125343" y="155674"/>
                </a:lnTo>
                <a:cubicBezTo>
                  <a:pt x="127724" y="156895"/>
                  <a:pt x="130611" y="156656"/>
                  <a:pt x="132784" y="155078"/>
                </a:cubicBezTo>
                <a:cubicBezTo>
                  <a:pt x="134957" y="153501"/>
                  <a:pt x="136058" y="150852"/>
                  <a:pt x="135641" y="148173"/>
                </a:cubicBezTo>
                <a:lnTo>
                  <a:pt x="128111" y="100578"/>
                </a:lnTo>
                <a:lnTo>
                  <a:pt x="162163" y="66496"/>
                </a:lnTo>
                <a:cubicBezTo>
                  <a:pt x="164068" y="64591"/>
                  <a:pt x="164722" y="61793"/>
                  <a:pt x="163889" y="59234"/>
                </a:cubicBezTo>
                <a:cubicBezTo>
                  <a:pt x="163056" y="56674"/>
                  <a:pt x="160883" y="54799"/>
                  <a:pt x="158204" y="54381"/>
                </a:cubicBezTo>
                <a:lnTo>
                  <a:pt x="110638" y="46821"/>
                </a:lnTo>
                <a:lnTo>
                  <a:pt x="88761" y="3899"/>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3566760" y="3379143"/>
            <a:ext cx="164722" cy="156895"/>
          </a:xfrm>
          <a:custGeom>
            <a:avLst/>
            <a:gdLst/>
            <a:ahLst/>
            <a:cxnLst/>
            <a:rect l="l" t="t" r="r" b="b"/>
            <a:pathLst>
              <a:path w="164722" h="156895">
                <a:moveTo>
                  <a:pt x="88761" y="3899"/>
                </a:moveTo>
                <a:cubicBezTo>
                  <a:pt x="87540" y="1518"/>
                  <a:pt x="85070" y="0"/>
                  <a:pt x="82391" y="0"/>
                </a:cubicBezTo>
                <a:cubicBezTo>
                  <a:pt x="79712" y="0"/>
                  <a:pt x="77242" y="1518"/>
                  <a:pt x="76021" y="3899"/>
                </a:cubicBezTo>
                <a:lnTo>
                  <a:pt x="54112" y="46821"/>
                </a:lnTo>
                <a:lnTo>
                  <a:pt x="6518" y="54381"/>
                </a:lnTo>
                <a:cubicBezTo>
                  <a:pt x="3869" y="54799"/>
                  <a:pt x="1666" y="56674"/>
                  <a:pt x="833" y="59234"/>
                </a:cubicBezTo>
                <a:cubicBezTo>
                  <a:pt x="0" y="61793"/>
                  <a:pt x="683" y="64591"/>
                  <a:pt x="2559" y="66496"/>
                </a:cubicBezTo>
                <a:lnTo>
                  <a:pt x="36611" y="100578"/>
                </a:lnTo>
                <a:lnTo>
                  <a:pt x="29110" y="148173"/>
                </a:lnTo>
                <a:cubicBezTo>
                  <a:pt x="28695" y="150821"/>
                  <a:pt x="29794" y="153501"/>
                  <a:pt x="31967" y="155078"/>
                </a:cubicBezTo>
                <a:cubicBezTo>
                  <a:pt x="34140" y="156656"/>
                  <a:pt x="36998" y="156895"/>
                  <a:pt x="39410" y="155674"/>
                </a:cubicBezTo>
                <a:lnTo>
                  <a:pt x="82391" y="133826"/>
                </a:lnTo>
                <a:lnTo>
                  <a:pt x="125343" y="155674"/>
                </a:lnTo>
                <a:cubicBezTo>
                  <a:pt x="127724" y="156895"/>
                  <a:pt x="130611" y="156656"/>
                  <a:pt x="132784" y="155078"/>
                </a:cubicBezTo>
                <a:cubicBezTo>
                  <a:pt x="134957" y="153501"/>
                  <a:pt x="136058" y="150852"/>
                  <a:pt x="135641" y="148173"/>
                </a:cubicBezTo>
                <a:lnTo>
                  <a:pt x="128111" y="100578"/>
                </a:lnTo>
                <a:lnTo>
                  <a:pt x="162163" y="66496"/>
                </a:lnTo>
                <a:cubicBezTo>
                  <a:pt x="164068" y="64591"/>
                  <a:pt x="164722" y="61793"/>
                  <a:pt x="163889" y="59234"/>
                </a:cubicBezTo>
                <a:cubicBezTo>
                  <a:pt x="163056" y="56674"/>
                  <a:pt x="160883" y="54799"/>
                  <a:pt x="158204" y="54381"/>
                </a:cubicBezTo>
                <a:lnTo>
                  <a:pt x="110638" y="46821"/>
                </a:lnTo>
                <a:lnTo>
                  <a:pt x="88761" y="3899"/>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3896627" y="3369729"/>
            <a:ext cx="3333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高分</a:t>
            </a:r>
            <a:endParaRPr lang="en-US" sz="1100"/>
          </a:p>
        </p:txBody>
      </p:sp>
      <p:sp>
        <p:nvSpPr>
          <p:cNvPr id="16" name="Freeform 16"/>
          <p:cNvSpPr/>
          <p:nvPr/>
        </p:nvSpPr>
        <p:spPr>
          <a:xfrm>
            <a:off x="2320582" y="3846968"/>
            <a:ext cx="2587048" cy="1301173"/>
          </a:xfrm>
          <a:custGeom>
            <a:avLst/>
            <a:gdLst/>
            <a:ahLst/>
            <a:cxnLst/>
            <a:rect l="l" t="t" r="r" b="b"/>
            <a:pathLst>
              <a:path w="2587048" h="1301173">
                <a:moveTo>
                  <a:pt x="76197" y="0"/>
                </a:moveTo>
                <a:lnTo>
                  <a:pt x="2510851" y="0"/>
                </a:lnTo>
                <a:cubicBezTo>
                  <a:pt x="2552932" y="0"/>
                  <a:pt x="2587048" y="34113"/>
                  <a:pt x="2587048" y="76197"/>
                </a:cubicBezTo>
                <a:lnTo>
                  <a:pt x="2587048" y="1224976"/>
                </a:lnTo>
                <a:cubicBezTo>
                  <a:pt x="2587048" y="1267057"/>
                  <a:pt x="2552932" y="1301173"/>
                  <a:pt x="2510851" y="1301173"/>
                </a:cubicBezTo>
                <a:lnTo>
                  <a:pt x="76197" y="1301173"/>
                </a:lnTo>
                <a:cubicBezTo>
                  <a:pt x="34113" y="1301173"/>
                  <a:pt x="0" y="1267057"/>
                  <a:pt x="0" y="1224976"/>
                </a:cubicBezTo>
                <a:lnTo>
                  <a:pt x="0" y="76197"/>
                </a:lnTo>
                <a:cubicBezTo>
                  <a:pt x="0" y="34143"/>
                  <a:pt x="34143" y="0"/>
                  <a:pt x="76197" y="0"/>
                </a:cubicBezTo>
                <a:close/>
              </a:path>
            </a:pathLst>
          </a:custGeom>
          <a:solidFill>
            <a:srgbClr val="FFFFFF">
              <a:alpha val="100000"/>
            </a:srgbClr>
          </a:solidFill>
          <a:ln w="12700">
            <a:solidFill>
              <a:srgbClr val="CCCCCC">
                <a:alpha val="100000"/>
              </a:srgbClr>
            </a:solidFill>
            <a:prstDash val="solid"/>
          </a:ln>
        </p:spPr>
        <p:txBody>
          <a:bodyPr wrap="square" lIns="91440" tIns="45720" rIns="91440" bIns="45720" rtlCol="0" anchor="t">
            <a:noAutofit/>
          </a:bodyPr>
          <a:lstStyle/>
          <a:p>
            <a:pPr algn="ctr">
              <a:defRPr/>
            </a:pPr>
          </a:p>
        </p:txBody>
      </p:sp>
      <p:sp>
        <p:nvSpPr>
          <p:cNvPr id="17" name="AutoShape 17"/>
          <p:cNvSpPr/>
          <p:nvPr/>
        </p:nvSpPr>
        <p:spPr>
          <a:xfrm>
            <a:off x="2475814" y="4002212"/>
            <a:ext cx="235267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诗B：</a:t>
            </a:r>
            <a:endParaRPr lang="en-US" sz="1100"/>
          </a:p>
        </p:txBody>
      </p:sp>
      <p:sp>
        <p:nvSpPr>
          <p:cNvPr id="18" name="AutoShape 18"/>
          <p:cNvSpPr/>
          <p:nvPr/>
        </p:nvSpPr>
        <p:spPr>
          <a:xfrm>
            <a:off x="2475814" y="4307012"/>
            <a:ext cx="2343150" cy="3810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"春天来了，</a:t>
            </a:r>
            <a:endParaRPr lang="en-US" sz="1100"/>
          </a:p>
          <a:p>
            <a:pPr indent="0" algn="l">
              <a:lnSpc>
                <a:spcPct val="117000"/>
              </a:lnSpc>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花开了。"</a:t>
            </a:r>
            <a:endPar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9" name="Freeform 19"/>
          <p:cNvSpPr/>
          <p:nvPr/>
        </p:nvSpPr>
        <p:spPr>
          <a:xfrm>
            <a:off x="2488703" y="4811502"/>
            <a:ext cx="164722" cy="156895"/>
          </a:xfrm>
          <a:custGeom>
            <a:avLst/>
            <a:gdLst/>
            <a:ahLst/>
            <a:cxnLst/>
            <a:rect l="l" t="t" r="r" b="b"/>
            <a:pathLst>
              <a:path w="164722" h="156895">
                <a:moveTo>
                  <a:pt x="88761" y="3899"/>
                </a:moveTo>
                <a:cubicBezTo>
                  <a:pt x="87540" y="1518"/>
                  <a:pt x="85070" y="0"/>
                  <a:pt x="82391" y="0"/>
                </a:cubicBezTo>
                <a:cubicBezTo>
                  <a:pt x="79712" y="0"/>
                  <a:pt x="77242" y="1518"/>
                  <a:pt x="76021" y="3899"/>
                </a:cubicBezTo>
                <a:lnTo>
                  <a:pt x="54112" y="46821"/>
                </a:lnTo>
                <a:lnTo>
                  <a:pt x="6518" y="54381"/>
                </a:lnTo>
                <a:cubicBezTo>
                  <a:pt x="3869" y="54799"/>
                  <a:pt x="1666" y="56674"/>
                  <a:pt x="833" y="59234"/>
                </a:cubicBezTo>
                <a:cubicBezTo>
                  <a:pt x="0" y="61793"/>
                  <a:pt x="683" y="64591"/>
                  <a:pt x="2559" y="66496"/>
                </a:cubicBezTo>
                <a:lnTo>
                  <a:pt x="36611" y="100578"/>
                </a:lnTo>
                <a:lnTo>
                  <a:pt x="29110" y="148173"/>
                </a:lnTo>
                <a:cubicBezTo>
                  <a:pt x="28695" y="150821"/>
                  <a:pt x="29794" y="153501"/>
                  <a:pt x="31967" y="155078"/>
                </a:cubicBezTo>
                <a:cubicBezTo>
                  <a:pt x="34140" y="156656"/>
                  <a:pt x="36998" y="156895"/>
                  <a:pt x="39410" y="155674"/>
                </a:cubicBezTo>
                <a:lnTo>
                  <a:pt x="82391" y="133826"/>
                </a:lnTo>
                <a:lnTo>
                  <a:pt x="125343" y="155674"/>
                </a:lnTo>
                <a:cubicBezTo>
                  <a:pt x="127724" y="156895"/>
                  <a:pt x="130611" y="156656"/>
                  <a:pt x="132784" y="155078"/>
                </a:cubicBezTo>
                <a:cubicBezTo>
                  <a:pt x="134957" y="153501"/>
                  <a:pt x="136058" y="150852"/>
                  <a:pt x="135641" y="148173"/>
                </a:cubicBezTo>
                <a:lnTo>
                  <a:pt x="128111" y="100578"/>
                </a:lnTo>
                <a:lnTo>
                  <a:pt x="162163" y="66496"/>
                </a:lnTo>
                <a:cubicBezTo>
                  <a:pt x="164068" y="64591"/>
                  <a:pt x="164722" y="61793"/>
                  <a:pt x="163889" y="59234"/>
                </a:cubicBezTo>
                <a:cubicBezTo>
                  <a:pt x="163056" y="56674"/>
                  <a:pt x="160883" y="54799"/>
                  <a:pt x="158204" y="54381"/>
                </a:cubicBezTo>
                <a:lnTo>
                  <a:pt x="110638" y="46821"/>
                </a:lnTo>
                <a:lnTo>
                  <a:pt x="88761" y="3899"/>
                </a:lnTo>
                <a:close/>
              </a:path>
            </a:pathLst>
          </a:custGeom>
          <a:solidFill>
            <a:srgbClr val="CCCCCC">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2755331" y="4811502"/>
            <a:ext cx="164722" cy="156895"/>
          </a:xfrm>
          <a:custGeom>
            <a:avLst/>
            <a:gdLst/>
            <a:ahLst/>
            <a:cxnLst/>
            <a:rect l="l" t="t" r="r" b="b"/>
            <a:pathLst>
              <a:path w="164722" h="156895">
                <a:moveTo>
                  <a:pt x="88761" y="3899"/>
                </a:moveTo>
                <a:cubicBezTo>
                  <a:pt x="87540" y="1518"/>
                  <a:pt x="85070" y="0"/>
                  <a:pt x="82391" y="0"/>
                </a:cubicBezTo>
                <a:cubicBezTo>
                  <a:pt x="79712" y="0"/>
                  <a:pt x="77242" y="1518"/>
                  <a:pt x="76021" y="3899"/>
                </a:cubicBezTo>
                <a:lnTo>
                  <a:pt x="54112" y="46821"/>
                </a:lnTo>
                <a:lnTo>
                  <a:pt x="6518" y="54381"/>
                </a:lnTo>
                <a:cubicBezTo>
                  <a:pt x="3869" y="54799"/>
                  <a:pt x="1666" y="56674"/>
                  <a:pt x="833" y="59234"/>
                </a:cubicBezTo>
                <a:cubicBezTo>
                  <a:pt x="0" y="61793"/>
                  <a:pt x="683" y="64591"/>
                  <a:pt x="2559" y="66496"/>
                </a:cubicBezTo>
                <a:lnTo>
                  <a:pt x="36611" y="100578"/>
                </a:lnTo>
                <a:lnTo>
                  <a:pt x="29110" y="148173"/>
                </a:lnTo>
                <a:cubicBezTo>
                  <a:pt x="28695" y="150821"/>
                  <a:pt x="29794" y="153501"/>
                  <a:pt x="31967" y="155078"/>
                </a:cubicBezTo>
                <a:cubicBezTo>
                  <a:pt x="34140" y="156656"/>
                  <a:pt x="36998" y="156895"/>
                  <a:pt x="39410" y="155674"/>
                </a:cubicBezTo>
                <a:lnTo>
                  <a:pt x="82391" y="133826"/>
                </a:lnTo>
                <a:lnTo>
                  <a:pt x="125343" y="155674"/>
                </a:lnTo>
                <a:cubicBezTo>
                  <a:pt x="127724" y="156895"/>
                  <a:pt x="130611" y="156656"/>
                  <a:pt x="132784" y="155078"/>
                </a:cubicBezTo>
                <a:cubicBezTo>
                  <a:pt x="134957" y="153501"/>
                  <a:pt x="136058" y="150852"/>
                  <a:pt x="135641" y="148173"/>
                </a:cubicBezTo>
                <a:lnTo>
                  <a:pt x="128111" y="100578"/>
                </a:lnTo>
                <a:lnTo>
                  <a:pt x="162163" y="66496"/>
                </a:lnTo>
                <a:cubicBezTo>
                  <a:pt x="164068" y="64591"/>
                  <a:pt x="164722" y="61793"/>
                  <a:pt x="163889" y="59234"/>
                </a:cubicBezTo>
                <a:cubicBezTo>
                  <a:pt x="163056" y="56674"/>
                  <a:pt x="160883" y="54799"/>
                  <a:pt x="158204" y="54381"/>
                </a:cubicBezTo>
                <a:lnTo>
                  <a:pt x="110638" y="46821"/>
                </a:lnTo>
                <a:lnTo>
                  <a:pt x="88761" y="3899"/>
                </a:lnTo>
                <a:close/>
              </a:path>
            </a:pathLst>
          </a:custGeom>
          <a:solidFill>
            <a:srgbClr val="CCCCCC">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3021959" y="4811502"/>
            <a:ext cx="164722" cy="156895"/>
          </a:xfrm>
          <a:custGeom>
            <a:avLst/>
            <a:gdLst/>
            <a:ahLst/>
            <a:cxnLst/>
            <a:rect l="l" t="t" r="r" b="b"/>
            <a:pathLst>
              <a:path w="164722" h="156895">
                <a:moveTo>
                  <a:pt x="88761" y="3899"/>
                </a:moveTo>
                <a:cubicBezTo>
                  <a:pt x="87540" y="1518"/>
                  <a:pt x="85070" y="0"/>
                  <a:pt x="82391" y="0"/>
                </a:cubicBezTo>
                <a:cubicBezTo>
                  <a:pt x="79712" y="0"/>
                  <a:pt x="77242" y="1518"/>
                  <a:pt x="76021" y="3899"/>
                </a:cubicBezTo>
                <a:lnTo>
                  <a:pt x="54112" y="46821"/>
                </a:lnTo>
                <a:lnTo>
                  <a:pt x="6518" y="54381"/>
                </a:lnTo>
                <a:cubicBezTo>
                  <a:pt x="3869" y="54799"/>
                  <a:pt x="1666" y="56674"/>
                  <a:pt x="833" y="59234"/>
                </a:cubicBezTo>
                <a:cubicBezTo>
                  <a:pt x="0" y="61793"/>
                  <a:pt x="683" y="64591"/>
                  <a:pt x="2559" y="66496"/>
                </a:cubicBezTo>
                <a:lnTo>
                  <a:pt x="36611" y="100578"/>
                </a:lnTo>
                <a:lnTo>
                  <a:pt x="29110" y="148173"/>
                </a:lnTo>
                <a:cubicBezTo>
                  <a:pt x="28695" y="150821"/>
                  <a:pt x="29794" y="153501"/>
                  <a:pt x="31967" y="155078"/>
                </a:cubicBezTo>
                <a:cubicBezTo>
                  <a:pt x="34140" y="156656"/>
                  <a:pt x="36998" y="156895"/>
                  <a:pt x="39410" y="155674"/>
                </a:cubicBezTo>
                <a:lnTo>
                  <a:pt x="82391" y="133826"/>
                </a:lnTo>
                <a:lnTo>
                  <a:pt x="125343" y="155674"/>
                </a:lnTo>
                <a:cubicBezTo>
                  <a:pt x="127724" y="156895"/>
                  <a:pt x="130611" y="156656"/>
                  <a:pt x="132784" y="155078"/>
                </a:cubicBezTo>
                <a:cubicBezTo>
                  <a:pt x="134957" y="153501"/>
                  <a:pt x="136058" y="150852"/>
                  <a:pt x="135641" y="148173"/>
                </a:cubicBezTo>
                <a:lnTo>
                  <a:pt x="128111" y="100578"/>
                </a:lnTo>
                <a:lnTo>
                  <a:pt x="162163" y="66496"/>
                </a:lnTo>
                <a:cubicBezTo>
                  <a:pt x="164068" y="64591"/>
                  <a:pt x="164722" y="61793"/>
                  <a:pt x="163889" y="59234"/>
                </a:cubicBezTo>
                <a:cubicBezTo>
                  <a:pt x="163056" y="56674"/>
                  <a:pt x="160883" y="54799"/>
                  <a:pt x="158204" y="54381"/>
                </a:cubicBezTo>
                <a:lnTo>
                  <a:pt x="110638" y="46821"/>
                </a:lnTo>
                <a:lnTo>
                  <a:pt x="88761" y="3899"/>
                </a:lnTo>
                <a:close/>
              </a:path>
            </a:pathLst>
          </a:custGeom>
          <a:solidFill>
            <a:srgbClr val="CCCCCC">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3351826" y="4802088"/>
            <a:ext cx="3333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低分</a:t>
            </a:r>
            <a:endParaRPr lang="en-US" sz="1100"/>
          </a:p>
        </p:txBody>
      </p:sp>
      <p:sp>
        <p:nvSpPr>
          <p:cNvPr id="23" name="Freeform 23"/>
          <p:cNvSpPr/>
          <p:nvPr/>
        </p:nvSpPr>
        <p:spPr>
          <a:xfrm>
            <a:off x="5803845" y="2400978"/>
            <a:ext cx="459969" cy="348615"/>
          </a:xfrm>
          <a:custGeom>
            <a:avLst/>
            <a:gdLst/>
            <a:ahLst/>
            <a:cxnLst/>
            <a:rect l="l" t="t" r="r" b="b"/>
            <a:pathLst>
              <a:path w="459969" h="348615">
                <a:moveTo>
                  <a:pt x="448807" y="194489"/>
                </a:moveTo>
                <a:cubicBezTo>
                  <a:pt x="459969" y="183327"/>
                  <a:pt x="459969" y="165199"/>
                  <a:pt x="448807" y="154037"/>
                </a:cubicBezTo>
                <a:lnTo>
                  <a:pt x="305932" y="11162"/>
                </a:lnTo>
                <a:cubicBezTo>
                  <a:pt x="294770" y="0"/>
                  <a:pt x="276642" y="0"/>
                  <a:pt x="265480" y="11162"/>
                </a:cubicBezTo>
                <a:cubicBezTo>
                  <a:pt x="254317" y="22324"/>
                  <a:pt x="254317" y="40452"/>
                  <a:pt x="265480" y="51614"/>
                </a:cubicBezTo>
                <a:lnTo>
                  <a:pt x="359599" y="145732"/>
                </a:lnTo>
                <a:lnTo>
                  <a:pt x="28575" y="145732"/>
                </a:lnTo>
                <a:cubicBezTo>
                  <a:pt x="12769" y="145732"/>
                  <a:pt x="0" y="158501"/>
                  <a:pt x="0" y="174307"/>
                </a:cubicBezTo>
                <a:cubicBezTo>
                  <a:pt x="0" y="190113"/>
                  <a:pt x="12769" y="202882"/>
                  <a:pt x="28575" y="202882"/>
                </a:cubicBezTo>
                <a:lnTo>
                  <a:pt x="359599" y="202882"/>
                </a:lnTo>
                <a:lnTo>
                  <a:pt x="265480" y="297000"/>
                </a:lnTo>
                <a:cubicBezTo>
                  <a:pt x="254317" y="308162"/>
                  <a:pt x="254317" y="326290"/>
                  <a:pt x="265480" y="337452"/>
                </a:cubicBezTo>
                <a:cubicBezTo>
                  <a:pt x="276642" y="348614"/>
                  <a:pt x="294770" y="348614"/>
                  <a:pt x="305932" y="337452"/>
                </a:cubicBezTo>
                <a:lnTo>
                  <a:pt x="448807" y="194577"/>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4" name="Freeform 24"/>
          <p:cNvSpPr/>
          <p:nvPr/>
        </p:nvSpPr>
        <p:spPr>
          <a:xfrm>
            <a:off x="5441913" y="2956247"/>
            <a:ext cx="1181100" cy="1371600"/>
          </a:xfrm>
          <a:custGeom>
            <a:avLst/>
            <a:gdLst/>
            <a:ahLst/>
            <a:cxnLst/>
            <a:rect l="l" t="t" r="r" b="b"/>
            <a:pathLst>
              <a:path w="1181100" h="1371600">
                <a:moveTo>
                  <a:pt x="114295" y="0"/>
                </a:moveTo>
                <a:lnTo>
                  <a:pt x="1066805" y="0"/>
                </a:lnTo>
                <a:cubicBezTo>
                  <a:pt x="1129928" y="0"/>
                  <a:pt x="1181100" y="51172"/>
                  <a:pt x="1181100" y="114295"/>
                </a:cubicBezTo>
                <a:lnTo>
                  <a:pt x="1181100" y="1257305"/>
                </a:lnTo>
                <a:cubicBezTo>
                  <a:pt x="1181100" y="1320428"/>
                  <a:pt x="1129928" y="1371600"/>
                  <a:pt x="1066805" y="1371600"/>
                </a:cubicBezTo>
                <a:lnTo>
                  <a:pt x="114295" y="1371600"/>
                </a:lnTo>
                <a:cubicBezTo>
                  <a:pt x="51172" y="1371600"/>
                  <a:pt x="0" y="1320428"/>
                  <a:pt x="0" y="1257305"/>
                </a:cubicBezTo>
                <a:lnTo>
                  <a:pt x="0" y="114295"/>
                </a:lnTo>
                <a:cubicBezTo>
                  <a:pt x="0" y="51214"/>
                  <a:pt x="51214" y="0"/>
                  <a:pt x="114295"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5866353" y="3146747"/>
            <a:ext cx="332184" cy="342900"/>
          </a:xfrm>
          <a:custGeom>
            <a:avLst/>
            <a:gdLst/>
            <a:ahLst/>
            <a:cxnLst/>
            <a:rect l="l" t="t" r="r" b="b"/>
            <a:pathLst>
              <a:path w="332184" h="342900">
                <a:moveTo>
                  <a:pt x="75009" y="37504"/>
                </a:moveTo>
                <a:cubicBezTo>
                  <a:pt x="75009" y="16810"/>
                  <a:pt x="91819" y="0"/>
                  <a:pt x="112515" y="0"/>
                </a:cubicBezTo>
                <a:lnTo>
                  <a:pt x="128588" y="0"/>
                </a:lnTo>
                <a:cubicBezTo>
                  <a:pt x="140441" y="0"/>
                  <a:pt x="150019" y="9577"/>
                  <a:pt x="150019" y="21431"/>
                </a:cubicBezTo>
                <a:lnTo>
                  <a:pt x="150019" y="321469"/>
                </a:lnTo>
                <a:cubicBezTo>
                  <a:pt x="150019" y="333323"/>
                  <a:pt x="140441" y="342900"/>
                  <a:pt x="128588" y="342900"/>
                </a:cubicBezTo>
                <a:lnTo>
                  <a:pt x="107156" y="342900"/>
                </a:lnTo>
                <a:cubicBezTo>
                  <a:pt x="87198" y="342900"/>
                  <a:pt x="70389" y="329239"/>
                  <a:pt x="65632" y="310752"/>
                </a:cubicBezTo>
                <a:cubicBezTo>
                  <a:pt x="65164" y="310752"/>
                  <a:pt x="64763" y="310752"/>
                  <a:pt x="64294" y="310752"/>
                </a:cubicBezTo>
                <a:cubicBezTo>
                  <a:pt x="34691" y="310752"/>
                  <a:pt x="10715" y="286777"/>
                  <a:pt x="10715" y="257175"/>
                </a:cubicBezTo>
                <a:cubicBezTo>
                  <a:pt x="10715" y="245120"/>
                  <a:pt x="14733" y="234003"/>
                  <a:pt x="21431" y="225027"/>
                </a:cubicBezTo>
                <a:cubicBezTo>
                  <a:pt x="8438" y="215250"/>
                  <a:pt x="0" y="199713"/>
                  <a:pt x="0" y="182166"/>
                </a:cubicBezTo>
                <a:cubicBezTo>
                  <a:pt x="0" y="161472"/>
                  <a:pt x="11787" y="143455"/>
                  <a:pt x="28932" y="134548"/>
                </a:cubicBezTo>
                <a:cubicBezTo>
                  <a:pt x="24177" y="126511"/>
                  <a:pt x="21431" y="117135"/>
                  <a:pt x="21431" y="107156"/>
                </a:cubicBezTo>
                <a:cubicBezTo>
                  <a:pt x="21431" y="77554"/>
                  <a:pt x="45406" y="53577"/>
                  <a:pt x="75009" y="53577"/>
                </a:cubicBezTo>
                <a:lnTo>
                  <a:pt x="75009" y="37504"/>
                </a:lnTo>
                <a:close/>
                <a:moveTo>
                  <a:pt x="257175" y="37504"/>
                </a:moveTo>
                <a:lnTo>
                  <a:pt x="257175" y="53577"/>
                </a:lnTo>
                <a:cubicBezTo>
                  <a:pt x="286778" y="53577"/>
                  <a:pt x="310753" y="77554"/>
                  <a:pt x="310753" y="107156"/>
                </a:cubicBezTo>
                <a:cubicBezTo>
                  <a:pt x="310753" y="117202"/>
                  <a:pt x="308007" y="126578"/>
                  <a:pt x="303252" y="134548"/>
                </a:cubicBezTo>
                <a:cubicBezTo>
                  <a:pt x="320464" y="143455"/>
                  <a:pt x="332184" y="161404"/>
                  <a:pt x="332184" y="182166"/>
                </a:cubicBezTo>
                <a:cubicBezTo>
                  <a:pt x="332184" y="199713"/>
                  <a:pt x="323746" y="215250"/>
                  <a:pt x="310753" y="225027"/>
                </a:cubicBezTo>
                <a:cubicBezTo>
                  <a:pt x="317451" y="234003"/>
                  <a:pt x="321469" y="245120"/>
                  <a:pt x="321469" y="257175"/>
                </a:cubicBezTo>
                <a:cubicBezTo>
                  <a:pt x="321469" y="286777"/>
                  <a:pt x="297493" y="310752"/>
                  <a:pt x="267890" y="310752"/>
                </a:cubicBezTo>
                <a:cubicBezTo>
                  <a:pt x="267421" y="310752"/>
                  <a:pt x="267020" y="310752"/>
                  <a:pt x="266552" y="310752"/>
                </a:cubicBezTo>
                <a:cubicBezTo>
                  <a:pt x="261795" y="329239"/>
                  <a:pt x="244986" y="342900"/>
                  <a:pt x="225028" y="342900"/>
                </a:cubicBezTo>
                <a:lnTo>
                  <a:pt x="203596" y="342900"/>
                </a:lnTo>
                <a:cubicBezTo>
                  <a:pt x="191743" y="342900"/>
                  <a:pt x="182165" y="333323"/>
                  <a:pt x="182165" y="321469"/>
                </a:cubicBezTo>
                <a:lnTo>
                  <a:pt x="182165" y="21431"/>
                </a:lnTo>
                <a:cubicBezTo>
                  <a:pt x="182165" y="9577"/>
                  <a:pt x="191743" y="0"/>
                  <a:pt x="203596" y="0"/>
                </a:cubicBezTo>
                <a:lnTo>
                  <a:pt x="219669" y="0"/>
                </a:lnTo>
                <a:cubicBezTo>
                  <a:pt x="240365" y="0"/>
                  <a:pt x="257175" y="16810"/>
                  <a:pt x="257175" y="37504"/>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5589551" y="3603985"/>
            <a:ext cx="8858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奖励模型</a:t>
            </a:r>
            <a:endParaRPr lang="en-US" sz="1100"/>
          </a:p>
        </p:txBody>
      </p:sp>
      <p:sp>
        <p:nvSpPr>
          <p:cNvPr id="27" name="AutoShape 27"/>
          <p:cNvSpPr/>
          <p:nvPr/>
        </p:nvSpPr>
        <p:spPr>
          <a:xfrm>
            <a:off x="5599076" y="3946847"/>
            <a:ext cx="8667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学习人类偏好</a:t>
            </a:r>
            <a:endParaRPr lang="en-US" sz="1100"/>
          </a:p>
        </p:txBody>
      </p:sp>
      <p:sp>
        <p:nvSpPr>
          <p:cNvPr id="28" name="Freeform 28"/>
          <p:cNvSpPr/>
          <p:nvPr/>
        </p:nvSpPr>
        <p:spPr>
          <a:xfrm>
            <a:off x="6945168" y="1853411"/>
            <a:ext cx="2711160" cy="2968335"/>
          </a:xfrm>
          <a:custGeom>
            <a:avLst/>
            <a:gdLst/>
            <a:ahLst/>
            <a:cxnLst/>
            <a:rect l="l" t="t" r="r" b="b"/>
            <a:pathLst>
              <a:path w="2711160" h="2968335">
                <a:moveTo>
                  <a:pt x="152394" y="0"/>
                </a:moveTo>
                <a:lnTo>
                  <a:pt x="2558767" y="0"/>
                </a:lnTo>
                <a:cubicBezTo>
                  <a:pt x="2642932" y="0"/>
                  <a:pt x="2711160" y="68229"/>
                  <a:pt x="2711160" y="152394"/>
                </a:cubicBezTo>
                <a:lnTo>
                  <a:pt x="2711160" y="2815942"/>
                </a:lnTo>
                <a:cubicBezTo>
                  <a:pt x="2711160" y="2900107"/>
                  <a:pt x="2642932" y="2968335"/>
                  <a:pt x="2558767" y="2968335"/>
                </a:cubicBezTo>
                <a:lnTo>
                  <a:pt x="152394" y="2968335"/>
                </a:lnTo>
                <a:cubicBezTo>
                  <a:pt x="68229" y="2968335"/>
                  <a:pt x="0" y="2900107"/>
                  <a:pt x="0" y="2815942"/>
                </a:cubicBezTo>
                <a:lnTo>
                  <a:pt x="0" y="152394"/>
                </a:lnTo>
                <a:cubicBezTo>
                  <a:pt x="0" y="68287"/>
                  <a:pt x="68287" y="0"/>
                  <a:pt x="152394" y="0"/>
                </a:cubicBezTo>
                <a:close/>
              </a:path>
            </a:pathLst>
          </a:custGeom>
          <a:noFill/>
          <a:ln w="38100">
            <a:solidFill>
              <a:srgbClr val="00CED1">
                <a:alpha val="100000"/>
              </a:srgbClr>
            </a:solidFill>
            <a:prstDash val="solid"/>
          </a:ln>
        </p:spPr>
        <p:txBody>
          <a:bodyPr wrap="square" lIns="91440" tIns="45720" rIns="91440" bIns="45720" rtlCol="0" anchor="t">
            <a:noAutofit/>
          </a:bodyPr>
          <a:lstStyle/>
          <a:p>
            <a:pPr algn="ctr">
              <a:defRPr/>
            </a:pPr>
          </a:p>
        </p:txBody>
      </p:sp>
      <p:sp>
        <p:nvSpPr>
          <p:cNvPr id="29" name="Freeform 29"/>
          <p:cNvSpPr/>
          <p:nvPr/>
        </p:nvSpPr>
        <p:spPr>
          <a:xfrm>
            <a:off x="8070188" y="2099206"/>
            <a:ext cx="459075" cy="457289"/>
          </a:xfrm>
          <a:custGeom>
            <a:avLst/>
            <a:gdLst/>
            <a:ahLst/>
            <a:cxnLst/>
            <a:rect l="l" t="t" r="r" b="b"/>
            <a:pathLst>
              <a:path w="459075" h="457289">
                <a:moveTo>
                  <a:pt x="129480" y="89"/>
                </a:moveTo>
                <a:lnTo>
                  <a:pt x="329505" y="89"/>
                </a:lnTo>
                <a:cubicBezTo>
                  <a:pt x="353169" y="89"/>
                  <a:pt x="372457" y="19556"/>
                  <a:pt x="371564" y="43131"/>
                </a:cubicBezTo>
                <a:cubicBezTo>
                  <a:pt x="371386" y="47863"/>
                  <a:pt x="371207" y="52596"/>
                  <a:pt x="370939" y="57239"/>
                </a:cubicBezTo>
                <a:lnTo>
                  <a:pt x="415230" y="57239"/>
                </a:lnTo>
                <a:cubicBezTo>
                  <a:pt x="438538" y="57239"/>
                  <a:pt x="459075" y="76526"/>
                  <a:pt x="457289" y="101709"/>
                </a:cubicBezTo>
                <a:cubicBezTo>
                  <a:pt x="450592" y="194310"/>
                  <a:pt x="403265" y="245209"/>
                  <a:pt x="351918" y="271819"/>
                </a:cubicBezTo>
                <a:cubicBezTo>
                  <a:pt x="337810" y="279142"/>
                  <a:pt x="323434" y="284589"/>
                  <a:pt x="309771" y="288608"/>
                </a:cubicBezTo>
                <a:cubicBezTo>
                  <a:pt x="291733" y="314146"/>
                  <a:pt x="272980" y="327630"/>
                  <a:pt x="258068" y="334864"/>
                </a:cubicBezTo>
                <a:lnTo>
                  <a:pt x="258068" y="400139"/>
                </a:lnTo>
                <a:lnTo>
                  <a:pt x="315218" y="400139"/>
                </a:lnTo>
                <a:cubicBezTo>
                  <a:pt x="331023" y="400139"/>
                  <a:pt x="343793" y="412908"/>
                  <a:pt x="343793" y="428714"/>
                </a:cubicBezTo>
                <a:cubicBezTo>
                  <a:pt x="343793" y="444520"/>
                  <a:pt x="331023" y="457289"/>
                  <a:pt x="315218" y="457289"/>
                </a:cubicBezTo>
                <a:lnTo>
                  <a:pt x="143768" y="457289"/>
                </a:lnTo>
                <a:cubicBezTo>
                  <a:pt x="127962" y="457289"/>
                  <a:pt x="115193" y="444520"/>
                  <a:pt x="115193" y="428714"/>
                </a:cubicBezTo>
                <a:cubicBezTo>
                  <a:pt x="115193" y="412908"/>
                  <a:pt x="127962" y="400139"/>
                  <a:pt x="143768" y="400139"/>
                </a:cubicBezTo>
                <a:lnTo>
                  <a:pt x="200918" y="400139"/>
                </a:lnTo>
                <a:lnTo>
                  <a:pt x="200918" y="334864"/>
                </a:lnTo>
                <a:cubicBezTo>
                  <a:pt x="186630" y="327986"/>
                  <a:pt x="168861" y="315218"/>
                  <a:pt x="151537" y="291733"/>
                </a:cubicBezTo>
                <a:cubicBezTo>
                  <a:pt x="135107" y="287446"/>
                  <a:pt x="117247" y="280928"/>
                  <a:pt x="99834" y="271104"/>
                </a:cubicBezTo>
                <a:cubicBezTo>
                  <a:pt x="51524" y="244048"/>
                  <a:pt x="7947" y="193060"/>
                  <a:pt x="1697" y="101530"/>
                </a:cubicBezTo>
                <a:cubicBezTo>
                  <a:pt x="0" y="76438"/>
                  <a:pt x="20448" y="57150"/>
                  <a:pt x="43755" y="57150"/>
                </a:cubicBezTo>
                <a:lnTo>
                  <a:pt x="88047" y="57150"/>
                </a:lnTo>
                <a:cubicBezTo>
                  <a:pt x="87779" y="52506"/>
                  <a:pt x="87600" y="47863"/>
                  <a:pt x="87422" y="43040"/>
                </a:cubicBezTo>
                <a:cubicBezTo>
                  <a:pt x="86529" y="19376"/>
                  <a:pt x="105817" y="0"/>
                  <a:pt x="129480" y="0"/>
                </a:cubicBezTo>
                <a:close/>
                <a:moveTo>
                  <a:pt x="91261" y="100102"/>
                </a:moveTo>
                <a:lnTo>
                  <a:pt x="44470" y="100102"/>
                </a:lnTo>
                <a:cubicBezTo>
                  <a:pt x="50006" y="175736"/>
                  <a:pt x="84743" y="213598"/>
                  <a:pt x="120551" y="233690"/>
                </a:cubicBezTo>
                <a:cubicBezTo>
                  <a:pt x="107692" y="200382"/>
                  <a:pt x="97066" y="156895"/>
                  <a:pt x="91261" y="100102"/>
                </a:cubicBezTo>
                <a:close/>
                <a:moveTo>
                  <a:pt x="339952" y="229403"/>
                </a:moveTo>
                <a:cubicBezTo>
                  <a:pt x="376118" y="208151"/>
                  <a:pt x="408800" y="170378"/>
                  <a:pt x="414336" y="100102"/>
                </a:cubicBezTo>
                <a:lnTo>
                  <a:pt x="367635" y="100102"/>
                </a:lnTo>
                <a:cubicBezTo>
                  <a:pt x="362099" y="154483"/>
                  <a:pt x="352098" y="196721"/>
                  <a:pt x="339952" y="229403"/>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0" name="AutoShape 30"/>
          <p:cNvSpPr/>
          <p:nvPr/>
        </p:nvSpPr>
        <p:spPr>
          <a:xfrm>
            <a:off x="7114850" y="2708858"/>
            <a:ext cx="2371725" cy="4572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24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优化目标</a:t>
            </a:r>
            <a:endParaRPr lang="en-US" sz="1100"/>
          </a:p>
        </p:txBody>
      </p:sp>
      <p:sp>
        <p:nvSpPr>
          <p:cNvPr id="31" name="AutoShape 31"/>
          <p:cNvSpPr/>
          <p:nvPr/>
        </p:nvSpPr>
        <p:spPr>
          <a:xfrm>
            <a:off x="7152950" y="3242109"/>
            <a:ext cx="2295525" cy="4572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生成更符合</a:t>
            </a:r>
            <a:endParaRPr lang="en-US" sz="1100"/>
          </a:p>
          <a:p>
            <a:pPr indent="0" algn="ctr">
              <a:lnSpc>
                <a:spcPct val="133000"/>
              </a:lnSpc>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人类偏好的回答</a:t>
            </a:r>
            <a:endPar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2" name="Freeform 32"/>
          <p:cNvSpPr/>
          <p:nvPr/>
        </p:nvSpPr>
        <p:spPr>
          <a:xfrm>
            <a:off x="7218702" y="3888426"/>
            <a:ext cx="135553" cy="125343"/>
          </a:xfrm>
          <a:custGeom>
            <a:avLst/>
            <a:gdLst/>
            <a:ahLst/>
            <a:cxnLst/>
            <a:rect l="l" t="t" r="r" b="b"/>
            <a:pathLst>
              <a:path w="135553" h="125343">
                <a:moveTo>
                  <a:pt x="130344" y="3125"/>
                </a:moveTo>
                <a:cubicBezTo>
                  <a:pt x="134599" y="6220"/>
                  <a:pt x="135553" y="12173"/>
                  <a:pt x="132457" y="16430"/>
                </a:cubicBezTo>
                <a:lnTo>
                  <a:pt x="56257" y="121205"/>
                </a:lnTo>
                <a:cubicBezTo>
                  <a:pt x="54620" y="123466"/>
                  <a:pt x="52090" y="124866"/>
                  <a:pt x="49292" y="125104"/>
                </a:cubicBezTo>
                <a:cubicBezTo>
                  <a:pt x="46494" y="125342"/>
                  <a:pt x="43785" y="124301"/>
                  <a:pt x="41821" y="122336"/>
                </a:cubicBezTo>
                <a:lnTo>
                  <a:pt x="3721" y="84236"/>
                </a:lnTo>
                <a:cubicBezTo>
                  <a:pt x="0" y="80515"/>
                  <a:pt x="0" y="74472"/>
                  <a:pt x="3721" y="70753"/>
                </a:cubicBezTo>
                <a:cubicBezTo>
                  <a:pt x="7442" y="67032"/>
                  <a:pt x="13485" y="67032"/>
                  <a:pt x="17204" y="70753"/>
                </a:cubicBezTo>
                <a:lnTo>
                  <a:pt x="47416" y="100965"/>
                </a:lnTo>
                <a:lnTo>
                  <a:pt x="117068" y="5208"/>
                </a:lnTo>
                <a:cubicBezTo>
                  <a:pt x="120165" y="952"/>
                  <a:pt x="126117" y="0"/>
                  <a:pt x="130374" y="3095"/>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7457678" y="3851746"/>
            <a:ext cx="10382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有用（Helpful）</a:t>
            </a:r>
            <a:endParaRPr lang="en-US" sz="1100"/>
          </a:p>
        </p:txBody>
      </p:sp>
      <p:sp>
        <p:nvSpPr>
          <p:cNvPr id="34" name="Freeform 34"/>
          <p:cNvSpPr/>
          <p:nvPr/>
        </p:nvSpPr>
        <p:spPr>
          <a:xfrm>
            <a:off x="7218702" y="4154977"/>
            <a:ext cx="135553" cy="125343"/>
          </a:xfrm>
          <a:custGeom>
            <a:avLst/>
            <a:gdLst/>
            <a:ahLst/>
            <a:cxnLst/>
            <a:rect l="l" t="t" r="r" b="b"/>
            <a:pathLst>
              <a:path w="135553" h="125343">
                <a:moveTo>
                  <a:pt x="130344" y="3125"/>
                </a:moveTo>
                <a:cubicBezTo>
                  <a:pt x="134599" y="6220"/>
                  <a:pt x="135553" y="12173"/>
                  <a:pt x="132457" y="16430"/>
                </a:cubicBezTo>
                <a:lnTo>
                  <a:pt x="56257" y="121205"/>
                </a:lnTo>
                <a:cubicBezTo>
                  <a:pt x="54620" y="123466"/>
                  <a:pt x="52090" y="124866"/>
                  <a:pt x="49292" y="125104"/>
                </a:cubicBezTo>
                <a:cubicBezTo>
                  <a:pt x="46494" y="125342"/>
                  <a:pt x="43785" y="124301"/>
                  <a:pt x="41821" y="122336"/>
                </a:cubicBezTo>
                <a:lnTo>
                  <a:pt x="3721" y="84236"/>
                </a:lnTo>
                <a:cubicBezTo>
                  <a:pt x="0" y="80515"/>
                  <a:pt x="0" y="74472"/>
                  <a:pt x="3721" y="70753"/>
                </a:cubicBezTo>
                <a:cubicBezTo>
                  <a:pt x="7442" y="67031"/>
                  <a:pt x="13485" y="67031"/>
                  <a:pt x="17204" y="70753"/>
                </a:cubicBezTo>
                <a:lnTo>
                  <a:pt x="47416" y="100965"/>
                </a:lnTo>
                <a:lnTo>
                  <a:pt x="117068" y="5208"/>
                </a:lnTo>
                <a:cubicBezTo>
                  <a:pt x="120165" y="952"/>
                  <a:pt x="126117" y="0"/>
                  <a:pt x="130374" y="3095"/>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5" name="AutoShape 35"/>
          <p:cNvSpPr/>
          <p:nvPr/>
        </p:nvSpPr>
        <p:spPr>
          <a:xfrm>
            <a:off x="7457678" y="4118297"/>
            <a:ext cx="102870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诚实（Honest）</a:t>
            </a:r>
            <a:endParaRPr lang="en-US" sz="1100"/>
          </a:p>
        </p:txBody>
      </p:sp>
      <p:sp>
        <p:nvSpPr>
          <p:cNvPr id="36" name="Freeform 36"/>
          <p:cNvSpPr/>
          <p:nvPr/>
        </p:nvSpPr>
        <p:spPr>
          <a:xfrm>
            <a:off x="7218702" y="4421528"/>
            <a:ext cx="135553" cy="125343"/>
          </a:xfrm>
          <a:custGeom>
            <a:avLst/>
            <a:gdLst/>
            <a:ahLst/>
            <a:cxnLst/>
            <a:rect l="l" t="t" r="r" b="b"/>
            <a:pathLst>
              <a:path w="135553" h="125343">
                <a:moveTo>
                  <a:pt x="130344" y="3125"/>
                </a:moveTo>
                <a:cubicBezTo>
                  <a:pt x="134599" y="6220"/>
                  <a:pt x="135553" y="12173"/>
                  <a:pt x="132457" y="16430"/>
                </a:cubicBezTo>
                <a:lnTo>
                  <a:pt x="56257" y="121205"/>
                </a:lnTo>
                <a:cubicBezTo>
                  <a:pt x="54620" y="123466"/>
                  <a:pt x="52090" y="124866"/>
                  <a:pt x="49292" y="125104"/>
                </a:cubicBezTo>
                <a:cubicBezTo>
                  <a:pt x="46494" y="125342"/>
                  <a:pt x="43785" y="124301"/>
                  <a:pt x="41821" y="122336"/>
                </a:cubicBezTo>
                <a:lnTo>
                  <a:pt x="3721" y="84236"/>
                </a:lnTo>
                <a:cubicBezTo>
                  <a:pt x="0" y="80515"/>
                  <a:pt x="0" y="74472"/>
                  <a:pt x="3721" y="70753"/>
                </a:cubicBezTo>
                <a:cubicBezTo>
                  <a:pt x="7442" y="67032"/>
                  <a:pt x="13485" y="67032"/>
                  <a:pt x="17204" y="70753"/>
                </a:cubicBezTo>
                <a:lnTo>
                  <a:pt x="47416" y="100965"/>
                </a:lnTo>
                <a:lnTo>
                  <a:pt x="117068" y="5208"/>
                </a:lnTo>
                <a:cubicBezTo>
                  <a:pt x="120165" y="952"/>
                  <a:pt x="126117" y="0"/>
                  <a:pt x="130374" y="3095"/>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7" name="AutoShape 37"/>
          <p:cNvSpPr/>
          <p:nvPr/>
        </p:nvSpPr>
        <p:spPr>
          <a:xfrm>
            <a:off x="7457678" y="4384849"/>
            <a:ext cx="116205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无害（Harmless）</a:t>
            </a:r>
            <a:endParaRPr lang="en-US" sz="1100"/>
          </a:p>
        </p:txBody>
      </p:sp>
    </p:spTree>
  </p:cSld>
  <p:clrMapOvr>
    <a:masterClrMapping/>
  </p:clrMapOvr>
  <p:transition spd="slow">
    <p:fade/>
  </p:transition>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69735" y="369735"/>
            <a:ext cx="11649723" cy="59157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100" b="0" i="0" u="none" strike="noStrike">
                <a:solidFill>
                  <a:srgbClr val="5B92E5"/>
                </a:solidFill>
                <a:latin typeface="Alimama ShuHeiTi"/>
                <a:ea typeface="Alimama ShuHeiTi"/>
                <a:cs typeface="Alimama ShuHeiTi"/>
                <a:sym typeface="Alimama ShuHeiTi"/>
              </a:rPr>
              <a:t>思维链能力培养</a:t>
            </a:r>
            <a:endParaRPr lang="en-US" sz="1100"/>
          </a:p>
        </p:txBody>
      </p:sp>
      <p:sp>
        <p:nvSpPr>
          <p:cNvPr id="3" name="Freeform 3"/>
          <p:cNvSpPr/>
          <p:nvPr/>
        </p:nvSpPr>
        <p:spPr>
          <a:xfrm>
            <a:off x="369735" y="1257044"/>
            <a:ext cx="11452531" cy="3586425"/>
          </a:xfrm>
          <a:custGeom>
            <a:avLst/>
            <a:gdLst/>
            <a:ahLst/>
            <a:cxnLst/>
            <a:rect l="l" t="t" r="r" b="b"/>
            <a:pathLst>
              <a:path w="11452531" h="3586425">
                <a:moveTo>
                  <a:pt x="147904" y="0"/>
                </a:moveTo>
                <a:lnTo>
                  <a:pt x="11304626" y="0"/>
                </a:lnTo>
                <a:cubicBezTo>
                  <a:pt x="11386312" y="0"/>
                  <a:pt x="11452531" y="66219"/>
                  <a:pt x="11452531" y="147904"/>
                </a:cubicBezTo>
                <a:lnTo>
                  <a:pt x="11452531" y="3438522"/>
                </a:lnTo>
                <a:cubicBezTo>
                  <a:pt x="11452531" y="3520208"/>
                  <a:pt x="11386312" y="3586425"/>
                  <a:pt x="11304626" y="3586425"/>
                </a:cubicBezTo>
                <a:lnTo>
                  <a:pt x="147904" y="3586425"/>
                </a:lnTo>
                <a:cubicBezTo>
                  <a:pt x="66219" y="3586425"/>
                  <a:pt x="0" y="3520208"/>
                  <a:pt x="0" y="3438522"/>
                </a:cubicBezTo>
                <a:lnTo>
                  <a:pt x="0" y="147904"/>
                </a:lnTo>
                <a:cubicBezTo>
                  <a:pt x="0" y="66274"/>
                  <a:pt x="66274" y="0"/>
                  <a:pt x="147904"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23822" y="1552723"/>
            <a:ext cx="10944146" cy="258814"/>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通过训练让模型学会逐步推理</a:t>
            </a:r>
            <a:endParaRPr lang="en-US" sz="1100"/>
          </a:p>
        </p:txBody>
      </p:sp>
      <p:sp>
        <p:nvSpPr>
          <p:cNvPr id="5" name="Freeform 5"/>
          <p:cNvSpPr/>
          <p:nvPr/>
        </p:nvSpPr>
        <p:spPr>
          <a:xfrm>
            <a:off x="665417" y="2033143"/>
            <a:ext cx="369735" cy="369735"/>
          </a:xfrm>
          <a:custGeom>
            <a:avLst/>
            <a:gdLst/>
            <a:ahLst/>
            <a:cxnLst/>
            <a:rect l="l" t="t" r="r" b="b"/>
            <a:pathLst>
              <a:path w="369735" h="369735">
                <a:moveTo>
                  <a:pt x="184868" y="0"/>
                </a:moveTo>
                <a:lnTo>
                  <a:pt x="184868" y="0"/>
                </a:lnTo>
                <a:cubicBezTo>
                  <a:pt x="286898" y="0"/>
                  <a:pt x="369735" y="82836"/>
                  <a:pt x="369735" y="184868"/>
                </a:cubicBezTo>
                <a:lnTo>
                  <a:pt x="369735" y="184868"/>
                </a:lnTo>
                <a:cubicBezTo>
                  <a:pt x="369735" y="286898"/>
                  <a:pt x="286898" y="369735"/>
                  <a:pt x="184868" y="369735"/>
                </a:cubicBezTo>
                <a:lnTo>
                  <a:pt x="184868" y="369735"/>
                </a:lnTo>
                <a:cubicBezTo>
                  <a:pt x="82836" y="369735"/>
                  <a:pt x="0" y="286898"/>
                  <a:pt x="0" y="184868"/>
                </a:cubicBezTo>
                <a:lnTo>
                  <a:pt x="0" y="184868"/>
                </a:lnTo>
                <a:cubicBezTo>
                  <a:pt x="0" y="82836"/>
                  <a:pt x="82836" y="0"/>
                  <a:pt x="184868"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817460" y="2088694"/>
            <a:ext cx="147894" cy="25881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7" name="Freeform 7"/>
          <p:cNvSpPr/>
          <p:nvPr/>
        </p:nvSpPr>
        <p:spPr>
          <a:xfrm>
            <a:off x="1182993" y="2033143"/>
            <a:ext cx="10343327" cy="517629"/>
          </a:xfrm>
          <a:custGeom>
            <a:avLst/>
            <a:gdLst/>
            <a:ahLst/>
            <a:cxnLst/>
            <a:rect l="l" t="t" r="r" b="b"/>
            <a:pathLst>
              <a:path w="10343327" h="517629">
                <a:moveTo>
                  <a:pt x="73948" y="0"/>
                </a:moveTo>
                <a:lnTo>
                  <a:pt x="10269377" y="0"/>
                </a:lnTo>
                <a:cubicBezTo>
                  <a:pt x="10310219" y="0"/>
                  <a:pt x="10343327" y="33108"/>
                  <a:pt x="10343327" y="73948"/>
                </a:cubicBezTo>
                <a:lnTo>
                  <a:pt x="10343327" y="443680"/>
                </a:lnTo>
                <a:cubicBezTo>
                  <a:pt x="10343327" y="484522"/>
                  <a:pt x="10310219" y="517629"/>
                  <a:pt x="10269377" y="517629"/>
                </a:cubicBezTo>
                <a:lnTo>
                  <a:pt x="73948" y="517629"/>
                </a:lnTo>
                <a:cubicBezTo>
                  <a:pt x="33108" y="517629"/>
                  <a:pt x="0" y="484522"/>
                  <a:pt x="0" y="443680"/>
                </a:cubicBezTo>
                <a:lnTo>
                  <a:pt x="0" y="73948"/>
                </a:lnTo>
                <a:cubicBezTo>
                  <a:pt x="0" y="33136"/>
                  <a:pt x="33136" y="0"/>
                  <a:pt x="73948"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1330835" y="2180983"/>
            <a:ext cx="10121486" cy="22184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理解问题：明确题目要求和已知条件</a:t>
            </a:r>
            <a:endParaRPr lang="en-US" sz="1100"/>
          </a:p>
        </p:txBody>
      </p:sp>
      <p:sp>
        <p:nvSpPr>
          <p:cNvPr id="9" name="Freeform 9"/>
          <p:cNvSpPr/>
          <p:nvPr/>
        </p:nvSpPr>
        <p:spPr>
          <a:xfrm>
            <a:off x="665417" y="2698431"/>
            <a:ext cx="369735" cy="369735"/>
          </a:xfrm>
          <a:custGeom>
            <a:avLst/>
            <a:gdLst/>
            <a:ahLst/>
            <a:cxnLst/>
            <a:rect l="l" t="t" r="r" b="b"/>
            <a:pathLst>
              <a:path w="369735" h="369735">
                <a:moveTo>
                  <a:pt x="184868" y="0"/>
                </a:moveTo>
                <a:lnTo>
                  <a:pt x="184868" y="0"/>
                </a:lnTo>
                <a:cubicBezTo>
                  <a:pt x="286898" y="0"/>
                  <a:pt x="369735" y="82836"/>
                  <a:pt x="369735" y="184868"/>
                </a:cubicBezTo>
                <a:lnTo>
                  <a:pt x="369735" y="184868"/>
                </a:lnTo>
                <a:cubicBezTo>
                  <a:pt x="369735" y="286898"/>
                  <a:pt x="286898" y="369735"/>
                  <a:pt x="184868" y="369735"/>
                </a:cubicBezTo>
                <a:lnTo>
                  <a:pt x="184868" y="369735"/>
                </a:lnTo>
                <a:cubicBezTo>
                  <a:pt x="82836" y="369735"/>
                  <a:pt x="0" y="286898"/>
                  <a:pt x="0" y="184868"/>
                </a:cubicBezTo>
                <a:lnTo>
                  <a:pt x="0" y="184868"/>
                </a:lnTo>
                <a:cubicBezTo>
                  <a:pt x="0" y="82836"/>
                  <a:pt x="82836" y="0"/>
                  <a:pt x="184868"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803411" y="2753982"/>
            <a:ext cx="175624" cy="25881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11" name="Freeform 11"/>
          <p:cNvSpPr/>
          <p:nvPr/>
        </p:nvSpPr>
        <p:spPr>
          <a:xfrm>
            <a:off x="1182993" y="2698431"/>
            <a:ext cx="10343327" cy="517629"/>
          </a:xfrm>
          <a:custGeom>
            <a:avLst/>
            <a:gdLst/>
            <a:ahLst/>
            <a:cxnLst/>
            <a:rect l="l" t="t" r="r" b="b"/>
            <a:pathLst>
              <a:path w="10343327" h="517629">
                <a:moveTo>
                  <a:pt x="73948" y="0"/>
                </a:moveTo>
                <a:lnTo>
                  <a:pt x="10269377" y="0"/>
                </a:lnTo>
                <a:cubicBezTo>
                  <a:pt x="10310219" y="0"/>
                  <a:pt x="10343327" y="33108"/>
                  <a:pt x="10343327" y="73948"/>
                </a:cubicBezTo>
                <a:lnTo>
                  <a:pt x="10343327" y="443680"/>
                </a:lnTo>
                <a:cubicBezTo>
                  <a:pt x="10343327" y="484522"/>
                  <a:pt x="10310219" y="517629"/>
                  <a:pt x="10269377" y="517629"/>
                </a:cubicBezTo>
                <a:lnTo>
                  <a:pt x="73948" y="517629"/>
                </a:lnTo>
                <a:cubicBezTo>
                  <a:pt x="33108" y="517629"/>
                  <a:pt x="0" y="484522"/>
                  <a:pt x="0" y="443680"/>
                </a:cubicBezTo>
                <a:lnTo>
                  <a:pt x="0" y="73948"/>
                </a:lnTo>
                <a:cubicBezTo>
                  <a:pt x="0" y="33136"/>
                  <a:pt x="33136" y="0"/>
                  <a:pt x="73948"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1330835" y="2846271"/>
            <a:ext cx="10121486" cy="22184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分析步骤：拆解问题为多个子问题</a:t>
            </a:r>
            <a:endParaRPr lang="en-US" sz="1100"/>
          </a:p>
        </p:txBody>
      </p:sp>
      <p:sp>
        <p:nvSpPr>
          <p:cNvPr id="13" name="Freeform 13"/>
          <p:cNvSpPr/>
          <p:nvPr/>
        </p:nvSpPr>
        <p:spPr>
          <a:xfrm>
            <a:off x="665417" y="3363719"/>
            <a:ext cx="369735" cy="369735"/>
          </a:xfrm>
          <a:custGeom>
            <a:avLst/>
            <a:gdLst/>
            <a:ahLst/>
            <a:cxnLst/>
            <a:rect l="l" t="t" r="r" b="b"/>
            <a:pathLst>
              <a:path w="369735" h="369735">
                <a:moveTo>
                  <a:pt x="184868" y="0"/>
                </a:moveTo>
                <a:lnTo>
                  <a:pt x="184868" y="0"/>
                </a:lnTo>
                <a:cubicBezTo>
                  <a:pt x="286898" y="0"/>
                  <a:pt x="369735" y="82836"/>
                  <a:pt x="369735" y="184868"/>
                </a:cubicBezTo>
                <a:lnTo>
                  <a:pt x="369735" y="184868"/>
                </a:lnTo>
                <a:cubicBezTo>
                  <a:pt x="369735" y="286898"/>
                  <a:pt x="286898" y="369735"/>
                  <a:pt x="184868" y="369735"/>
                </a:cubicBezTo>
                <a:lnTo>
                  <a:pt x="184868" y="369735"/>
                </a:lnTo>
                <a:cubicBezTo>
                  <a:pt x="82836" y="369735"/>
                  <a:pt x="0" y="286898"/>
                  <a:pt x="0" y="184868"/>
                </a:cubicBezTo>
                <a:lnTo>
                  <a:pt x="0" y="184868"/>
                </a:lnTo>
                <a:cubicBezTo>
                  <a:pt x="0" y="82836"/>
                  <a:pt x="82836" y="0"/>
                  <a:pt x="184868"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801311" y="3419251"/>
            <a:ext cx="184867" cy="25881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3</a:t>
            </a:r>
            <a:endParaRPr lang="en-US" sz="1100"/>
          </a:p>
        </p:txBody>
      </p:sp>
      <p:sp>
        <p:nvSpPr>
          <p:cNvPr id="15" name="Freeform 15"/>
          <p:cNvSpPr/>
          <p:nvPr/>
        </p:nvSpPr>
        <p:spPr>
          <a:xfrm>
            <a:off x="1182993" y="3363719"/>
            <a:ext cx="10343327" cy="517629"/>
          </a:xfrm>
          <a:custGeom>
            <a:avLst/>
            <a:gdLst/>
            <a:ahLst/>
            <a:cxnLst/>
            <a:rect l="l" t="t" r="r" b="b"/>
            <a:pathLst>
              <a:path w="10343327" h="517629">
                <a:moveTo>
                  <a:pt x="73948" y="0"/>
                </a:moveTo>
                <a:lnTo>
                  <a:pt x="10269377" y="0"/>
                </a:lnTo>
                <a:cubicBezTo>
                  <a:pt x="10310219" y="0"/>
                  <a:pt x="10343327" y="33108"/>
                  <a:pt x="10343327" y="73948"/>
                </a:cubicBezTo>
                <a:lnTo>
                  <a:pt x="10343327" y="443680"/>
                </a:lnTo>
                <a:cubicBezTo>
                  <a:pt x="10343327" y="484522"/>
                  <a:pt x="10310219" y="517629"/>
                  <a:pt x="10269377" y="517629"/>
                </a:cubicBezTo>
                <a:lnTo>
                  <a:pt x="73948" y="517629"/>
                </a:lnTo>
                <a:cubicBezTo>
                  <a:pt x="33108" y="517629"/>
                  <a:pt x="0" y="484522"/>
                  <a:pt x="0" y="443680"/>
                </a:cubicBezTo>
                <a:lnTo>
                  <a:pt x="0" y="73948"/>
                </a:lnTo>
                <a:cubicBezTo>
                  <a:pt x="0" y="33136"/>
                  <a:pt x="33136" y="0"/>
                  <a:pt x="73948"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1330835" y="3511558"/>
            <a:ext cx="10121486" cy="22184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逐步求解：依次解决每个子问题</a:t>
            </a:r>
            <a:endParaRPr lang="en-US" sz="1100"/>
          </a:p>
        </p:txBody>
      </p:sp>
      <p:sp>
        <p:nvSpPr>
          <p:cNvPr id="17" name="Freeform 17"/>
          <p:cNvSpPr/>
          <p:nvPr/>
        </p:nvSpPr>
        <p:spPr>
          <a:xfrm>
            <a:off x="665417" y="4029006"/>
            <a:ext cx="369735" cy="369735"/>
          </a:xfrm>
          <a:custGeom>
            <a:avLst/>
            <a:gdLst/>
            <a:ahLst/>
            <a:cxnLst/>
            <a:rect l="l" t="t" r="r" b="b"/>
            <a:pathLst>
              <a:path w="369735" h="369735">
                <a:moveTo>
                  <a:pt x="184868" y="0"/>
                </a:moveTo>
                <a:lnTo>
                  <a:pt x="184868" y="0"/>
                </a:lnTo>
                <a:cubicBezTo>
                  <a:pt x="286898" y="0"/>
                  <a:pt x="369735" y="82836"/>
                  <a:pt x="369735" y="184868"/>
                </a:cubicBezTo>
                <a:lnTo>
                  <a:pt x="369735" y="184868"/>
                </a:lnTo>
                <a:cubicBezTo>
                  <a:pt x="369735" y="286898"/>
                  <a:pt x="286898" y="369735"/>
                  <a:pt x="184868" y="369735"/>
                </a:cubicBezTo>
                <a:lnTo>
                  <a:pt x="184868" y="369735"/>
                </a:lnTo>
                <a:cubicBezTo>
                  <a:pt x="82836" y="369735"/>
                  <a:pt x="0" y="286898"/>
                  <a:pt x="0" y="184868"/>
                </a:cubicBezTo>
                <a:lnTo>
                  <a:pt x="0" y="184868"/>
                </a:lnTo>
                <a:cubicBezTo>
                  <a:pt x="0" y="82836"/>
                  <a:pt x="82836" y="0"/>
                  <a:pt x="184868"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801442" y="4084539"/>
            <a:ext cx="184867" cy="25881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4</a:t>
            </a:r>
            <a:endParaRPr lang="en-US" sz="1100"/>
          </a:p>
        </p:txBody>
      </p:sp>
      <p:sp>
        <p:nvSpPr>
          <p:cNvPr id="19" name="Freeform 19"/>
          <p:cNvSpPr/>
          <p:nvPr/>
        </p:nvSpPr>
        <p:spPr>
          <a:xfrm>
            <a:off x="1182993" y="4029006"/>
            <a:ext cx="10343327" cy="517629"/>
          </a:xfrm>
          <a:custGeom>
            <a:avLst/>
            <a:gdLst/>
            <a:ahLst/>
            <a:cxnLst/>
            <a:rect l="l" t="t" r="r" b="b"/>
            <a:pathLst>
              <a:path w="10343327" h="517629">
                <a:moveTo>
                  <a:pt x="73948" y="0"/>
                </a:moveTo>
                <a:lnTo>
                  <a:pt x="10269377" y="0"/>
                </a:lnTo>
                <a:cubicBezTo>
                  <a:pt x="10310219" y="0"/>
                  <a:pt x="10343327" y="33108"/>
                  <a:pt x="10343327" y="73948"/>
                </a:cubicBezTo>
                <a:lnTo>
                  <a:pt x="10343327" y="443680"/>
                </a:lnTo>
                <a:cubicBezTo>
                  <a:pt x="10343327" y="484522"/>
                  <a:pt x="10310219" y="517629"/>
                  <a:pt x="10269377" y="517629"/>
                </a:cubicBezTo>
                <a:lnTo>
                  <a:pt x="73948" y="517629"/>
                </a:lnTo>
                <a:cubicBezTo>
                  <a:pt x="33108" y="517629"/>
                  <a:pt x="0" y="484522"/>
                  <a:pt x="0" y="443680"/>
                </a:cubicBezTo>
                <a:lnTo>
                  <a:pt x="0" y="73948"/>
                </a:lnTo>
                <a:cubicBezTo>
                  <a:pt x="0" y="33136"/>
                  <a:pt x="33136" y="0"/>
                  <a:pt x="73948"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1330835" y="4176846"/>
            <a:ext cx="10121486" cy="22184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验证答案：检查结果的正确性</a:t>
            </a:r>
            <a:endParaRPr lang="en-US" sz="1100"/>
          </a:p>
        </p:txBody>
      </p:sp>
      <p:sp>
        <p:nvSpPr>
          <p:cNvPr id="21" name="Freeform 21"/>
          <p:cNvSpPr/>
          <p:nvPr/>
        </p:nvSpPr>
        <p:spPr>
          <a:xfrm>
            <a:off x="369735" y="5063902"/>
            <a:ext cx="5619967" cy="1312558"/>
          </a:xfrm>
          <a:custGeom>
            <a:avLst/>
            <a:gdLst/>
            <a:ahLst/>
            <a:cxnLst/>
            <a:rect l="l" t="t" r="r" b="b"/>
            <a:pathLst>
              <a:path w="5619967" h="1312558">
                <a:moveTo>
                  <a:pt x="110924" y="0"/>
                </a:moveTo>
                <a:lnTo>
                  <a:pt x="5509042" y="0"/>
                </a:lnTo>
                <a:cubicBezTo>
                  <a:pt x="5570304" y="0"/>
                  <a:pt x="5619967" y="49662"/>
                  <a:pt x="5619967" y="110924"/>
                </a:cubicBezTo>
                <a:lnTo>
                  <a:pt x="5619967" y="1201635"/>
                </a:lnTo>
                <a:cubicBezTo>
                  <a:pt x="5619967" y="1262896"/>
                  <a:pt x="5570304" y="1312558"/>
                  <a:pt x="5509042" y="1312558"/>
                </a:cubicBezTo>
                <a:lnTo>
                  <a:pt x="110924" y="1312558"/>
                </a:lnTo>
                <a:cubicBezTo>
                  <a:pt x="49662" y="1312558"/>
                  <a:pt x="0" y="1262896"/>
                  <a:pt x="0" y="1201635"/>
                </a:cubicBezTo>
                <a:lnTo>
                  <a:pt x="0" y="110924"/>
                </a:lnTo>
                <a:cubicBezTo>
                  <a:pt x="0" y="49704"/>
                  <a:pt x="49704" y="0"/>
                  <a:pt x="110924"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algn="ctr">
              <a:defRPr/>
            </a:pPr>
          </a:p>
        </p:txBody>
      </p:sp>
      <p:sp>
        <p:nvSpPr>
          <p:cNvPr id="22" name="Freeform 22"/>
          <p:cNvSpPr/>
          <p:nvPr/>
        </p:nvSpPr>
        <p:spPr>
          <a:xfrm>
            <a:off x="3058661" y="5248770"/>
            <a:ext cx="242639" cy="277301"/>
          </a:xfrm>
          <a:custGeom>
            <a:avLst/>
            <a:gdLst/>
            <a:ahLst/>
            <a:cxnLst/>
            <a:rect l="l" t="t" r="r" b="b"/>
            <a:pathLst>
              <a:path w="242639" h="277301">
                <a:moveTo>
                  <a:pt x="242639" y="111462"/>
                </a:moveTo>
                <a:cubicBezTo>
                  <a:pt x="234624" y="116770"/>
                  <a:pt x="225415" y="121048"/>
                  <a:pt x="215829" y="124460"/>
                </a:cubicBezTo>
                <a:cubicBezTo>
                  <a:pt x="190374" y="133560"/>
                  <a:pt x="156957" y="138650"/>
                  <a:pt x="121319" y="138650"/>
                </a:cubicBezTo>
                <a:cubicBezTo>
                  <a:pt x="85682" y="138650"/>
                  <a:pt x="52211" y="133505"/>
                  <a:pt x="26808" y="124460"/>
                </a:cubicBezTo>
                <a:cubicBezTo>
                  <a:pt x="17277" y="121048"/>
                  <a:pt x="8016" y="116770"/>
                  <a:pt x="0" y="111462"/>
                </a:cubicBezTo>
                <a:lnTo>
                  <a:pt x="0" y="155981"/>
                </a:lnTo>
                <a:cubicBezTo>
                  <a:pt x="0" y="179921"/>
                  <a:pt x="54323" y="199310"/>
                  <a:pt x="121319" y="199310"/>
                </a:cubicBezTo>
                <a:cubicBezTo>
                  <a:pt x="188316" y="199310"/>
                  <a:pt x="242639" y="179921"/>
                  <a:pt x="242639" y="155981"/>
                </a:cubicBezTo>
                <a:lnTo>
                  <a:pt x="242639" y="111462"/>
                </a:lnTo>
                <a:close/>
                <a:moveTo>
                  <a:pt x="242639" y="69325"/>
                </a:moveTo>
                <a:lnTo>
                  <a:pt x="242639" y="43329"/>
                </a:lnTo>
                <a:cubicBezTo>
                  <a:pt x="242639" y="19389"/>
                  <a:pt x="188316" y="0"/>
                  <a:pt x="121319" y="0"/>
                </a:cubicBezTo>
                <a:cubicBezTo>
                  <a:pt x="54323" y="0"/>
                  <a:pt x="0" y="19389"/>
                  <a:pt x="0" y="43329"/>
                </a:cubicBezTo>
                <a:lnTo>
                  <a:pt x="0" y="69325"/>
                </a:lnTo>
                <a:cubicBezTo>
                  <a:pt x="0" y="93264"/>
                  <a:pt x="54323" y="112654"/>
                  <a:pt x="121319" y="112654"/>
                </a:cubicBezTo>
                <a:cubicBezTo>
                  <a:pt x="188316" y="112654"/>
                  <a:pt x="242639" y="93264"/>
                  <a:pt x="242639" y="69325"/>
                </a:cubicBezTo>
                <a:close/>
                <a:moveTo>
                  <a:pt x="215829" y="211117"/>
                </a:moveTo>
                <a:cubicBezTo>
                  <a:pt x="190428" y="220162"/>
                  <a:pt x="157011" y="225307"/>
                  <a:pt x="121319" y="225307"/>
                </a:cubicBezTo>
                <a:cubicBezTo>
                  <a:pt x="85628" y="225307"/>
                  <a:pt x="52211" y="220162"/>
                  <a:pt x="26808" y="211117"/>
                </a:cubicBezTo>
                <a:cubicBezTo>
                  <a:pt x="17277" y="207705"/>
                  <a:pt x="8016" y="203426"/>
                  <a:pt x="0" y="198119"/>
                </a:cubicBezTo>
                <a:lnTo>
                  <a:pt x="0" y="233973"/>
                </a:lnTo>
                <a:cubicBezTo>
                  <a:pt x="0" y="257912"/>
                  <a:pt x="54323" y="277301"/>
                  <a:pt x="121319" y="277301"/>
                </a:cubicBezTo>
                <a:cubicBezTo>
                  <a:pt x="188316" y="277301"/>
                  <a:pt x="242639" y="257912"/>
                  <a:pt x="242639" y="233973"/>
                </a:cubicBezTo>
                <a:lnTo>
                  <a:pt x="242639" y="198119"/>
                </a:lnTo>
                <a:cubicBezTo>
                  <a:pt x="234624" y="203426"/>
                  <a:pt x="225415" y="207705"/>
                  <a:pt x="215829" y="211117"/>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513007" y="5636883"/>
            <a:ext cx="5333422" cy="258814"/>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预训练阶段</a:t>
            </a:r>
            <a:endParaRPr lang="en-US" sz="1100"/>
          </a:p>
        </p:txBody>
      </p:sp>
      <p:sp>
        <p:nvSpPr>
          <p:cNvPr id="24" name="AutoShape 24"/>
          <p:cNvSpPr/>
          <p:nvPr/>
        </p:nvSpPr>
        <p:spPr>
          <a:xfrm>
            <a:off x="517628" y="5969463"/>
            <a:ext cx="5324179" cy="221841"/>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大量推理文本数据</a:t>
            </a:r>
            <a:endParaRPr lang="en-US" sz="1100"/>
          </a:p>
        </p:txBody>
      </p:sp>
      <p:sp>
        <p:nvSpPr>
          <p:cNvPr id="25" name="Freeform 25"/>
          <p:cNvSpPr/>
          <p:nvPr/>
        </p:nvSpPr>
        <p:spPr>
          <a:xfrm>
            <a:off x="6207367" y="5063902"/>
            <a:ext cx="5619967" cy="1312558"/>
          </a:xfrm>
          <a:custGeom>
            <a:avLst/>
            <a:gdLst/>
            <a:ahLst/>
            <a:cxnLst/>
            <a:rect l="l" t="t" r="r" b="b"/>
            <a:pathLst>
              <a:path w="5619967" h="1312558">
                <a:moveTo>
                  <a:pt x="110924" y="0"/>
                </a:moveTo>
                <a:lnTo>
                  <a:pt x="5509042" y="0"/>
                </a:lnTo>
                <a:cubicBezTo>
                  <a:pt x="5570304" y="0"/>
                  <a:pt x="5619967" y="49662"/>
                  <a:pt x="5619967" y="110924"/>
                </a:cubicBezTo>
                <a:lnTo>
                  <a:pt x="5619967" y="1201635"/>
                </a:lnTo>
                <a:cubicBezTo>
                  <a:pt x="5619967" y="1262896"/>
                  <a:pt x="5570304" y="1312558"/>
                  <a:pt x="5509042" y="1312558"/>
                </a:cubicBezTo>
                <a:lnTo>
                  <a:pt x="110924" y="1312558"/>
                </a:lnTo>
                <a:cubicBezTo>
                  <a:pt x="49662" y="1312558"/>
                  <a:pt x="0" y="1262896"/>
                  <a:pt x="0" y="1201635"/>
                </a:cubicBezTo>
                <a:lnTo>
                  <a:pt x="0" y="110924"/>
                </a:lnTo>
                <a:cubicBezTo>
                  <a:pt x="0" y="49704"/>
                  <a:pt x="49704" y="0"/>
                  <a:pt x="110924"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algn="ctr">
              <a:defRPr/>
            </a:pPr>
          </a:p>
        </p:txBody>
      </p:sp>
      <p:sp>
        <p:nvSpPr>
          <p:cNvPr id="26" name="Freeform 26"/>
          <p:cNvSpPr/>
          <p:nvPr/>
        </p:nvSpPr>
        <p:spPr>
          <a:xfrm>
            <a:off x="8896293" y="5240483"/>
            <a:ext cx="242639" cy="285587"/>
          </a:xfrm>
          <a:custGeom>
            <a:avLst/>
            <a:gdLst/>
            <a:ahLst/>
            <a:cxnLst/>
            <a:rect l="l" t="t" r="r" b="b"/>
            <a:pathLst>
              <a:path w="242639" h="285587">
                <a:moveTo>
                  <a:pt x="130689" y="1246"/>
                </a:moveTo>
                <a:cubicBezTo>
                  <a:pt x="124515" y="0"/>
                  <a:pt x="118179" y="0"/>
                  <a:pt x="112004" y="1246"/>
                </a:cubicBezTo>
                <a:lnTo>
                  <a:pt x="10453" y="21556"/>
                </a:lnTo>
                <a:cubicBezTo>
                  <a:pt x="4387" y="22748"/>
                  <a:pt x="0" y="28110"/>
                  <a:pt x="0" y="34284"/>
                </a:cubicBezTo>
                <a:cubicBezTo>
                  <a:pt x="0" y="39862"/>
                  <a:pt x="3520" y="44737"/>
                  <a:pt x="8666" y="46524"/>
                </a:cubicBezTo>
                <a:lnTo>
                  <a:pt x="8666" y="86278"/>
                </a:lnTo>
                <a:lnTo>
                  <a:pt x="163" y="128848"/>
                </a:lnTo>
                <a:cubicBezTo>
                  <a:pt x="55" y="129335"/>
                  <a:pt x="0" y="129877"/>
                  <a:pt x="0" y="130419"/>
                </a:cubicBezTo>
                <a:cubicBezTo>
                  <a:pt x="0" y="134751"/>
                  <a:pt x="3520" y="138326"/>
                  <a:pt x="7907" y="138326"/>
                </a:cubicBezTo>
                <a:lnTo>
                  <a:pt x="26808" y="138326"/>
                </a:lnTo>
                <a:cubicBezTo>
                  <a:pt x="31142" y="138326"/>
                  <a:pt x="34717" y="134806"/>
                  <a:pt x="34717" y="130419"/>
                </a:cubicBezTo>
                <a:cubicBezTo>
                  <a:pt x="34717" y="129877"/>
                  <a:pt x="34663" y="129390"/>
                  <a:pt x="34554" y="128848"/>
                </a:cubicBezTo>
                <a:lnTo>
                  <a:pt x="25997" y="86278"/>
                </a:lnTo>
                <a:lnTo>
                  <a:pt x="25997" y="50153"/>
                </a:lnTo>
                <a:lnTo>
                  <a:pt x="51994" y="55352"/>
                </a:lnTo>
                <a:lnTo>
                  <a:pt x="51994" y="86278"/>
                </a:lnTo>
                <a:cubicBezTo>
                  <a:pt x="51994" y="124569"/>
                  <a:pt x="83028" y="155603"/>
                  <a:pt x="121319" y="155603"/>
                </a:cubicBezTo>
                <a:cubicBezTo>
                  <a:pt x="159611" y="155603"/>
                  <a:pt x="190644" y="124569"/>
                  <a:pt x="190644" y="86278"/>
                </a:cubicBezTo>
                <a:lnTo>
                  <a:pt x="190644" y="55352"/>
                </a:lnTo>
                <a:lnTo>
                  <a:pt x="232185" y="47066"/>
                </a:lnTo>
                <a:cubicBezTo>
                  <a:pt x="238251" y="45821"/>
                  <a:pt x="242639" y="40457"/>
                  <a:pt x="242639" y="34284"/>
                </a:cubicBezTo>
                <a:cubicBezTo>
                  <a:pt x="242639" y="28110"/>
                  <a:pt x="238251" y="22748"/>
                  <a:pt x="232185" y="21556"/>
                </a:cubicBezTo>
                <a:lnTo>
                  <a:pt x="130689" y="1246"/>
                </a:lnTo>
                <a:close/>
                <a:moveTo>
                  <a:pt x="121319" y="129606"/>
                </a:moveTo>
                <a:cubicBezTo>
                  <a:pt x="97380" y="129606"/>
                  <a:pt x="77991" y="110217"/>
                  <a:pt x="77991" y="86278"/>
                </a:cubicBezTo>
                <a:lnTo>
                  <a:pt x="164647" y="86278"/>
                </a:lnTo>
                <a:cubicBezTo>
                  <a:pt x="164647" y="110217"/>
                  <a:pt x="145258" y="129606"/>
                  <a:pt x="121319" y="129606"/>
                </a:cubicBezTo>
                <a:close/>
                <a:moveTo>
                  <a:pt x="65047" y="181653"/>
                </a:moveTo>
                <a:cubicBezTo>
                  <a:pt x="31792" y="196926"/>
                  <a:pt x="8666" y="230507"/>
                  <a:pt x="8666" y="269502"/>
                </a:cubicBezTo>
                <a:cubicBezTo>
                  <a:pt x="8666" y="278386"/>
                  <a:pt x="15869" y="285588"/>
                  <a:pt x="24751" y="285588"/>
                </a:cubicBezTo>
                <a:lnTo>
                  <a:pt x="108321" y="285588"/>
                </a:lnTo>
                <a:lnTo>
                  <a:pt x="108321" y="206514"/>
                </a:lnTo>
                <a:lnTo>
                  <a:pt x="77233" y="183224"/>
                </a:lnTo>
                <a:cubicBezTo>
                  <a:pt x="73712" y="180571"/>
                  <a:pt x="69000" y="179867"/>
                  <a:pt x="64992" y="181708"/>
                </a:cubicBezTo>
                <a:close/>
                <a:moveTo>
                  <a:pt x="134318" y="285588"/>
                </a:moveTo>
                <a:lnTo>
                  <a:pt x="217888" y="285588"/>
                </a:lnTo>
                <a:cubicBezTo>
                  <a:pt x="226769" y="285588"/>
                  <a:pt x="233973" y="278386"/>
                  <a:pt x="233973" y="269502"/>
                </a:cubicBezTo>
                <a:cubicBezTo>
                  <a:pt x="233973" y="230507"/>
                  <a:pt x="210845" y="196926"/>
                  <a:pt x="177592" y="181708"/>
                </a:cubicBezTo>
                <a:cubicBezTo>
                  <a:pt x="173584" y="179867"/>
                  <a:pt x="168872" y="180571"/>
                  <a:pt x="165351" y="183224"/>
                </a:cubicBezTo>
                <a:lnTo>
                  <a:pt x="134264" y="206514"/>
                </a:lnTo>
                <a:lnTo>
                  <a:pt x="134264" y="285588"/>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6350639" y="5636883"/>
            <a:ext cx="5333422" cy="258814"/>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微调阶段</a:t>
            </a:r>
            <a:endParaRPr lang="en-US" sz="1100"/>
          </a:p>
        </p:txBody>
      </p:sp>
      <p:sp>
        <p:nvSpPr>
          <p:cNvPr id="28" name="AutoShape 28"/>
          <p:cNvSpPr/>
          <p:nvPr/>
        </p:nvSpPr>
        <p:spPr>
          <a:xfrm>
            <a:off x="6355261" y="5969463"/>
            <a:ext cx="5324179" cy="221841"/>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步骤式标注数据</a:t>
            </a:r>
            <a:endParaRPr lang="en-US" sz="1100"/>
          </a:p>
        </p:txBody>
      </p:sp>
      <p:sp>
        <p:nvSpPr>
          <p:cNvPr id="29" name="Freeform 29"/>
          <p:cNvSpPr/>
          <p:nvPr/>
        </p:nvSpPr>
        <p:spPr>
          <a:xfrm>
            <a:off x="369735" y="6597850"/>
            <a:ext cx="11452531" cy="258815"/>
          </a:xfrm>
          <a:custGeom>
            <a:avLst/>
            <a:gdLst/>
            <a:ahLst/>
            <a:cxnLst/>
            <a:rect l="l" t="t" r="r" b="b"/>
            <a:pathLst>
              <a:path w="11452531" h="258815">
                <a:moveTo>
                  <a:pt x="73946" y="0"/>
                </a:moveTo>
                <a:lnTo>
                  <a:pt x="11378585" y="0"/>
                </a:lnTo>
                <a:cubicBezTo>
                  <a:pt x="11419423" y="0"/>
                  <a:pt x="11452531" y="33108"/>
                  <a:pt x="11452531" y="73946"/>
                </a:cubicBezTo>
                <a:lnTo>
                  <a:pt x="11452531" y="184868"/>
                </a:lnTo>
                <a:cubicBezTo>
                  <a:pt x="11452531" y="225708"/>
                  <a:pt x="11419423" y="258815"/>
                  <a:pt x="11378585" y="258815"/>
                </a:cubicBezTo>
                <a:lnTo>
                  <a:pt x="73946" y="258815"/>
                </a:lnTo>
                <a:cubicBezTo>
                  <a:pt x="33134" y="258815"/>
                  <a:pt x="0" y="225680"/>
                  <a:pt x="0" y="184868"/>
                </a:cubicBezTo>
                <a:lnTo>
                  <a:pt x="0" y="73946"/>
                </a:lnTo>
                <a:cubicBezTo>
                  <a:pt x="0" y="33134"/>
                  <a:pt x="33134" y="0"/>
                  <a:pt x="73946"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0" name="AutoShape 30"/>
          <p:cNvSpPr/>
          <p:nvPr/>
        </p:nvSpPr>
        <p:spPr>
          <a:xfrm>
            <a:off x="591497" y="6597850"/>
            <a:ext cx="7638102" cy="258814"/>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CoT训练机制</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通过预训练中的推理文本和微调中的步骤式数据，共同培养模型的逐步推理能力</a:t>
            </a:r>
            <a:endParaRPr lang="en-US" sz="1100"/>
          </a:p>
        </p:txBody>
      </p:sp>
    </p:spTree>
  </p:cSld>
  <p:clrMapOvr>
    <a:masterClrMapping/>
  </p:clrMapOvr>
  <p:transition spd="slow">
    <p:fade/>
  </p:transition>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2784601" y="889732"/>
            <a:ext cx="6619875" cy="6858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3600" b="0" i="0" u="none" strike="noStrike">
                <a:solidFill>
                  <a:srgbClr val="5B92E5"/>
                </a:solidFill>
                <a:latin typeface="Alimama ShuHeiTi"/>
                <a:ea typeface="Alimama ShuHeiTi"/>
                <a:cs typeface="Alimama ShuHeiTi"/>
                <a:sym typeface="Alimama ShuHeiTi"/>
              </a:rPr>
              <a:t>课程总结</a:t>
            </a:r>
            <a:endParaRPr lang="en-US" sz="1100"/>
          </a:p>
        </p:txBody>
      </p:sp>
      <p:sp>
        <p:nvSpPr>
          <p:cNvPr id="3" name="Freeform 3"/>
          <p:cNvSpPr/>
          <p:nvPr/>
        </p:nvSpPr>
        <p:spPr>
          <a:xfrm>
            <a:off x="2898901" y="1991060"/>
            <a:ext cx="952500" cy="933450"/>
          </a:xfrm>
          <a:custGeom>
            <a:avLst/>
            <a:gdLst/>
            <a:ahLst/>
            <a:cxnLst/>
            <a:rect l="l" t="t" r="r" b="b"/>
            <a:pathLst>
              <a:path w="952500" h="933450">
                <a:moveTo>
                  <a:pt x="114301" y="0"/>
                </a:moveTo>
                <a:lnTo>
                  <a:pt x="838199" y="0"/>
                </a:lnTo>
                <a:cubicBezTo>
                  <a:pt x="901327" y="0"/>
                  <a:pt x="952500" y="51173"/>
                  <a:pt x="952500" y="114301"/>
                </a:cubicBezTo>
                <a:lnTo>
                  <a:pt x="952500" y="819149"/>
                </a:lnTo>
                <a:cubicBezTo>
                  <a:pt x="952500" y="882277"/>
                  <a:pt x="901327" y="933450"/>
                  <a:pt x="838199" y="933450"/>
                </a:cubicBezTo>
                <a:lnTo>
                  <a:pt x="114301" y="933450"/>
                </a:lnTo>
                <a:cubicBezTo>
                  <a:pt x="51173" y="933450"/>
                  <a:pt x="0" y="882277"/>
                  <a:pt x="0" y="819149"/>
                </a:cubicBezTo>
                <a:lnTo>
                  <a:pt x="0" y="114301"/>
                </a:lnTo>
                <a:cubicBezTo>
                  <a:pt x="0" y="51217"/>
                  <a:pt x="51217" y="0"/>
                  <a:pt x="114301"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215976" y="2125526"/>
            <a:ext cx="323869" cy="322696"/>
          </a:xfrm>
          <a:custGeom>
            <a:avLst/>
            <a:gdLst/>
            <a:ahLst/>
            <a:cxnLst/>
            <a:rect l="l" t="t" r="r" b="b"/>
            <a:pathLst>
              <a:path w="323869" h="322696">
                <a:moveTo>
                  <a:pt x="215541" y="98226"/>
                </a:moveTo>
                <a:cubicBezTo>
                  <a:pt x="215541" y="152474"/>
                  <a:pt x="167543" y="196453"/>
                  <a:pt x="108384" y="196453"/>
                </a:cubicBezTo>
                <a:cubicBezTo>
                  <a:pt x="93483" y="196453"/>
                  <a:pt x="79308" y="193663"/>
                  <a:pt x="66415" y="188638"/>
                </a:cubicBezTo>
                <a:lnTo>
                  <a:pt x="20874" y="212749"/>
                </a:lnTo>
                <a:cubicBezTo>
                  <a:pt x="15683" y="215484"/>
                  <a:pt x="9320" y="214535"/>
                  <a:pt x="5135" y="210405"/>
                </a:cubicBezTo>
                <a:cubicBezTo>
                  <a:pt x="949" y="206275"/>
                  <a:pt x="0" y="199858"/>
                  <a:pt x="2791" y="194667"/>
                </a:cubicBezTo>
                <a:lnTo>
                  <a:pt x="22659" y="157161"/>
                </a:lnTo>
                <a:cubicBezTo>
                  <a:pt x="9209" y="140754"/>
                  <a:pt x="1228" y="120326"/>
                  <a:pt x="1228" y="98226"/>
                </a:cubicBezTo>
                <a:cubicBezTo>
                  <a:pt x="1228" y="43978"/>
                  <a:pt x="49225" y="0"/>
                  <a:pt x="108384" y="0"/>
                </a:cubicBezTo>
                <a:cubicBezTo>
                  <a:pt x="167543" y="0"/>
                  <a:pt x="215541" y="43978"/>
                  <a:pt x="215541" y="98226"/>
                </a:cubicBezTo>
                <a:close/>
                <a:moveTo>
                  <a:pt x="215541" y="303609"/>
                </a:moveTo>
                <a:cubicBezTo>
                  <a:pt x="163023" y="303609"/>
                  <a:pt x="119323" y="268951"/>
                  <a:pt x="110170" y="223242"/>
                </a:cubicBezTo>
                <a:cubicBezTo>
                  <a:pt x="177143" y="222405"/>
                  <a:pt x="235352" y="174742"/>
                  <a:pt x="241771" y="110114"/>
                </a:cubicBezTo>
                <a:cubicBezTo>
                  <a:pt x="288262" y="120829"/>
                  <a:pt x="322697" y="159395"/>
                  <a:pt x="322697" y="205382"/>
                </a:cubicBezTo>
                <a:cubicBezTo>
                  <a:pt x="322697" y="227483"/>
                  <a:pt x="314716" y="247911"/>
                  <a:pt x="301266" y="264318"/>
                </a:cubicBezTo>
                <a:lnTo>
                  <a:pt x="321133" y="301823"/>
                </a:lnTo>
                <a:cubicBezTo>
                  <a:pt x="323869" y="307013"/>
                  <a:pt x="322920" y="313377"/>
                  <a:pt x="318790" y="317562"/>
                </a:cubicBezTo>
                <a:cubicBezTo>
                  <a:pt x="314660" y="321747"/>
                  <a:pt x="308242" y="322696"/>
                  <a:pt x="303051" y="319906"/>
                </a:cubicBezTo>
                <a:lnTo>
                  <a:pt x="257510" y="295796"/>
                </a:lnTo>
                <a:cubicBezTo>
                  <a:pt x="244618" y="300818"/>
                  <a:pt x="230441" y="303609"/>
                  <a:pt x="215541" y="303609"/>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3084557" y="2505335"/>
            <a:ext cx="5810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AI应用</a:t>
            </a:r>
            <a:endParaRPr lang="en-US" sz="1100"/>
          </a:p>
        </p:txBody>
      </p:sp>
      <p:sp>
        <p:nvSpPr>
          <p:cNvPr id="6" name="Freeform 6"/>
          <p:cNvSpPr/>
          <p:nvPr/>
        </p:nvSpPr>
        <p:spPr>
          <a:xfrm>
            <a:off x="4033269" y="2370370"/>
            <a:ext cx="229984" cy="174308"/>
          </a:xfrm>
          <a:custGeom>
            <a:avLst/>
            <a:gdLst/>
            <a:ahLst/>
            <a:cxnLst/>
            <a:rect l="l" t="t" r="r" b="b"/>
            <a:pathLst>
              <a:path w="229984" h="174308">
                <a:moveTo>
                  <a:pt x="224403" y="97245"/>
                </a:moveTo>
                <a:cubicBezTo>
                  <a:pt x="229984" y="91662"/>
                  <a:pt x="229984" y="82600"/>
                  <a:pt x="224403" y="77019"/>
                </a:cubicBezTo>
                <a:lnTo>
                  <a:pt x="152966" y="5581"/>
                </a:lnTo>
                <a:cubicBezTo>
                  <a:pt x="147384" y="0"/>
                  <a:pt x="138321" y="0"/>
                  <a:pt x="132740" y="5581"/>
                </a:cubicBezTo>
                <a:cubicBezTo>
                  <a:pt x="127159" y="11162"/>
                  <a:pt x="127159" y="20226"/>
                  <a:pt x="132740" y="25807"/>
                </a:cubicBezTo>
                <a:lnTo>
                  <a:pt x="179799" y="72866"/>
                </a:lnTo>
                <a:lnTo>
                  <a:pt x="14287" y="72866"/>
                </a:lnTo>
                <a:cubicBezTo>
                  <a:pt x="6386" y="72866"/>
                  <a:pt x="0" y="79251"/>
                  <a:pt x="0" y="87154"/>
                </a:cubicBezTo>
                <a:cubicBezTo>
                  <a:pt x="0" y="95057"/>
                  <a:pt x="6386" y="101442"/>
                  <a:pt x="14287" y="101442"/>
                </a:cubicBezTo>
                <a:lnTo>
                  <a:pt x="179799" y="101442"/>
                </a:lnTo>
                <a:lnTo>
                  <a:pt x="132740" y="148501"/>
                </a:lnTo>
                <a:cubicBezTo>
                  <a:pt x="127159" y="154082"/>
                  <a:pt x="127159" y="163146"/>
                  <a:pt x="132740" y="168727"/>
                </a:cubicBezTo>
                <a:cubicBezTo>
                  <a:pt x="138321" y="174308"/>
                  <a:pt x="147384" y="174308"/>
                  <a:pt x="152966" y="168727"/>
                </a:cubicBezTo>
                <a:lnTo>
                  <a:pt x="224403" y="9728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4442790" y="1991060"/>
            <a:ext cx="1314450" cy="933450"/>
          </a:xfrm>
          <a:custGeom>
            <a:avLst/>
            <a:gdLst/>
            <a:ahLst/>
            <a:cxnLst/>
            <a:rect l="l" t="t" r="r" b="b"/>
            <a:pathLst>
              <a:path w="1314450" h="933450">
                <a:moveTo>
                  <a:pt x="114301" y="0"/>
                </a:moveTo>
                <a:lnTo>
                  <a:pt x="1200149" y="0"/>
                </a:lnTo>
                <a:cubicBezTo>
                  <a:pt x="1263277" y="0"/>
                  <a:pt x="1314450" y="51173"/>
                  <a:pt x="1314450" y="114301"/>
                </a:cubicBezTo>
                <a:lnTo>
                  <a:pt x="1314450" y="819149"/>
                </a:lnTo>
                <a:cubicBezTo>
                  <a:pt x="1314450" y="882277"/>
                  <a:pt x="1263277" y="933450"/>
                  <a:pt x="1200149" y="933450"/>
                </a:cubicBezTo>
                <a:lnTo>
                  <a:pt x="114301" y="933450"/>
                </a:lnTo>
                <a:cubicBezTo>
                  <a:pt x="51173" y="933450"/>
                  <a:pt x="0" y="882277"/>
                  <a:pt x="0" y="819149"/>
                </a:cubicBezTo>
                <a:lnTo>
                  <a:pt x="0" y="114301"/>
                </a:lnTo>
                <a:cubicBezTo>
                  <a:pt x="0" y="51217"/>
                  <a:pt x="51217" y="0"/>
                  <a:pt x="114301"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4963905" y="2143385"/>
            <a:ext cx="276819" cy="285750"/>
          </a:xfrm>
          <a:custGeom>
            <a:avLst/>
            <a:gdLst/>
            <a:ahLst/>
            <a:cxnLst/>
            <a:rect l="l" t="t" r="r" b="b"/>
            <a:pathLst>
              <a:path w="276819" h="285750">
                <a:moveTo>
                  <a:pt x="62508" y="31253"/>
                </a:moveTo>
                <a:cubicBezTo>
                  <a:pt x="62508" y="14008"/>
                  <a:pt x="76517" y="0"/>
                  <a:pt x="93762" y="0"/>
                </a:cubicBezTo>
                <a:lnTo>
                  <a:pt x="107157" y="0"/>
                </a:lnTo>
                <a:cubicBezTo>
                  <a:pt x="117035" y="0"/>
                  <a:pt x="125015" y="7981"/>
                  <a:pt x="125015" y="17859"/>
                </a:cubicBezTo>
                <a:lnTo>
                  <a:pt x="125015" y="267891"/>
                </a:lnTo>
                <a:cubicBezTo>
                  <a:pt x="125015" y="277769"/>
                  <a:pt x="117035" y="285750"/>
                  <a:pt x="107157" y="285750"/>
                </a:cubicBezTo>
                <a:lnTo>
                  <a:pt x="89297" y="285750"/>
                </a:lnTo>
                <a:cubicBezTo>
                  <a:pt x="72665" y="285750"/>
                  <a:pt x="58657" y="274364"/>
                  <a:pt x="54694" y="258961"/>
                </a:cubicBezTo>
                <a:cubicBezTo>
                  <a:pt x="54304" y="258961"/>
                  <a:pt x="53969" y="258961"/>
                  <a:pt x="53578" y="258961"/>
                </a:cubicBezTo>
                <a:cubicBezTo>
                  <a:pt x="28911" y="258961"/>
                  <a:pt x="8930" y="238981"/>
                  <a:pt x="8930" y="214313"/>
                </a:cubicBezTo>
                <a:cubicBezTo>
                  <a:pt x="8930" y="204267"/>
                  <a:pt x="12277" y="195002"/>
                  <a:pt x="17859" y="187523"/>
                </a:cubicBezTo>
                <a:cubicBezTo>
                  <a:pt x="7032" y="179375"/>
                  <a:pt x="0" y="166427"/>
                  <a:pt x="0" y="151804"/>
                </a:cubicBezTo>
                <a:cubicBezTo>
                  <a:pt x="0" y="134559"/>
                  <a:pt x="9823" y="119546"/>
                  <a:pt x="24110" y="112123"/>
                </a:cubicBezTo>
                <a:cubicBezTo>
                  <a:pt x="20148" y="105427"/>
                  <a:pt x="17859" y="97613"/>
                  <a:pt x="17859" y="89298"/>
                </a:cubicBezTo>
                <a:cubicBezTo>
                  <a:pt x="17859" y="64629"/>
                  <a:pt x="37839" y="44648"/>
                  <a:pt x="62508" y="44648"/>
                </a:cubicBezTo>
                <a:lnTo>
                  <a:pt x="62508" y="31253"/>
                </a:lnTo>
                <a:close/>
                <a:moveTo>
                  <a:pt x="214312" y="31253"/>
                </a:moveTo>
                <a:lnTo>
                  <a:pt x="214312" y="44648"/>
                </a:lnTo>
                <a:cubicBezTo>
                  <a:pt x="238981" y="44648"/>
                  <a:pt x="258961" y="64629"/>
                  <a:pt x="258961" y="89298"/>
                </a:cubicBezTo>
                <a:cubicBezTo>
                  <a:pt x="258961" y="97668"/>
                  <a:pt x="256672" y="105482"/>
                  <a:pt x="252710" y="112123"/>
                </a:cubicBezTo>
                <a:cubicBezTo>
                  <a:pt x="267053" y="119546"/>
                  <a:pt x="276820" y="134503"/>
                  <a:pt x="276820" y="151804"/>
                </a:cubicBezTo>
                <a:cubicBezTo>
                  <a:pt x="276820" y="166427"/>
                  <a:pt x="269788" y="179375"/>
                  <a:pt x="258961" y="187523"/>
                </a:cubicBezTo>
                <a:cubicBezTo>
                  <a:pt x="264543" y="195002"/>
                  <a:pt x="267890" y="204267"/>
                  <a:pt x="267890" y="214313"/>
                </a:cubicBezTo>
                <a:cubicBezTo>
                  <a:pt x="267890" y="238981"/>
                  <a:pt x="247909" y="258961"/>
                  <a:pt x="223242" y="258961"/>
                </a:cubicBezTo>
                <a:cubicBezTo>
                  <a:pt x="222851" y="258961"/>
                  <a:pt x="222516" y="258961"/>
                  <a:pt x="222126" y="258961"/>
                </a:cubicBezTo>
                <a:cubicBezTo>
                  <a:pt x="218163" y="274364"/>
                  <a:pt x="204155" y="285750"/>
                  <a:pt x="187523" y="285750"/>
                </a:cubicBezTo>
                <a:lnTo>
                  <a:pt x="169663" y="285750"/>
                </a:lnTo>
                <a:cubicBezTo>
                  <a:pt x="159785" y="285750"/>
                  <a:pt x="151805" y="277769"/>
                  <a:pt x="151805" y="267891"/>
                </a:cubicBezTo>
                <a:lnTo>
                  <a:pt x="151805" y="17859"/>
                </a:lnTo>
                <a:cubicBezTo>
                  <a:pt x="151805" y="7981"/>
                  <a:pt x="159785" y="0"/>
                  <a:pt x="169663" y="0"/>
                </a:cubicBezTo>
                <a:lnTo>
                  <a:pt x="183058" y="0"/>
                </a:lnTo>
                <a:cubicBezTo>
                  <a:pt x="200303" y="0"/>
                  <a:pt x="214312" y="14008"/>
                  <a:pt x="214312" y="31253"/>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4628446" y="2505335"/>
            <a:ext cx="94297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大模型能力</a:t>
            </a:r>
            <a:endParaRPr lang="en-US" sz="1100"/>
          </a:p>
        </p:txBody>
      </p:sp>
      <p:sp>
        <p:nvSpPr>
          <p:cNvPr id="10" name="Freeform 10"/>
          <p:cNvSpPr/>
          <p:nvPr/>
        </p:nvSpPr>
        <p:spPr>
          <a:xfrm>
            <a:off x="5937999" y="2370370"/>
            <a:ext cx="229984" cy="174308"/>
          </a:xfrm>
          <a:custGeom>
            <a:avLst/>
            <a:gdLst/>
            <a:ahLst/>
            <a:cxnLst/>
            <a:rect l="l" t="t" r="r" b="b"/>
            <a:pathLst>
              <a:path w="229984" h="174308">
                <a:moveTo>
                  <a:pt x="224403" y="97245"/>
                </a:moveTo>
                <a:cubicBezTo>
                  <a:pt x="229984" y="91662"/>
                  <a:pt x="229984" y="82600"/>
                  <a:pt x="224403" y="77019"/>
                </a:cubicBezTo>
                <a:lnTo>
                  <a:pt x="152966" y="5581"/>
                </a:lnTo>
                <a:cubicBezTo>
                  <a:pt x="147383" y="0"/>
                  <a:pt x="138321" y="0"/>
                  <a:pt x="132740" y="5581"/>
                </a:cubicBezTo>
                <a:cubicBezTo>
                  <a:pt x="127159" y="11162"/>
                  <a:pt x="127159" y="20226"/>
                  <a:pt x="132740" y="25807"/>
                </a:cubicBezTo>
                <a:lnTo>
                  <a:pt x="179799" y="72866"/>
                </a:lnTo>
                <a:lnTo>
                  <a:pt x="14287" y="72866"/>
                </a:lnTo>
                <a:cubicBezTo>
                  <a:pt x="6386" y="72866"/>
                  <a:pt x="0" y="79251"/>
                  <a:pt x="0" y="87154"/>
                </a:cubicBezTo>
                <a:cubicBezTo>
                  <a:pt x="0" y="95057"/>
                  <a:pt x="6386" y="101442"/>
                  <a:pt x="14287" y="101442"/>
                </a:cubicBezTo>
                <a:lnTo>
                  <a:pt x="179799" y="101442"/>
                </a:lnTo>
                <a:lnTo>
                  <a:pt x="132740" y="148501"/>
                </a:lnTo>
                <a:cubicBezTo>
                  <a:pt x="127159" y="154082"/>
                  <a:pt x="127159" y="163146"/>
                  <a:pt x="132740" y="168727"/>
                </a:cubicBezTo>
                <a:cubicBezTo>
                  <a:pt x="138321" y="174308"/>
                  <a:pt x="147383" y="174308"/>
                  <a:pt x="152966" y="168727"/>
                </a:cubicBezTo>
                <a:lnTo>
                  <a:pt x="224403" y="9728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6347520" y="1991060"/>
            <a:ext cx="1143000" cy="933450"/>
          </a:xfrm>
          <a:custGeom>
            <a:avLst/>
            <a:gdLst/>
            <a:ahLst/>
            <a:cxnLst/>
            <a:rect l="l" t="t" r="r" b="b"/>
            <a:pathLst>
              <a:path w="1143000" h="933450">
                <a:moveTo>
                  <a:pt x="114301" y="0"/>
                </a:moveTo>
                <a:lnTo>
                  <a:pt x="1028699" y="0"/>
                </a:lnTo>
                <a:cubicBezTo>
                  <a:pt x="1091827" y="0"/>
                  <a:pt x="1143000" y="51173"/>
                  <a:pt x="1143000" y="114301"/>
                </a:cubicBezTo>
                <a:lnTo>
                  <a:pt x="1143000" y="819149"/>
                </a:lnTo>
                <a:cubicBezTo>
                  <a:pt x="1143000" y="882277"/>
                  <a:pt x="1091827" y="933450"/>
                  <a:pt x="1028699" y="933450"/>
                </a:cubicBezTo>
                <a:lnTo>
                  <a:pt x="114301" y="933450"/>
                </a:lnTo>
                <a:cubicBezTo>
                  <a:pt x="51173" y="933450"/>
                  <a:pt x="0" y="882277"/>
                  <a:pt x="0" y="819149"/>
                </a:cubicBezTo>
                <a:lnTo>
                  <a:pt x="0" y="114301"/>
                </a:lnTo>
                <a:cubicBezTo>
                  <a:pt x="0" y="51217"/>
                  <a:pt x="51217" y="0"/>
                  <a:pt x="114301"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6751434" y="2116204"/>
            <a:ext cx="340166" cy="340167"/>
          </a:xfrm>
          <a:custGeom>
            <a:avLst/>
            <a:gdLst/>
            <a:ahLst/>
            <a:cxnLst/>
            <a:rect l="l" t="t" r="r" b="b"/>
            <a:pathLst>
              <a:path w="340166" h="340167">
                <a:moveTo>
                  <a:pt x="223355" y="144662"/>
                </a:moveTo>
                <a:cubicBezTo>
                  <a:pt x="230163" y="142820"/>
                  <a:pt x="237307" y="146057"/>
                  <a:pt x="240376" y="152364"/>
                </a:cubicBezTo>
                <a:lnTo>
                  <a:pt x="250757" y="173349"/>
                </a:lnTo>
                <a:cubicBezTo>
                  <a:pt x="256505" y="174130"/>
                  <a:pt x="262142" y="175694"/>
                  <a:pt x="267444" y="177869"/>
                </a:cubicBezTo>
                <a:lnTo>
                  <a:pt x="286978" y="164866"/>
                </a:lnTo>
                <a:cubicBezTo>
                  <a:pt x="292838" y="160959"/>
                  <a:pt x="300596" y="161740"/>
                  <a:pt x="305563" y="166707"/>
                </a:cubicBezTo>
                <a:lnTo>
                  <a:pt x="316279" y="177423"/>
                </a:lnTo>
                <a:cubicBezTo>
                  <a:pt x="321246" y="182390"/>
                  <a:pt x="322027" y="190205"/>
                  <a:pt x="318119" y="196008"/>
                </a:cubicBezTo>
                <a:lnTo>
                  <a:pt x="305117" y="215486"/>
                </a:lnTo>
                <a:cubicBezTo>
                  <a:pt x="306176" y="218109"/>
                  <a:pt x="307126" y="220845"/>
                  <a:pt x="307907" y="223689"/>
                </a:cubicBezTo>
                <a:cubicBezTo>
                  <a:pt x="308688" y="226535"/>
                  <a:pt x="309191" y="229327"/>
                  <a:pt x="309581" y="232173"/>
                </a:cubicBezTo>
                <a:lnTo>
                  <a:pt x="330621" y="242554"/>
                </a:lnTo>
                <a:cubicBezTo>
                  <a:pt x="336929" y="245679"/>
                  <a:pt x="340165" y="252823"/>
                  <a:pt x="338324" y="259576"/>
                </a:cubicBezTo>
                <a:lnTo>
                  <a:pt x="334417" y="274199"/>
                </a:lnTo>
                <a:cubicBezTo>
                  <a:pt x="332575" y="280952"/>
                  <a:pt x="326269" y="285528"/>
                  <a:pt x="319237" y="285082"/>
                </a:cubicBezTo>
                <a:lnTo>
                  <a:pt x="295795" y="283575"/>
                </a:lnTo>
                <a:cubicBezTo>
                  <a:pt x="292280" y="288095"/>
                  <a:pt x="288206" y="292281"/>
                  <a:pt x="283574" y="295853"/>
                </a:cubicBezTo>
                <a:lnTo>
                  <a:pt x="285080" y="319238"/>
                </a:lnTo>
                <a:cubicBezTo>
                  <a:pt x="285527" y="326270"/>
                  <a:pt x="280950" y="332633"/>
                  <a:pt x="274197" y="334418"/>
                </a:cubicBezTo>
                <a:lnTo>
                  <a:pt x="259575" y="338325"/>
                </a:lnTo>
                <a:cubicBezTo>
                  <a:pt x="252767" y="340167"/>
                  <a:pt x="245677" y="336930"/>
                  <a:pt x="242553" y="330623"/>
                </a:cubicBezTo>
                <a:lnTo>
                  <a:pt x="232172" y="309638"/>
                </a:lnTo>
                <a:cubicBezTo>
                  <a:pt x="226424" y="308857"/>
                  <a:pt x="220787" y="307293"/>
                  <a:pt x="215484" y="305118"/>
                </a:cubicBezTo>
                <a:lnTo>
                  <a:pt x="195951" y="318121"/>
                </a:lnTo>
                <a:cubicBezTo>
                  <a:pt x="190091" y="322028"/>
                  <a:pt x="182334" y="321247"/>
                  <a:pt x="177365" y="316280"/>
                </a:cubicBezTo>
                <a:lnTo>
                  <a:pt x="166650" y="305564"/>
                </a:lnTo>
                <a:cubicBezTo>
                  <a:pt x="161683" y="300597"/>
                  <a:pt x="160902" y="292840"/>
                  <a:pt x="164809" y="286979"/>
                </a:cubicBezTo>
                <a:lnTo>
                  <a:pt x="177812" y="267445"/>
                </a:lnTo>
                <a:cubicBezTo>
                  <a:pt x="176752" y="264822"/>
                  <a:pt x="175803" y="262088"/>
                  <a:pt x="175022" y="259240"/>
                </a:cubicBezTo>
                <a:cubicBezTo>
                  <a:pt x="174241" y="256394"/>
                  <a:pt x="173738" y="253550"/>
                  <a:pt x="173348" y="250758"/>
                </a:cubicBezTo>
                <a:lnTo>
                  <a:pt x="152307" y="240377"/>
                </a:lnTo>
                <a:cubicBezTo>
                  <a:pt x="146001" y="237252"/>
                  <a:pt x="142819" y="230108"/>
                  <a:pt x="144604" y="223355"/>
                </a:cubicBezTo>
                <a:lnTo>
                  <a:pt x="148512" y="208733"/>
                </a:lnTo>
                <a:cubicBezTo>
                  <a:pt x="150354" y="201980"/>
                  <a:pt x="156661" y="197403"/>
                  <a:pt x="163693" y="197850"/>
                </a:cubicBezTo>
                <a:lnTo>
                  <a:pt x="187077" y="199357"/>
                </a:lnTo>
                <a:cubicBezTo>
                  <a:pt x="190592" y="194836"/>
                  <a:pt x="194667" y="190650"/>
                  <a:pt x="199300" y="187078"/>
                </a:cubicBezTo>
                <a:lnTo>
                  <a:pt x="197793" y="163749"/>
                </a:lnTo>
                <a:cubicBezTo>
                  <a:pt x="197346" y="156717"/>
                  <a:pt x="201923" y="150354"/>
                  <a:pt x="208676" y="148569"/>
                </a:cubicBezTo>
                <a:lnTo>
                  <a:pt x="223297" y="144662"/>
                </a:lnTo>
                <a:close/>
                <a:moveTo>
                  <a:pt x="241492" y="216937"/>
                </a:moveTo>
                <a:cubicBezTo>
                  <a:pt x="227939" y="216952"/>
                  <a:pt x="216947" y="227968"/>
                  <a:pt x="216964" y="241521"/>
                </a:cubicBezTo>
                <a:cubicBezTo>
                  <a:pt x="216979" y="255075"/>
                  <a:pt x="227995" y="266065"/>
                  <a:pt x="241547" y="266050"/>
                </a:cubicBezTo>
                <a:cubicBezTo>
                  <a:pt x="255101" y="266035"/>
                  <a:pt x="266091" y="255019"/>
                  <a:pt x="266077" y="241466"/>
                </a:cubicBezTo>
                <a:cubicBezTo>
                  <a:pt x="266062" y="227912"/>
                  <a:pt x="255046" y="216922"/>
                  <a:pt x="241492" y="216937"/>
                </a:cubicBezTo>
                <a:close/>
                <a:moveTo>
                  <a:pt x="116756" y="1787"/>
                </a:moveTo>
                <a:lnTo>
                  <a:pt x="131377" y="5694"/>
                </a:lnTo>
                <a:cubicBezTo>
                  <a:pt x="138131" y="7535"/>
                  <a:pt x="142708" y="13898"/>
                  <a:pt x="142261" y="20874"/>
                </a:cubicBezTo>
                <a:lnTo>
                  <a:pt x="140754" y="44203"/>
                </a:lnTo>
                <a:cubicBezTo>
                  <a:pt x="145387" y="47775"/>
                  <a:pt x="149461" y="51905"/>
                  <a:pt x="152978" y="56482"/>
                </a:cubicBezTo>
                <a:lnTo>
                  <a:pt x="176417" y="54975"/>
                </a:lnTo>
                <a:cubicBezTo>
                  <a:pt x="183394" y="54528"/>
                  <a:pt x="189756" y="59105"/>
                  <a:pt x="191598" y="65858"/>
                </a:cubicBezTo>
                <a:lnTo>
                  <a:pt x="195505" y="80480"/>
                </a:lnTo>
                <a:cubicBezTo>
                  <a:pt x="197290" y="87233"/>
                  <a:pt x="194109" y="94377"/>
                  <a:pt x="187804" y="97502"/>
                </a:cubicBezTo>
                <a:lnTo>
                  <a:pt x="166762" y="107883"/>
                </a:lnTo>
                <a:cubicBezTo>
                  <a:pt x="166371" y="110729"/>
                  <a:pt x="165813" y="113577"/>
                  <a:pt x="165088" y="116365"/>
                </a:cubicBezTo>
                <a:cubicBezTo>
                  <a:pt x="164362" y="119157"/>
                  <a:pt x="163359" y="121947"/>
                  <a:pt x="162297" y="124570"/>
                </a:cubicBezTo>
                <a:lnTo>
                  <a:pt x="175300" y="144104"/>
                </a:lnTo>
                <a:cubicBezTo>
                  <a:pt x="179208" y="149965"/>
                  <a:pt x="178427" y="157722"/>
                  <a:pt x="173459" y="162689"/>
                </a:cubicBezTo>
                <a:lnTo>
                  <a:pt x="162744" y="173405"/>
                </a:lnTo>
                <a:cubicBezTo>
                  <a:pt x="157777" y="178372"/>
                  <a:pt x="150018" y="179153"/>
                  <a:pt x="144159" y="175246"/>
                </a:cubicBezTo>
                <a:lnTo>
                  <a:pt x="124625" y="162243"/>
                </a:lnTo>
                <a:cubicBezTo>
                  <a:pt x="119323" y="164418"/>
                  <a:pt x="113686" y="165982"/>
                  <a:pt x="107938" y="166763"/>
                </a:cubicBezTo>
                <a:lnTo>
                  <a:pt x="97557" y="187748"/>
                </a:lnTo>
                <a:cubicBezTo>
                  <a:pt x="94432" y="194055"/>
                  <a:pt x="87288" y="197237"/>
                  <a:pt x="80536" y="195450"/>
                </a:cubicBezTo>
                <a:lnTo>
                  <a:pt x="65913" y="191543"/>
                </a:lnTo>
                <a:cubicBezTo>
                  <a:pt x="59104" y="189702"/>
                  <a:pt x="54583" y="183339"/>
                  <a:pt x="55029" y="176363"/>
                </a:cubicBezTo>
                <a:lnTo>
                  <a:pt x="56536" y="152978"/>
                </a:lnTo>
                <a:cubicBezTo>
                  <a:pt x="51905" y="149406"/>
                  <a:pt x="47830" y="145276"/>
                  <a:pt x="44314" y="140700"/>
                </a:cubicBezTo>
                <a:lnTo>
                  <a:pt x="20873" y="142207"/>
                </a:lnTo>
                <a:cubicBezTo>
                  <a:pt x="13897" y="142653"/>
                  <a:pt x="7535" y="138077"/>
                  <a:pt x="5693" y="131324"/>
                </a:cubicBezTo>
                <a:lnTo>
                  <a:pt x="1787" y="116701"/>
                </a:lnTo>
                <a:cubicBezTo>
                  <a:pt x="0" y="109948"/>
                  <a:pt x="3181" y="102804"/>
                  <a:pt x="9488" y="99679"/>
                </a:cubicBezTo>
                <a:lnTo>
                  <a:pt x="30529" y="89298"/>
                </a:lnTo>
                <a:cubicBezTo>
                  <a:pt x="30919" y="86452"/>
                  <a:pt x="31477" y="83660"/>
                  <a:pt x="32203" y="80814"/>
                </a:cubicBezTo>
                <a:cubicBezTo>
                  <a:pt x="32984" y="77970"/>
                  <a:pt x="33877" y="75234"/>
                  <a:pt x="34993" y="72611"/>
                </a:cubicBezTo>
                <a:lnTo>
                  <a:pt x="21990" y="53133"/>
                </a:lnTo>
                <a:cubicBezTo>
                  <a:pt x="18083" y="47272"/>
                  <a:pt x="18864" y="39515"/>
                  <a:pt x="23831" y="34548"/>
                </a:cubicBezTo>
                <a:lnTo>
                  <a:pt x="34548" y="23832"/>
                </a:lnTo>
                <a:cubicBezTo>
                  <a:pt x="39515" y="18865"/>
                  <a:pt x="47272" y="18084"/>
                  <a:pt x="53131" y="21991"/>
                </a:cubicBezTo>
                <a:lnTo>
                  <a:pt x="72667" y="34994"/>
                </a:lnTo>
                <a:cubicBezTo>
                  <a:pt x="77968" y="32819"/>
                  <a:pt x="83604" y="31255"/>
                  <a:pt x="89353" y="30474"/>
                </a:cubicBezTo>
                <a:lnTo>
                  <a:pt x="99734" y="9489"/>
                </a:lnTo>
                <a:cubicBezTo>
                  <a:pt x="102860" y="3182"/>
                  <a:pt x="109947" y="0"/>
                  <a:pt x="116756" y="1787"/>
                </a:cubicBezTo>
                <a:close/>
                <a:moveTo>
                  <a:pt x="98617" y="74062"/>
                </a:moveTo>
                <a:cubicBezTo>
                  <a:pt x="85064" y="74062"/>
                  <a:pt x="74061" y="85065"/>
                  <a:pt x="74061" y="98618"/>
                </a:cubicBezTo>
                <a:cubicBezTo>
                  <a:pt x="74061" y="112172"/>
                  <a:pt x="85064" y="123175"/>
                  <a:pt x="98617" y="123175"/>
                </a:cubicBezTo>
                <a:cubicBezTo>
                  <a:pt x="112171" y="123175"/>
                  <a:pt x="123174" y="112172"/>
                  <a:pt x="123174" y="98618"/>
                </a:cubicBezTo>
                <a:cubicBezTo>
                  <a:pt x="123174" y="85065"/>
                  <a:pt x="112171" y="74062"/>
                  <a:pt x="98617" y="74062"/>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6533176" y="2505335"/>
            <a:ext cx="771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推理流程</a:t>
            </a:r>
            <a:endParaRPr lang="en-US" sz="1100"/>
          </a:p>
        </p:txBody>
      </p:sp>
      <p:sp>
        <p:nvSpPr>
          <p:cNvPr id="14" name="Freeform 14"/>
          <p:cNvSpPr/>
          <p:nvPr/>
        </p:nvSpPr>
        <p:spPr>
          <a:xfrm>
            <a:off x="7671305" y="2370370"/>
            <a:ext cx="229984" cy="174308"/>
          </a:xfrm>
          <a:custGeom>
            <a:avLst/>
            <a:gdLst/>
            <a:ahLst/>
            <a:cxnLst/>
            <a:rect l="l" t="t" r="r" b="b"/>
            <a:pathLst>
              <a:path w="229984" h="174308">
                <a:moveTo>
                  <a:pt x="224403" y="97245"/>
                </a:moveTo>
                <a:cubicBezTo>
                  <a:pt x="229984" y="91662"/>
                  <a:pt x="229984" y="82600"/>
                  <a:pt x="224403" y="77019"/>
                </a:cubicBezTo>
                <a:lnTo>
                  <a:pt x="152966" y="5581"/>
                </a:lnTo>
                <a:cubicBezTo>
                  <a:pt x="147383" y="0"/>
                  <a:pt x="138321" y="0"/>
                  <a:pt x="132740" y="5581"/>
                </a:cubicBezTo>
                <a:cubicBezTo>
                  <a:pt x="127159" y="11162"/>
                  <a:pt x="127159" y="20226"/>
                  <a:pt x="132740" y="25807"/>
                </a:cubicBezTo>
                <a:lnTo>
                  <a:pt x="179799" y="72866"/>
                </a:lnTo>
                <a:lnTo>
                  <a:pt x="14287" y="72866"/>
                </a:lnTo>
                <a:cubicBezTo>
                  <a:pt x="6386" y="72866"/>
                  <a:pt x="0" y="79251"/>
                  <a:pt x="0" y="87154"/>
                </a:cubicBezTo>
                <a:cubicBezTo>
                  <a:pt x="0" y="95057"/>
                  <a:pt x="6386" y="101442"/>
                  <a:pt x="14287" y="101442"/>
                </a:cubicBezTo>
                <a:lnTo>
                  <a:pt x="179799" y="101442"/>
                </a:lnTo>
                <a:lnTo>
                  <a:pt x="132740" y="148501"/>
                </a:lnTo>
                <a:cubicBezTo>
                  <a:pt x="127159" y="154082"/>
                  <a:pt x="127159" y="163146"/>
                  <a:pt x="132740" y="168727"/>
                </a:cubicBezTo>
                <a:cubicBezTo>
                  <a:pt x="138321" y="174308"/>
                  <a:pt x="147383" y="174308"/>
                  <a:pt x="152966" y="168727"/>
                </a:cubicBezTo>
                <a:lnTo>
                  <a:pt x="224403" y="9728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8098144" y="1973738"/>
            <a:ext cx="1177635" cy="968085"/>
          </a:xfrm>
          <a:custGeom>
            <a:avLst/>
            <a:gdLst/>
            <a:ahLst/>
            <a:cxnLst/>
            <a:rect l="l" t="t" r="r" b="b"/>
            <a:pathLst>
              <a:path w="1177635" h="968085">
                <a:moveTo>
                  <a:pt x="114303" y="0"/>
                </a:moveTo>
                <a:lnTo>
                  <a:pt x="1063334" y="0"/>
                </a:lnTo>
                <a:cubicBezTo>
                  <a:pt x="1126462" y="0"/>
                  <a:pt x="1177635" y="51175"/>
                  <a:pt x="1177635" y="114303"/>
                </a:cubicBezTo>
                <a:lnTo>
                  <a:pt x="1177635" y="853784"/>
                </a:lnTo>
                <a:cubicBezTo>
                  <a:pt x="1177635" y="916912"/>
                  <a:pt x="1126462" y="968085"/>
                  <a:pt x="1063334" y="968085"/>
                </a:cubicBezTo>
                <a:lnTo>
                  <a:pt x="114303" y="968085"/>
                </a:lnTo>
                <a:cubicBezTo>
                  <a:pt x="51175" y="968085"/>
                  <a:pt x="0" y="916912"/>
                  <a:pt x="0" y="853784"/>
                </a:cubicBezTo>
                <a:lnTo>
                  <a:pt x="0" y="114303"/>
                </a:lnTo>
                <a:cubicBezTo>
                  <a:pt x="0" y="51175"/>
                  <a:pt x="51175" y="0"/>
                  <a:pt x="114303" y="0"/>
                </a:cubicBezTo>
                <a:close/>
              </a:path>
            </a:pathLst>
          </a:custGeom>
          <a:solidFill>
            <a:srgbClr val="1E90FF">
              <a:alpha val="100000"/>
            </a:srgbClr>
          </a:solidFill>
          <a:ln w="38100">
            <a:solidFill>
              <a:srgbClr val="1E90FF">
                <a:alpha val="100000"/>
              </a:srgbClr>
            </a:solidFill>
            <a:prstDash val="solid"/>
          </a:ln>
        </p:spPr>
        <p:txBody>
          <a:bodyPr wrap="square" lIns="91440" tIns="45720" rIns="91440" bIns="45720" rtlCol="0" anchor="t">
            <a:noAutofit/>
          </a:bodyPr>
          <a:lstStyle/>
          <a:p>
            <a:pPr algn="ctr">
              <a:defRPr/>
            </a:pPr>
          </a:p>
        </p:txBody>
      </p:sp>
      <p:sp>
        <p:nvSpPr>
          <p:cNvPr id="16" name="Freeform 16"/>
          <p:cNvSpPr/>
          <p:nvPr/>
        </p:nvSpPr>
        <p:spPr>
          <a:xfrm>
            <a:off x="8528474" y="2161244"/>
            <a:ext cx="321469" cy="250033"/>
          </a:xfrm>
          <a:custGeom>
            <a:avLst/>
            <a:gdLst/>
            <a:ahLst/>
            <a:cxnLst/>
            <a:rect l="l" t="t" r="r" b="b"/>
            <a:pathLst>
              <a:path w="321469" h="250033">
                <a:moveTo>
                  <a:pt x="26789" y="91418"/>
                </a:moveTo>
                <a:lnTo>
                  <a:pt x="143546" y="139471"/>
                </a:lnTo>
                <a:cubicBezTo>
                  <a:pt x="149014" y="141703"/>
                  <a:pt x="154818" y="142875"/>
                  <a:pt x="160734" y="142875"/>
                </a:cubicBezTo>
                <a:cubicBezTo>
                  <a:pt x="166649" y="142875"/>
                  <a:pt x="172455" y="141703"/>
                  <a:pt x="177924" y="139471"/>
                </a:cubicBezTo>
                <a:lnTo>
                  <a:pt x="313209" y="83771"/>
                </a:lnTo>
                <a:cubicBezTo>
                  <a:pt x="318232" y="81706"/>
                  <a:pt x="321469" y="76851"/>
                  <a:pt x="321469" y="71439"/>
                </a:cubicBezTo>
                <a:cubicBezTo>
                  <a:pt x="321469" y="66024"/>
                  <a:pt x="318232" y="61169"/>
                  <a:pt x="313209" y="59104"/>
                </a:cubicBezTo>
                <a:lnTo>
                  <a:pt x="177924" y="3405"/>
                </a:lnTo>
                <a:cubicBezTo>
                  <a:pt x="172455" y="1172"/>
                  <a:pt x="166649" y="0"/>
                  <a:pt x="160734" y="0"/>
                </a:cubicBezTo>
                <a:cubicBezTo>
                  <a:pt x="154818" y="0"/>
                  <a:pt x="149014" y="1172"/>
                  <a:pt x="143546" y="3405"/>
                </a:cubicBezTo>
                <a:lnTo>
                  <a:pt x="8260" y="59104"/>
                </a:lnTo>
                <a:cubicBezTo>
                  <a:pt x="3237" y="61169"/>
                  <a:pt x="0" y="66024"/>
                  <a:pt x="0" y="71439"/>
                </a:cubicBezTo>
                <a:lnTo>
                  <a:pt x="0" y="236638"/>
                </a:lnTo>
                <a:cubicBezTo>
                  <a:pt x="0" y="244059"/>
                  <a:pt x="5972" y="250032"/>
                  <a:pt x="13395" y="250032"/>
                </a:cubicBezTo>
                <a:cubicBezTo>
                  <a:pt x="20817" y="250032"/>
                  <a:pt x="26789" y="244059"/>
                  <a:pt x="26789" y="236638"/>
                </a:cubicBezTo>
                <a:lnTo>
                  <a:pt x="26789" y="91418"/>
                </a:lnTo>
                <a:close/>
                <a:moveTo>
                  <a:pt x="53577" y="131435"/>
                </a:moveTo>
                <a:lnTo>
                  <a:pt x="53577" y="196454"/>
                </a:lnTo>
                <a:cubicBezTo>
                  <a:pt x="53577" y="226033"/>
                  <a:pt x="101575" y="250032"/>
                  <a:pt x="160734" y="250032"/>
                </a:cubicBezTo>
                <a:cubicBezTo>
                  <a:pt x="219894" y="250032"/>
                  <a:pt x="267891" y="226033"/>
                  <a:pt x="267891" y="196454"/>
                </a:cubicBezTo>
                <a:lnTo>
                  <a:pt x="267891" y="131377"/>
                </a:lnTo>
                <a:lnTo>
                  <a:pt x="188137" y="164251"/>
                </a:lnTo>
                <a:cubicBezTo>
                  <a:pt x="179431" y="167823"/>
                  <a:pt x="170166" y="169664"/>
                  <a:pt x="160734" y="169664"/>
                </a:cubicBezTo>
                <a:cubicBezTo>
                  <a:pt x="151301" y="169664"/>
                  <a:pt x="142038" y="167823"/>
                  <a:pt x="133331" y="164251"/>
                </a:cubicBezTo>
                <a:lnTo>
                  <a:pt x="53577" y="131377"/>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8301118" y="2505335"/>
            <a:ext cx="771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训练流程</a:t>
            </a:r>
            <a:endParaRPr lang="en-US" sz="1100"/>
          </a:p>
        </p:txBody>
      </p:sp>
      <p:sp>
        <p:nvSpPr>
          <p:cNvPr id="18" name="Freeform 18"/>
          <p:cNvSpPr/>
          <p:nvPr/>
        </p:nvSpPr>
        <p:spPr>
          <a:xfrm>
            <a:off x="2898901" y="3339852"/>
            <a:ext cx="6391275" cy="1905000"/>
          </a:xfrm>
          <a:custGeom>
            <a:avLst/>
            <a:gdLst/>
            <a:ahLst/>
            <a:cxnLst/>
            <a:rect l="l" t="t" r="r" b="b"/>
            <a:pathLst>
              <a:path w="6391275" h="1905000">
                <a:moveTo>
                  <a:pt x="152400" y="0"/>
                </a:moveTo>
                <a:lnTo>
                  <a:pt x="6238875" y="0"/>
                </a:lnTo>
                <a:cubicBezTo>
                  <a:pt x="6322987" y="0"/>
                  <a:pt x="6391275" y="68288"/>
                  <a:pt x="6391275" y="152400"/>
                </a:cubicBezTo>
                <a:lnTo>
                  <a:pt x="6391275" y="1752600"/>
                </a:lnTo>
                <a:cubicBezTo>
                  <a:pt x="6391275" y="1836712"/>
                  <a:pt x="6322987" y="1905000"/>
                  <a:pt x="6238875" y="1905000"/>
                </a:cubicBezTo>
                <a:lnTo>
                  <a:pt x="152400" y="1905000"/>
                </a:lnTo>
                <a:cubicBezTo>
                  <a:pt x="68288" y="1905000"/>
                  <a:pt x="0" y="1836712"/>
                  <a:pt x="0" y="1752600"/>
                </a:cubicBezTo>
                <a:lnTo>
                  <a:pt x="0" y="152400"/>
                </a:lnTo>
                <a:cubicBezTo>
                  <a:pt x="0" y="68288"/>
                  <a:pt x="68288" y="0"/>
                  <a:pt x="1524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4360192" y="3608821"/>
            <a:ext cx="576298" cy="642938"/>
          </a:xfrm>
          <a:custGeom>
            <a:avLst/>
            <a:gdLst/>
            <a:ahLst/>
            <a:cxnLst/>
            <a:rect l="l" t="t" r="r" b="b"/>
            <a:pathLst>
              <a:path w="576298" h="642938">
                <a:moveTo>
                  <a:pt x="323923" y="35719"/>
                </a:moveTo>
                <a:cubicBezTo>
                  <a:pt x="323923" y="15962"/>
                  <a:pt x="307961" y="0"/>
                  <a:pt x="288205" y="0"/>
                </a:cubicBezTo>
                <a:cubicBezTo>
                  <a:pt x="268447" y="0"/>
                  <a:pt x="252484" y="15962"/>
                  <a:pt x="252484" y="35719"/>
                </a:cubicBezTo>
                <a:lnTo>
                  <a:pt x="252484" y="105036"/>
                </a:lnTo>
                <a:lnTo>
                  <a:pt x="235742" y="88293"/>
                </a:lnTo>
                <a:cubicBezTo>
                  <a:pt x="225251" y="77800"/>
                  <a:pt x="208283" y="77800"/>
                  <a:pt x="197902" y="88293"/>
                </a:cubicBezTo>
                <a:cubicBezTo>
                  <a:pt x="187521" y="98785"/>
                  <a:pt x="187410" y="115751"/>
                  <a:pt x="197902" y="126132"/>
                </a:cubicBezTo>
                <a:lnTo>
                  <a:pt x="252598" y="180825"/>
                </a:lnTo>
                <a:lnTo>
                  <a:pt x="252598" y="259631"/>
                </a:lnTo>
                <a:lnTo>
                  <a:pt x="184286" y="220228"/>
                </a:lnTo>
                <a:lnTo>
                  <a:pt x="164305" y="145554"/>
                </a:lnTo>
                <a:cubicBezTo>
                  <a:pt x="160510" y="131267"/>
                  <a:pt x="145777" y="122783"/>
                  <a:pt x="131488" y="126579"/>
                </a:cubicBezTo>
                <a:cubicBezTo>
                  <a:pt x="117202" y="130373"/>
                  <a:pt x="108606" y="145108"/>
                  <a:pt x="112401" y="159395"/>
                </a:cubicBezTo>
                <a:lnTo>
                  <a:pt x="118540" y="182277"/>
                </a:lnTo>
                <a:lnTo>
                  <a:pt x="58600" y="147675"/>
                </a:lnTo>
                <a:cubicBezTo>
                  <a:pt x="41522" y="137852"/>
                  <a:pt x="19644" y="143658"/>
                  <a:pt x="9821" y="160735"/>
                </a:cubicBezTo>
                <a:cubicBezTo>
                  <a:pt x="0" y="177813"/>
                  <a:pt x="5804" y="199690"/>
                  <a:pt x="22881" y="209513"/>
                </a:cubicBezTo>
                <a:lnTo>
                  <a:pt x="82821" y="244116"/>
                </a:lnTo>
                <a:lnTo>
                  <a:pt x="59939" y="250255"/>
                </a:lnTo>
                <a:cubicBezTo>
                  <a:pt x="45652" y="254050"/>
                  <a:pt x="37167" y="268784"/>
                  <a:pt x="40963" y="283071"/>
                </a:cubicBezTo>
                <a:cubicBezTo>
                  <a:pt x="44759" y="297359"/>
                  <a:pt x="59493" y="305842"/>
                  <a:pt x="73780" y="302047"/>
                </a:cubicBezTo>
                <a:lnTo>
                  <a:pt x="148455" y="282067"/>
                </a:lnTo>
                <a:lnTo>
                  <a:pt x="216767" y="321469"/>
                </a:lnTo>
                <a:lnTo>
                  <a:pt x="148455" y="360871"/>
                </a:lnTo>
                <a:lnTo>
                  <a:pt x="73780" y="340891"/>
                </a:lnTo>
                <a:cubicBezTo>
                  <a:pt x="59493" y="337096"/>
                  <a:pt x="44759" y="345579"/>
                  <a:pt x="40963" y="359867"/>
                </a:cubicBezTo>
                <a:cubicBezTo>
                  <a:pt x="37167" y="374154"/>
                  <a:pt x="45652" y="388888"/>
                  <a:pt x="59939" y="392683"/>
                </a:cubicBezTo>
                <a:lnTo>
                  <a:pt x="82821" y="398822"/>
                </a:lnTo>
                <a:lnTo>
                  <a:pt x="22881" y="433425"/>
                </a:lnTo>
                <a:cubicBezTo>
                  <a:pt x="5804" y="443248"/>
                  <a:pt x="0" y="465125"/>
                  <a:pt x="9821" y="482203"/>
                </a:cubicBezTo>
                <a:cubicBezTo>
                  <a:pt x="19644" y="499280"/>
                  <a:pt x="41522" y="505197"/>
                  <a:pt x="58600" y="495263"/>
                </a:cubicBezTo>
                <a:lnTo>
                  <a:pt x="118540" y="460661"/>
                </a:lnTo>
                <a:lnTo>
                  <a:pt x="112401" y="483543"/>
                </a:lnTo>
                <a:cubicBezTo>
                  <a:pt x="108606" y="497830"/>
                  <a:pt x="117089" y="512565"/>
                  <a:pt x="131377" y="516359"/>
                </a:cubicBezTo>
                <a:cubicBezTo>
                  <a:pt x="145664" y="520155"/>
                  <a:pt x="160398" y="511671"/>
                  <a:pt x="164193" y="497384"/>
                </a:cubicBezTo>
                <a:lnTo>
                  <a:pt x="184172" y="422710"/>
                </a:lnTo>
                <a:lnTo>
                  <a:pt x="252484" y="383307"/>
                </a:lnTo>
                <a:lnTo>
                  <a:pt x="252484" y="462113"/>
                </a:lnTo>
                <a:lnTo>
                  <a:pt x="197791" y="516806"/>
                </a:lnTo>
                <a:cubicBezTo>
                  <a:pt x="187299" y="527298"/>
                  <a:pt x="187299" y="544265"/>
                  <a:pt x="197791" y="554645"/>
                </a:cubicBezTo>
                <a:cubicBezTo>
                  <a:pt x="208283" y="565026"/>
                  <a:pt x="225251" y="565138"/>
                  <a:pt x="235632" y="554645"/>
                </a:cubicBezTo>
                <a:lnTo>
                  <a:pt x="252374" y="537902"/>
                </a:lnTo>
                <a:lnTo>
                  <a:pt x="252374" y="607219"/>
                </a:lnTo>
                <a:cubicBezTo>
                  <a:pt x="252374" y="626976"/>
                  <a:pt x="268335" y="642938"/>
                  <a:pt x="288093" y="642938"/>
                </a:cubicBezTo>
                <a:cubicBezTo>
                  <a:pt x="307850" y="642938"/>
                  <a:pt x="323812" y="626976"/>
                  <a:pt x="323812" y="607219"/>
                </a:cubicBezTo>
                <a:lnTo>
                  <a:pt x="323812" y="537902"/>
                </a:lnTo>
                <a:lnTo>
                  <a:pt x="340555" y="554645"/>
                </a:lnTo>
                <a:cubicBezTo>
                  <a:pt x="351047" y="565138"/>
                  <a:pt x="368013" y="565138"/>
                  <a:pt x="378394" y="554645"/>
                </a:cubicBezTo>
                <a:cubicBezTo>
                  <a:pt x="388775" y="544153"/>
                  <a:pt x="388886" y="527187"/>
                  <a:pt x="378394" y="516806"/>
                </a:cubicBezTo>
                <a:lnTo>
                  <a:pt x="323700" y="462113"/>
                </a:lnTo>
                <a:lnTo>
                  <a:pt x="323700" y="383307"/>
                </a:lnTo>
                <a:lnTo>
                  <a:pt x="392012" y="422710"/>
                </a:lnTo>
                <a:lnTo>
                  <a:pt x="411991" y="497384"/>
                </a:lnTo>
                <a:cubicBezTo>
                  <a:pt x="415787" y="511671"/>
                  <a:pt x="430521" y="520155"/>
                  <a:pt x="444809" y="516359"/>
                </a:cubicBezTo>
                <a:cubicBezTo>
                  <a:pt x="459096" y="512565"/>
                  <a:pt x="467579" y="497830"/>
                  <a:pt x="463785" y="483543"/>
                </a:cubicBezTo>
                <a:lnTo>
                  <a:pt x="457645" y="460661"/>
                </a:lnTo>
                <a:lnTo>
                  <a:pt x="517586" y="495263"/>
                </a:lnTo>
                <a:cubicBezTo>
                  <a:pt x="534665" y="505086"/>
                  <a:pt x="556542" y="499280"/>
                  <a:pt x="566364" y="482203"/>
                </a:cubicBezTo>
                <a:cubicBezTo>
                  <a:pt x="576187" y="465125"/>
                  <a:pt x="570382" y="443248"/>
                  <a:pt x="553304" y="433425"/>
                </a:cubicBezTo>
                <a:lnTo>
                  <a:pt x="493364" y="398822"/>
                </a:lnTo>
                <a:lnTo>
                  <a:pt x="516246" y="392683"/>
                </a:lnTo>
                <a:cubicBezTo>
                  <a:pt x="530534" y="388888"/>
                  <a:pt x="539017" y="374154"/>
                  <a:pt x="535222" y="359867"/>
                </a:cubicBezTo>
                <a:cubicBezTo>
                  <a:pt x="531427" y="345579"/>
                  <a:pt x="516693" y="337096"/>
                  <a:pt x="502405" y="340891"/>
                </a:cubicBezTo>
                <a:lnTo>
                  <a:pt x="427731" y="360871"/>
                </a:lnTo>
                <a:lnTo>
                  <a:pt x="359418" y="321469"/>
                </a:lnTo>
                <a:lnTo>
                  <a:pt x="427731" y="282067"/>
                </a:lnTo>
                <a:lnTo>
                  <a:pt x="502405" y="302047"/>
                </a:lnTo>
                <a:cubicBezTo>
                  <a:pt x="516693" y="305842"/>
                  <a:pt x="531427" y="297359"/>
                  <a:pt x="535222" y="283071"/>
                </a:cubicBezTo>
                <a:cubicBezTo>
                  <a:pt x="539017" y="268784"/>
                  <a:pt x="530534" y="254050"/>
                  <a:pt x="516246" y="250255"/>
                </a:cubicBezTo>
                <a:lnTo>
                  <a:pt x="493364" y="244116"/>
                </a:lnTo>
                <a:lnTo>
                  <a:pt x="553304" y="209513"/>
                </a:lnTo>
                <a:cubicBezTo>
                  <a:pt x="570382" y="199690"/>
                  <a:pt x="576298" y="177813"/>
                  <a:pt x="566364" y="160735"/>
                </a:cubicBezTo>
                <a:cubicBezTo>
                  <a:pt x="556430" y="143658"/>
                  <a:pt x="534665" y="137852"/>
                  <a:pt x="517586" y="147675"/>
                </a:cubicBezTo>
                <a:lnTo>
                  <a:pt x="457645" y="182277"/>
                </a:lnTo>
                <a:lnTo>
                  <a:pt x="463785" y="159395"/>
                </a:lnTo>
                <a:cubicBezTo>
                  <a:pt x="467579" y="145108"/>
                  <a:pt x="459096" y="130373"/>
                  <a:pt x="444809" y="126579"/>
                </a:cubicBezTo>
                <a:cubicBezTo>
                  <a:pt x="430521" y="122783"/>
                  <a:pt x="415787" y="131267"/>
                  <a:pt x="411991" y="145554"/>
                </a:cubicBezTo>
                <a:lnTo>
                  <a:pt x="392012" y="220228"/>
                </a:lnTo>
                <a:lnTo>
                  <a:pt x="323700" y="259631"/>
                </a:lnTo>
                <a:lnTo>
                  <a:pt x="323700" y="180825"/>
                </a:lnTo>
                <a:lnTo>
                  <a:pt x="378394" y="126132"/>
                </a:lnTo>
                <a:cubicBezTo>
                  <a:pt x="388886" y="115640"/>
                  <a:pt x="388886" y="98673"/>
                  <a:pt x="378394" y="88293"/>
                </a:cubicBezTo>
                <a:cubicBezTo>
                  <a:pt x="367902" y="77912"/>
                  <a:pt x="350935" y="77800"/>
                  <a:pt x="340555" y="88293"/>
                </a:cubicBezTo>
                <a:lnTo>
                  <a:pt x="323812" y="105036"/>
                </a:lnTo>
                <a:lnTo>
                  <a:pt x="323812" y="3571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3838548" y="4368366"/>
            <a:ext cx="1619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冰山之上</a:t>
            </a:r>
            <a:endParaRPr lang="en-US" sz="1100"/>
          </a:p>
        </p:txBody>
      </p:sp>
      <p:sp>
        <p:nvSpPr>
          <p:cNvPr id="21" name="AutoShape 21"/>
          <p:cNvSpPr/>
          <p:nvPr/>
        </p:nvSpPr>
        <p:spPr>
          <a:xfrm>
            <a:off x="3848073" y="4711229"/>
            <a:ext cx="16002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我们看到的大模型应用</a:t>
            </a:r>
            <a:endParaRPr lang="en-US" sz="1100"/>
          </a:p>
        </p:txBody>
      </p:sp>
      <p:sp>
        <p:nvSpPr>
          <p:cNvPr id="22" name="AutoShape 22"/>
          <p:cNvSpPr/>
          <p:nvPr/>
        </p:nvSpPr>
        <p:spPr>
          <a:xfrm>
            <a:off x="5714865" y="4063566"/>
            <a:ext cx="685800" cy="457200"/>
          </a:xfrm>
          <a:prstGeom prst="rect">
            <a:avLst/>
          </a:prstGeom>
          <a:noFill/>
          <a:ln w="12700">
            <a:noFill/>
            <a:prstDash val="solid"/>
          </a:ln>
        </p:spPr>
        <p:txBody>
          <a:bodyPr wrap="square" lIns="0" tIns="0" rIns="0" bIns="0" rtlCol="0" anchor="ctr">
            <a:noAutofit/>
          </a:bodyPr>
          <a:lstStyle/>
          <a:p>
            <a:pPr indent="0" algn="l">
              <a:lnSpc>
                <a:spcPct val="83000"/>
              </a:lnSpc>
              <a:defRPr/>
            </a:pPr>
            <a:r>
              <a:rPr lang="en-US" sz="36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23" name="Freeform 23"/>
          <p:cNvSpPr/>
          <p:nvPr/>
        </p:nvSpPr>
        <p:spPr>
          <a:xfrm>
            <a:off x="7103674" y="3707941"/>
            <a:ext cx="575071" cy="437109"/>
          </a:xfrm>
          <a:custGeom>
            <a:avLst/>
            <a:gdLst/>
            <a:ahLst/>
            <a:cxnLst/>
            <a:rect l="l" t="t" r="r" b="b"/>
            <a:pathLst>
              <a:path w="575071" h="437109">
                <a:moveTo>
                  <a:pt x="460102" y="75120"/>
                </a:moveTo>
                <a:cubicBezTo>
                  <a:pt x="483207" y="92533"/>
                  <a:pt x="511448" y="109388"/>
                  <a:pt x="542925" y="113629"/>
                </a:cubicBezTo>
                <a:cubicBezTo>
                  <a:pt x="557547" y="115639"/>
                  <a:pt x="571055" y="105258"/>
                  <a:pt x="573062" y="90636"/>
                </a:cubicBezTo>
                <a:cubicBezTo>
                  <a:pt x="575072" y="76015"/>
                  <a:pt x="564691" y="62508"/>
                  <a:pt x="550069" y="60498"/>
                </a:cubicBezTo>
                <a:cubicBezTo>
                  <a:pt x="532321" y="58155"/>
                  <a:pt x="513011" y="47885"/>
                  <a:pt x="492362" y="32370"/>
                </a:cubicBezTo>
                <a:cubicBezTo>
                  <a:pt x="449498" y="0"/>
                  <a:pt x="391345" y="0"/>
                  <a:pt x="348369" y="32370"/>
                </a:cubicBezTo>
                <a:cubicBezTo>
                  <a:pt x="321580" y="52573"/>
                  <a:pt x="302940" y="61726"/>
                  <a:pt x="287536" y="61726"/>
                </a:cubicBezTo>
                <a:cubicBezTo>
                  <a:pt x="272132" y="61726"/>
                  <a:pt x="253492" y="52573"/>
                  <a:pt x="226703" y="32370"/>
                </a:cubicBezTo>
                <a:cubicBezTo>
                  <a:pt x="183841" y="0"/>
                  <a:pt x="125685" y="0"/>
                  <a:pt x="82710" y="32370"/>
                </a:cubicBezTo>
                <a:cubicBezTo>
                  <a:pt x="62061" y="47885"/>
                  <a:pt x="42751" y="58155"/>
                  <a:pt x="25003" y="60498"/>
                </a:cubicBezTo>
                <a:cubicBezTo>
                  <a:pt x="10381" y="62508"/>
                  <a:pt x="0" y="75901"/>
                  <a:pt x="2010" y="90636"/>
                </a:cubicBezTo>
                <a:cubicBezTo>
                  <a:pt x="4017" y="105371"/>
                  <a:pt x="17413" y="115639"/>
                  <a:pt x="32147" y="113629"/>
                </a:cubicBezTo>
                <a:cubicBezTo>
                  <a:pt x="63624" y="109388"/>
                  <a:pt x="91976" y="92533"/>
                  <a:pt x="114970" y="75120"/>
                </a:cubicBezTo>
                <a:cubicBezTo>
                  <a:pt x="138745" y="57150"/>
                  <a:pt x="170669" y="57150"/>
                  <a:pt x="194444" y="75120"/>
                </a:cubicBezTo>
                <a:cubicBezTo>
                  <a:pt x="221457" y="95547"/>
                  <a:pt x="252822" y="115193"/>
                  <a:pt x="287536" y="115193"/>
                </a:cubicBezTo>
                <a:cubicBezTo>
                  <a:pt x="322250" y="115193"/>
                  <a:pt x="353504" y="95437"/>
                  <a:pt x="380628" y="75120"/>
                </a:cubicBezTo>
                <a:cubicBezTo>
                  <a:pt x="404403" y="57150"/>
                  <a:pt x="436327" y="57150"/>
                  <a:pt x="460102" y="75120"/>
                </a:cubicBezTo>
                <a:close/>
                <a:moveTo>
                  <a:pt x="460102" y="235855"/>
                </a:moveTo>
                <a:cubicBezTo>
                  <a:pt x="483207" y="253268"/>
                  <a:pt x="511448" y="270123"/>
                  <a:pt x="542925" y="274364"/>
                </a:cubicBezTo>
                <a:cubicBezTo>
                  <a:pt x="557547" y="276374"/>
                  <a:pt x="571055" y="265993"/>
                  <a:pt x="573062" y="251370"/>
                </a:cubicBezTo>
                <a:cubicBezTo>
                  <a:pt x="575072" y="236748"/>
                  <a:pt x="564691" y="223242"/>
                  <a:pt x="550069" y="221233"/>
                </a:cubicBezTo>
                <a:cubicBezTo>
                  <a:pt x="532321" y="218890"/>
                  <a:pt x="513011" y="208620"/>
                  <a:pt x="492362" y="193103"/>
                </a:cubicBezTo>
                <a:cubicBezTo>
                  <a:pt x="449498" y="160734"/>
                  <a:pt x="391345" y="160734"/>
                  <a:pt x="348369" y="193103"/>
                </a:cubicBezTo>
                <a:cubicBezTo>
                  <a:pt x="321580" y="213308"/>
                  <a:pt x="302940" y="222461"/>
                  <a:pt x="287536" y="222461"/>
                </a:cubicBezTo>
                <a:cubicBezTo>
                  <a:pt x="272132" y="222461"/>
                  <a:pt x="253492" y="213308"/>
                  <a:pt x="226703" y="193103"/>
                </a:cubicBezTo>
                <a:cubicBezTo>
                  <a:pt x="183841" y="160734"/>
                  <a:pt x="125685" y="160734"/>
                  <a:pt x="82710" y="193103"/>
                </a:cubicBezTo>
                <a:cubicBezTo>
                  <a:pt x="62061" y="208620"/>
                  <a:pt x="42751" y="218890"/>
                  <a:pt x="25003" y="221233"/>
                </a:cubicBezTo>
                <a:cubicBezTo>
                  <a:pt x="10381" y="223130"/>
                  <a:pt x="0" y="236637"/>
                  <a:pt x="2010" y="251370"/>
                </a:cubicBezTo>
                <a:cubicBezTo>
                  <a:pt x="4017" y="266104"/>
                  <a:pt x="17413" y="276374"/>
                  <a:pt x="32147" y="274364"/>
                </a:cubicBezTo>
                <a:cubicBezTo>
                  <a:pt x="63624" y="270123"/>
                  <a:pt x="91976" y="253268"/>
                  <a:pt x="114970" y="235855"/>
                </a:cubicBezTo>
                <a:cubicBezTo>
                  <a:pt x="138745" y="217884"/>
                  <a:pt x="170669" y="217884"/>
                  <a:pt x="194444" y="235855"/>
                </a:cubicBezTo>
                <a:cubicBezTo>
                  <a:pt x="221457" y="256282"/>
                  <a:pt x="252822" y="275926"/>
                  <a:pt x="287536" y="275926"/>
                </a:cubicBezTo>
                <a:cubicBezTo>
                  <a:pt x="322250" y="275926"/>
                  <a:pt x="353504" y="256170"/>
                  <a:pt x="380628" y="235855"/>
                </a:cubicBezTo>
                <a:cubicBezTo>
                  <a:pt x="404403" y="217884"/>
                  <a:pt x="436327" y="217884"/>
                  <a:pt x="460102" y="235855"/>
                </a:cubicBezTo>
                <a:close/>
                <a:moveTo>
                  <a:pt x="380628" y="396590"/>
                </a:moveTo>
                <a:cubicBezTo>
                  <a:pt x="404403" y="378619"/>
                  <a:pt x="436327" y="378619"/>
                  <a:pt x="460102" y="396590"/>
                </a:cubicBezTo>
                <a:cubicBezTo>
                  <a:pt x="483207" y="414002"/>
                  <a:pt x="511448" y="430858"/>
                  <a:pt x="542925" y="435099"/>
                </a:cubicBezTo>
                <a:cubicBezTo>
                  <a:pt x="557547" y="437109"/>
                  <a:pt x="571055" y="426728"/>
                  <a:pt x="573062" y="412105"/>
                </a:cubicBezTo>
                <a:cubicBezTo>
                  <a:pt x="575072" y="397482"/>
                  <a:pt x="564691" y="383976"/>
                  <a:pt x="550069" y="381966"/>
                </a:cubicBezTo>
                <a:cubicBezTo>
                  <a:pt x="532321" y="379623"/>
                  <a:pt x="513011" y="369354"/>
                  <a:pt x="492362" y="353838"/>
                </a:cubicBezTo>
                <a:cubicBezTo>
                  <a:pt x="449498" y="321469"/>
                  <a:pt x="391345" y="321469"/>
                  <a:pt x="348369" y="353838"/>
                </a:cubicBezTo>
                <a:cubicBezTo>
                  <a:pt x="321580" y="374042"/>
                  <a:pt x="302940" y="383195"/>
                  <a:pt x="287536" y="383195"/>
                </a:cubicBezTo>
                <a:cubicBezTo>
                  <a:pt x="272132" y="383195"/>
                  <a:pt x="253492" y="374042"/>
                  <a:pt x="226703" y="353838"/>
                </a:cubicBezTo>
                <a:cubicBezTo>
                  <a:pt x="183841" y="321469"/>
                  <a:pt x="125685" y="321469"/>
                  <a:pt x="82710" y="353838"/>
                </a:cubicBezTo>
                <a:cubicBezTo>
                  <a:pt x="62061" y="369354"/>
                  <a:pt x="42751" y="379623"/>
                  <a:pt x="25003" y="381966"/>
                </a:cubicBezTo>
                <a:cubicBezTo>
                  <a:pt x="10381" y="383976"/>
                  <a:pt x="0" y="397372"/>
                  <a:pt x="2010" y="412105"/>
                </a:cubicBezTo>
                <a:cubicBezTo>
                  <a:pt x="4017" y="426839"/>
                  <a:pt x="17413" y="437109"/>
                  <a:pt x="32147" y="435099"/>
                </a:cubicBezTo>
                <a:cubicBezTo>
                  <a:pt x="63624" y="430858"/>
                  <a:pt x="91976" y="414002"/>
                  <a:pt x="114970" y="396590"/>
                </a:cubicBezTo>
                <a:cubicBezTo>
                  <a:pt x="138745" y="378619"/>
                  <a:pt x="170669" y="378619"/>
                  <a:pt x="194444" y="396590"/>
                </a:cubicBezTo>
                <a:cubicBezTo>
                  <a:pt x="221457" y="417016"/>
                  <a:pt x="252822" y="436661"/>
                  <a:pt x="287536" y="436661"/>
                </a:cubicBezTo>
                <a:cubicBezTo>
                  <a:pt x="322250" y="436661"/>
                  <a:pt x="353504" y="416905"/>
                  <a:pt x="380628" y="39659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6429240" y="4368366"/>
            <a:ext cx="19240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冰山之下</a:t>
            </a:r>
            <a:endParaRPr lang="en-US" sz="1100"/>
          </a:p>
        </p:txBody>
      </p:sp>
      <p:sp>
        <p:nvSpPr>
          <p:cNvPr id="25" name="AutoShape 25"/>
          <p:cNvSpPr/>
          <p:nvPr/>
        </p:nvSpPr>
        <p:spPr>
          <a:xfrm>
            <a:off x="6438765" y="4711229"/>
            <a:ext cx="19050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支撑大模型的算力基础设施</a:t>
            </a:r>
            <a:endParaRPr lang="en-US" sz="1100"/>
          </a:p>
        </p:txBody>
      </p:sp>
      <p:sp>
        <p:nvSpPr>
          <p:cNvPr id="26" name="AutoShape 26"/>
          <p:cNvSpPr/>
          <p:nvPr/>
        </p:nvSpPr>
        <p:spPr>
          <a:xfrm>
            <a:off x="2829051" y="5549131"/>
            <a:ext cx="6530975" cy="4191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是什么在</a:t>
            </a:r>
            <a:r>
              <a:rPr lang="en-US" sz="2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支撑</a:t>
            </a: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着大模型呢？</a:t>
            </a:r>
            <a:endParaRPr lang="en-US" sz="1100"/>
          </a:p>
        </p:txBody>
      </p:sp>
    </p:spTree>
  </p:cSld>
  <p:clrMapOvr>
    <a:masterClrMapping/>
  </p:clrMapOvr>
  <p:transition spd="slow">
    <p:fade/>
  </p:transition>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5B92E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657519" y="2590837"/>
            <a:ext cx="5181600" cy="914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4800" b="1" i="0" u="none" strike="noStrike">
                <a:solidFill>
                  <a:srgbClr val="FFFFFF"/>
                </a:solidFill>
                <a:latin typeface="Alimama ShuHeiTi"/>
                <a:ea typeface="Alimama ShuHeiTi"/>
                <a:cs typeface="Alimama ShuHeiTi"/>
                <a:sym typeface="Alimama ShuHeiTi"/>
              </a:rPr>
              <a:t>大模型背后的算力</a:t>
            </a:r>
            <a:endParaRPr lang="en-US" sz="1100"/>
          </a:p>
        </p:txBody>
      </p:sp>
      <p:sp>
        <p:nvSpPr>
          <p:cNvPr id="3" name="AutoShape 3"/>
          <p:cNvSpPr/>
          <p:nvPr/>
        </p:nvSpPr>
        <p:spPr>
          <a:xfrm>
            <a:off x="3922703" y="3733837"/>
            <a:ext cx="4521200" cy="533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800" b="0" i="0" u="none" strike="noStrike">
                <a:solidFill>
                  <a:srgbClr val="87CEEB"/>
                </a:solidFill>
                <a:latin typeface="MiSans" panose="00000500000000000000" charset="-122"/>
                <a:ea typeface="MiSans" panose="00000500000000000000" charset="-122"/>
                <a:cs typeface="MiSans" panose="00000500000000000000" charset="-122"/>
                <a:sym typeface="MiSans" panose="00000500000000000000" charset="-122"/>
              </a:rPr>
              <a:t>开源AI系统软件栈：FlagOS</a:t>
            </a:r>
            <a:endParaRPr lang="en-US" sz="1100"/>
          </a:p>
        </p:txBody>
      </p:sp>
      <p:sp>
        <p:nvSpPr>
          <p:cNvPr id="4" name="AutoShape 4"/>
          <p:cNvSpPr/>
          <p:nvPr/>
        </p:nvSpPr>
        <p:spPr>
          <a:xfrm>
            <a:off x="5621209" y="1790784"/>
            <a:ext cx="1123950" cy="4572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4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PART 4</a:t>
            </a:r>
            <a:endParaRPr lang="en-US" sz="1100"/>
          </a:p>
        </p:txBody>
      </p:sp>
    </p:spTree>
  </p:cSld>
  <p:clrMapOvr>
    <a:masterClrMapping/>
  </p:clrMapOvr>
  <p:transition spd="slow">
    <p:fade/>
  </p:transition>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FlagOS生态地位</a:t>
            </a:r>
            <a:endParaRPr lang="en-US" sz="1100"/>
          </a:p>
        </p:txBody>
      </p:sp>
      <p:sp>
        <p:nvSpPr>
          <p:cNvPr id="3" name="Freeform 3"/>
          <p:cNvSpPr/>
          <p:nvPr/>
        </p:nvSpPr>
        <p:spPr>
          <a:xfrm>
            <a:off x="6286500" y="1583420"/>
            <a:ext cx="5524500" cy="1028700"/>
          </a:xfrm>
          <a:custGeom>
            <a:avLst/>
            <a:gdLst/>
            <a:ahLst/>
            <a:cxnLst/>
            <a:rect l="l" t="t" r="r" b="b"/>
            <a:pathLst>
              <a:path w="5524500" h="1028700">
                <a:moveTo>
                  <a:pt x="114299" y="0"/>
                </a:moveTo>
                <a:lnTo>
                  <a:pt x="5410201" y="0"/>
                </a:lnTo>
                <a:cubicBezTo>
                  <a:pt x="5473327" y="0"/>
                  <a:pt x="5524500" y="51173"/>
                  <a:pt x="5524500" y="114299"/>
                </a:cubicBezTo>
                <a:lnTo>
                  <a:pt x="5524500" y="914401"/>
                </a:lnTo>
                <a:cubicBezTo>
                  <a:pt x="5524500" y="977527"/>
                  <a:pt x="5473327" y="1028700"/>
                  <a:pt x="5410201" y="1028700"/>
                </a:cubicBezTo>
                <a:lnTo>
                  <a:pt x="114299" y="1028700"/>
                </a:lnTo>
                <a:cubicBezTo>
                  <a:pt x="51173" y="1028700"/>
                  <a:pt x="0" y="977527"/>
                  <a:pt x="0" y="914401"/>
                </a:cubicBezTo>
                <a:lnTo>
                  <a:pt x="0" y="114299"/>
                </a:lnTo>
                <a:cubicBezTo>
                  <a:pt x="0" y="51173"/>
                  <a:pt x="51173" y="0"/>
                  <a:pt x="114299"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4" name="Freeform 4"/>
          <p:cNvSpPr/>
          <p:nvPr/>
        </p:nvSpPr>
        <p:spPr>
          <a:xfrm>
            <a:off x="6500813" y="1811908"/>
            <a:ext cx="190500" cy="190500"/>
          </a:xfrm>
          <a:custGeom>
            <a:avLst/>
            <a:gdLst/>
            <a:ahLst/>
            <a:cxnLst/>
            <a:rect l="l" t="t" r="r" b="b"/>
            <a:pathLst>
              <a:path w="190500" h="190500">
                <a:moveTo>
                  <a:pt x="83344" y="0"/>
                </a:moveTo>
                <a:cubicBezTo>
                  <a:pt x="96478" y="0"/>
                  <a:pt x="107156" y="8000"/>
                  <a:pt x="107156" y="17859"/>
                </a:cubicBezTo>
                <a:cubicBezTo>
                  <a:pt x="107156" y="21728"/>
                  <a:pt x="105519" y="25301"/>
                  <a:pt x="102691" y="28240"/>
                </a:cubicBezTo>
                <a:cubicBezTo>
                  <a:pt x="100236" y="30806"/>
                  <a:pt x="98227" y="33933"/>
                  <a:pt x="98227" y="37504"/>
                </a:cubicBezTo>
                <a:cubicBezTo>
                  <a:pt x="98227" y="43086"/>
                  <a:pt x="102766" y="47625"/>
                  <a:pt x="108348" y="47625"/>
                </a:cubicBezTo>
                <a:lnTo>
                  <a:pt x="125016" y="47625"/>
                </a:lnTo>
                <a:cubicBezTo>
                  <a:pt x="134875" y="47625"/>
                  <a:pt x="142875" y="55625"/>
                  <a:pt x="142875" y="65484"/>
                </a:cubicBezTo>
                <a:lnTo>
                  <a:pt x="142875" y="82152"/>
                </a:lnTo>
                <a:cubicBezTo>
                  <a:pt x="142875" y="87734"/>
                  <a:pt x="147414" y="92273"/>
                  <a:pt x="152996" y="92273"/>
                </a:cubicBezTo>
                <a:cubicBezTo>
                  <a:pt x="156530" y="92273"/>
                  <a:pt x="159694" y="90264"/>
                  <a:pt x="162260" y="87809"/>
                </a:cubicBezTo>
                <a:cubicBezTo>
                  <a:pt x="165199" y="85018"/>
                  <a:pt x="168772" y="83344"/>
                  <a:pt x="172641" y="83344"/>
                </a:cubicBezTo>
                <a:cubicBezTo>
                  <a:pt x="182500" y="83344"/>
                  <a:pt x="190500" y="94022"/>
                  <a:pt x="190500" y="107156"/>
                </a:cubicBezTo>
                <a:cubicBezTo>
                  <a:pt x="190500" y="120291"/>
                  <a:pt x="182500" y="130969"/>
                  <a:pt x="172641" y="130969"/>
                </a:cubicBezTo>
                <a:cubicBezTo>
                  <a:pt x="168772" y="130969"/>
                  <a:pt x="165162" y="129332"/>
                  <a:pt x="162260" y="126503"/>
                </a:cubicBezTo>
                <a:cubicBezTo>
                  <a:pt x="159694" y="124049"/>
                  <a:pt x="156567" y="122039"/>
                  <a:pt x="152996" y="122039"/>
                </a:cubicBezTo>
                <a:cubicBezTo>
                  <a:pt x="147414" y="122039"/>
                  <a:pt x="142875" y="126578"/>
                  <a:pt x="142875" y="132159"/>
                </a:cubicBezTo>
                <a:lnTo>
                  <a:pt x="142875" y="172641"/>
                </a:lnTo>
                <a:cubicBezTo>
                  <a:pt x="142875" y="182500"/>
                  <a:pt x="134875" y="190500"/>
                  <a:pt x="125016" y="190500"/>
                </a:cubicBezTo>
                <a:lnTo>
                  <a:pt x="103882" y="190500"/>
                </a:lnTo>
                <a:cubicBezTo>
                  <a:pt x="99120" y="190500"/>
                  <a:pt x="95250" y="186630"/>
                  <a:pt x="95250" y="181868"/>
                </a:cubicBezTo>
                <a:cubicBezTo>
                  <a:pt x="95250" y="178445"/>
                  <a:pt x="97408" y="175431"/>
                  <a:pt x="100161" y="173385"/>
                </a:cubicBezTo>
                <a:cubicBezTo>
                  <a:pt x="104477" y="170148"/>
                  <a:pt x="107156" y="165683"/>
                  <a:pt x="107156" y="160734"/>
                </a:cubicBezTo>
                <a:cubicBezTo>
                  <a:pt x="107156" y="150875"/>
                  <a:pt x="96478" y="142875"/>
                  <a:pt x="83344" y="142875"/>
                </a:cubicBezTo>
                <a:cubicBezTo>
                  <a:pt x="70209" y="142875"/>
                  <a:pt x="59531" y="150875"/>
                  <a:pt x="59531" y="160734"/>
                </a:cubicBezTo>
                <a:cubicBezTo>
                  <a:pt x="59531" y="165683"/>
                  <a:pt x="62210" y="170148"/>
                  <a:pt x="66526" y="173385"/>
                </a:cubicBezTo>
                <a:cubicBezTo>
                  <a:pt x="69279" y="175431"/>
                  <a:pt x="71437" y="178408"/>
                  <a:pt x="71437" y="181868"/>
                </a:cubicBezTo>
                <a:cubicBezTo>
                  <a:pt x="71437" y="186630"/>
                  <a:pt x="67568" y="190500"/>
                  <a:pt x="62805" y="190500"/>
                </a:cubicBezTo>
                <a:lnTo>
                  <a:pt x="17859" y="190500"/>
                </a:lnTo>
                <a:cubicBezTo>
                  <a:pt x="8000" y="190500"/>
                  <a:pt x="0" y="182500"/>
                  <a:pt x="0" y="172641"/>
                </a:cubicBezTo>
                <a:lnTo>
                  <a:pt x="0" y="127695"/>
                </a:lnTo>
                <a:cubicBezTo>
                  <a:pt x="0" y="122932"/>
                  <a:pt x="3870" y="119062"/>
                  <a:pt x="8632" y="119062"/>
                </a:cubicBezTo>
                <a:cubicBezTo>
                  <a:pt x="12055" y="119062"/>
                  <a:pt x="15069" y="121221"/>
                  <a:pt x="17115" y="123974"/>
                </a:cubicBezTo>
                <a:cubicBezTo>
                  <a:pt x="20352" y="128290"/>
                  <a:pt x="24817" y="130969"/>
                  <a:pt x="29766" y="130969"/>
                </a:cubicBezTo>
                <a:cubicBezTo>
                  <a:pt x="39625" y="130969"/>
                  <a:pt x="47625" y="120291"/>
                  <a:pt x="47625" y="107156"/>
                </a:cubicBezTo>
                <a:cubicBezTo>
                  <a:pt x="47625" y="94022"/>
                  <a:pt x="39625" y="83344"/>
                  <a:pt x="29766" y="83344"/>
                </a:cubicBezTo>
                <a:cubicBezTo>
                  <a:pt x="24817" y="83344"/>
                  <a:pt x="20352" y="86023"/>
                  <a:pt x="17115" y="90339"/>
                </a:cubicBezTo>
                <a:cubicBezTo>
                  <a:pt x="15069" y="93092"/>
                  <a:pt x="12092" y="95250"/>
                  <a:pt x="8632" y="95250"/>
                </a:cubicBezTo>
                <a:cubicBezTo>
                  <a:pt x="3870" y="95250"/>
                  <a:pt x="0" y="91380"/>
                  <a:pt x="0" y="86618"/>
                </a:cubicBezTo>
                <a:lnTo>
                  <a:pt x="0" y="65484"/>
                </a:lnTo>
                <a:cubicBezTo>
                  <a:pt x="0" y="55625"/>
                  <a:pt x="8000" y="47625"/>
                  <a:pt x="17859" y="47625"/>
                </a:cubicBezTo>
                <a:lnTo>
                  <a:pt x="58341" y="47625"/>
                </a:lnTo>
                <a:cubicBezTo>
                  <a:pt x="63922" y="47625"/>
                  <a:pt x="68461" y="43086"/>
                  <a:pt x="68461" y="37504"/>
                </a:cubicBezTo>
                <a:cubicBezTo>
                  <a:pt x="68461" y="33970"/>
                  <a:pt x="66451" y="30806"/>
                  <a:pt x="63997" y="28240"/>
                </a:cubicBezTo>
                <a:cubicBezTo>
                  <a:pt x="61206" y="25301"/>
                  <a:pt x="59531" y="21728"/>
                  <a:pt x="59531" y="17859"/>
                </a:cubicBezTo>
                <a:cubicBezTo>
                  <a:pt x="59531" y="8000"/>
                  <a:pt x="70209" y="0"/>
                  <a:pt x="83344"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6829316" y="1773920"/>
            <a:ext cx="771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生态使能</a:t>
            </a:r>
            <a:endParaRPr lang="en-US" sz="1100"/>
          </a:p>
        </p:txBody>
      </p:sp>
      <p:sp>
        <p:nvSpPr>
          <p:cNvPr id="6" name="Freeform 6"/>
          <p:cNvSpPr/>
          <p:nvPr/>
        </p:nvSpPr>
        <p:spPr>
          <a:xfrm>
            <a:off x="6477000" y="2154622"/>
            <a:ext cx="1038225" cy="266700"/>
          </a:xfrm>
          <a:custGeom>
            <a:avLst/>
            <a:gdLst/>
            <a:ahLst/>
            <a:cxnLst/>
            <a:rect l="l" t="t" r="r" b="b"/>
            <a:pathLst>
              <a:path w="1038225" h="266700">
                <a:moveTo>
                  <a:pt x="38101" y="0"/>
                </a:moveTo>
                <a:lnTo>
                  <a:pt x="1000124" y="0"/>
                </a:lnTo>
                <a:cubicBezTo>
                  <a:pt x="1021168" y="0"/>
                  <a:pt x="1038225" y="17057"/>
                  <a:pt x="1038225" y="38101"/>
                </a:cubicBezTo>
                <a:lnTo>
                  <a:pt x="1038225" y="228599"/>
                </a:lnTo>
                <a:cubicBezTo>
                  <a:pt x="1038225" y="249643"/>
                  <a:pt x="1021168" y="266700"/>
                  <a:pt x="1000124" y="266700"/>
                </a:cubicBezTo>
                <a:lnTo>
                  <a:pt x="38101" y="266700"/>
                </a:lnTo>
                <a:cubicBezTo>
                  <a:pt x="17057" y="266700"/>
                  <a:pt x="0" y="249643"/>
                  <a:pt x="0" y="228599"/>
                </a:cubicBezTo>
                <a:lnTo>
                  <a:pt x="0" y="38101"/>
                </a:lnTo>
                <a:cubicBezTo>
                  <a:pt x="0" y="17073"/>
                  <a:pt x="17073" y="0"/>
                  <a:pt x="38101"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6477000" y="2154622"/>
            <a:ext cx="1104900" cy="266700"/>
          </a:xfrm>
          <a:prstGeom prst="rect">
            <a:avLst/>
          </a:prstGeom>
          <a:noFill/>
          <a:ln w="12700">
            <a:noFill/>
            <a:prstDash val="solid"/>
          </a:ln>
        </p:spPr>
        <p:txBody>
          <a:bodyPr wrap="square" lIns="114300" tIns="38100" rIns="114300" bIns="38100" rtlCol="0" anchor="ctr">
            <a:noAutofit/>
          </a:bodyPr>
          <a:lstStyle/>
          <a:p>
            <a:pPr indent="0" algn="l">
              <a:lnSpc>
                <a:spcPct val="117000"/>
              </a:lnSpc>
              <a:defRPr/>
            </a:pP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Megatron-EL</a:t>
            </a:r>
            <a:endParaRPr lang="en-US" sz="1100"/>
          </a:p>
        </p:txBody>
      </p:sp>
      <p:sp>
        <p:nvSpPr>
          <p:cNvPr id="8" name="Freeform 8"/>
          <p:cNvSpPr/>
          <p:nvPr/>
        </p:nvSpPr>
        <p:spPr>
          <a:xfrm>
            <a:off x="7586717" y="2154622"/>
            <a:ext cx="1209675" cy="266700"/>
          </a:xfrm>
          <a:custGeom>
            <a:avLst/>
            <a:gdLst/>
            <a:ahLst/>
            <a:cxnLst/>
            <a:rect l="l" t="t" r="r" b="b"/>
            <a:pathLst>
              <a:path w="1209675" h="266700">
                <a:moveTo>
                  <a:pt x="38101" y="0"/>
                </a:moveTo>
                <a:lnTo>
                  <a:pt x="1171574" y="0"/>
                </a:lnTo>
                <a:cubicBezTo>
                  <a:pt x="1192618" y="0"/>
                  <a:pt x="1209675" y="17057"/>
                  <a:pt x="1209675" y="38101"/>
                </a:cubicBezTo>
                <a:lnTo>
                  <a:pt x="1209675" y="228599"/>
                </a:lnTo>
                <a:cubicBezTo>
                  <a:pt x="1209675" y="249643"/>
                  <a:pt x="1192618" y="266700"/>
                  <a:pt x="1171574" y="266700"/>
                </a:cubicBezTo>
                <a:lnTo>
                  <a:pt x="38101" y="266700"/>
                </a:lnTo>
                <a:cubicBezTo>
                  <a:pt x="17057" y="266700"/>
                  <a:pt x="0" y="249643"/>
                  <a:pt x="0" y="228599"/>
                </a:cubicBezTo>
                <a:lnTo>
                  <a:pt x="0" y="38101"/>
                </a:lnTo>
                <a:cubicBezTo>
                  <a:pt x="0" y="17073"/>
                  <a:pt x="17073" y="0"/>
                  <a:pt x="38101"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7586717" y="2154622"/>
            <a:ext cx="1276350" cy="266700"/>
          </a:xfrm>
          <a:prstGeom prst="rect">
            <a:avLst/>
          </a:prstGeom>
          <a:noFill/>
          <a:ln w="12700">
            <a:noFill/>
            <a:prstDash val="solid"/>
          </a:ln>
        </p:spPr>
        <p:txBody>
          <a:bodyPr wrap="square" lIns="114300" tIns="38100" rIns="114300" bIns="38100" rtlCol="0" anchor="ctr">
            <a:noAutofit/>
          </a:bodyPr>
          <a:lstStyle/>
          <a:p>
            <a:pPr indent="0" algn="l">
              <a:lnSpc>
                <a:spcPct val="117000"/>
              </a:lnSpc>
              <a:defRPr/>
            </a:pP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vLLM-plugin-FL</a:t>
            </a:r>
            <a:endParaRPr lang="en-US" sz="1100"/>
          </a:p>
        </p:txBody>
      </p:sp>
      <p:sp>
        <p:nvSpPr>
          <p:cNvPr id="10" name="Freeform 10"/>
          <p:cNvSpPr/>
          <p:nvPr/>
        </p:nvSpPr>
        <p:spPr>
          <a:xfrm>
            <a:off x="8872185" y="2154622"/>
            <a:ext cx="1609725" cy="266700"/>
          </a:xfrm>
          <a:custGeom>
            <a:avLst/>
            <a:gdLst/>
            <a:ahLst/>
            <a:cxnLst/>
            <a:rect l="l" t="t" r="r" b="b"/>
            <a:pathLst>
              <a:path w="1609725" h="266700">
                <a:moveTo>
                  <a:pt x="38101" y="0"/>
                </a:moveTo>
                <a:lnTo>
                  <a:pt x="1571624" y="0"/>
                </a:lnTo>
                <a:cubicBezTo>
                  <a:pt x="1592668" y="0"/>
                  <a:pt x="1609725" y="17057"/>
                  <a:pt x="1609725" y="38101"/>
                </a:cubicBezTo>
                <a:lnTo>
                  <a:pt x="1609725" y="228599"/>
                </a:lnTo>
                <a:cubicBezTo>
                  <a:pt x="1609725" y="249643"/>
                  <a:pt x="1592668" y="266700"/>
                  <a:pt x="1571624" y="266700"/>
                </a:cubicBezTo>
                <a:lnTo>
                  <a:pt x="38101" y="266700"/>
                </a:lnTo>
                <a:cubicBezTo>
                  <a:pt x="17057" y="266700"/>
                  <a:pt x="0" y="249643"/>
                  <a:pt x="0" y="228599"/>
                </a:cubicBezTo>
                <a:lnTo>
                  <a:pt x="0" y="38101"/>
                </a:lnTo>
                <a:cubicBezTo>
                  <a:pt x="0" y="17073"/>
                  <a:pt x="17073" y="0"/>
                  <a:pt x="38101"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8872185" y="2154622"/>
            <a:ext cx="1676400" cy="266700"/>
          </a:xfrm>
          <a:prstGeom prst="rect">
            <a:avLst/>
          </a:prstGeom>
          <a:noFill/>
          <a:ln w="12700">
            <a:noFill/>
            <a:prstDash val="solid"/>
          </a:ln>
        </p:spPr>
        <p:txBody>
          <a:bodyPr wrap="square" lIns="114300" tIns="38100" rIns="114300" bIns="38100" rtlCol="0" anchor="ctr">
            <a:noAutofit/>
          </a:bodyPr>
          <a:lstStyle/>
          <a:p>
            <a:pPr indent="0" algn="l">
              <a:lnSpc>
                <a:spcPct val="117000"/>
              </a:lnSpc>
              <a:defRPr/>
            </a:pP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TransformerEngine-FL</a:t>
            </a:r>
            <a:endParaRPr lang="en-US" sz="1100"/>
          </a:p>
        </p:txBody>
      </p:sp>
      <p:sp>
        <p:nvSpPr>
          <p:cNvPr id="12" name="Freeform 12"/>
          <p:cNvSpPr/>
          <p:nvPr/>
        </p:nvSpPr>
        <p:spPr>
          <a:xfrm>
            <a:off x="6295159" y="2772658"/>
            <a:ext cx="5503718" cy="1769918"/>
          </a:xfrm>
          <a:custGeom>
            <a:avLst/>
            <a:gdLst/>
            <a:ahLst/>
            <a:cxnLst/>
            <a:rect l="l" t="t" r="r" b="b"/>
            <a:pathLst>
              <a:path w="5503718" h="1769918">
                <a:moveTo>
                  <a:pt x="114301" y="0"/>
                </a:moveTo>
                <a:lnTo>
                  <a:pt x="5389416" y="0"/>
                </a:lnTo>
                <a:cubicBezTo>
                  <a:pt x="5452544" y="0"/>
                  <a:pt x="5503718" y="51173"/>
                  <a:pt x="5503718" y="114301"/>
                </a:cubicBezTo>
                <a:lnTo>
                  <a:pt x="5503718" y="1655616"/>
                </a:lnTo>
                <a:cubicBezTo>
                  <a:pt x="5503718" y="1718744"/>
                  <a:pt x="5452544" y="1769918"/>
                  <a:pt x="5389416" y="1769918"/>
                </a:cubicBezTo>
                <a:lnTo>
                  <a:pt x="114301" y="1769918"/>
                </a:lnTo>
                <a:cubicBezTo>
                  <a:pt x="51173" y="1769918"/>
                  <a:pt x="0" y="1718744"/>
                  <a:pt x="0" y="1655616"/>
                </a:cubicBezTo>
                <a:lnTo>
                  <a:pt x="0" y="114301"/>
                </a:lnTo>
                <a:cubicBezTo>
                  <a:pt x="0" y="51217"/>
                  <a:pt x="51217" y="0"/>
                  <a:pt x="114301"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algn="ctr">
              <a:defRPr/>
            </a:pPr>
          </a:p>
        </p:txBody>
      </p:sp>
      <p:sp>
        <p:nvSpPr>
          <p:cNvPr id="13" name="Freeform 13"/>
          <p:cNvSpPr/>
          <p:nvPr/>
        </p:nvSpPr>
        <p:spPr>
          <a:xfrm>
            <a:off x="6517946" y="3005659"/>
            <a:ext cx="190871" cy="190834"/>
          </a:xfrm>
          <a:custGeom>
            <a:avLst/>
            <a:gdLst/>
            <a:ahLst/>
            <a:cxnLst/>
            <a:rect l="l" t="t" r="r" b="b"/>
            <a:pathLst>
              <a:path w="190871" h="190834">
                <a:moveTo>
                  <a:pt x="105853" y="3720"/>
                </a:moveTo>
                <a:cubicBezTo>
                  <a:pt x="99416" y="0"/>
                  <a:pt x="91454" y="0"/>
                  <a:pt x="85017" y="3720"/>
                </a:cubicBezTo>
                <a:lnTo>
                  <a:pt x="53689" y="21802"/>
                </a:lnTo>
                <a:cubicBezTo>
                  <a:pt x="47252" y="25523"/>
                  <a:pt x="43271" y="32407"/>
                  <a:pt x="43271" y="39848"/>
                </a:cubicBezTo>
                <a:lnTo>
                  <a:pt x="43271" y="77762"/>
                </a:lnTo>
                <a:lnTo>
                  <a:pt x="10417" y="96737"/>
                </a:lnTo>
                <a:cubicBezTo>
                  <a:pt x="3980" y="100459"/>
                  <a:pt x="0" y="107342"/>
                  <a:pt x="0" y="114783"/>
                </a:cubicBezTo>
                <a:lnTo>
                  <a:pt x="0" y="150986"/>
                </a:lnTo>
                <a:cubicBezTo>
                  <a:pt x="0" y="158426"/>
                  <a:pt x="3980" y="165310"/>
                  <a:pt x="10417" y="169031"/>
                </a:cubicBezTo>
                <a:lnTo>
                  <a:pt x="41783" y="187114"/>
                </a:lnTo>
                <a:cubicBezTo>
                  <a:pt x="48219" y="190834"/>
                  <a:pt x="56182" y="190834"/>
                  <a:pt x="62618" y="187114"/>
                </a:cubicBezTo>
                <a:lnTo>
                  <a:pt x="95472" y="168138"/>
                </a:lnTo>
                <a:lnTo>
                  <a:pt x="128325" y="187114"/>
                </a:lnTo>
                <a:cubicBezTo>
                  <a:pt x="134763" y="190834"/>
                  <a:pt x="142725" y="190834"/>
                  <a:pt x="149162" y="187114"/>
                </a:cubicBezTo>
                <a:lnTo>
                  <a:pt x="180453" y="169031"/>
                </a:lnTo>
                <a:cubicBezTo>
                  <a:pt x="186890" y="165310"/>
                  <a:pt x="190870" y="158426"/>
                  <a:pt x="190870" y="150986"/>
                </a:cubicBezTo>
                <a:lnTo>
                  <a:pt x="190870" y="114783"/>
                </a:lnTo>
                <a:cubicBezTo>
                  <a:pt x="190870" y="107342"/>
                  <a:pt x="186890" y="100459"/>
                  <a:pt x="180453" y="96737"/>
                </a:cubicBezTo>
                <a:lnTo>
                  <a:pt x="147599" y="77762"/>
                </a:lnTo>
                <a:lnTo>
                  <a:pt x="147599" y="39848"/>
                </a:lnTo>
                <a:cubicBezTo>
                  <a:pt x="147599" y="32407"/>
                  <a:pt x="143618" y="25523"/>
                  <a:pt x="137181" y="21802"/>
                </a:cubicBezTo>
                <a:lnTo>
                  <a:pt x="105853" y="3720"/>
                </a:lnTo>
                <a:close/>
                <a:moveTo>
                  <a:pt x="86506" y="113072"/>
                </a:moveTo>
                <a:lnTo>
                  <a:pt x="86506" y="152697"/>
                </a:lnTo>
                <a:lnTo>
                  <a:pt x="53652" y="171673"/>
                </a:lnTo>
                <a:cubicBezTo>
                  <a:pt x="53205" y="171933"/>
                  <a:pt x="52684" y="172081"/>
                  <a:pt x="52164" y="172081"/>
                </a:cubicBezTo>
                <a:lnTo>
                  <a:pt x="52164" y="132903"/>
                </a:lnTo>
                <a:lnTo>
                  <a:pt x="86506" y="113072"/>
                </a:lnTo>
                <a:close/>
                <a:moveTo>
                  <a:pt x="172601" y="113294"/>
                </a:moveTo>
                <a:cubicBezTo>
                  <a:pt x="172863" y="113741"/>
                  <a:pt x="173012" y="114262"/>
                  <a:pt x="173012" y="114783"/>
                </a:cubicBezTo>
                <a:lnTo>
                  <a:pt x="173012" y="150986"/>
                </a:lnTo>
                <a:cubicBezTo>
                  <a:pt x="173012" y="152065"/>
                  <a:pt x="172454" y="153031"/>
                  <a:pt x="171523" y="153553"/>
                </a:cubicBezTo>
                <a:lnTo>
                  <a:pt x="140158" y="171636"/>
                </a:lnTo>
                <a:cubicBezTo>
                  <a:pt x="139711" y="171896"/>
                  <a:pt x="139190" y="172045"/>
                  <a:pt x="138670" y="172045"/>
                </a:cubicBezTo>
                <a:lnTo>
                  <a:pt x="138670" y="132866"/>
                </a:lnTo>
                <a:lnTo>
                  <a:pt x="172601" y="113294"/>
                </a:lnTo>
                <a:close/>
                <a:moveTo>
                  <a:pt x="129777" y="39848"/>
                </a:moveTo>
                <a:lnTo>
                  <a:pt x="129777" y="77762"/>
                </a:lnTo>
                <a:lnTo>
                  <a:pt x="95435" y="97593"/>
                </a:lnTo>
                <a:lnTo>
                  <a:pt x="95435" y="57968"/>
                </a:lnTo>
                <a:lnTo>
                  <a:pt x="129368" y="38397"/>
                </a:lnTo>
                <a:cubicBezTo>
                  <a:pt x="129628" y="38845"/>
                  <a:pt x="129777" y="39365"/>
                  <a:pt x="129777" y="39886"/>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6846634" y="2971837"/>
            <a:ext cx="6000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核心库</a:t>
            </a:r>
            <a:endParaRPr lang="en-US" sz="1100"/>
          </a:p>
        </p:txBody>
      </p:sp>
      <p:sp>
        <p:nvSpPr>
          <p:cNvPr id="15" name="AutoShape 15"/>
          <p:cNvSpPr/>
          <p:nvPr/>
        </p:nvSpPr>
        <p:spPr>
          <a:xfrm>
            <a:off x="6494318" y="3352577"/>
            <a:ext cx="51720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FlagGems:</a:t>
            </a: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高性能通用AI算子库</a:t>
            </a:r>
            <a:endParaRPr lang="en-US" sz="1100"/>
          </a:p>
        </p:txBody>
      </p:sp>
      <p:sp>
        <p:nvSpPr>
          <p:cNvPr id="16" name="AutoShape 16"/>
          <p:cNvSpPr/>
          <p:nvPr/>
        </p:nvSpPr>
        <p:spPr>
          <a:xfrm>
            <a:off x="6494318" y="3619240"/>
            <a:ext cx="51720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FlagTree:</a:t>
            </a: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统一的AI编译器</a:t>
            </a:r>
            <a:endParaRPr lang="en-US" sz="1100"/>
          </a:p>
        </p:txBody>
      </p:sp>
      <p:sp>
        <p:nvSpPr>
          <p:cNvPr id="17" name="AutoShape 17"/>
          <p:cNvSpPr/>
          <p:nvPr/>
        </p:nvSpPr>
        <p:spPr>
          <a:xfrm>
            <a:off x="6494318" y="3885902"/>
            <a:ext cx="51720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FlagScale:</a:t>
            </a: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统一的并行训练和推理框架</a:t>
            </a:r>
            <a:endParaRPr lang="en-US" sz="1100"/>
          </a:p>
        </p:txBody>
      </p:sp>
      <p:sp>
        <p:nvSpPr>
          <p:cNvPr id="18" name="AutoShape 18"/>
          <p:cNvSpPr/>
          <p:nvPr/>
        </p:nvSpPr>
        <p:spPr>
          <a:xfrm>
            <a:off x="6494318" y="4152565"/>
            <a:ext cx="51720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FlagCX:</a:t>
            </a: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统一通信库</a:t>
            </a:r>
            <a:endParaRPr lang="en-US" sz="1100"/>
          </a:p>
        </p:txBody>
      </p:sp>
      <p:sp>
        <p:nvSpPr>
          <p:cNvPr id="19" name="Freeform 19"/>
          <p:cNvSpPr/>
          <p:nvPr/>
        </p:nvSpPr>
        <p:spPr>
          <a:xfrm>
            <a:off x="6286500" y="4703229"/>
            <a:ext cx="5524500" cy="1485900"/>
          </a:xfrm>
          <a:custGeom>
            <a:avLst/>
            <a:gdLst/>
            <a:ahLst/>
            <a:cxnLst/>
            <a:rect l="l" t="t" r="r" b="b"/>
            <a:pathLst>
              <a:path w="5524500" h="1485900">
                <a:moveTo>
                  <a:pt x="114295" y="0"/>
                </a:moveTo>
                <a:lnTo>
                  <a:pt x="5410205" y="0"/>
                </a:lnTo>
                <a:cubicBezTo>
                  <a:pt x="5473286" y="0"/>
                  <a:pt x="5524500" y="51214"/>
                  <a:pt x="5524500" y="114295"/>
                </a:cubicBezTo>
                <a:lnTo>
                  <a:pt x="5524500" y="1371605"/>
                </a:lnTo>
                <a:cubicBezTo>
                  <a:pt x="5524500" y="1434686"/>
                  <a:pt x="5473286" y="1485900"/>
                  <a:pt x="5410205" y="1485900"/>
                </a:cubicBezTo>
                <a:lnTo>
                  <a:pt x="114295" y="1485900"/>
                </a:lnTo>
                <a:cubicBezTo>
                  <a:pt x="51214" y="1485900"/>
                  <a:pt x="0" y="1434686"/>
                  <a:pt x="0" y="1371605"/>
                </a:cubicBezTo>
                <a:lnTo>
                  <a:pt x="0" y="114295"/>
                </a:lnTo>
                <a:cubicBezTo>
                  <a:pt x="0" y="51214"/>
                  <a:pt x="51214" y="0"/>
                  <a:pt x="114295"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0" name="Freeform 20"/>
          <p:cNvSpPr/>
          <p:nvPr/>
        </p:nvSpPr>
        <p:spPr>
          <a:xfrm>
            <a:off x="6495267" y="4926954"/>
            <a:ext cx="202296" cy="201515"/>
          </a:xfrm>
          <a:custGeom>
            <a:avLst/>
            <a:gdLst/>
            <a:ahLst/>
            <a:cxnLst/>
            <a:rect l="l" t="t" r="r" b="b"/>
            <a:pathLst>
              <a:path w="202296" h="201515">
                <a:moveTo>
                  <a:pt x="77020" y="40929"/>
                </a:moveTo>
                <a:lnTo>
                  <a:pt x="77020" y="59384"/>
                </a:lnTo>
                <a:lnTo>
                  <a:pt x="77206" y="59570"/>
                </a:lnTo>
                <a:cubicBezTo>
                  <a:pt x="79624" y="28911"/>
                  <a:pt x="105261" y="4801"/>
                  <a:pt x="136551" y="4801"/>
                </a:cubicBezTo>
                <a:cubicBezTo>
                  <a:pt x="144030" y="4801"/>
                  <a:pt x="151210" y="6178"/>
                  <a:pt x="157795" y="8708"/>
                </a:cubicBezTo>
                <a:cubicBezTo>
                  <a:pt x="161516" y="10122"/>
                  <a:pt x="162187" y="14847"/>
                  <a:pt x="159396" y="17675"/>
                </a:cubicBezTo>
                <a:lnTo>
                  <a:pt x="126393" y="50677"/>
                </a:lnTo>
                <a:cubicBezTo>
                  <a:pt x="125277" y="51794"/>
                  <a:pt x="124645" y="53319"/>
                  <a:pt x="124645" y="54882"/>
                </a:cubicBezTo>
                <a:lnTo>
                  <a:pt x="124645" y="70285"/>
                </a:lnTo>
                <a:cubicBezTo>
                  <a:pt x="124645" y="73560"/>
                  <a:pt x="127324" y="76238"/>
                  <a:pt x="130598" y="76238"/>
                </a:cubicBezTo>
                <a:lnTo>
                  <a:pt x="146002" y="76238"/>
                </a:lnTo>
                <a:cubicBezTo>
                  <a:pt x="147564" y="76238"/>
                  <a:pt x="149090" y="75606"/>
                  <a:pt x="150206" y="74490"/>
                </a:cubicBezTo>
                <a:lnTo>
                  <a:pt x="183209" y="41487"/>
                </a:lnTo>
                <a:cubicBezTo>
                  <a:pt x="186036" y="38659"/>
                  <a:pt x="190762" y="39367"/>
                  <a:pt x="192176" y="43086"/>
                </a:cubicBezTo>
                <a:cubicBezTo>
                  <a:pt x="194705" y="49673"/>
                  <a:pt x="196082" y="56854"/>
                  <a:pt x="196082" y="64332"/>
                </a:cubicBezTo>
                <a:cubicBezTo>
                  <a:pt x="196082" y="86880"/>
                  <a:pt x="183543" y="106525"/>
                  <a:pt x="165015" y="116608"/>
                </a:cubicBezTo>
                <a:lnTo>
                  <a:pt x="195338" y="146932"/>
                </a:lnTo>
                <a:cubicBezTo>
                  <a:pt x="202296" y="153890"/>
                  <a:pt x="202296" y="165201"/>
                  <a:pt x="195338" y="172195"/>
                </a:cubicBezTo>
                <a:lnTo>
                  <a:pt x="172977" y="194557"/>
                </a:lnTo>
                <a:cubicBezTo>
                  <a:pt x="166019" y="201515"/>
                  <a:pt x="154708" y="201515"/>
                  <a:pt x="147713" y="194557"/>
                </a:cubicBezTo>
                <a:lnTo>
                  <a:pt x="100832" y="147676"/>
                </a:lnTo>
                <a:cubicBezTo>
                  <a:pt x="90638" y="137480"/>
                  <a:pt x="88331" y="122412"/>
                  <a:pt x="93949" y="109985"/>
                </a:cubicBezTo>
                <a:lnTo>
                  <a:pt x="60202" y="76238"/>
                </a:lnTo>
                <a:lnTo>
                  <a:pt x="41748" y="76238"/>
                </a:lnTo>
                <a:cubicBezTo>
                  <a:pt x="37766" y="76238"/>
                  <a:pt x="34047" y="74267"/>
                  <a:pt x="31851" y="70955"/>
                </a:cubicBezTo>
                <a:lnTo>
                  <a:pt x="2345" y="26716"/>
                </a:lnTo>
                <a:cubicBezTo>
                  <a:pt x="783" y="24372"/>
                  <a:pt x="1080" y="21209"/>
                  <a:pt x="3090" y="19200"/>
                </a:cubicBezTo>
                <a:lnTo>
                  <a:pt x="19983" y="2308"/>
                </a:lnTo>
                <a:cubicBezTo>
                  <a:pt x="21990" y="299"/>
                  <a:pt x="25116" y="0"/>
                  <a:pt x="27497" y="1564"/>
                </a:cubicBezTo>
                <a:lnTo>
                  <a:pt x="71736" y="31032"/>
                </a:lnTo>
                <a:cubicBezTo>
                  <a:pt x="75049" y="33227"/>
                  <a:pt x="77020" y="36949"/>
                  <a:pt x="77020" y="40929"/>
                </a:cubicBezTo>
                <a:close/>
                <a:moveTo>
                  <a:pt x="73857" y="115156"/>
                </a:moveTo>
                <a:cubicBezTo>
                  <a:pt x="71513" y="128924"/>
                  <a:pt x="74750" y="143472"/>
                  <a:pt x="83679" y="155117"/>
                </a:cubicBezTo>
                <a:lnTo>
                  <a:pt x="48333" y="190427"/>
                </a:lnTo>
                <a:cubicBezTo>
                  <a:pt x="37878" y="200881"/>
                  <a:pt x="20912" y="200881"/>
                  <a:pt x="10458" y="190427"/>
                </a:cubicBezTo>
                <a:cubicBezTo>
                  <a:pt x="0" y="179972"/>
                  <a:pt x="0" y="163005"/>
                  <a:pt x="10458" y="152550"/>
                </a:cubicBezTo>
                <a:lnTo>
                  <a:pt x="60835" y="102172"/>
                </a:lnTo>
                <a:lnTo>
                  <a:pt x="73857" y="115194"/>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6829316" y="4893729"/>
            <a:ext cx="4286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工具</a:t>
            </a:r>
            <a:endParaRPr lang="en-US" sz="1100"/>
          </a:p>
        </p:txBody>
      </p:sp>
      <p:sp>
        <p:nvSpPr>
          <p:cNvPr id="22" name="AutoShape 22"/>
          <p:cNvSpPr/>
          <p:nvPr/>
        </p:nvSpPr>
        <p:spPr>
          <a:xfrm>
            <a:off x="6477000" y="5274469"/>
            <a:ext cx="52101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KernelGen:</a:t>
            </a: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AI赋能的算子开发工具</a:t>
            </a:r>
            <a:endParaRPr lang="en-US" sz="1100"/>
          </a:p>
        </p:txBody>
      </p:sp>
      <p:sp>
        <p:nvSpPr>
          <p:cNvPr id="23" name="AutoShape 23"/>
          <p:cNvSpPr/>
          <p:nvPr/>
        </p:nvSpPr>
        <p:spPr>
          <a:xfrm>
            <a:off x="6477000" y="5541132"/>
            <a:ext cx="52101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FlagRelease:</a:t>
            </a: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大型模型发布平台</a:t>
            </a:r>
            <a:endParaRPr lang="en-US" sz="1100"/>
          </a:p>
        </p:txBody>
      </p:sp>
      <p:sp>
        <p:nvSpPr>
          <p:cNvPr id="24" name="AutoShape 24"/>
          <p:cNvSpPr/>
          <p:nvPr/>
        </p:nvSpPr>
        <p:spPr>
          <a:xfrm>
            <a:off x="6477000" y="5807832"/>
            <a:ext cx="52101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FlagPerf:</a:t>
            </a: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人工智能硬件评估引擎</a:t>
            </a:r>
            <a:endParaRPr lang="en-US" sz="1100"/>
          </a:p>
        </p:txBody>
      </p:sp>
      <p:pic>
        <p:nvPicPr>
          <p:cNvPr id="25" name="Picture 25"/>
          <p:cNvPicPr>
            <a:picLocks noChangeAspect="1"/>
          </p:cNvPicPr>
          <p:nvPr/>
        </p:nvPicPr>
        <p:blipFill>
          <a:blip r:embed="rId1"/>
          <a:srcRect/>
          <a:stretch>
            <a:fillRect/>
          </a:stretch>
        </p:blipFill>
        <p:spPr>
          <a:xfrm>
            <a:off x="287655" y="1535430"/>
            <a:ext cx="5739765" cy="3139440"/>
          </a:xfrm>
          <a:prstGeom prst="rect">
            <a:avLst/>
          </a:prstGeom>
          <a:ln w="12700">
            <a:noFill/>
            <a:prstDash val="solid"/>
          </a:ln>
        </p:spPr>
      </p:pic>
      <p:sp>
        <p:nvSpPr>
          <p:cNvPr id="26" name="AutoShape 26"/>
          <p:cNvSpPr/>
          <p:nvPr/>
        </p:nvSpPr>
        <p:spPr>
          <a:xfrm>
            <a:off x="6027420" y="2046605"/>
            <a:ext cx="265430" cy="3947160"/>
          </a:xfrm>
          <a:prstGeom prst="leftBrace">
            <a:avLst>
              <a:gd name="adj1" fmla="val 41173"/>
              <a:gd name="adj2" fmla="val 29166"/>
            </a:avLst>
          </a:prstGeom>
          <a:noFill/>
          <a:ln w="25400" cap="flat">
            <a:gradFill rotWithShape="0">
              <a:gsLst>
                <a:gs pos="0">
                  <a:srgbClr val="8DC29C">
                    <a:alpha val="100000"/>
                  </a:srgbClr>
                </a:gs>
                <a:gs pos="100000">
                  <a:srgbClr val="8DAAC2">
                    <a:alpha val="100000"/>
                  </a:srgbClr>
                </a:gs>
              </a:gsLst>
              <a:lin ang="0"/>
            </a:gra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Tree>
  </p:cSld>
  <p:clrMapOvr>
    <a:masterClrMapping/>
  </p:clrMapOvr>
  <p:transition spd="slow">
    <p:fade/>
  </p:transition>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5B92E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81232" y="2667000"/>
            <a:ext cx="10033000" cy="8382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4400" b="1" i="0" u="none" strike="noStrike">
                <a:solidFill>
                  <a:srgbClr val="FFFFFF"/>
                </a:solidFill>
                <a:latin typeface="Alimama ShuHeiTi"/>
                <a:ea typeface="Alimama ShuHeiTi"/>
                <a:cs typeface="Alimama ShuHeiTi"/>
                <a:sym typeface="Alimama ShuHeiTi"/>
              </a:rPr>
              <a:t>实操：如何基于FlagOS本地运行大模型</a:t>
            </a:r>
            <a:endParaRPr lang="en-US" sz="1100"/>
          </a:p>
        </p:txBody>
      </p:sp>
      <p:sp>
        <p:nvSpPr>
          <p:cNvPr id="3" name="AutoShape 3"/>
          <p:cNvSpPr/>
          <p:nvPr/>
        </p:nvSpPr>
        <p:spPr>
          <a:xfrm>
            <a:off x="4262573" y="3733688"/>
            <a:ext cx="3819525" cy="4572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400" b="0" i="0" u="none" strike="noStrike">
                <a:solidFill>
                  <a:srgbClr val="87CEEB"/>
                </a:solidFill>
                <a:latin typeface="MiSans" panose="00000500000000000000" charset="-122"/>
                <a:ea typeface="MiSans" panose="00000500000000000000" charset="-122"/>
                <a:cs typeface="MiSans" panose="00000500000000000000" charset="-122"/>
                <a:sym typeface="MiSans" panose="00000500000000000000" charset="-122"/>
              </a:rPr>
              <a:t>华为NPU上运行Qwen3-4B</a:t>
            </a:r>
            <a:endParaRPr lang="en-US" sz="1100"/>
          </a:p>
        </p:txBody>
      </p:sp>
      <p:sp>
        <p:nvSpPr>
          <p:cNvPr id="4" name="AutoShape 4"/>
          <p:cNvSpPr/>
          <p:nvPr/>
        </p:nvSpPr>
        <p:spPr>
          <a:xfrm>
            <a:off x="5536119" y="1790784"/>
            <a:ext cx="1123950" cy="4572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4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PART 5</a:t>
            </a:r>
            <a:endParaRPr lang="en-US" sz="1100"/>
          </a:p>
        </p:txBody>
      </p:sp>
    </p:spTree>
  </p:cSld>
  <p:clrMapOvr>
    <a:masterClrMapping/>
  </p:clrMapOvr>
  <p:transition spd="slow">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49842" y="658232"/>
            <a:ext cx="11702221" cy="419811"/>
          </a:xfrm>
          <a:prstGeom prst="rect">
            <a:avLst/>
          </a:prstGeom>
          <a:noFill/>
          <a:ln w="12700">
            <a:noFill/>
            <a:prstDash val="solid"/>
          </a:ln>
        </p:spPr>
        <p:txBody>
          <a:bodyPr wrap="square" lIns="0" tIns="0" rIns="0" bIns="0" rtlCol="0" anchor="ctr">
            <a:noAutofit/>
          </a:bodyPr>
          <a:lstStyle/>
          <a:p>
            <a:pPr indent="0" algn="l">
              <a:lnSpc>
                <a:spcPct val="83000"/>
              </a:lnSpc>
              <a:defRPr/>
            </a:pPr>
            <a:r>
              <a:rPr lang="en-US" sz="36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实战部署</a:t>
            </a:r>
            <a:r>
              <a:rPr lang="en-US" sz="3600" b="1"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36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通过</a:t>
            </a:r>
            <a:r>
              <a:rPr lang="en-US" sz="3600" b="1" i="0" u="none" strike="noStrike">
                <a:solidFill>
                  <a:srgbClr val="000000"/>
                </a:solidFill>
                <a:latin typeface="Calibri" panose="020F0502020204030204"/>
                <a:ea typeface="Calibri" panose="020F0502020204030204"/>
                <a:cs typeface="Calibri" panose="020F0502020204030204"/>
                <a:sym typeface="Calibri" panose="020F0502020204030204"/>
              </a:rPr>
              <a:t>FlagOS</a:t>
            </a:r>
            <a:r>
              <a:rPr lang="en-US" sz="36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创建对话机器人</a:t>
            </a:r>
            <a:endParaRPr lang="en-US" sz="1100"/>
          </a:p>
        </p:txBody>
      </p:sp>
      <p:sp>
        <p:nvSpPr>
          <p:cNvPr id="3" name="Freeform 3"/>
          <p:cNvSpPr/>
          <p:nvPr/>
        </p:nvSpPr>
        <p:spPr>
          <a:xfrm>
            <a:off x="349842" y="1119495"/>
            <a:ext cx="699684" cy="34983"/>
          </a:xfrm>
          <a:custGeom>
            <a:avLst/>
            <a:gdLst/>
            <a:ahLst/>
            <a:cxnLst/>
            <a:rect l="l" t="t" r="r" b="b"/>
            <a:pathLst>
              <a:path w="699684" h="34983">
                <a:moveTo>
                  <a:pt x="0" y="0"/>
                </a:moveTo>
                <a:lnTo>
                  <a:pt x="699684" y="0"/>
                </a:lnTo>
                <a:lnTo>
                  <a:pt x="699684" y="34983"/>
                </a:lnTo>
                <a:lnTo>
                  <a:pt x="0" y="34983"/>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67334" y="1364385"/>
            <a:ext cx="6183461" cy="1425607"/>
          </a:xfrm>
          <a:custGeom>
            <a:avLst/>
            <a:gdLst/>
            <a:ahLst/>
            <a:cxnLst/>
            <a:rect l="l" t="t" r="r" b="b"/>
            <a:pathLst>
              <a:path w="6183461" h="1425607">
                <a:moveTo>
                  <a:pt x="34983" y="0"/>
                </a:moveTo>
                <a:lnTo>
                  <a:pt x="6078507" y="0"/>
                </a:lnTo>
                <a:cubicBezTo>
                  <a:pt x="6136471" y="0"/>
                  <a:pt x="6183461" y="46989"/>
                  <a:pt x="6183461" y="104953"/>
                </a:cubicBezTo>
                <a:lnTo>
                  <a:pt x="6183461" y="1320654"/>
                </a:lnTo>
                <a:cubicBezTo>
                  <a:pt x="6183461" y="1378618"/>
                  <a:pt x="6136471" y="1425607"/>
                  <a:pt x="6078507" y="1425607"/>
                </a:cubicBezTo>
                <a:lnTo>
                  <a:pt x="34983" y="1425607"/>
                </a:lnTo>
                <a:cubicBezTo>
                  <a:pt x="15663" y="1425607"/>
                  <a:pt x="0" y="1409944"/>
                  <a:pt x="0" y="1390623"/>
                </a:cubicBezTo>
                <a:lnTo>
                  <a:pt x="0" y="34983"/>
                </a:lnTo>
                <a:cubicBezTo>
                  <a:pt x="0" y="15676"/>
                  <a:pt x="15676" y="0"/>
                  <a:pt x="34983"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5" name="Freeform 5"/>
          <p:cNvSpPr/>
          <p:nvPr/>
        </p:nvSpPr>
        <p:spPr>
          <a:xfrm>
            <a:off x="367334" y="1364385"/>
            <a:ext cx="34983" cy="1425607"/>
          </a:xfrm>
          <a:custGeom>
            <a:avLst/>
            <a:gdLst/>
            <a:ahLst/>
            <a:cxnLst/>
            <a:rect l="l" t="t" r="r" b="b"/>
            <a:pathLst>
              <a:path w="34983" h="1425607">
                <a:moveTo>
                  <a:pt x="34983" y="0"/>
                </a:moveTo>
                <a:lnTo>
                  <a:pt x="34983" y="0"/>
                </a:lnTo>
                <a:lnTo>
                  <a:pt x="34983" y="1425607"/>
                </a:lnTo>
                <a:lnTo>
                  <a:pt x="34983" y="1425607"/>
                </a:lnTo>
                <a:cubicBezTo>
                  <a:pt x="15663" y="1425607"/>
                  <a:pt x="0" y="1409944"/>
                  <a:pt x="0" y="1390623"/>
                </a:cubicBezTo>
                <a:lnTo>
                  <a:pt x="0" y="34983"/>
                </a:lnTo>
                <a:cubicBezTo>
                  <a:pt x="0" y="15676"/>
                  <a:pt x="15676" y="0"/>
                  <a:pt x="34983"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559747" y="1699604"/>
            <a:ext cx="419811" cy="419811"/>
          </a:xfrm>
          <a:custGeom>
            <a:avLst/>
            <a:gdLst/>
            <a:ahLst/>
            <a:cxnLst/>
            <a:rect l="l" t="t" r="r" b="b"/>
            <a:pathLst>
              <a:path w="419811" h="419811">
                <a:moveTo>
                  <a:pt x="209906" y="0"/>
                </a:moveTo>
                <a:lnTo>
                  <a:pt x="209906" y="0"/>
                </a:lnTo>
                <a:cubicBezTo>
                  <a:pt x="325755" y="0"/>
                  <a:pt x="419811" y="94055"/>
                  <a:pt x="419811" y="209906"/>
                </a:cubicBezTo>
                <a:lnTo>
                  <a:pt x="419811" y="209906"/>
                </a:lnTo>
                <a:cubicBezTo>
                  <a:pt x="419811" y="325755"/>
                  <a:pt x="325755" y="419811"/>
                  <a:pt x="209906" y="419811"/>
                </a:cubicBezTo>
                <a:lnTo>
                  <a:pt x="209906" y="419811"/>
                </a:lnTo>
                <a:cubicBezTo>
                  <a:pt x="94055" y="419811"/>
                  <a:pt x="0" y="325755"/>
                  <a:pt x="0" y="209906"/>
                </a:cubicBezTo>
                <a:lnTo>
                  <a:pt x="0" y="209906"/>
                </a:lnTo>
                <a:cubicBezTo>
                  <a:pt x="0" y="94055"/>
                  <a:pt x="94055" y="0"/>
                  <a:pt x="209906"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516017" y="1699604"/>
            <a:ext cx="507271" cy="419811"/>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01</a:t>
            </a:r>
            <a:endParaRPr lang="en-US" sz="1100"/>
          </a:p>
        </p:txBody>
      </p:sp>
      <p:sp>
        <p:nvSpPr>
          <p:cNvPr id="8" name="AutoShape 8"/>
          <p:cNvSpPr/>
          <p:nvPr/>
        </p:nvSpPr>
        <p:spPr>
          <a:xfrm>
            <a:off x="1119505" y="1609090"/>
            <a:ext cx="3870960" cy="57912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环境检查与模型安装</a:t>
            </a:r>
            <a:endParaRPr lang="en-US" sz="1100"/>
          </a:p>
        </p:txBody>
      </p:sp>
      <p:sp>
        <p:nvSpPr>
          <p:cNvPr id="9" name="Freeform 9"/>
          <p:cNvSpPr/>
          <p:nvPr/>
        </p:nvSpPr>
        <p:spPr>
          <a:xfrm>
            <a:off x="402894" y="2926922"/>
            <a:ext cx="6183461" cy="1425607"/>
          </a:xfrm>
          <a:custGeom>
            <a:avLst/>
            <a:gdLst/>
            <a:ahLst/>
            <a:cxnLst/>
            <a:rect l="l" t="t" r="r" b="b"/>
            <a:pathLst>
              <a:path w="6183461" h="1425607">
                <a:moveTo>
                  <a:pt x="34983" y="0"/>
                </a:moveTo>
                <a:lnTo>
                  <a:pt x="6078507" y="0"/>
                </a:lnTo>
                <a:cubicBezTo>
                  <a:pt x="6136471" y="0"/>
                  <a:pt x="6183461" y="46989"/>
                  <a:pt x="6183461" y="104953"/>
                </a:cubicBezTo>
                <a:lnTo>
                  <a:pt x="6183461" y="1320654"/>
                </a:lnTo>
                <a:cubicBezTo>
                  <a:pt x="6183461" y="1378618"/>
                  <a:pt x="6136471" y="1425607"/>
                  <a:pt x="6078507" y="1425607"/>
                </a:cubicBezTo>
                <a:lnTo>
                  <a:pt x="34983" y="1425607"/>
                </a:lnTo>
                <a:cubicBezTo>
                  <a:pt x="15663" y="1425607"/>
                  <a:pt x="0" y="1409944"/>
                  <a:pt x="0" y="1390623"/>
                </a:cubicBezTo>
                <a:lnTo>
                  <a:pt x="0" y="34983"/>
                </a:lnTo>
                <a:cubicBezTo>
                  <a:pt x="0" y="15676"/>
                  <a:pt x="15676" y="0"/>
                  <a:pt x="34983"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0" name="Freeform 10"/>
          <p:cNvSpPr/>
          <p:nvPr/>
        </p:nvSpPr>
        <p:spPr>
          <a:xfrm>
            <a:off x="367334" y="2926922"/>
            <a:ext cx="34983" cy="1425607"/>
          </a:xfrm>
          <a:custGeom>
            <a:avLst/>
            <a:gdLst/>
            <a:ahLst/>
            <a:cxnLst/>
            <a:rect l="l" t="t" r="r" b="b"/>
            <a:pathLst>
              <a:path w="34983" h="1425607">
                <a:moveTo>
                  <a:pt x="34983" y="0"/>
                </a:moveTo>
                <a:lnTo>
                  <a:pt x="34983" y="0"/>
                </a:lnTo>
                <a:lnTo>
                  <a:pt x="34983" y="1425607"/>
                </a:lnTo>
                <a:lnTo>
                  <a:pt x="34983" y="1425607"/>
                </a:lnTo>
                <a:cubicBezTo>
                  <a:pt x="15663" y="1425607"/>
                  <a:pt x="0" y="1409944"/>
                  <a:pt x="0" y="1390623"/>
                </a:cubicBezTo>
                <a:lnTo>
                  <a:pt x="0" y="34983"/>
                </a:lnTo>
                <a:cubicBezTo>
                  <a:pt x="0" y="15676"/>
                  <a:pt x="15676" y="0"/>
                  <a:pt x="34983"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559747" y="3262142"/>
            <a:ext cx="419811" cy="419811"/>
          </a:xfrm>
          <a:custGeom>
            <a:avLst/>
            <a:gdLst/>
            <a:ahLst/>
            <a:cxnLst/>
            <a:rect l="l" t="t" r="r" b="b"/>
            <a:pathLst>
              <a:path w="419811" h="419811">
                <a:moveTo>
                  <a:pt x="209906" y="0"/>
                </a:moveTo>
                <a:lnTo>
                  <a:pt x="209906" y="0"/>
                </a:lnTo>
                <a:cubicBezTo>
                  <a:pt x="325755" y="0"/>
                  <a:pt x="419811" y="94055"/>
                  <a:pt x="419811" y="209906"/>
                </a:cubicBezTo>
                <a:lnTo>
                  <a:pt x="419811" y="209906"/>
                </a:lnTo>
                <a:cubicBezTo>
                  <a:pt x="419811" y="325755"/>
                  <a:pt x="325755" y="419811"/>
                  <a:pt x="209906" y="419811"/>
                </a:cubicBezTo>
                <a:lnTo>
                  <a:pt x="209906" y="419811"/>
                </a:lnTo>
                <a:cubicBezTo>
                  <a:pt x="94055" y="419811"/>
                  <a:pt x="0" y="325755"/>
                  <a:pt x="0" y="209906"/>
                </a:cubicBezTo>
                <a:lnTo>
                  <a:pt x="0" y="209906"/>
                </a:lnTo>
                <a:cubicBezTo>
                  <a:pt x="0" y="94055"/>
                  <a:pt x="94055" y="0"/>
                  <a:pt x="209906"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516017" y="3262142"/>
            <a:ext cx="507271" cy="419811"/>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02</a:t>
            </a:r>
            <a:endParaRPr lang="en-US" sz="1100"/>
          </a:p>
        </p:txBody>
      </p:sp>
      <p:sp>
        <p:nvSpPr>
          <p:cNvPr id="13" name="AutoShape 13"/>
          <p:cNvSpPr/>
          <p:nvPr/>
        </p:nvSpPr>
        <p:spPr>
          <a:xfrm>
            <a:off x="1136650" y="3260725"/>
            <a:ext cx="4039235" cy="35750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FlagGems高性能算子库安装</a:t>
            </a:r>
            <a:endParaRPr lang="en-US" sz="1100"/>
          </a:p>
        </p:txBody>
      </p:sp>
      <p:sp>
        <p:nvSpPr>
          <p:cNvPr id="14" name="Freeform 14"/>
          <p:cNvSpPr/>
          <p:nvPr/>
        </p:nvSpPr>
        <p:spPr>
          <a:xfrm>
            <a:off x="367334" y="4489596"/>
            <a:ext cx="6183461" cy="1425607"/>
          </a:xfrm>
          <a:custGeom>
            <a:avLst/>
            <a:gdLst/>
            <a:ahLst/>
            <a:cxnLst/>
            <a:rect l="l" t="t" r="r" b="b"/>
            <a:pathLst>
              <a:path w="6183461" h="1425607">
                <a:moveTo>
                  <a:pt x="34983" y="0"/>
                </a:moveTo>
                <a:lnTo>
                  <a:pt x="6078507" y="0"/>
                </a:lnTo>
                <a:cubicBezTo>
                  <a:pt x="6136471" y="0"/>
                  <a:pt x="6183461" y="46989"/>
                  <a:pt x="6183461" y="104953"/>
                </a:cubicBezTo>
                <a:lnTo>
                  <a:pt x="6183461" y="1320654"/>
                </a:lnTo>
                <a:cubicBezTo>
                  <a:pt x="6183461" y="1378618"/>
                  <a:pt x="6136471" y="1425607"/>
                  <a:pt x="6078507" y="1425607"/>
                </a:cubicBezTo>
                <a:lnTo>
                  <a:pt x="34983" y="1425607"/>
                </a:lnTo>
                <a:cubicBezTo>
                  <a:pt x="15663" y="1425607"/>
                  <a:pt x="0" y="1409944"/>
                  <a:pt x="0" y="1390623"/>
                </a:cubicBezTo>
                <a:lnTo>
                  <a:pt x="0" y="34983"/>
                </a:lnTo>
                <a:cubicBezTo>
                  <a:pt x="0" y="15676"/>
                  <a:pt x="15676" y="0"/>
                  <a:pt x="34983"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5" name="Freeform 15"/>
          <p:cNvSpPr/>
          <p:nvPr/>
        </p:nvSpPr>
        <p:spPr>
          <a:xfrm>
            <a:off x="367334" y="4489596"/>
            <a:ext cx="34983" cy="1425607"/>
          </a:xfrm>
          <a:custGeom>
            <a:avLst/>
            <a:gdLst/>
            <a:ahLst/>
            <a:cxnLst/>
            <a:rect l="l" t="t" r="r" b="b"/>
            <a:pathLst>
              <a:path w="34983" h="1425607">
                <a:moveTo>
                  <a:pt x="34983" y="0"/>
                </a:moveTo>
                <a:lnTo>
                  <a:pt x="34983" y="0"/>
                </a:lnTo>
                <a:lnTo>
                  <a:pt x="34983" y="1425607"/>
                </a:lnTo>
                <a:lnTo>
                  <a:pt x="34983" y="1425607"/>
                </a:lnTo>
                <a:cubicBezTo>
                  <a:pt x="15663" y="1425607"/>
                  <a:pt x="0" y="1409944"/>
                  <a:pt x="0" y="1390623"/>
                </a:cubicBezTo>
                <a:lnTo>
                  <a:pt x="0" y="34983"/>
                </a:lnTo>
                <a:cubicBezTo>
                  <a:pt x="0" y="15676"/>
                  <a:pt x="15676" y="0"/>
                  <a:pt x="34983"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559747" y="4824816"/>
            <a:ext cx="419811" cy="419811"/>
          </a:xfrm>
          <a:custGeom>
            <a:avLst/>
            <a:gdLst/>
            <a:ahLst/>
            <a:cxnLst/>
            <a:rect l="l" t="t" r="r" b="b"/>
            <a:pathLst>
              <a:path w="419811" h="419811">
                <a:moveTo>
                  <a:pt x="209906" y="0"/>
                </a:moveTo>
                <a:lnTo>
                  <a:pt x="209906" y="0"/>
                </a:lnTo>
                <a:cubicBezTo>
                  <a:pt x="325755" y="0"/>
                  <a:pt x="419811" y="94055"/>
                  <a:pt x="419811" y="209906"/>
                </a:cubicBezTo>
                <a:lnTo>
                  <a:pt x="419811" y="209906"/>
                </a:lnTo>
                <a:cubicBezTo>
                  <a:pt x="419811" y="325755"/>
                  <a:pt x="325755" y="419811"/>
                  <a:pt x="209906" y="419811"/>
                </a:cubicBezTo>
                <a:lnTo>
                  <a:pt x="209906" y="419811"/>
                </a:lnTo>
                <a:cubicBezTo>
                  <a:pt x="94055" y="419811"/>
                  <a:pt x="0" y="325755"/>
                  <a:pt x="0" y="209906"/>
                </a:cubicBezTo>
                <a:lnTo>
                  <a:pt x="0" y="209906"/>
                </a:lnTo>
                <a:cubicBezTo>
                  <a:pt x="0" y="94055"/>
                  <a:pt x="94055" y="0"/>
                  <a:pt x="209906"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516017" y="4824816"/>
            <a:ext cx="507271" cy="419811"/>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03</a:t>
            </a:r>
            <a:endParaRPr lang="en-US" sz="1100"/>
          </a:p>
        </p:txBody>
      </p:sp>
      <p:sp>
        <p:nvSpPr>
          <p:cNvPr id="18" name="AutoShape 18"/>
          <p:cNvSpPr/>
          <p:nvPr/>
        </p:nvSpPr>
        <p:spPr>
          <a:xfrm>
            <a:off x="1136650" y="4824730"/>
            <a:ext cx="4563110" cy="58166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FlagTree跨芯片统一编译器安装</a:t>
            </a:r>
            <a:endParaRPr lang="en-US" sz="1100"/>
          </a:p>
        </p:txBody>
      </p:sp>
      <p:sp>
        <p:nvSpPr>
          <p:cNvPr id="19" name="Freeform 19"/>
          <p:cNvSpPr/>
          <p:nvPr/>
        </p:nvSpPr>
        <p:spPr>
          <a:xfrm>
            <a:off x="6781472" y="1364385"/>
            <a:ext cx="5055220" cy="1425607"/>
          </a:xfrm>
          <a:custGeom>
            <a:avLst/>
            <a:gdLst/>
            <a:ahLst/>
            <a:cxnLst/>
            <a:rect l="l" t="t" r="r" b="b"/>
            <a:pathLst>
              <a:path w="5055220" h="1425607">
                <a:moveTo>
                  <a:pt x="34983" y="0"/>
                </a:moveTo>
                <a:lnTo>
                  <a:pt x="4950266" y="0"/>
                </a:lnTo>
                <a:cubicBezTo>
                  <a:pt x="5008230" y="0"/>
                  <a:pt x="5055220" y="46989"/>
                  <a:pt x="5055220" y="104953"/>
                </a:cubicBezTo>
                <a:lnTo>
                  <a:pt x="5055220" y="1320654"/>
                </a:lnTo>
                <a:cubicBezTo>
                  <a:pt x="5055220" y="1378618"/>
                  <a:pt x="5008230" y="1425607"/>
                  <a:pt x="4950266" y="1425607"/>
                </a:cubicBezTo>
                <a:lnTo>
                  <a:pt x="34983" y="1425607"/>
                </a:lnTo>
                <a:cubicBezTo>
                  <a:pt x="15663" y="1425607"/>
                  <a:pt x="0" y="1409944"/>
                  <a:pt x="0" y="1390623"/>
                </a:cubicBezTo>
                <a:lnTo>
                  <a:pt x="0" y="34983"/>
                </a:lnTo>
                <a:cubicBezTo>
                  <a:pt x="0" y="15676"/>
                  <a:pt x="15676" y="0"/>
                  <a:pt x="34983"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0" name="Freeform 20"/>
          <p:cNvSpPr/>
          <p:nvPr/>
        </p:nvSpPr>
        <p:spPr>
          <a:xfrm>
            <a:off x="6781472" y="1364385"/>
            <a:ext cx="34983" cy="1425607"/>
          </a:xfrm>
          <a:custGeom>
            <a:avLst/>
            <a:gdLst/>
            <a:ahLst/>
            <a:cxnLst/>
            <a:rect l="l" t="t" r="r" b="b"/>
            <a:pathLst>
              <a:path w="34983" h="1425607">
                <a:moveTo>
                  <a:pt x="34983" y="0"/>
                </a:moveTo>
                <a:lnTo>
                  <a:pt x="34983" y="0"/>
                </a:lnTo>
                <a:lnTo>
                  <a:pt x="34983" y="1425607"/>
                </a:lnTo>
                <a:lnTo>
                  <a:pt x="34983" y="1425607"/>
                </a:lnTo>
                <a:cubicBezTo>
                  <a:pt x="15663" y="1425607"/>
                  <a:pt x="0" y="1409944"/>
                  <a:pt x="0" y="1390623"/>
                </a:cubicBezTo>
                <a:lnTo>
                  <a:pt x="0" y="34983"/>
                </a:lnTo>
                <a:cubicBezTo>
                  <a:pt x="0" y="15676"/>
                  <a:pt x="15676" y="0"/>
                  <a:pt x="34983"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6973885" y="1699604"/>
            <a:ext cx="419811" cy="419811"/>
          </a:xfrm>
          <a:custGeom>
            <a:avLst/>
            <a:gdLst/>
            <a:ahLst/>
            <a:cxnLst/>
            <a:rect l="l" t="t" r="r" b="b"/>
            <a:pathLst>
              <a:path w="419811" h="419811">
                <a:moveTo>
                  <a:pt x="209906" y="0"/>
                </a:moveTo>
                <a:lnTo>
                  <a:pt x="209906" y="0"/>
                </a:lnTo>
                <a:cubicBezTo>
                  <a:pt x="325755" y="0"/>
                  <a:pt x="419811" y="94055"/>
                  <a:pt x="419811" y="209906"/>
                </a:cubicBezTo>
                <a:lnTo>
                  <a:pt x="419811" y="209906"/>
                </a:lnTo>
                <a:cubicBezTo>
                  <a:pt x="419811" y="325755"/>
                  <a:pt x="325755" y="419811"/>
                  <a:pt x="209906" y="419811"/>
                </a:cubicBezTo>
                <a:lnTo>
                  <a:pt x="209906" y="419811"/>
                </a:lnTo>
                <a:cubicBezTo>
                  <a:pt x="94055" y="419811"/>
                  <a:pt x="0" y="325755"/>
                  <a:pt x="0" y="209906"/>
                </a:cubicBezTo>
                <a:lnTo>
                  <a:pt x="0" y="209906"/>
                </a:lnTo>
                <a:cubicBezTo>
                  <a:pt x="0" y="94055"/>
                  <a:pt x="94055" y="0"/>
                  <a:pt x="209906"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6930155" y="1699604"/>
            <a:ext cx="507271" cy="419811"/>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04</a:t>
            </a:r>
            <a:endParaRPr lang="en-US" sz="1100"/>
          </a:p>
        </p:txBody>
      </p:sp>
      <p:sp>
        <p:nvSpPr>
          <p:cNvPr id="23" name="AutoShape 23"/>
          <p:cNvSpPr/>
          <p:nvPr/>
        </p:nvSpPr>
        <p:spPr>
          <a:xfrm>
            <a:off x="7533640" y="1507490"/>
            <a:ext cx="3962400" cy="73977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vLLM跨芯片统一插件安装</a:t>
            </a:r>
            <a:endParaRPr lang="en-US" sz="1100"/>
          </a:p>
        </p:txBody>
      </p:sp>
      <p:sp>
        <p:nvSpPr>
          <p:cNvPr id="24" name="Freeform 24"/>
          <p:cNvSpPr/>
          <p:nvPr/>
        </p:nvSpPr>
        <p:spPr>
          <a:xfrm>
            <a:off x="6781472" y="2926922"/>
            <a:ext cx="5055220" cy="1425607"/>
          </a:xfrm>
          <a:custGeom>
            <a:avLst/>
            <a:gdLst/>
            <a:ahLst/>
            <a:cxnLst/>
            <a:rect l="l" t="t" r="r" b="b"/>
            <a:pathLst>
              <a:path w="5055220" h="1425607">
                <a:moveTo>
                  <a:pt x="34983" y="0"/>
                </a:moveTo>
                <a:lnTo>
                  <a:pt x="4950266" y="0"/>
                </a:lnTo>
                <a:cubicBezTo>
                  <a:pt x="5008230" y="0"/>
                  <a:pt x="5055220" y="46989"/>
                  <a:pt x="5055220" y="104953"/>
                </a:cubicBezTo>
                <a:lnTo>
                  <a:pt x="5055220" y="1320654"/>
                </a:lnTo>
                <a:cubicBezTo>
                  <a:pt x="5055220" y="1378618"/>
                  <a:pt x="5008230" y="1425607"/>
                  <a:pt x="4950266" y="1425607"/>
                </a:cubicBezTo>
                <a:lnTo>
                  <a:pt x="34983" y="1425607"/>
                </a:lnTo>
                <a:cubicBezTo>
                  <a:pt x="15663" y="1425607"/>
                  <a:pt x="0" y="1409944"/>
                  <a:pt x="0" y="1390623"/>
                </a:cubicBezTo>
                <a:lnTo>
                  <a:pt x="0" y="34983"/>
                </a:lnTo>
                <a:cubicBezTo>
                  <a:pt x="0" y="15676"/>
                  <a:pt x="15676" y="0"/>
                  <a:pt x="34983"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indent="0" algn="l">
              <a:lnSpc>
                <a:spcPct val="100000"/>
              </a:lnSpc>
              <a:defRPr/>
            </a:pPr>
            <a:r>
              <a:rPr lang="en-US" sz="1800" b="1" i="0" u="none" strike="noStrike">
                <a:solidFill>
                  <a:srgbClr val="FF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5" name="Freeform 25"/>
          <p:cNvSpPr/>
          <p:nvPr/>
        </p:nvSpPr>
        <p:spPr>
          <a:xfrm>
            <a:off x="6781472" y="2926922"/>
            <a:ext cx="34983" cy="1425607"/>
          </a:xfrm>
          <a:custGeom>
            <a:avLst/>
            <a:gdLst/>
            <a:ahLst/>
            <a:cxnLst/>
            <a:rect l="l" t="t" r="r" b="b"/>
            <a:pathLst>
              <a:path w="34983" h="1425607">
                <a:moveTo>
                  <a:pt x="34983" y="0"/>
                </a:moveTo>
                <a:lnTo>
                  <a:pt x="34983" y="0"/>
                </a:lnTo>
                <a:lnTo>
                  <a:pt x="34983" y="1425607"/>
                </a:lnTo>
                <a:lnTo>
                  <a:pt x="34983" y="1425607"/>
                </a:lnTo>
                <a:cubicBezTo>
                  <a:pt x="15663" y="1425607"/>
                  <a:pt x="0" y="1409944"/>
                  <a:pt x="0" y="1390623"/>
                </a:cubicBezTo>
                <a:lnTo>
                  <a:pt x="0" y="34983"/>
                </a:lnTo>
                <a:cubicBezTo>
                  <a:pt x="0" y="15676"/>
                  <a:pt x="15676" y="0"/>
                  <a:pt x="34983"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26" name="Freeform 26"/>
          <p:cNvSpPr/>
          <p:nvPr/>
        </p:nvSpPr>
        <p:spPr>
          <a:xfrm>
            <a:off x="6973885" y="3262142"/>
            <a:ext cx="419811" cy="419811"/>
          </a:xfrm>
          <a:custGeom>
            <a:avLst/>
            <a:gdLst/>
            <a:ahLst/>
            <a:cxnLst/>
            <a:rect l="l" t="t" r="r" b="b"/>
            <a:pathLst>
              <a:path w="419811" h="419811">
                <a:moveTo>
                  <a:pt x="209906" y="0"/>
                </a:moveTo>
                <a:lnTo>
                  <a:pt x="209906" y="0"/>
                </a:lnTo>
                <a:cubicBezTo>
                  <a:pt x="325755" y="0"/>
                  <a:pt x="419811" y="94055"/>
                  <a:pt x="419811" y="209906"/>
                </a:cubicBezTo>
                <a:lnTo>
                  <a:pt x="419811" y="209906"/>
                </a:lnTo>
                <a:cubicBezTo>
                  <a:pt x="419811" y="325755"/>
                  <a:pt x="325755" y="419811"/>
                  <a:pt x="209906" y="419811"/>
                </a:cubicBezTo>
                <a:lnTo>
                  <a:pt x="209906" y="419811"/>
                </a:lnTo>
                <a:cubicBezTo>
                  <a:pt x="94055" y="419811"/>
                  <a:pt x="0" y="325755"/>
                  <a:pt x="0" y="209906"/>
                </a:cubicBezTo>
                <a:lnTo>
                  <a:pt x="0" y="209906"/>
                </a:lnTo>
                <a:cubicBezTo>
                  <a:pt x="0" y="94055"/>
                  <a:pt x="94055" y="0"/>
                  <a:pt x="209906"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6930155" y="3262142"/>
            <a:ext cx="507271" cy="419811"/>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05</a:t>
            </a:r>
            <a:endParaRPr lang="en-US" sz="1100"/>
          </a:p>
        </p:txBody>
      </p:sp>
      <p:sp>
        <p:nvSpPr>
          <p:cNvPr id="28" name="AutoShape 28"/>
          <p:cNvSpPr/>
          <p:nvPr/>
        </p:nvSpPr>
        <p:spPr>
          <a:xfrm>
            <a:off x="7550785" y="3255645"/>
            <a:ext cx="3091815" cy="45466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配置启动推理服务</a:t>
            </a:r>
            <a:endParaRPr lang="en-US" sz="1100"/>
          </a:p>
        </p:txBody>
      </p:sp>
      <p:sp>
        <p:nvSpPr>
          <p:cNvPr id="29" name="Freeform 29"/>
          <p:cNvSpPr/>
          <p:nvPr/>
        </p:nvSpPr>
        <p:spPr>
          <a:xfrm>
            <a:off x="6781472" y="4489596"/>
            <a:ext cx="5055220" cy="1425607"/>
          </a:xfrm>
          <a:custGeom>
            <a:avLst/>
            <a:gdLst/>
            <a:ahLst/>
            <a:cxnLst/>
            <a:rect l="l" t="t" r="r" b="b"/>
            <a:pathLst>
              <a:path w="5055220" h="1425607">
                <a:moveTo>
                  <a:pt x="34983" y="0"/>
                </a:moveTo>
                <a:lnTo>
                  <a:pt x="4950266" y="0"/>
                </a:lnTo>
                <a:cubicBezTo>
                  <a:pt x="5008230" y="0"/>
                  <a:pt x="5055220" y="46989"/>
                  <a:pt x="5055220" y="104953"/>
                </a:cubicBezTo>
                <a:lnTo>
                  <a:pt x="5055220" y="1320654"/>
                </a:lnTo>
                <a:cubicBezTo>
                  <a:pt x="5055220" y="1378618"/>
                  <a:pt x="5008230" y="1425607"/>
                  <a:pt x="4950266" y="1425607"/>
                </a:cubicBezTo>
                <a:lnTo>
                  <a:pt x="34983" y="1425607"/>
                </a:lnTo>
                <a:cubicBezTo>
                  <a:pt x="15663" y="1425607"/>
                  <a:pt x="0" y="1409944"/>
                  <a:pt x="0" y="1390623"/>
                </a:cubicBezTo>
                <a:lnTo>
                  <a:pt x="0" y="34983"/>
                </a:lnTo>
                <a:cubicBezTo>
                  <a:pt x="0" y="15676"/>
                  <a:pt x="15676" y="0"/>
                  <a:pt x="34983"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30" name="Freeform 30"/>
          <p:cNvSpPr/>
          <p:nvPr/>
        </p:nvSpPr>
        <p:spPr>
          <a:xfrm>
            <a:off x="6781472" y="4489596"/>
            <a:ext cx="34983" cy="1425607"/>
          </a:xfrm>
          <a:custGeom>
            <a:avLst/>
            <a:gdLst/>
            <a:ahLst/>
            <a:cxnLst/>
            <a:rect l="l" t="t" r="r" b="b"/>
            <a:pathLst>
              <a:path w="34983" h="1425607">
                <a:moveTo>
                  <a:pt x="34983" y="0"/>
                </a:moveTo>
                <a:lnTo>
                  <a:pt x="34983" y="0"/>
                </a:lnTo>
                <a:lnTo>
                  <a:pt x="34983" y="1425607"/>
                </a:lnTo>
                <a:lnTo>
                  <a:pt x="34983" y="1425607"/>
                </a:lnTo>
                <a:cubicBezTo>
                  <a:pt x="15663" y="1425607"/>
                  <a:pt x="0" y="1409944"/>
                  <a:pt x="0" y="1390623"/>
                </a:cubicBezTo>
                <a:lnTo>
                  <a:pt x="0" y="34983"/>
                </a:lnTo>
                <a:cubicBezTo>
                  <a:pt x="0" y="15676"/>
                  <a:pt x="15676" y="0"/>
                  <a:pt x="34983"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31" name="Freeform 31"/>
          <p:cNvSpPr/>
          <p:nvPr/>
        </p:nvSpPr>
        <p:spPr>
          <a:xfrm>
            <a:off x="6973885" y="4824816"/>
            <a:ext cx="419811" cy="419811"/>
          </a:xfrm>
          <a:custGeom>
            <a:avLst/>
            <a:gdLst/>
            <a:ahLst/>
            <a:cxnLst/>
            <a:rect l="l" t="t" r="r" b="b"/>
            <a:pathLst>
              <a:path w="419811" h="419811">
                <a:moveTo>
                  <a:pt x="209906" y="0"/>
                </a:moveTo>
                <a:lnTo>
                  <a:pt x="209906" y="0"/>
                </a:lnTo>
                <a:cubicBezTo>
                  <a:pt x="325755" y="0"/>
                  <a:pt x="419811" y="94055"/>
                  <a:pt x="419811" y="209906"/>
                </a:cubicBezTo>
                <a:lnTo>
                  <a:pt x="419811" y="209906"/>
                </a:lnTo>
                <a:cubicBezTo>
                  <a:pt x="419811" y="325755"/>
                  <a:pt x="325755" y="419811"/>
                  <a:pt x="209906" y="419811"/>
                </a:cubicBezTo>
                <a:lnTo>
                  <a:pt x="209906" y="419811"/>
                </a:lnTo>
                <a:cubicBezTo>
                  <a:pt x="94055" y="419811"/>
                  <a:pt x="0" y="325755"/>
                  <a:pt x="0" y="209906"/>
                </a:cubicBezTo>
                <a:lnTo>
                  <a:pt x="0" y="209906"/>
                </a:lnTo>
                <a:cubicBezTo>
                  <a:pt x="0" y="94055"/>
                  <a:pt x="94055" y="0"/>
                  <a:pt x="209906"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32" name="AutoShape 32"/>
          <p:cNvSpPr/>
          <p:nvPr/>
        </p:nvSpPr>
        <p:spPr>
          <a:xfrm>
            <a:off x="6930155" y="4824816"/>
            <a:ext cx="507271" cy="419811"/>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06</a:t>
            </a:r>
            <a:endParaRPr lang="en-US" sz="1100"/>
          </a:p>
        </p:txBody>
      </p:sp>
      <p:sp>
        <p:nvSpPr>
          <p:cNvPr id="33" name="AutoShape 33"/>
          <p:cNvSpPr/>
          <p:nvPr/>
        </p:nvSpPr>
        <p:spPr>
          <a:xfrm>
            <a:off x="7533640" y="4912360"/>
            <a:ext cx="2693035" cy="32702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客户端配置与对话</a:t>
            </a:r>
            <a:endParaRPr lang="en-US" sz="1100"/>
          </a:p>
        </p:txBody>
      </p:sp>
      <p:sp>
        <p:nvSpPr>
          <p:cNvPr id="34" name="AutoShape 34"/>
          <p:cNvSpPr/>
          <p:nvPr/>
        </p:nvSpPr>
        <p:spPr>
          <a:xfrm>
            <a:off x="1010920" y="2188210"/>
            <a:ext cx="5459095" cy="33718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华为升腾提供计算硬件，开源</a:t>
            </a: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Qwen3-4B</a:t>
            </a: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模型提供</a:t>
            </a: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大脑</a:t>
            </a: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a:t>
            </a:r>
            <a:endParaRPr lang="en-US" sz="1100"/>
          </a:p>
        </p:txBody>
      </p:sp>
      <p:sp>
        <p:nvSpPr>
          <p:cNvPr id="35" name="AutoShape 35"/>
          <p:cNvSpPr/>
          <p:nvPr/>
        </p:nvSpPr>
        <p:spPr>
          <a:xfrm>
            <a:off x="1064260" y="3749040"/>
            <a:ext cx="4042410" cy="33718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FlagGems</a:t>
            </a: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用于训练推理的计算</a:t>
            </a:r>
            <a:endParaRPr lang="en-US" sz="1100"/>
          </a:p>
        </p:txBody>
      </p:sp>
      <p:sp>
        <p:nvSpPr>
          <p:cNvPr id="36" name="AutoShape 36"/>
          <p:cNvSpPr/>
          <p:nvPr/>
        </p:nvSpPr>
        <p:spPr>
          <a:xfrm>
            <a:off x="1045845" y="5361305"/>
            <a:ext cx="4635500" cy="33718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FlagTree </a:t>
            </a: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各芯片</a:t>
            </a: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方言</a:t>
            </a: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翻译为</a:t>
            </a: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通用语言</a:t>
            </a: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a:t>
            </a:r>
            <a:endParaRPr lang="en-US" sz="1100"/>
          </a:p>
        </p:txBody>
      </p:sp>
      <p:sp>
        <p:nvSpPr>
          <p:cNvPr id="37" name="AutoShape 37"/>
          <p:cNvSpPr/>
          <p:nvPr/>
        </p:nvSpPr>
        <p:spPr>
          <a:xfrm>
            <a:off x="7509510" y="2247265"/>
            <a:ext cx="4042410" cy="33718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vLLM</a:t>
            </a: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插件连接</a:t>
            </a: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大脑</a:t>
            </a: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6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FlagOS</a:t>
            </a: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及计算硬件</a:t>
            </a:r>
            <a:endParaRPr lang="en-US" sz="1100"/>
          </a:p>
        </p:txBody>
      </p:sp>
      <p:sp>
        <p:nvSpPr>
          <p:cNvPr id="38" name="AutoShape 38"/>
          <p:cNvSpPr/>
          <p:nvPr/>
        </p:nvSpPr>
        <p:spPr>
          <a:xfrm>
            <a:off x="7473315" y="5361305"/>
            <a:ext cx="4042410" cy="33718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AnythingLLM </a:t>
            </a: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客户端及知识库</a:t>
            </a:r>
            <a:endParaRPr lang="en-US" sz="1100"/>
          </a:p>
        </p:txBody>
      </p:sp>
      <p:sp>
        <p:nvSpPr>
          <p:cNvPr id="39" name="AutoShape 39"/>
          <p:cNvSpPr/>
          <p:nvPr/>
        </p:nvSpPr>
        <p:spPr>
          <a:xfrm>
            <a:off x="7454265" y="3804285"/>
            <a:ext cx="4042410" cy="33718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服务器</a:t>
            </a:r>
            <a:endParaRPr lang="en-US" sz="11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49842" y="658232"/>
            <a:ext cx="11702221" cy="419811"/>
          </a:xfrm>
          <a:prstGeom prst="rect">
            <a:avLst/>
          </a:prstGeom>
          <a:noFill/>
          <a:ln w="12700">
            <a:noFill/>
            <a:prstDash val="solid"/>
          </a:ln>
        </p:spPr>
        <p:txBody>
          <a:bodyPr wrap="square" lIns="0" tIns="0" rIns="0" bIns="0" rtlCol="0" anchor="ctr">
            <a:noAutofit/>
          </a:bodyPr>
          <a:lstStyle/>
          <a:p>
            <a:pPr indent="0" algn="l">
              <a:lnSpc>
                <a:spcPct val="83000"/>
              </a:lnSpc>
              <a:defRPr/>
            </a:pPr>
            <a:r>
              <a:rPr lang="en-US" sz="36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实战部署</a:t>
            </a:r>
            <a:r>
              <a:rPr lang="en-US" sz="3600" b="1"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36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通过</a:t>
            </a:r>
            <a:r>
              <a:rPr lang="en-US" sz="3600" b="1" i="0" u="none" strike="noStrike">
                <a:solidFill>
                  <a:srgbClr val="000000"/>
                </a:solidFill>
                <a:latin typeface="Calibri" panose="020F0502020204030204"/>
                <a:ea typeface="Calibri" panose="020F0502020204030204"/>
                <a:cs typeface="Calibri" panose="020F0502020204030204"/>
                <a:sym typeface="Calibri" panose="020F0502020204030204"/>
              </a:rPr>
              <a:t>FlagOS</a:t>
            </a:r>
            <a:r>
              <a:rPr lang="en-US" sz="36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创建对话机器人</a:t>
            </a:r>
            <a:endParaRPr lang="en-US" sz="1100"/>
          </a:p>
        </p:txBody>
      </p:sp>
      <p:sp>
        <p:nvSpPr>
          <p:cNvPr id="3" name="Freeform 3"/>
          <p:cNvSpPr/>
          <p:nvPr/>
        </p:nvSpPr>
        <p:spPr>
          <a:xfrm>
            <a:off x="349842" y="1119495"/>
            <a:ext cx="699684" cy="34983"/>
          </a:xfrm>
          <a:custGeom>
            <a:avLst/>
            <a:gdLst/>
            <a:ahLst/>
            <a:cxnLst/>
            <a:rect l="l" t="t" r="r" b="b"/>
            <a:pathLst>
              <a:path w="699684" h="34983">
                <a:moveTo>
                  <a:pt x="0" y="0"/>
                </a:moveTo>
                <a:lnTo>
                  <a:pt x="699684" y="0"/>
                </a:lnTo>
                <a:lnTo>
                  <a:pt x="699684" y="34983"/>
                </a:lnTo>
                <a:lnTo>
                  <a:pt x="0" y="34983"/>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274579" y="1565198"/>
            <a:ext cx="32686" cy="4320000"/>
          </a:xfrm>
          <a:custGeom>
            <a:avLst/>
            <a:gdLst/>
            <a:ahLst/>
            <a:cxnLst/>
            <a:rect l="l" t="t" r="r" b="b"/>
            <a:pathLst>
              <a:path w="32686" h="4320000">
                <a:moveTo>
                  <a:pt x="32686" y="0"/>
                </a:moveTo>
                <a:lnTo>
                  <a:pt x="32686" y="0"/>
                </a:lnTo>
                <a:lnTo>
                  <a:pt x="32686" y="4320000"/>
                </a:lnTo>
                <a:lnTo>
                  <a:pt x="32686" y="4320000"/>
                </a:lnTo>
                <a:cubicBezTo>
                  <a:pt x="14634" y="4320000"/>
                  <a:pt x="0" y="4300560"/>
                  <a:pt x="0" y="4276581"/>
                </a:cubicBezTo>
                <a:lnTo>
                  <a:pt x="0" y="43416"/>
                </a:lnTo>
                <a:cubicBezTo>
                  <a:pt x="0" y="19454"/>
                  <a:pt x="14646" y="0"/>
                  <a:pt x="32686"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5" name="Freeform 5"/>
          <p:cNvSpPr/>
          <p:nvPr/>
        </p:nvSpPr>
        <p:spPr>
          <a:xfrm>
            <a:off x="8237479" y="1565198"/>
            <a:ext cx="32686" cy="4320000"/>
          </a:xfrm>
          <a:custGeom>
            <a:avLst/>
            <a:gdLst/>
            <a:ahLst/>
            <a:cxnLst/>
            <a:rect l="l" t="t" r="r" b="b"/>
            <a:pathLst>
              <a:path w="32686" h="4320000">
                <a:moveTo>
                  <a:pt x="32686" y="0"/>
                </a:moveTo>
                <a:lnTo>
                  <a:pt x="32686" y="0"/>
                </a:lnTo>
                <a:lnTo>
                  <a:pt x="32686" y="4320000"/>
                </a:lnTo>
                <a:lnTo>
                  <a:pt x="32686" y="4320000"/>
                </a:lnTo>
                <a:cubicBezTo>
                  <a:pt x="14634" y="4320000"/>
                  <a:pt x="0" y="4300560"/>
                  <a:pt x="0" y="4276581"/>
                </a:cubicBezTo>
                <a:lnTo>
                  <a:pt x="0" y="43416"/>
                </a:lnTo>
                <a:cubicBezTo>
                  <a:pt x="0" y="19454"/>
                  <a:pt x="14646" y="0"/>
                  <a:pt x="32686"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pic>
        <p:nvPicPr>
          <p:cNvPr id="6" name="Picture 6"/>
          <p:cNvPicPr>
            <a:picLocks noChangeAspect="1"/>
          </p:cNvPicPr>
          <p:nvPr/>
        </p:nvPicPr>
        <p:blipFill>
          <a:blip r:embed="rId1"/>
          <a:srcRect/>
          <a:stretch>
            <a:fillRect/>
          </a:stretch>
        </p:blipFill>
        <p:spPr>
          <a:xfrm>
            <a:off x="394335" y="1438275"/>
            <a:ext cx="7854950" cy="3696970"/>
          </a:xfrm>
          <a:prstGeom prst="rect">
            <a:avLst/>
          </a:prstGeom>
          <a:ln w="12700">
            <a:noFill/>
            <a:prstDash val="solid"/>
          </a:ln>
        </p:spPr>
      </p:pic>
      <p:graphicFrame>
        <p:nvGraphicFramePr>
          <p:cNvPr id="8" name="对象 7"/>
          <p:cNvGraphicFramePr>
            <a:graphicFrameLocks noChangeAspect="1"/>
          </p:cNvGraphicFramePr>
          <p:nvPr/>
        </p:nvGraphicFramePr>
        <p:xfrm>
          <a:off x="9173928" y="2709863"/>
          <a:ext cx="844550" cy="520700"/>
        </p:xfrm>
        <a:graphic>
          <a:graphicData uri="http://schemas.openxmlformats.org/presentationml/2006/ole">
            <mc:AlternateContent xmlns:mc="http://schemas.openxmlformats.org/markup-compatibility/2006">
              <mc:Choice xmlns:v="urn:schemas-microsoft-com:vml" Requires="v">
                <p:oleObj spid="_x0000_s1027" name="包装程序外壳对象" showAsIcon="1" r:id="rId2" imgW="624840" imgH="387350" progId="Package">
                  <p:embed/>
                </p:oleObj>
              </mc:Choice>
              <mc:Fallback>
                <p:oleObj name="包装程序外壳对象" showAsIcon="1" r:id="rId2" imgW="624840" imgH="387350" progId="Package">
                  <p:embed/>
                  <p:pic>
                    <p:nvPicPr>
                      <p:cNvPr id="0" name="图片 1026"/>
                      <p:cNvPicPr/>
                      <p:nvPr/>
                    </p:nvPicPr>
                    <p:blipFill>
                      <a:blip r:embed="rId3"/>
                      <a:stretch>
                        <a:fillRect/>
                      </a:stretch>
                    </p:blipFill>
                    <p:spPr>
                      <a:xfrm>
                        <a:off x="9173928" y="2709863"/>
                        <a:ext cx="844550" cy="520700"/>
                      </a:xfrm>
                      <a:prstGeom prst="rect">
                        <a:avLst/>
                      </a:prstGeom>
                    </p:spPr>
                  </p:pic>
                </p:oleObj>
              </mc:Fallback>
            </mc:AlternateContent>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65303" y="621016"/>
            <a:ext cx="11625780" cy="365303"/>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36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第一步：环境检查与模型下载</a:t>
            </a:r>
            <a:endParaRPr lang="en-US" sz="1100"/>
          </a:p>
        </p:txBody>
      </p:sp>
      <p:sp>
        <p:nvSpPr>
          <p:cNvPr id="3" name="Freeform 3"/>
          <p:cNvSpPr/>
          <p:nvPr/>
        </p:nvSpPr>
        <p:spPr>
          <a:xfrm>
            <a:off x="365303" y="1424683"/>
            <a:ext cx="730607" cy="36530"/>
          </a:xfrm>
          <a:custGeom>
            <a:avLst/>
            <a:gdLst/>
            <a:ahLst/>
            <a:cxnLst/>
            <a:rect l="l" t="t" r="r" b="b"/>
            <a:pathLst>
              <a:path w="730607" h="36530">
                <a:moveTo>
                  <a:pt x="0" y="0"/>
                </a:moveTo>
                <a:lnTo>
                  <a:pt x="730607" y="0"/>
                </a:lnTo>
                <a:lnTo>
                  <a:pt x="730607" y="36530"/>
                </a:lnTo>
                <a:lnTo>
                  <a:pt x="0" y="3653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83540" y="1607185"/>
            <a:ext cx="5625465" cy="4000500"/>
          </a:xfrm>
          <a:custGeom>
            <a:avLst/>
            <a:gdLst/>
            <a:ahLst/>
            <a:cxnLst/>
            <a:rect l="l" t="t" r="r" b="b"/>
            <a:pathLst>
              <a:path w="5625465" h="4000500">
                <a:moveTo>
                  <a:pt x="36529" y="0"/>
                </a:moveTo>
                <a:lnTo>
                  <a:pt x="5515868" y="0"/>
                </a:lnTo>
                <a:cubicBezTo>
                  <a:pt x="5576397" y="0"/>
                  <a:pt x="5625465" y="73113"/>
                  <a:pt x="5625465" y="163300"/>
                </a:cubicBezTo>
                <a:lnTo>
                  <a:pt x="5625465" y="3837200"/>
                </a:lnTo>
                <a:cubicBezTo>
                  <a:pt x="5625465" y="3927326"/>
                  <a:pt x="5576355" y="4000500"/>
                  <a:pt x="5515868" y="4000500"/>
                </a:cubicBezTo>
                <a:lnTo>
                  <a:pt x="36529" y="4000500"/>
                </a:lnTo>
                <a:cubicBezTo>
                  <a:pt x="16354" y="4000500"/>
                  <a:pt x="0" y="3976131"/>
                  <a:pt x="0" y="3946070"/>
                </a:cubicBezTo>
                <a:lnTo>
                  <a:pt x="0" y="54428"/>
                </a:lnTo>
                <a:cubicBezTo>
                  <a:pt x="0" y="24389"/>
                  <a:pt x="16369" y="0"/>
                  <a:pt x="36529" y="0"/>
                </a:cubicBezTo>
                <a:close/>
              </a:path>
            </a:pathLst>
          </a:custGeom>
          <a:solidFill>
            <a:srgbClr val="FFFFFF">
              <a:alpha val="100000"/>
            </a:srgbClr>
          </a:solidFill>
          <a:ln w="12700">
            <a:noFill/>
            <a:prstDash val="solid"/>
          </a:ln>
          <a:effectLst>
            <a:outerShdw blurRad="1270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5" name="Freeform 5"/>
          <p:cNvSpPr/>
          <p:nvPr/>
        </p:nvSpPr>
        <p:spPr>
          <a:xfrm>
            <a:off x="383569" y="1607335"/>
            <a:ext cx="36530" cy="2684979"/>
          </a:xfrm>
          <a:custGeom>
            <a:avLst/>
            <a:gdLst/>
            <a:ahLst/>
            <a:cxnLst/>
            <a:rect l="l" t="t" r="r" b="b"/>
            <a:pathLst>
              <a:path w="36530" h="2684979">
                <a:moveTo>
                  <a:pt x="36530" y="0"/>
                </a:moveTo>
                <a:lnTo>
                  <a:pt x="36530" y="0"/>
                </a:lnTo>
                <a:lnTo>
                  <a:pt x="36530" y="2684979"/>
                </a:lnTo>
                <a:lnTo>
                  <a:pt x="36530" y="2684979"/>
                </a:lnTo>
                <a:cubicBezTo>
                  <a:pt x="16355" y="2684979"/>
                  <a:pt x="0" y="2668626"/>
                  <a:pt x="0" y="2648449"/>
                </a:cubicBezTo>
                <a:lnTo>
                  <a:pt x="0" y="36530"/>
                </a:lnTo>
                <a:cubicBezTo>
                  <a:pt x="0" y="16369"/>
                  <a:pt x="16369" y="0"/>
                  <a:pt x="3653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584485" y="1789987"/>
            <a:ext cx="365303" cy="365303"/>
          </a:xfrm>
          <a:custGeom>
            <a:avLst/>
            <a:gdLst/>
            <a:ahLst/>
            <a:cxnLst/>
            <a:rect l="l" t="t" r="r" b="b"/>
            <a:pathLst>
              <a:path w="365303" h="365303">
                <a:moveTo>
                  <a:pt x="182651" y="0"/>
                </a:moveTo>
                <a:lnTo>
                  <a:pt x="182651" y="0"/>
                </a:lnTo>
                <a:cubicBezTo>
                  <a:pt x="283528" y="0"/>
                  <a:pt x="365303" y="81777"/>
                  <a:pt x="365303" y="182651"/>
                </a:cubicBezTo>
                <a:lnTo>
                  <a:pt x="365303" y="182651"/>
                </a:lnTo>
                <a:cubicBezTo>
                  <a:pt x="365303" y="283527"/>
                  <a:pt x="283528" y="365303"/>
                  <a:pt x="182651" y="365303"/>
                </a:cubicBezTo>
                <a:lnTo>
                  <a:pt x="182651" y="365303"/>
                </a:lnTo>
                <a:cubicBezTo>
                  <a:pt x="81777" y="365303"/>
                  <a:pt x="0" y="283527"/>
                  <a:pt x="0" y="182651"/>
                </a:cubicBezTo>
                <a:lnTo>
                  <a:pt x="0" y="182651"/>
                </a:lnTo>
                <a:cubicBezTo>
                  <a:pt x="0" y="81777"/>
                  <a:pt x="81777" y="0"/>
                  <a:pt x="182651"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543389" y="1789987"/>
            <a:ext cx="447497" cy="365303"/>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01</a:t>
            </a:r>
            <a:endParaRPr lang="en-US" sz="1100"/>
          </a:p>
        </p:txBody>
      </p:sp>
      <p:sp>
        <p:nvSpPr>
          <p:cNvPr id="8" name="AutoShape 8"/>
          <p:cNvSpPr/>
          <p:nvPr/>
        </p:nvSpPr>
        <p:spPr>
          <a:xfrm>
            <a:off x="1059180" y="1844675"/>
            <a:ext cx="3057525" cy="25590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检查NPU状态</a:t>
            </a:r>
            <a:endParaRPr lang="en-US" sz="1100"/>
          </a:p>
        </p:txBody>
      </p:sp>
      <p:sp>
        <p:nvSpPr>
          <p:cNvPr id="9" name="Freeform 9"/>
          <p:cNvSpPr/>
          <p:nvPr/>
        </p:nvSpPr>
        <p:spPr>
          <a:xfrm>
            <a:off x="565785" y="2447290"/>
            <a:ext cx="5202555" cy="688975"/>
          </a:xfrm>
          <a:custGeom>
            <a:avLst/>
            <a:gdLst/>
            <a:ahLst/>
            <a:cxnLst/>
            <a:rect l="l" t="t" r="r" b="b"/>
            <a:pathLst>
              <a:path w="5202555" h="688975">
                <a:moveTo>
                  <a:pt x="72512" y="0"/>
                </a:moveTo>
                <a:lnTo>
                  <a:pt x="5130044" y="0"/>
                </a:lnTo>
                <a:cubicBezTo>
                  <a:pt x="5170091" y="0"/>
                  <a:pt x="5202555" y="47457"/>
                  <a:pt x="5202555" y="105999"/>
                </a:cubicBezTo>
                <a:lnTo>
                  <a:pt x="5202555" y="582977"/>
                </a:lnTo>
                <a:cubicBezTo>
                  <a:pt x="5202555" y="641518"/>
                  <a:pt x="5170091" y="688975"/>
                  <a:pt x="5130044" y="688975"/>
                </a:cubicBezTo>
                <a:lnTo>
                  <a:pt x="72512" y="688975"/>
                </a:lnTo>
                <a:cubicBezTo>
                  <a:pt x="32490" y="688975"/>
                  <a:pt x="0" y="641478"/>
                  <a:pt x="0" y="582977"/>
                </a:cubicBezTo>
                <a:lnTo>
                  <a:pt x="0" y="105999"/>
                </a:lnTo>
                <a:cubicBezTo>
                  <a:pt x="0" y="47497"/>
                  <a:pt x="32490" y="0"/>
                  <a:pt x="72512"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10" name="AutoShape 10"/>
          <p:cNvSpPr/>
          <p:nvPr/>
        </p:nvSpPr>
        <p:spPr>
          <a:xfrm>
            <a:off x="591185" y="2447290"/>
            <a:ext cx="5166995" cy="677545"/>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npu-smi info</a:t>
            </a:r>
            <a:endParaRPr lang="en-US" sz="1100"/>
          </a:p>
        </p:txBody>
      </p:sp>
      <p:grpSp>
        <p:nvGrpSpPr>
          <p:cNvPr id="11" name="Group 11"/>
          <p:cNvGrpSpPr/>
          <p:nvPr/>
        </p:nvGrpSpPr>
        <p:grpSpPr>
          <a:xfrm>
            <a:off x="584200" y="5854065"/>
            <a:ext cx="5241925" cy="659130"/>
            <a:chOff x="584200" y="5854065"/>
            <a:chExt cx="5241925" cy="659130"/>
          </a:xfrm>
        </p:grpSpPr>
        <p:sp>
          <p:nvSpPr>
            <p:cNvPr id="12" name="Freeform 12"/>
            <p:cNvSpPr/>
            <p:nvPr/>
          </p:nvSpPr>
          <p:spPr>
            <a:xfrm>
              <a:off x="584200" y="5854065"/>
              <a:ext cx="5241925" cy="659130"/>
            </a:xfrm>
            <a:custGeom>
              <a:avLst/>
              <a:gdLst/>
              <a:ahLst/>
              <a:cxnLst/>
              <a:rect l="l" t="t" r="r" b="b"/>
              <a:pathLst>
                <a:path w="5241925" h="659130">
                  <a:moveTo>
                    <a:pt x="73057" y="0"/>
                  </a:moveTo>
                  <a:lnTo>
                    <a:pt x="5168868" y="0"/>
                  </a:lnTo>
                  <a:cubicBezTo>
                    <a:pt x="5209217" y="0"/>
                    <a:pt x="5241925" y="50230"/>
                    <a:pt x="5241925" y="112189"/>
                  </a:cubicBezTo>
                  <a:lnTo>
                    <a:pt x="5241925" y="546941"/>
                  </a:lnTo>
                  <a:cubicBezTo>
                    <a:pt x="5241925" y="608901"/>
                    <a:pt x="5209217" y="659130"/>
                    <a:pt x="5168868" y="659130"/>
                  </a:cubicBezTo>
                  <a:lnTo>
                    <a:pt x="73057" y="659130"/>
                  </a:lnTo>
                  <a:cubicBezTo>
                    <a:pt x="32709" y="659130"/>
                    <a:pt x="0" y="608901"/>
                    <a:pt x="0" y="546941"/>
                  </a:cubicBezTo>
                  <a:lnTo>
                    <a:pt x="0" y="112189"/>
                  </a:lnTo>
                  <a:cubicBezTo>
                    <a:pt x="0" y="50272"/>
                    <a:pt x="32736" y="0"/>
                    <a:pt x="73057"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13" name="Freeform 13"/>
            <p:cNvSpPr/>
            <p:nvPr/>
          </p:nvSpPr>
          <p:spPr>
            <a:xfrm>
              <a:off x="584200" y="5908667"/>
              <a:ext cx="309245" cy="307139"/>
            </a:xfrm>
            <a:custGeom>
              <a:avLst/>
              <a:gdLst/>
              <a:ahLst/>
              <a:cxnLst/>
              <a:rect l="l" t="t" r="r" b="b"/>
              <a:pathLst>
                <a:path w="309245" h="307139">
                  <a:moveTo>
                    <a:pt x="154622" y="307139"/>
                  </a:moveTo>
                  <a:cubicBezTo>
                    <a:pt x="239961" y="307139"/>
                    <a:pt x="309245" y="238327"/>
                    <a:pt x="309245" y="153570"/>
                  </a:cubicBezTo>
                  <a:cubicBezTo>
                    <a:pt x="309245" y="68811"/>
                    <a:pt x="239961" y="0"/>
                    <a:pt x="154622" y="0"/>
                  </a:cubicBezTo>
                  <a:cubicBezTo>
                    <a:pt x="69284" y="0"/>
                    <a:pt x="0" y="68811"/>
                    <a:pt x="0" y="153570"/>
                  </a:cubicBezTo>
                  <a:cubicBezTo>
                    <a:pt x="0" y="238327"/>
                    <a:pt x="69284" y="307139"/>
                    <a:pt x="154622" y="307139"/>
                  </a:cubicBezTo>
                  <a:close/>
                  <a:moveTo>
                    <a:pt x="205599" y="127594"/>
                  </a:moveTo>
                  <a:lnTo>
                    <a:pt x="157281" y="204379"/>
                  </a:lnTo>
                  <a:cubicBezTo>
                    <a:pt x="154743" y="208398"/>
                    <a:pt x="150395" y="210918"/>
                    <a:pt x="145622" y="211158"/>
                  </a:cubicBezTo>
                  <a:cubicBezTo>
                    <a:pt x="140851" y="211398"/>
                    <a:pt x="136262" y="209239"/>
                    <a:pt x="133422" y="205400"/>
                  </a:cubicBezTo>
                  <a:lnTo>
                    <a:pt x="104430" y="167008"/>
                  </a:lnTo>
                  <a:cubicBezTo>
                    <a:pt x="99600" y="160649"/>
                    <a:pt x="100927" y="151651"/>
                    <a:pt x="107330" y="146850"/>
                  </a:cubicBezTo>
                  <a:cubicBezTo>
                    <a:pt x="113732" y="142051"/>
                    <a:pt x="122792" y="143372"/>
                    <a:pt x="127625" y="149730"/>
                  </a:cubicBezTo>
                  <a:lnTo>
                    <a:pt x="143932" y="171327"/>
                  </a:lnTo>
                  <a:lnTo>
                    <a:pt x="181018" y="112357"/>
                  </a:lnTo>
                  <a:cubicBezTo>
                    <a:pt x="185246" y="105640"/>
                    <a:pt x="194186" y="103541"/>
                    <a:pt x="201011" y="107800"/>
                  </a:cubicBezTo>
                  <a:cubicBezTo>
                    <a:pt x="207834" y="112058"/>
                    <a:pt x="209888" y="120875"/>
                    <a:pt x="205599" y="127654"/>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911225" y="6021773"/>
              <a:ext cx="4869815" cy="322740"/>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6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两块Ascend状态正常</a:t>
              </a:r>
              <a:r>
                <a:rPr lang="en-US" sz="16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，温度、功耗均在安全范围内,      NPU版本兼容，芯片健康状态OK</a:t>
              </a:r>
              <a:endParaRPr lang="en-US" sz="1100"/>
            </a:p>
          </p:txBody>
        </p:sp>
      </p:grpSp>
      <p:grpSp>
        <p:nvGrpSpPr>
          <p:cNvPr id="15" name="Group 15"/>
          <p:cNvGrpSpPr/>
          <p:nvPr/>
        </p:nvGrpSpPr>
        <p:grpSpPr>
          <a:xfrm>
            <a:off x="6407150" y="3945983"/>
            <a:ext cx="5347873" cy="1682022"/>
            <a:chOff x="6407150" y="3945983"/>
            <a:chExt cx="5347873" cy="1682022"/>
          </a:xfrm>
        </p:grpSpPr>
        <p:sp>
          <p:nvSpPr>
            <p:cNvPr id="16" name="Freeform 16"/>
            <p:cNvSpPr/>
            <p:nvPr/>
          </p:nvSpPr>
          <p:spPr>
            <a:xfrm>
              <a:off x="6407150" y="3945983"/>
              <a:ext cx="5347873" cy="1682022"/>
            </a:xfrm>
            <a:custGeom>
              <a:avLst/>
              <a:gdLst/>
              <a:ahLst/>
              <a:cxnLst/>
              <a:rect l="l" t="t" r="r" b="b"/>
              <a:pathLst>
                <a:path w="5347873" h="1682022">
                  <a:moveTo>
                    <a:pt x="104008" y="0"/>
                  </a:moveTo>
                  <a:lnTo>
                    <a:pt x="5243866" y="0"/>
                  </a:lnTo>
                  <a:cubicBezTo>
                    <a:pt x="5301308" y="0"/>
                    <a:pt x="5347873" y="117357"/>
                    <a:pt x="5347873" y="262125"/>
                  </a:cubicBezTo>
                  <a:lnTo>
                    <a:pt x="5347873" y="1419896"/>
                  </a:lnTo>
                  <a:cubicBezTo>
                    <a:pt x="5347873" y="1564664"/>
                    <a:pt x="5301308" y="1682022"/>
                    <a:pt x="5243866" y="1682022"/>
                  </a:cubicBezTo>
                  <a:lnTo>
                    <a:pt x="104008" y="1682022"/>
                  </a:lnTo>
                  <a:cubicBezTo>
                    <a:pt x="46604" y="1682022"/>
                    <a:pt x="0" y="1564566"/>
                    <a:pt x="0" y="1419896"/>
                  </a:cubicBezTo>
                  <a:lnTo>
                    <a:pt x="0" y="262125"/>
                  </a:lnTo>
                  <a:cubicBezTo>
                    <a:pt x="0" y="117357"/>
                    <a:pt x="46566" y="0"/>
                    <a:pt x="104008" y="0"/>
                  </a:cubicBezTo>
                  <a:close/>
                </a:path>
              </a:pathLst>
            </a:custGeom>
            <a:gradFill rotWithShape="1">
              <a:gsLst>
                <a:gs pos="0">
                  <a:srgbClr val="5B92E5">
                    <a:alpha val="15000"/>
                  </a:srgbClr>
                </a:gs>
                <a:gs pos="100000">
                  <a:srgbClr val="1E90FF">
                    <a:alpha val="15000"/>
                  </a:srgbClr>
                </a:gs>
              </a:gsLst>
              <a:lin ang="2700000"/>
            </a:gradFill>
            <a:ln w="12700">
              <a:solidFill>
                <a:srgbClr val="5B92E5">
                  <a:alpha val="30000"/>
                </a:srgbClr>
              </a:solidFill>
              <a:prstDash val="solid"/>
            </a:ln>
          </p:spPr>
          <p:txBody>
            <a:bodyPr wrap="square" lIns="91440" tIns="45720" rIns="91440" bIns="45720" rtlCol="0" anchor="t">
              <a:noAutofit/>
            </a:bodyPr>
            <a:lstStyle/>
            <a:p>
              <a:pPr algn="ctr">
                <a:defRPr/>
              </a:pPr>
            </a:p>
          </p:txBody>
        </p:sp>
        <p:sp>
          <p:nvSpPr>
            <p:cNvPr id="17" name="Freeform 17"/>
            <p:cNvSpPr/>
            <p:nvPr/>
          </p:nvSpPr>
          <p:spPr>
            <a:xfrm>
              <a:off x="6483586" y="4142424"/>
              <a:ext cx="386057" cy="401900"/>
            </a:xfrm>
            <a:custGeom>
              <a:avLst/>
              <a:gdLst/>
              <a:ahLst/>
              <a:cxnLst/>
              <a:rect l="l" t="t" r="r" b="b"/>
              <a:pathLst>
                <a:path w="386057" h="401900">
                  <a:moveTo>
                    <a:pt x="192948" y="0"/>
                  </a:moveTo>
                  <a:cubicBezTo>
                    <a:pt x="196646" y="0"/>
                    <a:pt x="200343" y="786"/>
                    <a:pt x="203720" y="2280"/>
                  </a:cubicBezTo>
                  <a:lnTo>
                    <a:pt x="355186" y="65096"/>
                  </a:lnTo>
                  <a:cubicBezTo>
                    <a:pt x="372873" y="72408"/>
                    <a:pt x="386057" y="89469"/>
                    <a:pt x="385975" y="110067"/>
                  </a:cubicBezTo>
                  <a:cubicBezTo>
                    <a:pt x="385574" y="188055"/>
                    <a:pt x="352773" y="330749"/>
                    <a:pt x="214252" y="395610"/>
                  </a:cubicBezTo>
                  <a:cubicBezTo>
                    <a:pt x="200826" y="401900"/>
                    <a:pt x="185229" y="401900"/>
                    <a:pt x="171804" y="395610"/>
                  </a:cubicBezTo>
                  <a:cubicBezTo>
                    <a:pt x="33204" y="330749"/>
                    <a:pt x="482" y="188055"/>
                    <a:pt x="80" y="110067"/>
                  </a:cubicBezTo>
                  <a:cubicBezTo>
                    <a:pt x="0" y="89469"/>
                    <a:pt x="13185" y="72408"/>
                    <a:pt x="30872" y="65096"/>
                  </a:cubicBezTo>
                  <a:lnTo>
                    <a:pt x="182255" y="2280"/>
                  </a:lnTo>
                  <a:cubicBezTo>
                    <a:pt x="185632" y="786"/>
                    <a:pt x="189250" y="0"/>
                    <a:pt x="192948" y="0"/>
                  </a:cubicBezTo>
                  <a:close/>
                  <a:moveTo>
                    <a:pt x="192948" y="52517"/>
                  </a:moveTo>
                  <a:lnTo>
                    <a:pt x="192948" y="349775"/>
                  </a:lnTo>
                  <a:cubicBezTo>
                    <a:pt x="303893" y="297257"/>
                    <a:pt x="333720" y="180901"/>
                    <a:pt x="334444" y="111246"/>
                  </a:cubicBezTo>
                  <a:lnTo>
                    <a:pt x="192948" y="52596"/>
                  </a:lnTo>
                  <a:lnTo>
                    <a:pt x="192948" y="52596"/>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6947845" y="4115238"/>
              <a:ext cx="4663977" cy="30255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数据安全优势</a:t>
              </a:r>
              <a:endParaRPr lang="en-US" sz="1100"/>
            </a:p>
          </p:txBody>
        </p:sp>
        <p:sp>
          <p:nvSpPr>
            <p:cNvPr id="19" name="AutoShape 19"/>
            <p:cNvSpPr/>
            <p:nvPr/>
          </p:nvSpPr>
          <p:spPr>
            <a:xfrm>
              <a:off x="6947845" y="4884337"/>
              <a:ext cx="4654987" cy="252566"/>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600" b="0" i="0" u="none" strike="noStrike">
                  <a:solidFill>
                    <a:srgbClr val="333333">
                      <a:alpha val="80000"/>
                    </a:srgbClr>
                  </a:solidFill>
                  <a:latin typeface="MiSans" panose="00000500000000000000" charset="-122"/>
                  <a:ea typeface="MiSans" panose="00000500000000000000" charset="-122"/>
                  <a:cs typeface="MiSans" panose="00000500000000000000" charset="-122"/>
                  <a:sym typeface="MiSans" panose="00000500000000000000" charset="-122"/>
                </a:rPr>
                <a:t>下载的是开源模型权重，不是API调用。数据完全留在本地，无需担心隐私泄露。</a:t>
              </a:r>
              <a:endParaRPr lang="en-US" sz="1100"/>
            </a:p>
          </p:txBody>
        </p:sp>
      </p:grpSp>
      <p:sp>
        <p:nvSpPr>
          <p:cNvPr id="20" name="Freeform 20"/>
          <p:cNvSpPr/>
          <p:nvPr/>
        </p:nvSpPr>
        <p:spPr>
          <a:xfrm>
            <a:off x="6206019" y="1607335"/>
            <a:ext cx="36530" cy="2904162"/>
          </a:xfrm>
          <a:custGeom>
            <a:avLst/>
            <a:gdLst/>
            <a:ahLst/>
            <a:cxnLst/>
            <a:rect l="l" t="t" r="r" b="b"/>
            <a:pathLst>
              <a:path w="36530" h="2904162">
                <a:moveTo>
                  <a:pt x="36530" y="0"/>
                </a:moveTo>
                <a:lnTo>
                  <a:pt x="36530" y="0"/>
                </a:lnTo>
                <a:lnTo>
                  <a:pt x="36530" y="2904162"/>
                </a:lnTo>
                <a:lnTo>
                  <a:pt x="36530" y="2904162"/>
                </a:lnTo>
                <a:cubicBezTo>
                  <a:pt x="16355" y="2904162"/>
                  <a:pt x="0" y="2887807"/>
                  <a:pt x="0" y="2867631"/>
                </a:cubicBezTo>
                <a:lnTo>
                  <a:pt x="0" y="36530"/>
                </a:lnTo>
                <a:cubicBezTo>
                  <a:pt x="0" y="16369"/>
                  <a:pt x="16369" y="0"/>
                  <a:pt x="3653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6406936" y="1789987"/>
            <a:ext cx="365303" cy="365303"/>
          </a:xfrm>
          <a:custGeom>
            <a:avLst/>
            <a:gdLst/>
            <a:ahLst/>
            <a:cxnLst/>
            <a:rect l="l" t="t" r="r" b="b"/>
            <a:pathLst>
              <a:path w="365303" h="365303">
                <a:moveTo>
                  <a:pt x="182651" y="0"/>
                </a:moveTo>
                <a:lnTo>
                  <a:pt x="182651" y="0"/>
                </a:lnTo>
                <a:cubicBezTo>
                  <a:pt x="283527" y="0"/>
                  <a:pt x="365303" y="81777"/>
                  <a:pt x="365303" y="182651"/>
                </a:cubicBezTo>
                <a:lnTo>
                  <a:pt x="365303" y="182651"/>
                </a:lnTo>
                <a:cubicBezTo>
                  <a:pt x="365303" y="283527"/>
                  <a:pt x="283527" y="365303"/>
                  <a:pt x="182651" y="365303"/>
                </a:cubicBezTo>
                <a:lnTo>
                  <a:pt x="182651" y="365303"/>
                </a:lnTo>
                <a:cubicBezTo>
                  <a:pt x="81777" y="365303"/>
                  <a:pt x="0" y="283527"/>
                  <a:pt x="0" y="182651"/>
                </a:cubicBezTo>
                <a:lnTo>
                  <a:pt x="0" y="182651"/>
                </a:lnTo>
                <a:cubicBezTo>
                  <a:pt x="0" y="81777"/>
                  <a:pt x="81777" y="0"/>
                  <a:pt x="182651"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6365839" y="1789987"/>
            <a:ext cx="447497" cy="365303"/>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02</a:t>
            </a:r>
            <a:endParaRPr lang="en-US" sz="1100"/>
          </a:p>
        </p:txBody>
      </p:sp>
      <p:sp>
        <p:nvSpPr>
          <p:cNvPr id="23" name="AutoShape 23"/>
          <p:cNvSpPr/>
          <p:nvPr/>
        </p:nvSpPr>
        <p:spPr>
          <a:xfrm>
            <a:off x="6882130" y="1844675"/>
            <a:ext cx="4613275" cy="25590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下载Qwen3-4B模型到根目录</a:t>
            </a:r>
            <a:endParaRPr lang="en-US" sz="1100"/>
          </a:p>
        </p:txBody>
      </p:sp>
      <p:sp>
        <p:nvSpPr>
          <p:cNvPr id="24" name="AutoShape 24"/>
          <p:cNvSpPr/>
          <p:nvPr/>
        </p:nvSpPr>
        <p:spPr>
          <a:xfrm>
            <a:off x="6470650" y="2376170"/>
            <a:ext cx="5301615" cy="1152525"/>
          </a:xfrm>
          <a:prstGeom prst="rect">
            <a:avLst/>
          </a:prstGeom>
          <a:solidFill>
            <a:srgbClr val="EEEEEE">
              <a:alpha val="100000"/>
            </a:srgbClr>
          </a:solidFill>
          <a:ln w="12700">
            <a:noFill/>
            <a:prstDash val="solid"/>
          </a:ln>
        </p:spPr>
        <p:txBody>
          <a:bodyPr wrap="square" lIns="146121" tIns="146121" rIns="146121" bIns="146121"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pip install modelscope</a:t>
            </a:r>
            <a:endParaRPr lang="en-US" sz="1100"/>
          </a:p>
          <a:p>
            <a:pPr indent="0" algn="l">
              <a:lnSpc>
                <a:spcPct val="133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modelscope download --model Qwen/Qwen3-4B --local_dir ./Qwen3-4B</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pic>
        <p:nvPicPr>
          <p:cNvPr id="25" name="Picture 25"/>
          <p:cNvPicPr>
            <a:picLocks noChangeAspect="1"/>
          </p:cNvPicPr>
          <p:nvPr/>
        </p:nvPicPr>
        <p:blipFill>
          <a:blip r:embed="rId1"/>
          <a:srcRect/>
          <a:stretch>
            <a:fillRect/>
          </a:stretch>
        </p:blipFill>
        <p:spPr>
          <a:xfrm>
            <a:off x="541020" y="3248025"/>
            <a:ext cx="5284470" cy="2102485"/>
          </a:xfrm>
          <a:prstGeom prst="rect">
            <a:avLst/>
          </a:prstGeom>
          <a:ln w="12700">
            <a:noFill/>
            <a:prstDash val="soli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70578" y="592924"/>
            <a:ext cx="11589812" cy="33352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36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第二步：FlagGems高性能算子库安装</a:t>
            </a:r>
            <a:endParaRPr lang="en-US" sz="1100"/>
          </a:p>
        </p:txBody>
      </p:sp>
      <p:sp>
        <p:nvSpPr>
          <p:cNvPr id="3" name="Freeform 3"/>
          <p:cNvSpPr/>
          <p:nvPr/>
        </p:nvSpPr>
        <p:spPr>
          <a:xfrm>
            <a:off x="416933" y="1196464"/>
            <a:ext cx="741155" cy="37059"/>
          </a:xfrm>
          <a:custGeom>
            <a:avLst/>
            <a:gdLst/>
            <a:ahLst/>
            <a:cxnLst/>
            <a:rect l="l" t="t" r="r" b="b"/>
            <a:pathLst>
              <a:path w="741155" h="37059">
                <a:moveTo>
                  <a:pt x="0" y="0"/>
                </a:moveTo>
                <a:lnTo>
                  <a:pt x="741155" y="0"/>
                </a:lnTo>
                <a:lnTo>
                  <a:pt x="741155" y="37059"/>
                </a:lnTo>
                <a:lnTo>
                  <a:pt x="0" y="37059"/>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grpSp>
        <p:nvGrpSpPr>
          <p:cNvPr id="4" name="Group 4"/>
          <p:cNvGrpSpPr/>
          <p:nvPr/>
        </p:nvGrpSpPr>
        <p:grpSpPr>
          <a:xfrm>
            <a:off x="407670" y="1316901"/>
            <a:ext cx="2214245" cy="1007834"/>
            <a:chOff x="407670" y="1316901"/>
            <a:chExt cx="2214245" cy="1007834"/>
          </a:xfrm>
        </p:grpSpPr>
        <p:sp>
          <p:nvSpPr>
            <p:cNvPr id="5" name="Freeform 5"/>
            <p:cNvSpPr/>
            <p:nvPr/>
          </p:nvSpPr>
          <p:spPr>
            <a:xfrm>
              <a:off x="417195" y="1316901"/>
              <a:ext cx="2204720" cy="1007834"/>
            </a:xfrm>
            <a:custGeom>
              <a:avLst/>
              <a:gdLst/>
              <a:ahLst/>
              <a:cxnLst/>
              <a:rect l="l" t="t" r="r" b="b"/>
              <a:pathLst>
                <a:path w="2204720" h="1007834">
                  <a:moveTo>
                    <a:pt x="18527" y="0"/>
                  </a:moveTo>
                  <a:lnTo>
                    <a:pt x="2186193" y="0"/>
                  </a:lnTo>
                  <a:cubicBezTo>
                    <a:pt x="2196426" y="0"/>
                    <a:pt x="2204720" y="8678"/>
                    <a:pt x="2204720" y="19381"/>
                  </a:cubicBezTo>
                  <a:lnTo>
                    <a:pt x="2204720" y="930311"/>
                  </a:lnTo>
                  <a:cubicBezTo>
                    <a:pt x="2204720" y="973097"/>
                    <a:pt x="2171515" y="1007834"/>
                    <a:pt x="2130615" y="1007834"/>
                  </a:cubicBezTo>
                  <a:lnTo>
                    <a:pt x="74106" y="1007834"/>
                  </a:lnTo>
                  <a:cubicBezTo>
                    <a:pt x="33177" y="1007834"/>
                    <a:pt x="0" y="973125"/>
                    <a:pt x="0" y="930311"/>
                  </a:cubicBezTo>
                  <a:lnTo>
                    <a:pt x="0" y="19381"/>
                  </a:lnTo>
                  <a:cubicBezTo>
                    <a:pt x="0" y="8678"/>
                    <a:pt x="8296" y="0"/>
                    <a:pt x="18527"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6" name="Freeform 6"/>
            <p:cNvSpPr/>
            <p:nvPr/>
          </p:nvSpPr>
          <p:spPr>
            <a:xfrm>
              <a:off x="417195" y="1316901"/>
              <a:ext cx="2204720" cy="18418"/>
            </a:xfrm>
            <a:custGeom>
              <a:avLst/>
              <a:gdLst/>
              <a:ahLst/>
              <a:cxnLst/>
              <a:rect l="l" t="t" r="r" b="b"/>
              <a:pathLst>
                <a:path w="2204720" h="18418">
                  <a:moveTo>
                    <a:pt x="18527" y="0"/>
                  </a:moveTo>
                  <a:lnTo>
                    <a:pt x="2186193" y="0"/>
                  </a:lnTo>
                  <a:cubicBezTo>
                    <a:pt x="2196426" y="0"/>
                    <a:pt x="2204720" y="8246"/>
                    <a:pt x="2204720" y="18418"/>
                  </a:cubicBezTo>
                  <a:lnTo>
                    <a:pt x="2204720" y="18418"/>
                  </a:lnTo>
                  <a:lnTo>
                    <a:pt x="0" y="18418"/>
                  </a:lnTo>
                  <a:lnTo>
                    <a:pt x="0" y="18418"/>
                  </a:lnTo>
                  <a:cubicBezTo>
                    <a:pt x="0" y="8246"/>
                    <a:pt x="8296" y="0"/>
                    <a:pt x="18527"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1331595" y="1400093"/>
              <a:ext cx="370840" cy="370873"/>
            </a:xfrm>
            <a:custGeom>
              <a:avLst/>
              <a:gdLst/>
              <a:ahLst/>
              <a:cxnLst/>
              <a:rect l="l" t="t" r="r" b="b"/>
              <a:pathLst>
                <a:path w="370840" h="370873">
                  <a:moveTo>
                    <a:pt x="185420" y="0"/>
                  </a:moveTo>
                  <a:lnTo>
                    <a:pt x="185420" y="0"/>
                  </a:lnTo>
                  <a:cubicBezTo>
                    <a:pt x="287755" y="0"/>
                    <a:pt x="370840" y="83091"/>
                    <a:pt x="370840" y="185437"/>
                  </a:cubicBezTo>
                  <a:lnTo>
                    <a:pt x="370840" y="185437"/>
                  </a:lnTo>
                  <a:cubicBezTo>
                    <a:pt x="370840" y="287781"/>
                    <a:pt x="287755" y="370873"/>
                    <a:pt x="185420" y="370873"/>
                  </a:cubicBezTo>
                  <a:lnTo>
                    <a:pt x="185420" y="370873"/>
                  </a:lnTo>
                  <a:cubicBezTo>
                    <a:pt x="83083" y="370873"/>
                    <a:pt x="0" y="287781"/>
                    <a:pt x="0" y="185437"/>
                  </a:cubicBezTo>
                  <a:lnTo>
                    <a:pt x="0" y="185437"/>
                  </a:lnTo>
                  <a:cubicBezTo>
                    <a:pt x="0" y="83091"/>
                    <a:pt x="83083" y="0"/>
                    <a:pt x="18542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1290320" y="1400093"/>
              <a:ext cx="454025" cy="370873"/>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9" name="AutoShape 9"/>
            <p:cNvSpPr/>
            <p:nvPr/>
          </p:nvSpPr>
          <p:spPr>
            <a:xfrm>
              <a:off x="407670" y="1770966"/>
              <a:ext cx="2131060" cy="22227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安装依赖</a:t>
              </a:r>
              <a:endParaRPr lang="en-US" sz="1100"/>
            </a:p>
          </p:txBody>
        </p:sp>
        <p:sp>
          <p:nvSpPr>
            <p:cNvPr id="10" name="AutoShape 10"/>
            <p:cNvSpPr/>
            <p:nvPr/>
          </p:nvSpPr>
          <p:spPr>
            <a:xfrm>
              <a:off x="454660" y="2141204"/>
              <a:ext cx="2112010" cy="139077"/>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600"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rPr>
                <a:t>编译工具链</a:t>
              </a:r>
              <a:endParaRPr lang="en-US" sz="1100"/>
            </a:p>
          </p:txBody>
        </p:sp>
      </p:grpSp>
      <p:grpSp>
        <p:nvGrpSpPr>
          <p:cNvPr id="11" name="Group 11"/>
          <p:cNvGrpSpPr/>
          <p:nvPr/>
        </p:nvGrpSpPr>
        <p:grpSpPr>
          <a:xfrm>
            <a:off x="407485" y="2520226"/>
            <a:ext cx="2204936" cy="1008000"/>
            <a:chOff x="407485" y="2520226"/>
            <a:chExt cx="2204936" cy="1008000"/>
          </a:xfrm>
        </p:grpSpPr>
        <p:sp>
          <p:nvSpPr>
            <p:cNvPr id="12" name="Freeform 12"/>
            <p:cNvSpPr/>
            <p:nvPr/>
          </p:nvSpPr>
          <p:spPr>
            <a:xfrm>
              <a:off x="407485" y="2520226"/>
              <a:ext cx="2204936" cy="1008000"/>
            </a:xfrm>
            <a:custGeom>
              <a:avLst/>
              <a:gdLst/>
              <a:ahLst/>
              <a:cxnLst/>
              <a:rect l="l" t="t" r="r" b="b"/>
              <a:pathLst>
                <a:path w="2204936" h="1008000">
                  <a:moveTo>
                    <a:pt x="18529" y="0"/>
                  </a:moveTo>
                  <a:lnTo>
                    <a:pt x="2186407" y="0"/>
                  </a:lnTo>
                  <a:cubicBezTo>
                    <a:pt x="2196642" y="0"/>
                    <a:pt x="2204936" y="8679"/>
                    <a:pt x="2204936" y="19385"/>
                  </a:cubicBezTo>
                  <a:lnTo>
                    <a:pt x="2204936" y="930464"/>
                  </a:lnTo>
                  <a:cubicBezTo>
                    <a:pt x="2204936" y="973257"/>
                    <a:pt x="2171727" y="1008000"/>
                    <a:pt x="2130824" y="1008000"/>
                  </a:cubicBezTo>
                  <a:lnTo>
                    <a:pt x="74113" y="1008000"/>
                  </a:lnTo>
                  <a:cubicBezTo>
                    <a:pt x="33181" y="1008000"/>
                    <a:pt x="0" y="973286"/>
                    <a:pt x="0" y="930464"/>
                  </a:cubicBezTo>
                  <a:lnTo>
                    <a:pt x="0" y="19385"/>
                  </a:lnTo>
                  <a:cubicBezTo>
                    <a:pt x="0" y="8679"/>
                    <a:pt x="8296" y="0"/>
                    <a:pt x="18529"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3" name="Freeform 13"/>
            <p:cNvSpPr/>
            <p:nvPr/>
          </p:nvSpPr>
          <p:spPr>
            <a:xfrm>
              <a:off x="407485" y="2520226"/>
              <a:ext cx="2204936" cy="19270"/>
            </a:xfrm>
            <a:custGeom>
              <a:avLst/>
              <a:gdLst/>
              <a:ahLst/>
              <a:cxnLst/>
              <a:rect l="l" t="t" r="r" b="b"/>
              <a:pathLst>
                <a:path w="2204936" h="19270">
                  <a:moveTo>
                    <a:pt x="18529" y="0"/>
                  </a:moveTo>
                  <a:lnTo>
                    <a:pt x="2186407" y="0"/>
                  </a:lnTo>
                  <a:cubicBezTo>
                    <a:pt x="2196642" y="0"/>
                    <a:pt x="2204936" y="8628"/>
                    <a:pt x="2204936" y="19270"/>
                  </a:cubicBezTo>
                  <a:lnTo>
                    <a:pt x="2204936" y="19270"/>
                  </a:lnTo>
                  <a:lnTo>
                    <a:pt x="0" y="19270"/>
                  </a:lnTo>
                  <a:lnTo>
                    <a:pt x="0" y="19270"/>
                  </a:lnTo>
                  <a:cubicBezTo>
                    <a:pt x="0" y="8628"/>
                    <a:pt x="8296" y="0"/>
                    <a:pt x="18529"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1321975" y="2607271"/>
              <a:ext cx="370876" cy="388050"/>
            </a:xfrm>
            <a:custGeom>
              <a:avLst/>
              <a:gdLst/>
              <a:ahLst/>
              <a:cxnLst/>
              <a:rect l="l" t="t" r="r" b="b"/>
              <a:pathLst>
                <a:path w="370876" h="388050">
                  <a:moveTo>
                    <a:pt x="185438" y="0"/>
                  </a:moveTo>
                  <a:lnTo>
                    <a:pt x="185438" y="0"/>
                  </a:lnTo>
                  <a:cubicBezTo>
                    <a:pt x="287783" y="0"/>
                    <a:pt x="370876" y="86939"/>
                    <a:pt x="370876" y="194026"/>
                  </a:cubicBezTo>
                  <a:lnTo>
                    <a:pt x="370876" y="194026"/>
                  </a:lnTo>
                  <a:cubicBezTo>
                    <a:pt x="370876" y="301109"/>
                    <a:pt x="287783" y="388050"/>
                    <a:pt x="185438" y="388050"/>
                  </a:cubicBezTo>
                  <a:lnTo>
                    <a:pt x="185438" y="388050"/>
                  </a:lnTo>
                  <a:cubicBezTo>
                    <a:pt x="83092" y="388050"/>
                    <a:pt x="0" y="301109"/>
                    <a:pt x="0" y="194026"/>
                  </a:cubicBezTo>
                  <a:lnTo>
                    <a:pt x="0" y="194026"/>
                  </a:lnTo>
                  <a:cubicBezTo>
                    <a:pt x="0" y="86939"/>
                    <a:pt x="83092" y="0"/>
                    <a:pt x="185438"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1280696" y="2607271"/>
              <a:ext cx="454069" cy="38805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16" name="AutoShape 16"/>
            <p:cNvSpPr/>
            <p:nvPr/>
          </p:nvSpPr>
          <p:spPr>
            <a:xfrm>
              <a:off x="444319" y="3033861"/>
              <a:ext cx="2131269" cy="232564"/>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克隆仓库</a:t>
              </a:r>
              <a:endParaRPr lang="en-US" sz="1100"/>
            </a:p>
          </p:txBody>
        </p:sp>
        <p:sp>
          <p:nvSpPr>
            <p:cNvPr id="17" name="AutoShape 17"/>
            <p:cNvSpPr/>
            <p:nvPr/>
          </p:nvSpPr>
          <p:spPr>
            <a:xfrm>
              <a:off x="454480" y="3340181"/>
              <a:ext cx="2112217" cy="145519"/>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600"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rPr>
                <a:t>获取源码</a:t>
              </a:r>
              <a:endParaRPr lang="en-US" sz="1100"/>
            </a:p>
          </p:txBody>
        </p:sp>
      </p:grpSp>
      <p:grpSp>
        <p:nvGrpSpPr>
          <p:cNvPr id="18" name="Group 18"/>
          <p:cNvGrpSpPr/>
          <p:nvPr/>
        </p:nvGrpSpPr>
        <p:grpSpPr>
          <a:xfrm>
            <a:off x="407670" y="3747681"/>
            <a:ext cx="2204973" cy="1007834"/>
            <a:chOff x="407670" y="3747681"/>
            <a:chExt cx="2204973" cy="1007834"/>
          </a:xfrm>
        </p:grpSpPr>
        <p:sp>
          <p:nvSpPr>
            <p:cNvPr id="19" name="Freeform 19"/>
            <p:cNvSpPr/>
            <p:nvPr/>
          </p:nvSpPr>
          <p:spPr>
            <a:xfrm>
              <a:off x="407670" y="3747681"/>
              <a:ext cx="2204973" cy="1007834"/>
            </a:xfrm>
            <a:custGeom>
              <a:avLst/>
              <a:gdLst/>
              <a:ahLst/>
              <a:cxnLst/>
              <a:rect l="l" t="t" r="r" b="b"/>
              <a:pathLst>
                <a:path w="2204973" h="1007834">
                  <a:moveTo>
                    <a:pt x="18529" y="0"/>
                  </a:moveTo>
                  <a:lnTo>
                    <a:pt x="2186443" y="0"/>
                  </a:lnTo>
                  <a:cubicBezTo>
                    <a:pt x="2196678" y="0"/>
                    <a:pt x="2204973" y="8678"/>
                    <a:pt x="2204973" y="19381"/>
                  </a:cubicBezTo>
                  <a:lnTo>
                    <a:pt x="2204973" y="930311"/>
                  </a:lnTo>
                  <a:cubicBezTo>
                    <a:pt x="2204973" y="973097"/>
                    <a:pt x="2171764" y="1007834"/>
                    <a:pt x="2130859" y="1007834"/>
                  </a:cubicBezTo>
                  <a:lnTo>
                    <a:pt x="74115" y="1007834"/>
                  </a:lnTo>
                  <a:cubicBezTo>
                    <a:pt x="33181" y="1007834"/>
                    <a:pt x="0" y="973125"/>
                    <a:pt x="0" y="930311"/>
                  </a:cubicBezTo>
                  <a:lnTo>
                    <a:pt x="0" y="19381"/>
                  </a:lnTo>
                  <a:cubicBezTo>
                    <a:pt x="0" y="8678"/>
                    <a:pt x="8296" y="0"/>
                    <a:pt x="18529"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0" name="Freeform 20"/>
            <p:cNvSpPr/>
            <p:nvPr/>
          </p:nvSpPr>
          <p:spPr>
            <a:xfrm>
              <a:off x="407670" y="3747681"/>
              <a:ext cx="2204973" cy="18418"/>
            </a:xfrm>
            <a:custGeom>
              <a:avLst/>
              <a:gdLst/>
              <a:ahLst/>
              <a:cxnLst/>
              <a:rect l="l" t="t" r="r" b="b"/>
              <a:pathLst>
                <a:path w="2204973" h="18418">
                  <a:moveTo>
                    <a:pt x="18529" y="0"/>
                  </a:moveTo>
                  <a:lnTo>
                    <a:pt x="2186443" y="0"/>
                  </a:lnTo>
                  <a:cubicBezTo>
                    <a:pt x="2196678" y="0"/>
                    <a:pt x="2204973" y="8246"/>
                    <a:pt x="2204973" y="18418"/>
                  </a:cubicBezTo>
                  <a:lnTo>
                    <a:pt x="2204973" y="18418"/>
                  </a:lnTo>
                  <a:lnTo>
                    <a:pt x="0" y="18418"/>
                  </a:lnTo>
                  <a:lnTo>
                    <a:pt x="0" y="18418"/>
                  </a:lnTo>
                  <a:cubicBezTo>
                    <a:pt x="0" y="8246"/>
                    <a:pt x="8296" y="0"/>
                    <a:pt x="18529"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1322810" y="3830873"/>
              <a:ext cx="370883" cy="370873"/>
            </a:xfrm>
            <a:custGeom>
              <a:avLst/>
              <a:gdLst/>
              <a:ahLst/>
              <a:cxnLst/>
              <a:rect l="l" t="t" r="r" b="b"/>
              <a:pathLst>
                <a:path w="370883" h="370873">
                  <a:moveTo>
                    <a:pt x="185442" y="0"/>
                  </a:moveTo>
                  <a:lnTo>
                    <a:pt x="185442" y="0"/>
                  </a:lnTo>
                  <a:cubicBezTo>
                    <a:pt x="287788" y="0"/>
                    <a:pt x="370883" y="83091"/>
                    <a:pt x="370883" y="185437"/>
                  </a:cubicBezTo>
                  <a:lnTo>
                    <a:pt x="370883" y="185437"/>
                  </a:lnTo>
                  <a:cubicBezTo>
                    <a:pt x="370883" y="287781"/>
                    <a:pt x="287788" y="370873"/>
                    <a:pt x="185442" y="370873"/>
                  </a:cubicBezTo>
                  <a:lnTo>
                    <a:pt x="185442" y="370873"/>
                  </a:lnTo>
                  <a:cubicBezTo>
                    <a:pt x="83094" y="370873"/>
                    <a:pt x="0" y="287781"/>
                    <a:pt x="0" y="185437"/>
                  </a:cubicBezTo>
                  <a:lnTo>
                    <a:pt x="0" y="185437"/>
                  </a:lnTo>
                  <a:cubicBezTo>
                    <a:pt x="0" y="83091"/>
                    <a:pt x="83094" y="0"/>
                    <a:pt x="185442"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1280895" y="3830873"/>
              <a:ext cx="454077" cy="370873"/>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3</a:t>
              </a:r>
              <a:endParaRPr lang="en-US" sz="1100"/>
            </a:p>
          </p:txBody>
        </p:sp>
        <p:sp>
          <p:nvSpPr>
            <p:cNvPr id="23" name="AutoShape 23"/>
            <p:cNvSpPr/>
            <p:nvPr/>
          </p:nvSpPr>
          <p:spPr>
            <a:xfrm>
              <a:off x="444504" y="4238579"/>
              <a:ext cx="2131305" cy="22227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安装包</a:t>
              </a:r>
              <a:endParaRPr lang="en-US" sz="1100"/>
            </a:p>
          </p:txBody>
        </p:sp>
        <p:sp>
          <p:nvSpPr>
            <p:cNvPr id="24" name="AutoShape 24"/>
            <p:cNvSpPr/>
            <p:nvPr/>
          </p:nvSpPr>
          <p:spPr>
            <a:xfrm>
              <a:off x="454030" y="4571984"/>
              <a:ext cx="2112252" cy="139077"/>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600"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rPr>
                <a:t>开发模式</a:t>
              </a:r>
              <a:endParaRPr lang="en-US" sz="1100"/>
            </a:p>
          </p:txBody>
        </p:sp>
      </p:grpSp>
      <p:grpSp>
        <p:nvGrpSpPr>
          <p:cNvPr id="25" name="Group 25"/>
          <p:cNvGrpSpPr/>
          <p:nvPr/>
        </p:nvGrpSpPr>
        <p:grpSpPr>
          <a:xfrm>
            <a:off x="407670" y="4944110"/>
            <a:ext cx="2204415" cy="1008000"/>
            <a:chOff x="407670" y="4944110"/>
            <a:chExt cx="2204415" cy="1008000"/>
          </a:xfrm>
        </p:grpSpPr>
        <p:sp>
          <p:nvSpPr>
            <p:cNvPr id="26" name="Freeform 26"/>
            <p:cNvSpPr/>
            <p:nvPr/>
          </p:nvSpPr>
          <p:spPr>
            <a:xfrm>
              <a:off x="407670" y="4944110"/>
              <a:ext cx="2204415" cy="1008000"/>
            </a:xfrm>
            <a:custGeom>
              <a:avLst/>
              <a:gdLst/>
              <a:ahLst/>
              <a:cxnLst/>
              <a:rect l="l" t="t" r="r" b="b"/>
              <a:pathLst>
                <a:path w="2204415" h="1008000">
                  <a:moveTo>
                    <a:pt x="18524" y="0"/>
                  </a:moveTo>
                  <a:lnTo>
                    <a:pt x="2185891" y="0"/>
                  </a:lnTo>
                  <a:cubicBezTo>
                    <a:pt x="2196122" y="0"/>
                    <a:pt x="2204415" y="8679"/>
                    <a:pt x="2204415" y="19385"/>
                  </a:cubicBezTo>
                  <a:lnTo>
                    <a:pt x="2204415" y="930464"/>
                  </a:lnTo>
                  <a:cubicBezTo>
                    <a:pt x="2204415" y="973257"/>
                    <a:pt x="2171214" y="1008000"/>
                    <a:pt x="2130321" y="1008000"/>
                  </a:cubicBezTo>
                  <a:lnTo>
                    <a:pt x="74096" y="1008000"/>
                  </a:lnTo>
                  <a:cubicBezTo>
                    <a:pt x="33174" y="1008000"/>
                    <a:pt x="0" y="973286"/>
                    <a:pt x="0" y="930464"/>
                  </a:cubicBezTo>
                  <a:lnTo>
                    <a:pt x="0" y="19385"/>
                  </a:lnTo>
                  <a:cubicBezTo>
                    <a:pt x="0" y="8679"/>
                    <a:pt x="8294" y="0"/>
                    <a:pt x="18524"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7" name="Freeform 27"/>
            <p:cNvSpPr/>
            <p:nvPr/>
          </p:nvSpPr>
          <p:spPr>
            <a:xfrm>
              <a:off x="407670" y="4970689"/>
              <a:ext cx="2204415" cy="19270"/>
            </a:xfrm>
            <a:custGeom>
              <a:avLst/>
              <a:gdLst/>
              <a:ahLst/>
              <a:cxnLst/>
              <a:rect l="l" t="t" r="r" b="b"/>
              <a:pathLst>
                <a:path w="2204415" h="19270">
                  <a:moveTo>
                    <a:pt x="18524" y="0"/>
                  </a:moveTo>
                  <a:lnTo>
                    <a:pt x="2185891" y="0"/>
                  </a:lnTo>
                  <a:cubicBezTo>
                    <a:pt x="2196122" y="0"/>
                    <a:pt x="2204415" y="8628"/>
                    <a:pt x="2204415" y="19270"/>
                  </a:cubicBezTo>
                  <a:lnTo>
                    <a:pt x="2204415" y="19270"/>
                  </a:lnTo>
                  <a:lnTo>
                    <a:pt x="0" y="19270"/>
                  </a:lnTo>
                  <a:lnTo>
                    <a:pt x="0" y="19270"/>
                  </a:lnTo>
                  <a:cubicBezTo>
                    <a:pt x="0" y="8628"/>
                    <a:pt x="8294" y="0"/>
                    <a:pt x="18524"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8" name="Freeform 28"/>
            <p:cNvSpPr/>
            <p:nvPr/>
          </p:nvSpPr>
          <p:spPr>
            <a:xfrm>
              <a:off x="1322578" y="5057734"/>
              <a:ext cx="370789" cy="388050"/>
            </a:xfrm>
            <a:custGeom>
              <a:avLst/>
              <a:gdLst/>
              <a:ahLst/>
              <a:cxnLst/>
              <a:rect l="l" t="t" r="r" b="b"/>
              <a:pathLst>
                <a:path w="370789" h="388050">
                  <a:moveTo>
                    <a:pt x="185395" y="0"/>
                  </a:moveTo>
                  <a:lnTo>
                    <a:pt x="185395" y="0"/>
                  </a:lnTo>
                  <a:cubicBezTo>
                    <a:pt x="287716" y="0"/>
                    <a:pt x="370789" y="86939"/>
                    <a:pt x="370789" y="194026"/>
                  </a:cubicBezTo>
                  <a:lnTo>
                    <a:pt x="370789" y="194026"/>
                  </a:lnTo>
                  <a:cubicBezTo>
                    <a:pt x="370789" y="301109"/>
                    <a:pt x="287716" y="388050"/>
                    <a:pt x="185395" y="388050"/>
                  </a:cubicBezTo>
                  <a:lnTo>
                    <a:pt x="185395" y="388050"/>
                  </a:lnTo>
                  <a:cubicBezTo>
                    <a:pt x="83072" y="388050"/>
                    <a:pt x="0" y="301109"/>
                    <a:pt x="0" y="194026"/>
                  </a:cubicBezTo>
                  <a:lnTo>
                    <a:pt x="0" y="194026"/>
                  </a:lnTo>
                  <a:cubicBezTo>
                    <a:pt x="0" y="86939"/>
                    <a:pt x="83072" y="0"/>
                    <a:pt x="185395"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9" name="AutoShape 29"/>
            <p:cNvSpPr/>
            <p:nvPr/>
          </p:nvSpPr>
          <p:spPr>
            <a:xfrm>
              <a:off x="1280674" y="5057734"/>
              <a:ext cx="453962" cy="38805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4</a:t>
              </a:r>
              <a:endParaRPr lang="en-US" sz="1100"/>
            </a:p>
          </p:txBody>
        </p:sp>
        <p:sp>
          <p:nvSpPr>
            <p:cNvPr id="30" name="AutoShape 30"/>
            <p:cNvSpPr/>
            <p:nvPr/>
          </p:nvSpPr>
          <p:spPr>
            <a:xfrm>
              <a:off x="445130" y="5484324"/>
              <a:ext cx="2130765" cy="232564"/>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验证安装</a:t>
              </a:r>
              <a:endParaRPr lang="en-US" sz="1100"/>
            </a:p>
          </p:txBody>
        </p:sp>
        <p:sp>
          <p:nvSpPr>
            <p:cNvPr id="31" name="AutoShape 31"/>
            <p:cNvSpPr/>
            <p:nvPr/>
          </p:nvSpPr>
          <p:spPr>
            <a:xfrm>
              <a:off x="454019" y="5785328"/>
              <a:ext cx="2111718" cy="145519"/>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600"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rPr>
                <a:t>运行测试</a:t>
              </a:r>
              <a:endParaRPr lang="en-US" sz="1100"/>
            </a:p>
          </p:txBody>
        </p:sp>
      </p:grpSp>
      <p:sp>
        <p:nvSpPr>
          <p:cNvPr id="32" name="Freeform 32"/>
          <p:cNvSpPr/>
          <p:nvPr/>
        </p:nvSpPr>
        <p:spPr>
          <a:xfrm>
            <a:off x="9718685" y="1479029"/>
            <a:ext cx="222347" cy="222347"/>
          </a:xfrm>
          <a:custGeom>
            <a:avLst/>
            <a:gdLst/>
            <a:ahLst/>
            <a:cxnLst/>
            <a:rect l="l" t="t" r="r" b="b"/>
            <a:pathLst>
              <a:path w="222347" h="222347">
                <a:moveTo>
                  <a:pt x="173057" y="5298"/>
                </a:moveTo>
                <a:lnTo>
                  <a:pt x="134755" y="43600"/>
                </a:lnTo>
                <a:lnTo>
                  <a:pt x="178746" y="87592"/>
                </a:lnTo>
                <a:lnTo>
                  <a:pt x="217048" y="49290"/>
                </a:lnTo>
                <a:cubicBezTo>
                  <a:pt x="220436" y="45858"/>
                  <a:pt x="222347" y="41256"/>
                  <a:pt x="222347" y="36479"/>
                </a:cubicBezTo>
                <a:cubicBezTo>
                  <a:pt x="222347" y="31702"/>
                  <a:pt x="220436" y="27098"/>
                  <a:pt x="217048" y="23668"/>
                </a:cubicBezTo>
                <a:lnTo>
                  <a:pt x="198679" y="5298"/>
                </a:lnTo>
                <a:cubicBezTo>
                  <a:pt x="195249" y="1911"/>
                  <a:pt x="190645" y="0"/>
                  <a:pt x="185868" y="0"/>
                </a:cubicBezTo>
                <a:cubicBezTo>
                  <a:pt x="181091" y="0"/>
                  <a:pt x="176488" y="1911"/>
                  <a:pt x="173057" y="5298"/>
                </a:cubicBezTo>
                <a:close/>
                <a:moveTo>
                  <a:pt x="120032" y="58323"/>
                </a:moveTo>
                <a:lnTo>
                  <a:pt x="5298" y="173057"/>
                </a:lnTo>
                <a:cubicBezTo>
                  <a:pt x="1911" y="176488"/>
                  <a:pt x="0" y="181091"/>
                  <a:pt x="0" y="185868"/>
                </a:cubicBezTo>
                <a:cubicBezTo>
                  <a:pt x="0" y="190645"/>
                  <a:pt x="1911" y="195249"/>
                  <a:pt x="5298" y="198679"/>
                </a:cubicBezTo>
                <a:lnTo>
                  <a:pt x="23668" y="217048"/>
                </a:lnTo>
                <a:cubicBezTo>
                  <a:pt x="27098" y="220436"/>
                  <a:pt x="31702" y="222347"/>
                  <a:pt x="36479" y="222347"/>
                </a:cubicBezTo>
                <a:cubicBezTo>
                  <a:pt x="41256" y="222347"/>
                  <a:pt x="45858" y="220436"/>
                  <a:pt x="49290" y="217048"/>
                </a:cubicBezTo>
                <a:lnTo>
                  <a:pt x="164024" y="102314"/>
                </a:lnTo>
                <a:lnTo>
                  <a:pt x="120032" y="58323"/>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9653834" y="1801933"/>
            <a:ext cx="2130821" cy="222347"/>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零代码改动</a:t>
            </a:r>
            <a:endParaRPr lang="en-US" sz="1100"/>
          </a:p>
        </p:txBody>
      </p:sp>
      <p:sp>
        <p:nvSpPr>
          <p:cNvPr id="34" name="AutoShape 34"/>
          <p:cNvSpPr/>
          <p:nvPr/>
        </p:nvSpPr>
        <p:spPr>
          <a:xfrm>
            <a:off x="9663098" y="2024280"/>
            <a:ext cx="2112292" cy="148231"/>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自动启用</a:t>
            </a:r>
            <a:endParaRPr lang="en-US" sz="1100"/>
          </a:p>
        </p:txBody>
      </p:sp>
      <p:sp>
        <p:nvSpPr>
          <p:cNvPr id="35" name="Freeform 35"/>
          <p:cNvSpPr/>
          <p:nvPr/>
        </p:nvSpPr>
        <p:spPr>
          <a:xfrm>
            <a:off x="8936186" y="3068482"/>
            <a:ext cx="98899" cy="130487"/>
          </a:xfrm>
          <a:custGeom>
            <a:avLst/>
            <a:gdLst/>
            <a:ahLst/>
            <a:cxnLst/>
            <a:rect l="l" t="t" r="r" b="b"/>
            <a:pathLst>
              <a:path w="98899" h="130487">
                <a:moveTo>
                  <a:pt x="43725" y="127321"/>
                </a:moveTo>
                <a:cubicBezTo>
                  <a:pt x="46891" y="130487"/>
                  <a:pt x="52034" y="130487"/>
                  <a:pt x="55201" y="127321"/>
                </a:cubicBezTo>
                <a:lnTo>
                  <a:pt x="95733" y="86789"/>
                </a:lnTo>
                <a:cubicBezTo>
                  <a:pt x="98899" y="83622"/>
                  <a:pt x="98899" y="78480"/>
                  <a:pt x="95733" y="75314"/>
                </a:cubicBezTo>
                <a:cubicBezTo>
                  <a:pt x="92566" y="72147"/>
                  <a:pt x="87423" y="72147"/>
                  <a:pt x="84257" y="75314"/>
                </a:cubicBezTo>
                <a:lnTo>
                  <a:pt x="57557" y="102014"/>
                </a:lnTo>
                <a:lnTo>
                  <a:pt x="57557" y="8106"/>
                </a:lnTo>
                <a:cubicBezTo>
                  <a:pt x="57557" y="3623"/>
                  <a:pt x="53934" y="0"/>
                  <a:pt x="49450" y="0"/>
                </a:cubicBezTo>
                <a:cubicBezTo>
                  <a:pt x="44966" y="0"/>
                  <a:pt x="41344" y="3623"/>
                  <a:pt x="41344" y="8106"/>
                </a:cubicBezTo>
                <a:lnTo>
                  <a:pt x="41344" y="102014"/>
                </a:lnTo>
                <a:lnTo>
                  <a:pt x="14644" y="75314"/>
                </a:lnTo>
                <a:cubicBezTo>
                  <a:pt x="11477" y="72147"/>
                  <a:pt x="6334" y="72147"/>
                  <a:pt x="3168" y="75314"/>
                </a:cubicBezTo>
                <a:cubicBezTo>
                  <a:pt x="0" y="78480"/>
                  <a:pt x="0" y="83622"/>
                  <a:pt x="3168" y="86789"/>
                </a:cubicBezTo>
                <a:lnTo>
                  <a:pt x="43700" y="127321"/>
                </a:ln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6" name="Freeform 36"/>
          <p:cNvSpPr/>
          <p:nvPr/>
        </p:nvSpPr>
        <p:spPr>
          <a:xfrm>
            <a:off x="3005455" y="1463675"/>
            <a:ext cx="7813040" cy="5311775"/>
          </a:xfrm>
          <a:custGeom>
            <a:avLst/>
            <a:gdLst/>
            <a:ahLst/>
            <a:cxnLst/>
            <a:rect l="l" t="t" r="r" b="b"/>
            <a:pathLst>
              <a:path w="7813040" h="5311775">
                <a:moveTo>
                  <a:pt x="102131" y="0"/>
                </a:moveTo>
                <a:lnTo>
                  <a:pt x="7710909" y="0"/>
                </a:lnTo>
                <a:cubicBezTo>
                  <a:pt x="7767314" y="0"/>
                  <a:pt x="7813040" y="47682"/>
                  <a:pt x="7813040" y="106501"/>
                </a:cubicBezTo>
                <a:lnTo>
                  <a:pt x="7813040" y="5205274"/>
                </a:lnTo>
                <a:cubicBezTo>
                  <a:pt x="7813040" y="5264092"/>
                  <a:pt x="7767314" y="5311775"/>
                  <a:pt x="7710909" y="5311775"/>
                </a:cubicBezTo>
                <a:lnTo>
                  <a:pt x="102131" y="5311775"/>
                </a:lnTo>
                <a:cubicBezTo>
                  <a:pt x="45725" y="5311775"/>
                  <a:pt x="0" y="5264092"/>
                  <a:pt x="0" y="5205274"/>
                </a:cubicBezTo>
                <a:lnTo>
                  <a:pt x="0" y="106501"/>
                </a:lnTo>
                <a:cubicBezTo>
                  <a:pt x="0" y="47722"/>
                  <a:pt x="45763" y="0"/>
                  <a:pt x="102131"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37" name="Freeform 37"/>
          <p:cNvSpPr/>
          <p:nvPr/>
        </p:nvSpPr>
        <p:spPr>
          <a:xfrm>
            <a:off x="3209925" y="1332230"/>
            <a:ext cx="7608570" cy="964800"/>
          </a:xfrm>
          <a:custGeom>
            <a:avLst/>
            <a:gdLst/>
            <a:ahLst/>
            <a:cxnLst/>
            <a:rect l="l" t="t" r="r" b="b"/>
            <a:pathLst>
              <a:path w="7608570" h="964800">
                <a:moveTo>
                  <a:pt x="102132" y="0"/>
                </a:moveTo>
                <a:lnTo>
                  <a:pt x="7506438" y="0"/>
                </a:lnTo>
                <a:cubicBezTo>
                  <a:pt x="7562844" y="0"/>
                  <a:pt x="7608570" y="48673"/>
                  <a:pt x="7608570" y="108713"/>
                </a:cubicBezTo>
                <a:lnTo>
                  <a:pt x="7608570" y="856087"/>
                </a:lnTo>
                <a:cubicBezTo>
                  <a:pt x="7608570" y="916127"/>
                  <a:pt x="7562844" y="964800"/>
                  <a:pt x="7506438" y="964800"/>
                </a:cubicBezTo>
                <a:lnTo>
                  <a:pt x="102132" y="964800"/>
                </a:lnTo>
                <a:cubicBezTo>
                  <a:pt x="45726" y="964800"/>
                  <a:pt x="0" y="916127"/>
                  <a:pt x="0" y="856087"/>
                </a:cubicBezTo>
                <a:lnTo>
                  <a:pt x="0" y="108713"/>
                </a:lnTo>
                <a:cubicBezTo>
                  <a:pt x="0" y="48712"/>
                  <a:pt x="45763" y="0"/>
                  <a:pt x="102132"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38" name="AutoShape 38"/>
          <p:cNvSpPr/>
          <p:nvPr/>
        </p:nvSpPr>
        <p:spPr>
          <a:xfrm>
            <a:off x="3209925" y="1332230"/>
            <a:ext cx="7691755" cy="974090"/>
          </a:xfrm>
          <a:prstGeom prst="rect">
            <a:avLst/>
          </a:prstGeom>
          <a:noFill/>
          <a:ln w="12700">
            <a:noFill/>
            <a:prstDash val="solid"/>
          </a:ln>
        </p:spPr>
        <p:txBody>
          <a:bodyPr wrap="square" lIns="148231" tIns="148231" rIns="148231" bIns="148231"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pip install -U scikit-build-core==0.11 pybind11 ninja cmake</a:t>
            </a:r>
            <a:endParaRPr lang="en-US" sz="1100"/>
          </a:p>
        </p:txBody>
      </p:sp>
      <p:sp>
        <p:nvSpPr>
          <p:cNvPr id="39" name="Freeform 39"/>
          <p:cNvSpPr/>
          <p:nvPr/>
        </p:nvSpPr>
        <p:spPr>
          <a:xfrm>
            <a:off x="3209925" y="2509520"/>
            <a:ext cx="7608570" cy="964800"/>
          </a:xfrm>
          <a:custGeom>
            <a:avLst/>
            <a:gdLst/>
            <a:ahLst/>
            <a:cxnLst/>
            <a:rect l="l" t="t" r="r" b="b"/>
            <a:pathLst>
              <a:path w="7608570" h="964800">
                <a:moveTo>
                  <a:pt x="102132" y="0"/>
                </a:moveTo>
                <a:lnTo>
                  <a:pt x="7506438" y="0"/>
                </a:lnTo>
                <a:cubicBezTo>
                  <a:pt x="7562844" y="0"/>
                  <a:pt x="7608570" y="48673"/>
                  <a:pt x="7608570" y="108713"/>
                </a:cubicBezTo>
                <a:lnTo>
                  <a:pt x="7608570" y="856087"/>
                </a:lnTo>
                <a:cubicBezTo>
                  <a:pt x="7608570" y="916127"/>
                  <a:pt x="7562844" y="964800"/>
                  <a:pt x="7506438" y="964800"/>
                </a:cubicBezTo>
                <a:lnTo>
                  <a:pt x="102132" y="964800"/>
                </a:lnTo>
                <a:cubicBezTo>
                  <a:pt x="45726" y="964800"/>
                  <a:pt x="0" y="916127"/>
                  <a:pt x="0" y="856087"/>
                </a:cubicBezTo>
                <a:lnTo>
                  <a:pt x="0" y="108713"/>
                </a:lnTo>
                <a:cubicBezTo>
                  <a:pt x="0" y="48712"/>
                  <a:pt x="45763" y="0"/>
                  <a:pt x="102132"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40" name="AutoShape 40"/>
          <p:cNvSpPr/>
          <p:nvPr/>
        </p:nvSpPr>
        <p:spPr>
          <a:xfrm>
            <a:off x="3209925" y="2468245"/>
            <a:ext cx="7691755" cy="1007110"/>
          </a:xfrm>
          <a:prstGeom prst="rect">
            <a:avLst/>
          </a:prstGeom>
          <a:noFill/>
          <a:ln w="12700">
            <a:noFill/>
            <a:prstDash val="solid"/>
          </a:ln>
        </p:spPr>
        <p:txBody>
          <a:bodyPr wrap="square" lIns="148231" tIns="148231" rIns="148231" bIns="148231"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git clone https://github.com/flagos-ai/FlagGems</a:t>
            </a:r>
            <a:endParaRPr lang="en-US" sz="1100"/>
          </a:p>
        </p:txBody>
      </p:sp>
      <p:sp>
        <p:nvSpPr>
          <p:cNvPr id="41" name="Freeform 41"/>
          <p:cNvSpPr/>
          <p:nvPr/>
        </p:nvSpPr>
        <p:spPr>
          <a:xfrm>
            <a:off x="3209925" y="3709035"/>
            <a:ext cx="7608570" cy="964800"/>
          </a:xfrm>
          <a:custGeom>
            <a:avLst/>
            <a:gdLst/>
            <a:ahLst/>
            <a:cxnLst/>
            <a:rect l="l" t="t" r="r" b="b"/>
            <a:pathLst>
              <a:path w="7608570" h="964800">
                <a:moveTo>
                  <a:pt x="102126" y="0"/>
                </a:moveTo>
                <a:lnTo>
                  <a:pt x="7506444" y="0"/>
                </a:lnTo>
                <a:cubicBezTo>
                  <a:pt x="7562846" y="0"/>
                  <a:pt x="7608570" y="37973"/>
                  <a:pt x="7608570" y="84816"/>
                </a:cubicBezTo>
                <a:lnTo>
                  <a:pt x="7608570" y="879984"/>
                </a:lnTo>
                <a:cubicBezTo>
                  <a:pt x="7608570" y="926827"/>
                  <a:pt x="7562846" y="964800"/>
                  <a:pt x="7506444" y="964800"/>
                </a:cubicBezTo>
                <a:lnTo>
                  <a:pt x="102126" y="964800"/>
                </a:lnTo>
                <a:cubicBezTo>
                  <a:pt x="45761" y="964800"/>
                  <a:pt x="0" y="926795"/>
                  <a:pt x="0" y="879984"/>
                </a:cubicBezTo>
                <a:lnTo>
                  <a:pt x="0" y="84816"/>
                </a:lnTo>
                <a:cubicBezTo>
                  <a:pt x="0" y="38005"/>
                  <a:pt x="45761" y="0"/>
                  <a:pt x="102126"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42" name="AutoShape 42"/>
          <p:cNvSpPr/>
          <p:nvPr/>
        </p:nvSpPr>
        <p:spPr>
          <a:xfrm>
            <a:off x="3209925" y="3549650"/>
            <a:ext cx="7691755" cy="1248410"/>
          </a:xfrm>
          <a:prstGeom prst="rect">
            <a:avLst/>
          </a:prstGeom>
          <a:noFill/>
          <a:ln w="12700">
            <a:noFill/>
            <a:prstDash val="solid"/>
          </a:ln>
        </p:spPr>
        <p:txBody>
          <a:bodyPr wrap="square" lIns="148231" tIns="148231" rIns="148231" bIns="148231"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pip install --no-build-isolation -e .</a:t>
            </a:r>
            <a:endParaRPr lang="en-US" sz="1100"/>
          </a:p>
        </p:txBody>
      </p:sp>
      <p:sp>
        <p:nvSpPr>
          <p:cNvPr id="43" name="Freeform 43"/>
          <p:cNvSpPr/>
          <p:nvPr/>
        </p:nvSpPr>
        <p:spPr>
          <a:xfrm>
            <a:off x="3209925" y="4944745"/>
            <a:ext cx="7608570" cy="875665"/>
          </a:xfrm>
          <a:custGeom>
            <a:avLst/>
            <a:gdLst/>
            <a:ahLst/>
            <a:cxnLst/>
            <a:rect l="l" t="t" r="r" b="b"/>
            <a:pathLst>
              <a:path w="7608570" h="875665">
                <a:moveTo>
                  <a:pt x="102132" y="0"/>
                </a:moveTo>
                <a:lnTo>
                  <a:pt x="7506438" y="0"/>
                </a:lnTo>
                <a:cubicBezTo>
                  <a:pt x="7562844" y="0"/>
                  <a:pt x="7608570" y="28514"/>
                  <a:pt x="7608570" y="63687"/>
                </a:cubicBezTo>
                <a:lnTo>
                  <a:pt x="7608570" y="811978"/>
                </a:lnTo>
                <a:cubicBezTo>
                  <a:pt x="7608570" y="847151"/>
                  <a:pt x="7562844" y="875665"/>
                  <a:pt x="7506438" y="875665"/>
                </a:cubicBezTo>
                <a:lnTo>
                  <a:pt x="102132" y="875665"/>
                </a:lnTo>
                <a:cubicBezTo>
                  <a:pt x="45726" y="875665"/>
                  <a:pt x="0" y="847151"/>
                  <a:pt x="0" y="811978"/>
                </a:cubicBezTo>
                <a:lnTo>
                  <a:pt x="0" y="63687"/>
                </a:lnTo>
                <a:cubicBezTo>
                  <a:pt x="0" y="28537"/>
                  <a:pt x="45763" y="0"/>
                  <a:pt x="102132"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44" name="AutoShape 44"/>
          <p:cNvSpPr/>
          <p:nvPr/>
        </p:nvSpPr>
        <p:spPr>
          <a:xfrm>
            <a:off x="3209925" y="4686300"/>
            <a:ext cx="7691755" cy="1508760"/>
          </a:xfrm>
          <a:prstGeom prst="rect">
            <a:avLst/>
          </a:prstGeom>
          <a:noFill/>
          <a:ln w="12700">
            <a:noFill/>
            <a:prstDash val="solid"/>
          </a:ln>
        </p:spPr>
        <p:txBody>
          <a:bodyPr wrap="square" lIns="148231" tIns="148231" rIns="148231" bIns="148231"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pytest test_unary_pointwise_ops.py #</a:t>
            </a: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进行</a:t>
            </a: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pytest</a:t>
            </a: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时已经启用</a:t>
            </a: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FlagGems</a:t>
            </a: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算子</a:t>
            </a:r>
            <a:endParaRPr lang="en-US" sz="1100"/>
          </a:p>
        </p:txBody>
      </p:sp>
      <p:sp>
        <p:nvSpPr>
          <p:cNvPr id="45" name="AutoShape 45"/>
          <p:cNvSpPr/>
          <p:nvPr/>
        </p:nvSpPr>
        <p:spPr>
          <a:xfrm>
            <a:off x="3145155" y="5865495"/>
            <a:ext cx="7084695" cy="36830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有通过的算子证明FlagGems运行正常 pip show flag_gems</a:t>
            </a:r>
            <a:endParaRPr lang="en-US" sz="1100"/>
          </a:p>
        </p:txBody>
      </p:sp>
      <p:pic>
        <p:nvPicPr>
          <p:cNvPr id="46" name="Picture 46"/>
          <p:cNvPicPr>
            <a:picLocks noChangeAspect="1"/>
          </p:cNvPicPr>
          <p:nvPr/>
        </p:nvPicPr>
        <p:blipFill>
          <a:blip r:embed="rId1"/>
          <a:srcRect/>
          <a:stretch>
            <a:fillRect/>
          </a:stretch>
        </p:blipFill>
        <p:spPr>
          <a:xfrm>
            <a:off x="3221355" y="6261735"/>
            <a:ext cx="6091555" cy="468630"/>
          </a:xfrm>
          <a:prstGeom prst="rect">
            <a:avLst/>
          </a:prstGeom>
          <a:ln w="12700">
            <a:noFill/>
            <a:prstDash val="soli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81000" y="647700"/>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36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第三步：FlagTree跨芯片统一编译器安装</a:t>
            </a:r>
            <a:endParaRPr lang="en-US" sz="1100"/>
          </a:p>
        </p:txBody>
      </p:sp>
      <p:sp>
        <p:nvSpPr>
          <p:cNvPr id="3" name="Freeform 3"/>
          <p:cNvSpPr/>
          <p:nvPr/>
        </p:nvSpPr>
        <p:spPr>
          <a:xfrm>
            <a:off x="381000" y="14859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400050" y="1676400"/>
            <a:ext cx="11395710" cy="2428875"/>
          </a:xfrm>
          <a:custGeom>
            <a:avLst/>
            <a:gdLst/>
            <a:ahLst/>
            <a:cxnLst/>
            <a:rect l="l" t="t" r="r" b="b"/>
            <a:pathLst>
              <a:path w="11395710" h="2428875">
                <a:moveTo>
                  <a:pt x="77522" y="0"/>
                </a:moveTo>
                <a:lnTo>
                  <a:pt x="11163139" y="0"/>
                </a:lnTo>
                <a:cubicBezTo>
                  <a:pt x="11291499" y="0"/>
                  <a:pt x="11395710" y="51217"/>
                  <a:pt x="11395710" y="114303"/>
                </a:cubicBezTo>
                <a:lnTo>
                  <a:pt x="11395710" y="2314572"/>
                </a:lnTo>
                <a:cubicBezTo>
                  <a:pt x="11395710" y="2377658"/>
                  <a:pt x="11291499" y="2428875"/>
                  <a:pt x="11163139" y="2428875"/>
                </a:cubicBezTo>
                <a:lnTo>
                  <a:pt x="77522" y="2428875"/>
                </a:lnTo>
                <a:cubicBezTo>
                  <a:pt x="34736" y="2428875"/>
                  <a:pt x="0" y="2411802"/>
                  <a:pt x="0" y="2390775"/>
                </a:cubicBezTo>
                <a:lnTo>
                  <a:pt x="0" y="38100"/>
                </a:lnTo>
                <a:cubicBezTo>
                  <a:pt x="0" y="17073"/>
                  <a:pt x="34736" y="0"/>
                  <a:pt x="77522" y="0"/>
                </a:cubicBezTo>
                <a:close/>
              </a:path>
            </a:pathLst>
          </a:custGeom>
          <a:solidFill>
            <a:srgbClr val="FFFFFF">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5" name="Freeform 5"/>
          <p:cNvSpPr/>
          <p:nvPr/>
        </p:nvSpPr>
        <p:spPr>
          <a:xfrm>
            <a:off x="400050" y="1676400"/>
            <a:ext cx="38100" cy="2428875"/>
          </a:xfrm>
          <a:custGeom>
            <a:avLst/>
            <a:gdLst/>
            <a:ahLst/>
            <a:cxnLst/>
            <a:rect l="l" t="t" r="r" b="b"/>
            <a:pathLst>
              <a:path w="38100" h="2428875">
                <a:moveTo>
                  <a:pt x="38100" y="0"/>
                </a:moveTo>
                <a:lnTo>
                  <a:pt x="38100" y="0"/>
                </a:lnTo>
                <a:lnTo>
                  <a:pt x="38100" y="2428875"/>
                </a:lnTo>
                <a:lnTo>
                  <a:pt x="38100" y="2428875"/>
                </a:lnTo>
                <a:cubicBezTo>
                  <a:pt x="17073" y="2428875"/>
                  <a:pt x="0" y="2411802"/>
                  <a:pt x="0" y="2390775"/>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609600" y="1760220"/>
            <a:ext cx="10959465" cy="1011555"/>
          </a:xfrm>
          <a:custGeom>
            <a:avLst/>
            <a:gdLst/>
            <a:ahLst/>
            <a:cxnLst/>
            <a:rect l="l" t="t" r="r" b="b"/>
            <a:pathLst>
              <a:path w="10959465" h="1011555">
                <a:moveTo>
                  <a:pt x="160574" y="0"/>
                </a:moveTo>
                <a:lnTo>
                  <a:pt x="10798891" y="0"/>
                </a:lnTo>
                <a:cubicBezTo>
                  <a:pt x="10887574" y="0"/>
                  <a:pt x="10959465" y="39813"/>
                  <a:pt x="10959465" y="88925"/>
                </a:cubicBezTo>
                <a:lnTo>
                  <a:pt x="10959465" y="922630"/>
                </a:lnTo>
                <a:cubicBezTo>
                  <a:pt x="10959465" y="971742"/>
                  <a:pt x="10887574" y="1011555"/>
                  <a:pt x="10798891" y="1011555"/>
                </a:cubicBezTo>
                <a:lnTo>
                  <a:pt x="160574" y="1011555"/>
                </a:lnTo>
                <a:cubicBezTo>
                  <a:pt x="71951" y="1011555"/>
                  <a:pt x="0" y="971709"/>
                  <a:pt x="0" y="922630"/>
                </a:cubicBezTo>
                <a:lnTo>
                  <a:pt x="0" y="88925"/>
                </a:lnTo>
                <a:cubicBezTo>
                  <a:pt x="0" y="39813"/>
                  <a:pt x="71891" y="0"/>
                  <a:pt x="160574"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616585" y="1816100"/>
            <a:ext cx="9713595" cy="903605"/>
          </a:xfrm>
          <a:prstGeom prst="rect">
            <a:avLst/>
          </a:prstGeom>
          <a:noFill/>
          <a:ln w="12700">
            <a:noFill/>
            <a:prstDash val="solid"/>
          </a:ln>
        </p:spPr>
        <p:txBody>
          <a:bodyPr wrap="square" lIns="152400" tIns="152400" rIns="152400" bIns="152400"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RES="--index-url=https://resource.flagos.net/repository/flagos-pypi-hosted/simple --trusted-host=https://resource.flagos.net"</a:t>
            </a:r>
            <a:endParaRPr lang="en-US" sz="1100"/>
          </a:p>
          <a:p>
            <a:pPr indent="0" algn="l">
              <a:lnSpc>
                <a:spcPct val="133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python3 -m pip install flagtree==0.4.0+ascend3.2 $RES</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 name="Freeform 8"/>
          <p:cNvSpPr/>
          <p:nvPr/>
        </p:nvSpPr>
        <p:spPr>
          <a:xfrm>
            <a:off x="616585" y="2886075"/>
            <a:ext cx="10952480" cy="882650"/>
          </a:xfrm>
          <a:custGeom>
            <a:avLst/>
            <a:gdLst/>
            <a:ahLst/>
            <a:cxnLst/>
            <a:rect l="l" t="t" r="r" b="b"/>
            <a:pathLst>
              <a:path w="10952480" h="882650">
                <a:moveTo>
                  <a:pt x="328164" y="0"/>
                </a:moveTo>
                <a:lnTo>
                  <a:pt x="10624316" y="0"/>
                </a:lnTo>
                <a:cubicBezTo>
                  <a:pt x="10805434" y="0"/>
                  <a:pt x="10952480" y="49437"/>
                  <a:pt x="10952480" y="110331"/>
                </a:cubicBezTo>
                <a:lnTo>
                  <a:pt x="10952480" y="772319"/>
                </a:lnTo>
                <a:cubicBezTo>
                  <a:pt x="10952480" y="833213"/>
                  <a:pt x="10805434" y="882650"/>
                  <a:pt x="10624316" y="882650"/>
                </a:cubicBezTo>
                <a:lnTo>
                  <a:pt x="328164" y="882650"/>
                </a:lnTo>
                <a:cubicBezTo>
                  <a:pt x="147046" y="882650"/>
                  <a:pt x="0" y="833213"/>
                  <a:pt x="0" y="772319"/>
                </a:cubicBezTo>
                <a:lnTo>
                  <a:pt x="0" y="110331"/>
                </a:lnTo>
                <a:cubicBezTo>
                  <a:pt x="0" y="49437"/>
                  <a:pt x="147046" y="0"/>
                  <a:pt x="328164"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9" name="AutoShape 9"/>
          <p:cNvSpPr/>
          <p:nvPr/>
        </p:nvSpPr>
        <p:spPr>
          <a:xfrm>
            <a:off x="790575" y="3007995"/>
            <a:ext cx="9262110" cy="632460"/>
          </a:xfrm>
          <a:prstGeom prst="rect">
            <a:avLst/>
          </a:prstGeom>
          <a:noFill/>
          <a:ln w="12700">
            <a:noFill/>
            <a:prstDash val="solid"/>
          </a:ln>
        </p:spPr>
        <p:txBody>
          <a:bodyPr wrap="square" lIns="0" tIns="0" rIns="0" bIns="0" rtlCol="0" anchor="ctr">
            <a:noAutofit/>
          </a:bodyPr>
          <a:lstStyle/>
          <a:p>
            <a:pPr indent="0" algn="l">
              <a:lnSpc>
                <a:spcPct val="108000"/>
              </a:lnSpc>
              <a:defRPr/>
            </a:pPr>
            <a:endParaRPr lang="en-US" sz="1100"/>
          </a:p>
          <a:p>
            <a:pPr indent="0" algn="l">
              <a:lnSpc>
                <a:spcPct val="108000"/>
              </a:lnSpc>
            </a:pPr>
            <a:r>
              <a:rPr lang="en-US" sz="1600"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rPr>
              <a:t>从FlagOS官方资源仓库地址下载, 针对华为昇腾3.2预编译</a:t>
            </a:r>
            <a:endParaRPr lang="en-US" sz="1600"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8000"/>
              </a:lnSpc>
            </a:pPr>
            <a:r>
              <a:rPr lang="en-US" sz="1600"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rPr>
              <a:t> </a:t>
            </a:r>
            <a:endParaRPr lang="en-US" sz="1600"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0" name="Freeform 10"/>
          <p:cNvSpPr/>
          <p:nvPr/>
        </p:nvSpPr>
        <p:spPr>
          <a:xfrm>
            <a:off x="381000" y="4153535"/>
            <a:ext cx="3805555" cy="2489835"/>
          </a:xfrm>
          <a:custGeom>
            <a:avLst/>
            <a:gdLst/>
            <a:ahLst/>
            <a:cxnLst/>
            <a:rect l="l" t="t" r="r" b="b"/>
            <a:pathLst>
              <a:path w="3805555" h="2489835">
                <a:moveTo>
                  <a:pt x="77401" y="0"/>
                </a:moveTo>
                <a:lnTo>
                  <a:pt x="3728154" y="0"/>
                </a:lnTo>
                <a:cubicBezTo>
                  <a:pt x="3770902" y="0"/>
                  <a:pt x="3805555" y="71153"/>
                  <a:pt x="3805555" y="158925"/>
                </a:cubicBezTo>
                <a:lnTo>
                  <a:pt x="3805555" y="2330910"/>
                </a:lnTo>
                <a:cubicBezTo>
                  <a:pt x="3805555" y="2418682"/>
                  <a:pt x="3770902" y="2489835"/>
                  <a:pt x="3728154" y="2489835"/>
                </a:cubicBezTo>
                <a:lnTo>
                  <a:pt x="77401" y="2489835"/>
                </a:lnTo>
                <a:cubicBezTo>
                  <a:pt x="34653" y="2489835"/>
                  <a:pt x="0" y="2418682"/>
                  <a:pt x="0" y="2330910"/>
                </a:cubicBezTo>
                <a:lnTo>
                  <a:pt x="0" y="158925"/>
                </a:lnTo>
                <a:cubicBezTo>
                  <a:pt x="0" y="71211"/>
                  <a:pt x="34682" y="0"/>
                  <a:pt x="77401" y="0"/>
                </a:cubicBezTo>
                <a:close/>
              </a:path>
            </a:pathLst>
          </a:custGeom>
          <a:solidFill>
            <a:srgbClr val="FFFFFF">
              <a:alpha val="100000"/>
            </a:srgbClr>
          </a:solidFill>
          <a:ln w="12700">
            <a:noFill/>
            <a:prstDash val="solid"/>
          </a:ln>
          <a:effectLst>
            <a:outerShdw blurRad="50800" dist="38100" dir="5400000" algn="bl" rotWithShape="0">
              <a:srgbClr val="000000">
                <a:alpha val="10196"/>
              </a:srgbClr>
            </a:outerShdw>
          </a:effectLst>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11" name="Freeform 11"/>
          <p:cNvSpPr/>
          <p:nvPr/>
        </p:nvSpPr>
        <p:spPr>
          <a:xfrm>
            <a:off x="615672" y="4494956"/>
            <a:ext cx="131098" cy="157051"/>
          </a:xfrm>
          <a:custGeom>
            <a:avLst/>
            <a:gdLst/>
            <a:ahLst/>
            <a:cxnLst/>
            <a:rect l="l" t="t" r="r" b="b"/>
            <a:pathLst>
              <a:path w="131098" h="157051">
                <a:moveTo>
                  <a:pt x="84754" y="18451"/>
                </a:moveTo>
                <a:cubicBezTo>
                  <a:pt x="88237" y="13663"/>
                  <a:pt x="87165" y="6965"/>
                  <a:pt x="82377" y="3482"/>
                </a:cubicBezTo>
                <a:cubicBezTo>
                  <a:pt x="77588" y="0"/>
                  <a:pt x="70892" y="1071"/>
                  <a:pt x="67408" y="5860"/>
                </a:cubicBezTo>
                <a:lnTo>
                  <a:pt x="31913" y="54651"/>
                </a:lnTo>
                <a:lnTo>
                  <a:pt x="19356" y="42092"/>
                </a:lnTo>
                <a:cubicBezTo>
                  <a:pt x="15170" y="37906"/>
                  <a:pt x="8372" y="37906"/>
                  <a:pt x="4186" y="42092"/>
                </a:cubicBezTo>
                <a:cubicBezTo>
                  <a:pt x="0" y="46277"/>
                  <a:pt x="0" y="53076"/>
                  <a:pt x="4186" y="57262"/>
                </a:cubicBezTo>
                <a:lnTo>
                  <a:pt x="25617" y="78693"/>
                </a:lnTo>
                <a:cubicBezTo>
                  <a:pt x="27828" y="80903"/>
                  <a:pt x="30908" y="82041"/>
                  <a:pt x="34023" y="81807"/>
                </a:cubicBezTo>
                <a:cubicBezTo>
                  <a:pt x="37137" y="81573"/>
                  <a:pt x="40017" y="79966"/>
                  <a:pt x="41858" y="77420"/>
                </a:cubicBezTo>
                <a:lnTo>
                  <a:pt x="84721" y="18484"/>
                </a:lnTo>
                <a:close/>
                <a:moveTo>
                  <a:pt x="127617" y="63991"/>
                </a:moveTo>
                <a:cubicBezTo>
                  <a:pt x="131098" y="59204"/>
                  <a:pt x="130028" y="52506"/>
                  <a:pt x="125239" y="49024"/>
                </a:cubicBezTo>
                <a:cubicBezTo>
                  <a:pt x="120451" y="45541"/>
                  <a:pt x="113753" y="46613"/>
                  <a:pt x="110270" y="51401"/>
                </a:cubicBezTo>
                <a:lnTo>
                  <a:pt x="53344" y="129659"/>
                </a:lnTo>
                <a:lnTo>
                  <a:pt x="30071" y="106387"/>
                </a:lnTo>
                <a:cubicBezTo>
                  <a:pt x="25885" y="102199"/>
                  <a:pt x="19088" y="102199"/>
                  <a:pt x="14902" y="106387"/>
                </a:cubicBezTo>
                <a:cubicBezTo>
                  <a:pt x="10716" y="110572"/>
                  <a:pt x="10716" y="117370"/>
                  <a:pt x="14902" y="121555"/>
                </a:cubicBezTo>
                <a:lnTo>
                  <a:pt x="47049" y="153702"/>
                </a:lnTo>
                <a:cubicBezTo>
                  <a:pt x="49260" y="155912"/>
                  <a:pt x="52341" y="157051"/>
                  <a:pt x="55453" y="156816"/>
                </a:cubicBezTo>
                <a:cubicBezTo>
                  <a:pt x="58567" y="156582"/>
                  <a:pt x="61448" y="154976"/>
                  <a:pt x="63291" y="152430"/>
                </a:cubicBezTo>
                <a:lnTo>
                  <a:pt x="127583" y="64026"/>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790575" y="4443413"/>
            <a:ext cx="510540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验证安装</a:t>
            </a:r>
            <a:endParaRPr lang="en-US" sz="1100"/>
          </a:p>
        </p:txBody>
      </p:sp>
      <p:sp>
        <p:nvSpPr>
          <p:cNvPr id="13" name="Freeform 13"/>
          <p:cNvSpPr/>
          <p:nvPr/>
        </p:nvSpPr>
        <p:spPr>
          <a:xfrm>
            <a:off x="577850" y="4855210"/>
            <a:ext cx="2656840" cy="495300"/>
          </a:xfrm>
          <a:custGeom>
            <a:avLst/>
            <a:gdLst/>
            <a:ahLst/>
            <a:cxnLst/>
            <a:rect l="l" t="t" r="r" b="b"/>
            <a:pathLst>
              <a:path w="2656840" h="495300">
                <a:moveTo>
                  <a:pt x="38646" y="0"/>
                </a:moveTo>
                <a:lnTo>
                  <a:pt x="2618194" y="0"/>
                </a:lnTo>
                <a:cubicBezTo>
                  <a:pt x="2639538" y="0"/>
                  <a:pt x="2656840" y="34117"/>
                  <a:pt x="2656840" y="76203"/>
                </a:cubicBezTo>
                <a:lnTo>
                  <a:pt x="2656840" y="419097"/>
                </a:lnTo>
                <a:cubicBezTo>
                  <a:pt x="2656840" y="461183"/>
                  <a:pt x="2639538" y="495300"/>
                  <a:pt x="2618194" y="495300"/>
                </a:cubicBezTo>
                <a:lnTo>
                  <a:pt x="38646" y="495300"/>
                </a:lnTo>
                <a:cubicBezTo>
                  <a:pt x="17302" y="495300"/>
                  <a:pt x="0" y="461183"/>
                  <a:pt x="0" y="419097"/>
                </a:cubicBezTo>
                <a:lnTo>
                  <a:pt x="0" y="76203"/>
                </a:lnTo>
                <a:cubicBezTo>
                  <a:pt x="0" y="34117"/>
                  <a:pt x="17302" y="0"/>
                  <a:pt x="38646"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723900" y="4977130"/>
            <a:ext cx="2917190" cy="1714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pip show flagtree</a:t>
            </a:r>
            <a:endParaRPr lang="en-US" sz="1100"/>
          </a:p>
        </p:txBody>
      </p:sp>
      <p:sp>
        <p:nvSpPr>
          <p:cNvPr id="15" name="Freeform 15"/>
          <p:cNvSpPr/>
          <p:nvPr/>
        </p:nvSpPr>
        <p:spPr>
          <a:xfrm>
            <a:off x="571500" y="5429250"/>
            <a:ext cx="3305810" cy="589280"/>
          </a:xfrm>
          <a:custGeom>
            <a:avLst/>
            <a:gdLst/>
            <a:ahLst/>
            <a:cxnLst/>
            <a:rect l="l" t="t" r="r" b="b"/>
            <a:pathLst>
              <a:path w="3305810" h="589280">
                <a:moveTo>
                  <a:pt x="48085" y="0"/>
                </a:moveTo>
                <a:lnTo>
                  <a:pt x="3257725" y="0"/>
                </a:lnTo>
                <a:cubicBezTo>
                  <a:pt x="3284282" y="0"/>
                  <a:pt x="3305810" y="47969"/>
                  <a:pt x="3305810" y="107144"/>
                </a:cubicBezTo>
                <a:lnTo>
                  <a:pt x="3305810" y="482136"/>
                </a:lnTo>
                <a:cubicBezTo>
                  <a:pt x="3305810" y="541311"/>
                  <a:pt x="3284282" y="589280"/>
                  <a:pt x="3257725" y="589280"/>
                </a:cubicBezTo>
                <a:lnTo>
                  <a:pt x="48085" y="589280"/>
                </a:lnTo>
                <a:cubicBezTo>
                  <a:pt x="21528" y="589280"/>
                  <a:pt x="0" y="541311"/>
                  <a:pt x="0" y="482136"/>
                </a:cubicBezTo>
                <a:lnTo>
                  <a:pt x="0" y="107144"/>
                </a:lnTo>
                <a:cubicBezTo>
                  <a:pt x="0" y="48009"/>
                  <a:pt x="21546" y="0"/>
                  <a:pt x="48085" y="0"/>
                </a:cubicBezTo>
                <a:close/>
              </a:path>
            </a:pathLst>
          </a:custGeom>
          <a:solidFill>
            <a:srgbClr val="1E90FF">
              <a:alpha val="10196"/>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629285" y="5508625"/>
            <a:ext cx="215900" cy="215900"/>
          </a:xfrm>
          <a:custGeom>
            <a:avLst/>
            <a:gdLst/>
            <a:ahLst/>
            <a:cxnLst/>
            <a:rect l="l" t="t" r="r" b="b"/>
            <a:pathLst>
              <a:path w="215900" h="215900">
                <a:moveTo>
                  <a:pt x="107950" y="215900"/>
                </a:moveTo>
                <a:cubicBezTo>
                  <a:pt x="167530" y="215900"/>
                  <a:pt x="215900" y="167530"/>
                  <a:pt x="215900" y="107950"/>
                </a:cubicBezTo>
                <a:cubicBezTo>
                  <a:pt x="215900" y="48370"/>
                  <a:pt x="167530" y="0"/>
                  <a:pt x="107950" y="0"/>
                </a:cubicBezTo>
                <a:cubicBezTo>
                  <a:pt x="48370" y="0"/>
                  <a:pt x="0" y="48370"/>
                  <a:pt x="0" y="107950"/>
                </a:cubicBezTo>
                <a:cubicBezTo>
                  <a:pt x="0" y="167530"/>
                  <a:pt x="48370" y="215900"/>
                  <a:pt x="107950" y="215900"/>
                </a:cubicBezTo>
                <a:close/>
                <a:moveTo>
                  <a:pt x="94456" y="67469"/>
                </a:moveTo>
                <a:cubicBezTo>
                  <a:pt x="94456" y="60021"/>
                  <a:pt x="100503" y="53974"/>
                  <a:pt x="107950" y="53974"/>
                </a:cubicBezTo>
                <a:cubicBezTo>
                  <a:pt x="115397" y="53974"/>
                  <a:pt x="121444" y="60021"/>
                  <a:pt x="121444" y="67469"/>
                </a:cubicBezTo>
                <a:cubicBezTo>
                  <a:pt x="121444" y="74916"/>
                  <a:pt x="115397" y="80963"/>
                  <a:pt x="107950" y="80963"/>
                </a:cubicBezTo>
                <a:cubicBezTo>
                  <a:pt x="100503" y="80963"/>
                  <a:pt x="94456" y="74916"/>
                  <a:pt x="94456" y="67469"/>
                </a:cubicBezTo>
                <a:close/>
                <a:moveTo>
                  <a:pt x="91083" y="94456"/>
                </a:moveTo>
                <a:lnTo>
                  <a:pt x="111324" y="94456"/>
                </a:lnTo>
                <a:cubicBezTo>
                  <a:pt x="116933" y="94456"/>
                  <a:pt x="121444" y="98967"/>
                  <a:pt x="121444" y="104576"/>
                </a:cubicBezTo>
                <a:lnTo>
                  <a:pt x="121444" y="141685"/>
                </a:lnTo>
                <a:lnTo>
                  <a:pt x="124817" y="141685"/>
                </a:lnTo>
                <a:cubicBezTo>
                  <a:pt x="130425" y="141685"/>
                  <a:pt x="134937" y="146197"/>
                  <a:pt x="134937" y="151806"/>
                </a:cubicBezTo>
                <a:cubicBezTo>
                  <a:pt x="134937" y="157414"/>
                  <a:pt x="130425" y="161926"/>
                  <a:pt x="124817" y="161926"/>
                </a:cubicBezTo>
                <a:lnTo>
                  <a:pt x="91083" y="161926"/>
                </a:lnTo>
                <a:cubicBezTo>
                  <a:pt x="85475" y="161926"/>
                  <a:pt x="80963" y="157414"/>
                  <a:pt x="80963" y="151806"/>
                </a:cubicBezTo>
                <a:cubicBezTo>
                  <a:pt x="80963" y="146197"/>
                  <a:pt x="85475" y="141685"/>
                  <a:pt x="91083" y="141685"/>
                </a:cubicBezTo>
                <a:lnTo>
                  <a:pt x="101204" y="141685"/>
                </a:lnTo>
                <a:lnTo>
                  <a:pt x="101204" y="114696"/>
                </a:lnTo>
                <a:lnTo>
                  <a:pt x="91083" y="114696"/>
                </a:lnTo>
                <a:cubicBezTo>
                  <a:pt x="85475" y="114696"/>
                  <a:pt x="80963" y="110184"/>
                  <a:pt x="80963" y="104576"/>
                </a:cubicBezTo>
                <a:cubicBezTo>
                  <a:pt x="80963" y="98967"/>
                  <a:pt x="85475" y="94456"/>
                  <a:pt x="91083" y="94456"/>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920750" y="5415280"/>
            <a:ext cx="4848225" cy="36131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8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确认版本号和安装路径正确</a:t>
            </a:r>
            <a:endParaRPr lang="en-US" sz="1100"/>
          </a:p>
        </p:txBody>
      </p:sp>
      <p:pic>
        <p:nvPicPr>
          <p:cNvPr id="18" name="Picture 18"/>
          <p:cNvPicPr>
            <a:picLocks noChangeAspect="1"/>
          </p:cNvPicPr>
          <p:nvPr/>
        </p:nvPicPr>
        <p:blipFill>
          <a:blip r:embed="rId1"/>
          <a:srcRect/>
          <a:stretch>
            <a:fillRect/>
          </a:stretch>
        </p:blipFill>
        <p:spPr>
          <a:xfrm>
            <a:off x="4464685" y="4667885"/>
            <a:ext cx="6680200" cy="1682115"/>
          </a:xfrm>
          <a:prstGeom prst="rect">
            <a:avLst/>
          </a:prstGeom>
          <a:ln w="12700">
            <a:noFill/>
            <a:prstDash val="soli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81000" y="609600"/>
            <a:ext cx="11572875"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36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第四步：vLLM-Plugin-FL跨芯片统一插件安装</a:t>
            </a:r>
            <a:endParaRPr lang="en-US" sz="1100"/>
          </a:p>
          <a:p>
            <a:pPr indent="0" algn="l">
              <a:lnSpc>
                <a:spcPct val="100000"/>
              </a:lnSpc>
            </a:pPr>
            <a:r>
              <a:rPr lang="en-US" sz="36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36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 name="Freeform 3"/>
          <p:cNvSpPr/>
          <p:nvPr/>
        </p:nvSpPr>
        <p:spPr>
          <a:xfrm>
            <a:off x="381000" y="12954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81000" y="1428750"/>
            <a:ext cx="3733800" cy="1260000"/>
          </a:xfrm>
          <a:custGeom>
            <a:avLst/>
            <a:gdLst/>
            <a:ahLst/>
            <a:cxnLst/>
            <a:rect l="l" t="t" r="r" b="b"/>
            <a:pathLst>
              <a:path w="3733800" h="1260000">
                <a:moveTo>
                  <a:pt x="38100" y="0"/>
                </a:moveTo>
                <a:lnTo>
                  <a:pt x="3695700" y="0"/>
                </a:lnTo>
                <a:cubicBezTo>
                  <a:pt x="3716727" y="0"/>
                  <a:pt x="3733800" y="12476"/>
                  <a:pt x="3733800" y="27845"/>
                </a:cubicBezTo>
                <a:lnTo>
                  <a:pt x="3733800" y="1204308"/>
                </a:lnTo>
                <a:cubicBezTo>
                  <a:pt x="3733800" y="1235066"/>
                  <a:pt x="3699683" y="1260000"/>
                  <a:pt x="3657597" y="1260000"/>
                </a:cubicBezTo>
                <a:lnTo>
                  <a:pt x="76203" y="1260000"/>
                </a:lnTo>
                <a:cubicBezTo>
                  <a:pt x="34117" y="1260000"/>
                  <a:pt x="0" y="1235066"/>
                  <a:pt x="0" y="1204308"/>
                </a:cubicBezTo>
                <a:lnTo>
                  <a:pt x="0" y="27845"/>
                </a:lnTo>
                <a:cubicBezTo>
                  <a:pt x="0" y="12476"/>
                  <a:pt x="17073" y="0"/>
                  <a:pt x="38100" y="0"/>
                </a:cubicBezTo>
                <a:close/>
              </a:path>
            </a:pathLst>
          </a:custGeom>
          <a:solidFill>
            <a:srgbClr val="FFFFFF">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5" name="Freeform 5"/>
          <p:cNvSpPr/>
          <p:nvPr/>
        </p:nvSpPr>
        <p:spPr>
          <a:xfrm>
            <a:off x="381000" y="1428750"/>
            <a:ext cx="3733800" cy="38100"/>
          </a:xfrm>
          <a:custGeom>
            <a:avLst/>
            <a:gdLst/>
            <a:ahLst/>
            <a:cxnLst/>
            <a:rect l="l" t="t" r="r" b="b"/>
            <a:pathLst>
              <a:path w="3733800" h="38100">
                <a:moveTo>
                  <a:pt x="38100" y="0"/>
                </a:moveTo>
                <a:lnTo>
                  <a:pt x="3695700" y="0"/>
                </a:lnTo>
                <a:cubicBezTo>
                  <a:pt x="3716727" y="0"/>
                  <a:pt x="3733800" y="17073"/>
                  <a:pt x="3733800" y="38100"/>
                </a:cubicBezTo>
                <a:lnTo>
                  <a:pt x="3733800" y="38100"/>
                </a:lnTo>
                <a:lnTo>
                  <a:pt x="0" y="38100"/>
                </a:ln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2057400" y="1562100"/>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2009775" y="1562100"/>
            <a:ext cx="476250" cy="26035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8" name="AutoShape 8"/>
          <p:cNvSpPr/>
          <p:nvPr/>
        </p:nvSpPr>
        <p:spPr>
          <a:xfrm>
            <a:off x="452755" y="2019300"/>
            <a:ext cx="3590925" cy="182245"/>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克隆插件仓库</a:t>
            </a:r>
            <a:endParaRPr lang="en-US" sz="1100"/>
          </a:p>
        </p:txBody>
      </p:sp>
      <p:sp>
        <p:nvSpPr>
          <p:cNvPr id="9" name="Freeform 9"/>
          <p:cNvSpPr/>
          <p:nvPr/>
        </p:nvSpPr>
        <p:spPr>
          <a:xfrm>
            <a:off x="4414520" y="1428750"/>
            <a:ext cx="7092950" cy="1188000"/>
          </a:xfrm>
          <a:custGeom>
            <a:avLst/>
            <a:gdLst/>
            <a:ahLst/>
            <a:cxnLst/>
            <a:rect l="l" t="t" r="r" b="b"/>
            <a:pathLst>
              <a:path w="7092950" h="1188000">
                <a:moveTo>
                  <a:pt x="154201" y="0"/>
                </a:moveTo>
                <a:lnTo>
                  <a:pt x="6938749" y="0"/>
                </a:lnTo>
                <a:cubicBezTo>
                  <a:pt x="7023913" y="0"/>
                  <a:pt x="7092950" y="59933"/>
                  <a:pt x="7092950" y="133864"/>
                </a:cubicBezTo>
                <a:lnTo>
                  <a:pt x="7092950" y="1054136"/>
                </a:lnTo>
                <a:cubicBezTo>
                  <a:pt x="7092950" y="1128067"/>
                  <a:pt x="7023913" y="1188000"/>
                  <a:pt x="6938749" y="1188000"/>
                </a:cubicBezTo>
                <a:lnTo>
                  <a:pt x="154201" y="1188000"/>
                </a:lnTo>
                <a:cubicBezTo>
                  <a:pt x="69037" y="1188000"/>
                  <a:pt x="0" y="1128067"/>
                  <a:pt x="0" y="1054136"/>
                </a:cubicBezTo>
                <a:lnTo>
                  <a:pt x="0" y="133864"/>
                </a:lnTo>
                <a:cubicBezTo>
                  <a:pt x="0" y="59982"/>
                  <a:pt x="69094" y="0"/>
                  <a:pt x="154201"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endParaRPr lang="en-US" sz="1100"/>
          </a:p>
          <a:p>
            <a:pPr indent="0" algn="l">
              <a:lnSpc>
                <a:spcPct val="100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git clone https://github.com/flagos-ai/vllm-plugin-FL</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 name="Freeform 10"/>
          <p:cNvSpPr/>
          <p:nvPr/>
        </p:nvSpPr>
        <p:spPr>
          <a:xfrm>
            <a:off x="381000" y="3109595"/>
            <a:ext cx="3733800" cy="1260000"/>
          </a:xfrm>
          <a:custGeom>
            <a:avLst/>
            <a:gdLst/>
            <a:ahLst/>
            <a:cxnLst/>
            <a:rect l="l" t="t" r="r" b="b"/>
            <a:pathLst>
              <a:path w="3733800" h="1260000">
                <a:moveTo>
                  <a:pt x="38100" y="0"/>
                </a:moveTo>
                <a:lnTo>
                  <a:pt x="3695700" y="0"/>
                </a:lnTo>
                <a:cubicBezTo>
                  <a:pt x="3716727" y="0"/>
                  <a:pt x="3733800" y="12476"/>
                  <a:pt x="3733800" y="27845"/>
                </a:cubicBezTo>
                <a:lnTo>
                  <a:pt x="3733800" y="1204308"/>
                </a:lnTo>
                <a:cubicBezTo>
                  <a:pt x="3733800" y="1235066"/>
                  <a:pt x="3699683" y="1260000"/>
                  <a:pt x="3657597" y="1260000"/>
                </a:cubicBezTo>
                <a:lnTo>
                  <a:pt x="76203" y="1260000"/>
                </a:lnTo>
                <a:cubicBezTo>
                  <a:pt x="34117" y="1260000"/>
                  <a:pt x="0" y="1235066"/>
                  <a:pt x="0" y="1204308"/>
                </a:cubicBezTo>
                <a:lnTo>
                  <a:pt x="0" y="27845"/>
                </a:lnTo>
                <a:cubicBezTo>
                  <a:pt x="0" y="12476"/>
                  <a:pt x="17073" y="0"/>
                  <a:pt x="38100" y="0"/>
                </a:cubicBezTo>
                <a:close/>
              </a:path>
            </a:pathLst>
          </a:custGeom>
          <a:solidFill>
            <a:srgbClr val="FFFFFF">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1" name="Freeform 11"/>
          <p:cNvSpPr/>
          <p:nvPr/>
        </p:nvSpPr>
        <p:spPr>
          <a:xfrm>
            <a:off x="381000" y="3072130"/>
            <a:ext cx="3733800" cy="38100"/>
          </a:xfrm>
          <a:custGeom>
            <a:avLst/>
            <a:gdLst/>
            <a:ahLst/>
            <a:cxnLst/>
            <a:rect l="l" t="t" r="r" b="b"/>
            <a:pathLst>
              <a:path w="3733800" h="38100">
                <a:moveTo>
                  <a:pt x="38100" y="0"/>
                </a:moveTo>
                <a:lnTo>
                  <a:pt x="3695700" y="0"/>
                </a:lnTo>
                <a:cubicBezTo>
                  <a:pt x="3716727" y="0"/>
                  <a:pt x="3733800" y="17073"/>
                  <a:pt x="3733800" y="38100"/>
                </a:cubicBezTo>
                <a:lnTo>
                  <a:pt x="3733800" y="38100"/>
                </a:lnTo>
                <a:lnTo>
                  <a:pt x="0" y="38100"/>
                </a:ln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2064385" y="3223895"/>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2009775" y="3205480"/>
            <a:ext cx="47625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14" name="AutoShape 14"/>
          <p:cNvSpPr/>
          <p:nvPr/>
        </p:nvSpPr>
        <p:spPr>
          <a:xfrm>
            <a:off x="453073" y="3808095"/>
            <a:ext cx="35909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安装依赖</a:t>
            </a:r>
            <a:endParaRPr lang="en-US" sz="1100"/>
          </a:p>
        </p:txBody>
      </p:sp>
      <p:sp>
        <p:nvSpPr>
          <p:cNvPr id="15" name="Freeform 15"/>
          <p:cNvSpPr/>
          <p:nvPr/>
        </p:nvSpPr>
        <p:spPr>
          <a:xfrm>
            <a:off x="4414520" y="3068955"/>
            <a:ext cx="7053580" cy="1188000"/>
          </a:xfrm>
          <a:custGeom>
            <a:avLst/>
            <a:gdLst/>
            <a:ahLst/>
            <a:cxnLst/>
            <a:rect l="l" t="t" r="r" b="b"/>
            <a:pathLst>
              <a:path w="7053580" h="1188000">
                <a:moveTo>
                  <a:pt x="153345" y="0"/>
                </a:moveTo>
                <a:lnTo>
                  <a:pt x="6900235" y="0"/>
                </a:lnTo>
                <a:cubicBezTo>
                  <a:pt x="6984926" y="0"/>
                  <a:pt x="7053580" y="59933"/>
                  <a:pt x="7053580" y="133864"/>
                </a:cubicBezTo>
                <a:lnTo>
                  <a:pt x="7053580" y="1054136"/>
                </a:lnTo>
                <a:cubicBezTo>
                  <a:pt x="7053580" y="1128067"/>
                  <a:pt x="6984926" y="1188000"/>
                  <a:pt x="6900235" y="1188000"/>
                </a:cubicBezTo>
                <a:lnTo>
                  <a:pt x="153345" y="1188000"/>
                </a:lnTo>
                <a:cubicBezTo>
                  <a:pt x="68654" y="1188000"/>
                  <a:pt x="0" y="1128067"/>
                  <a:pt x="0" y="1054136"/>
                </a:cubicBezTo>
                <a:lnTo>
                  <a:pt x="0" y="133864"/>
                </a:lnTo>
                <a:cubicBezTo>
                  <a:pt x="0" y="59982"/>
                  <a:pt x="68711" y="0"/>
                  <a:pt x="153345"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endParaRPr lang="en-US" sz="1100"/>
          </a:p>
          <a:p>
            <a:pPr indent="0" algn="l">
              <a:lnSpc>
                <a:spcPct val="100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pip install -r requirements.txt</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6" name="Freeform 16"/>
          <p:cNvSpPr/>
          <p:nvPr/>
        </p:nvSpPr>
        <p:spPr>
          <a:xfrm>
            <a:off x="381635" y="4859020"/>
            <a:ext cx="3733800" cy="1188000"/>
          </a:xfrm>
          <a:custGeom>
            <a:avLst/>
            <a:gdLst/>
            <a:ahLst/>
            <a:cxnLst/>
            <a:rect l="l" t="t" r="r" b="b"/>
            <a:pathLst>
              <a:path w="3733800" h="1188000">
                <a:moveTo>
                  <a:pt x="38100" y="0"/>
                </a:moveTo>
                <a:lnTo>
                  <a:pt x="3695700" y="0"/>
                </a:lnTo>
                <a:cubicBezTo>
                  <a:pt x="3716727" y="0"/>
                  <a:pt x="3733800" y="11764"/>
                  <a:pt x="3733800" y="26255"/>
                </a:cubicBezTo>
                <a:lnTo>
                  <a:pt x="3733800" y="1135490"/>
                </a:lnTo>
                <a:cubicBezTo>
                  <a:pt x="3733800" y="1164491"/>
                  <a:pt x="3699683" y="1188000"/>
                  <a:pt x="3657597" y="1188000"/>
                </a:cubicBezTo>
                <a:lnTo>
                  <a:pt x="76203" y="1188000"/>
                </a:lnTo>
                <a:cubicBezTo>
                  <a:pt x="34117" y="1188000"/>
                  <a:pt x="0" y="1164491"/>
                  <a:pt x="0" y="1135490"/>
                </a:cubicBezTo>
                <a:lnTo>
                  <a:pt x="0" y="26255"/>
                </a:lnTo>
                <a:cubicBezTo>
                  <a:pt x="0" y="11764"/>
                  <a:pt x="17073" y="0"/>
                  <a:pt x="38100" y="0"/>
                </a:cubicBezTo>
                <a:close/>
              </a:path>
            </a:pathLst>
          </a:custGeom>
          <a:solidFill>
            <a:srgbClr val="FFFFFF">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7" name="Freeform 17"/>
          <p:cNvSpPr/>
          <p:nvPr/>
        </p:nvSpPr>
        <p:spPr>
          <a:xfrm>
            <a:off x="381635" y="4859020"/>
            <a:ext cx="3733800" cy="38100"/>
          </a:xfrm>
          <a:custGeom>
            <a:avLst/>
            <a:gdLst/>
            <a:ahLst/>
            <a:cxnLst/>
            <a:rect l="l" t="t" r="r" b="b"/>
            <a:pathLst>
              <a:path w="3733800" h="38100">
                <a:moveTo>
                  <a:pt x="38100" y="0"/>
                </a:moveTo>
                <a:lnTo>
                  <a:pt x="3695700" y="0"/>
                </a:lnTo>
                <a:cubicBezTo>
                  <a:pt x="3716727" y="0"/>
                  <a:pt x="3733800" y="17073"/>
                  <a:pt x="3733800" y="38100"/>
                </a:cubicBezTo>
                <a:lnTo>
                  <a:pt x="3733800" y="38100"/>
                </a:lnTo>
                <a:lnTo>
                  <a:pt x="0" y="38100"/>
                </a:lnTo>
                <a:lnTo>
                  <a:pt x="0" y="38100"/>
                </a:lnTo>
                <a:cubicBezTo>
                  <a:pt x="0" y="17073"/>
                  <a:pt x="17073" y="0"/>
                  <a:pt x="381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2058035" y="4992370"/>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2010410" y="4992370"/>
            <a:ext cx="47625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3</a:t>
            </a:r>
            <a:endParaRPr lang="en-US" sz="1100"/>
          </a:p>
        </p:txBody>
      </p:sp>
      <p:sp>
        <p:nvSpPr>
          <p:cNvPr id="20" name="AutoShape 20"/>
          <p:cNvSpPr/>
          <p:nvPr/>
        </p:nvSpPr>
        <p:spPr>
          <a:xfrm>
            <a:off x="453073" y="5449570"/>
            <a:ext cx="35909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安装插件</a:t>
            </a:r>
            <a:endParaRPr lang="en-US" sz="1100"/>
          </a:p>
        </p:txBody>
      </p:sp>
      <p:sp>
        <p:nvSpPr>
          <p:cNvPr id="21" name="Freeform 21"/>
          <p:cNvSpPr/>
          <p:nvPr/>
        </p:nvSpPr>
        <p:spPr>
          <a:xfrm>
            <a:off x="4414520" y="4859020"/>
            <a:ext cx="7130415" cy="1188000"/>
          </a:xfrm>
          <a:custGeom>
            <a:avLst/>
            <a:gdLst/>
            <a:ahLst/>
            <a:cxnLst/>
            <a:rect l="l" t="t" r="r" b="b"/>
            <a:pathLst>
              <a:path w="7130415" h="1188000">
                <a:moveTo>
                  <a:pt x="155014" y="0"/>
                </a:moveTo>
                <a:lnTo>
                  <a:pt x="6975401" y="0"/>
                </a:lnTo>
                <a:cubicBezTo>
                  <a:pt x="7061013" y="0"/>
                  <a:pt x="7130415" y="81831"/>
                  <a:pt x="7130415" y="182775"/>
                </a:cubicBezTo>
                <a:lnTo>
                  <a:pt x="7130415" y="1005227"/>
                </a:lnTo>
                <a:cubicBezTo>
                  <a:pt x="7130415" y="1106169"/>
                  <a:pt x="7061013" y="1188000"/>
                  <a:pt x="6975401" y="1188000"/>
                </a:cubicBezTo>
                <a:lnTo>
                  <a:pt x="155014" y="1188000"/>
                </a:lnTo>
                <a:cubicBezTo>
                  <a:pt x="69402" y="1188000"/>
                  <a:pt x="0" y="1106169"/>
                  <a:pt x="0" y="1005227"/>
                </a:cubicBezTo>
                <a:lnTo>
                  <a:pt x="0" y="182775"/>
                </a:lnTo>
                <a:cubicBezTo>
                  <a:pt x="0" y="81831"/>
                  <a:pt x="69402" y="0"/>
                  <a:pt x="155014"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endParaRPr lang="en-US" sz="1100"/>
          </a:p>
          <a:p>
            <a:pPr indent="0" algn="l">
              <a:lnSpc>
                <a:spcPct val="100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pip install --no-build-isolation -e .</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2" name="Freeform 22"/>
          <p:cNvSpPr/>
          <p:nvPr/>
        </p:nvSpPr>
        <p:spPr>
          <a:xfrm>
            <a:off x="659606" y="3505200"/>
            <a:ext cx="285750" cy="285750"/>
          </a:xfrm>
          <a:custGeom>
            <a:avLst/>
            <a:gdLst/>
            <a:ahLst/>
            <a:cxnLst/>
            <a:rect l="l" t="t" r="r" b="b"/>
            <a:pathLst>
              <a:path w="285750" h="285750">
                <a:moveTo>
                  <a:pt x="222405" y="6808"/>
                </a:moveTo>
                <a:lnTo>
                  <a:pt x="173180" y="56034"/>
                </a:lnTo>
                <a:lnTo>
                  <a:pt x="229716" y="112570"/>
                </a:lnTo>
                <a:lnTo>
                  <a:pt x="278942" y="63345"/>
                </a:lnTo>
                <a:cubicBezTo>
                  <a:pt x="283294" y="58936"/>
                  <a:pt x="285750" y="53020"/>
                  <a:pt x="285750" y="46881"/>
                </a:cubicBezTo>
                <a:cubicBezTo>
                  <a:pt x="285750" y="40742"/>
                  <a:pt x="283294" y="34826"/>
                  <a:pt x="278942" y="30416"/>
                </a:cubicBezTo>
                <a:lnTo>
                  <a:pt x="255334" y="6808"/>
                </a:lnTo>
                <a:cubicBezTo>
                  <a:pt x="250924" y="2456"/>
                  <a:pt x="245008" y="0"/>
                  <a:pt x="238869" y="0"/>
                </a:cubicBezTo>
                <a:cubicBezTo>
                  <a:pt x="232730" y="0"/>
                  <a:pt x="226814" y="2456"/>
                  <a:pt x="222405" y="6808"/>
                </a:cubicBezTo>
                <a:close/>
                <a:moveTo>
                  <a:pt x="154261" y="74954"/>
                </a:moveTo>
                <a:lnTo>
                  <a:pt x="6808" y="222405"/>
                </a:lnTo>
                <a:cubicBezTo>
                  <a:pt x="2456" y="226814"/>
                  <a:pt x="0" y="232730"/>
                  <a:pt x="0" y="238869"/>
                </a:cubicBezTo>
                <a:cubicBezTo>
                  <a:pt x="0" y="245008"/>
                  <a:pt x="2456" y="250924"/>
                  <a:pt x="6808" y="255334"/>
                </a:cubicBezTo>
                <a:lnTo>
                  <a:pt x="30416" y="278942"/>
                </a:lnTo>
                <a:cubicBezTo>
                  <a:pt x="34826" y="283294"/>
                  <a:pt x="40742" y="285750"/>
                  <a:pt x="46881" y="285750"/>
                </a:cubicBezTo>
                <a:cubicBezTo>
                  <a:pt x="53020" y="285750"/>
                  <a:pt x="58936" y="283294"/>
                  <a:pt x="63345" y="278942"/>
                </a:cubicBezTo>
                <a:lnTo>
                  <a:pt x="210796" y="131489"/>
                </a:lnTo>
                <a:lnTo>
                  <a:pt x="154261" y="74954"/>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538163" y="4714875"/>
            <a:ext cx="2609850" cy="3429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27025" y="314325"/>
            <a:ext cx="11685270" cy="568325"/>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36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第五步：配置启动推理服务</a:t>
            </a:r>
            <a:endParaRPr lang="en-US" sz="1100"/>
          </a:p>
        </p:txBody>
      </p:sp>
      <p:sp>
        <p:nvSpPr>
          <p:cNvPr id="3" name="Freeform 3"/>
          <p:cNvSpPr/>
          <p:nvPr/>
        </p:nvSpPr>
        <p:spPr>
          <a:xfrm>
            <a:off x="326863" y="1274767"/>
            <a:ext cx="653727" cy="32686"/>
          </a:xfrm>
          <a:custGeom>
            <a:avLst/>
            <a:gdLst/>
            <a:ahLst/>
            <a:cxnLst/>
            <a:rect l="l" t="t" r="r" b="b"/>
            <a:pathLst>
              <a:path w="653727" h="32686">
                <a:moveTo>
                  <a:pt x="0" y="0"/>
                </a:moveTo>
                <a:lnTo>
                  <a:pt x="653727" y="0"/>
                </a:lnTo>
                <a:lnTo>
                  <a:pt x="653727" y="32686"/>
                </a:lnTo>
                <a:lnTo>
                  <a:pt x="0" y="32686"/>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42900" y="1438275"/>
            <a:ext cx="5671185" cy="5075555"/>
          </a:xfrm>
          <a:custGeom>
            <a:avLst/>
            <a:gdLst/>
            <a:ahLst/>
            <a:cxnLst/>
            <a:rect l="l" t="t" r="r" b="b"/>
            <a:pathLst>
              <a:path w="5671185" h="5075555">
                <a:moveTo>
                  <a:pt x="32686" y="0"/>
                </a:moveTo>
                <a:lnTo>
                  <a:pt x="5573117" y="0"/>
                </a:lnTo>
                <a:cubicBezTo>
                  <a:pt x="5627279" y="0"/>
                  <a:pt x="5671185" y="70467"/>
                  <a:pt x="5671185" y="157392"/>
                </a:cubicBezTo>
                <a:lnTo>
                  <a:pt x="5671185" y="4918163"/>
                </a:lnTo>
                <a:cubicBezTo>
                  <a:pt x="5671185" y="5005088"/>
                  <a:pt x="5627279" y="5075555"/>
                  <a:pt x="5573117" y="5075555"/>
                </a:cubicBezTo>
                <a:lnTo>
                  <a:pt x="32686" y="5075555"/>
                </a:lnTo>
                <a:cubicBezTo>
                  <a:pt x="14634" y="5075555"/>
                  <a:pt x="0" y="5052068"/>
                  <a:pt x="0" y="5023095"/>
                </a:cubicBezTo>
                <a:lnTo>
                  <a:pt x="0" y="52460"/>
                </a:lnTo>
                <a:cubicBezTo>
                  <a:pt x="0" y="23506"/>
                  <a:pt x="14647" y="0"/>
                  <a:pt x="32686" y="0"/>
                </a:cubicBezTo>
                <a:close/>
              </a:path>
            </a:pathLst>
          </a:custGeom>
          <a:solidFill>
            <a:srgbClr val="FFFFFF">
              <a:alpha val="100000"/>
            </a:srgbClr>
          </a:solidFill>
          <a:ln w="12700">
            <a:noFill/>
            <a:prstDash val="solid"/>
          </a:ln>
          <a:effectLst>
            <a:outerShdw blurRad="114300" dist="762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5" name="Freeform 5"/>
          <p:cNvSpPr/>
          <p:nvPr/>
        </p:nvSpPr>
        <p:spPr>
          <a:xfrm>
            <a:off x="343206" y="1438198"/>
            <a:ext cx="32686" cy="3162402"/>
          </a:xfrm>
          <a:custGeom>
            <a:avLst/>
            <a:gdLst/>
            <a:ahLst/>
            <a:cxnLst/>
            <a:rect l="l" t="t" r="r" b="b"/>
            <a:pathLst>
              <a:path w="32686" h="3162402">
                <a:moveTo>
                  <a:pt x="32686" y="0"/>
                </a:moveTo>
                <a:lnTo>
                  <a:pt x="32686" y="0"/>
                </a:lnTo>
                <a:lnTo>
                  <a:pt x="32686" y="3162402"/>
                </a:lnTo>
                <a:lnTo>
                  <a:pt x="32686" y="3162402"/>
                </a:lnTo>
                <a:cubicBezTo>
                  <a:pt x="14634" y="3162402"/>
                  <a:pt x="0" y="3147767"/>
                  <a:pt x="0" y="3129716"/>
                </a:cubicBezTo>
                <a:lnTo>
                  <a:pt x="0" y="32686"/>
                </a:lnTo>
                <a:cubicBezTo>
                  <a:pt x="0" y="14646"/>
                  <a:pt x="14646" y="0"/>
                  <a:pt x="32686"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543560" y="1640622"/>
            <a:ext cx="252730" cy="183951"/>
          </a:xfrm>
          <a:custGeom>
            <a:avLst/>
            <a:gdLst/>
            <a:ahLst/>
            <a:cxnLst/>
            <a:rect l="l" t="t" r="r" b="b"/>
            <a:pathLst>
              <a:path w="252730" h="183951">
                <a:moveTo>
                  <a:pt x="15795" y="18396"/>
                </a:moveTo>
                <a:cubicBezTo>
                  <a:pt x="7059" y="18396"/>
                  <a:pt x="0" y="23876"/>
                  <a:pt x="0" y="30657"/>
                </a:cubicBezTo>
                <a:cubicBezTo>
                  <a:pt x="0" y="37440"/>
                  <a:pt x="7059" y="42922"/>
                  <a:pt x="15795" y="42922"/>
                </a:cubicBezTo>
                <a:lnTo>
                  <a:pt x="58591" y="42922"/>
                </a:lnTo>
                <a:cubicBezTo>
                  <a:pt x="64663" y="53766"/>
                  <a:pt x="78583" y="61318"/>
                  <a:pt x="94774" y="61318"/>
                </a:cubicBezTo>
                <a:cubicBezTo>
                  <a:pt x="110965" y="61318"/>
                  <a:pt x="124884" y="53766"/>
                  <a:pt x="130955" y="42922"/>
                </a:cubicBezTo>
                <a:lnTo>
                  <a:pt x="236934" y="42922"/>
                </a:lnTo>
                <a:cubicBezTo>
                  <a:pt x="245671" y="42922"/>
                  <a:pt x="252730" y="37440"/>
                  <a:pt x="252730" y="30657"/>
                </a:cubicBezTo>
                <a:cubicBezTo>
                  <a:pt x="252730" y="23876"/>
                  <a:pt x="245671" y="18396"/>
                  <a:pt x="236934" y="18396"/>
                </a:cubicBezTo>
                <a:lnTo>
                  <a:pt x="130955" y="18396"/>
                </a:lnTo>
                <a:cubicBezTo>
                  <a:pt x="124884" y="7550"/>
                  <a:pt x="110965" y="0"/>
                  <a:pt x="94774" y="0"/>
                </a:cubicBezTo>
                <a:cubicBezTo>
                  <a:pt x="78583" y="0"/>
                  <a:pt x="64663" y="7550"/>
                  <a:pt x="58591" y="18396"/>
                </a:cubicBezTo>
                <a:lnTo>
                  <a:pt x="15795" y="18396"/>
                </a:lnTo>
                <a:close/>
                <a:moveTo>
                  <a:pt x="15795" y="79711"/>
                </a:moveTo>
                <a:cubicBezTo>
                  <a:pt x="7059" y="79711"/>
                  <a:pt x="0" y="85192"/>
                  <a:pt x="0" y="91975"/>
                </a:cubicBezTo>
                <a:cubicBezTo>
                  <a:pt x="0" y="98759"/>
                  <a:pt x="7059" y="104239"/>
                  <a:pt x="15795" y="104239"/>
                </a:cubicBezTo>
                <a:lnTo>
                  <a:pt x="137570" y="104239"/>
                </a:lnTo>
                <a:cubicBezTo>
                  <a:pt x="143641" y="115084"/>
                  <a:pt x="157560" y="122633"/>
                  <a:pt x="173751" y="122633"/>
                </a:cubicBezTo>
                <a:cubicBezTo>
                  <a:pt x="189941" y="122633"/>
                  <a:pt x="203863" y="115084"/>
                  <a:pt x="209934" y="104239"/>
                </a:cubicBezTo>
                <a:lnTo>
                  <a:pt x="236934" y="104239"/>
                </a:lnTo>
                <a:cubicBezTo>
                  <a:pt x="245671" y="104239"/>
                  <a:pt x="252730" y="98759"/>
                  <a:pt x="252730" y="91975"/>
                </a:cubicBezTo>
                <a:cubicBezTo>
                  <a:pt x="252730" y="85192"/>
                  <a:pt x="245671" y="79711"/>
                  <a:pt x="236934" y="79711"/>
                </a:cubicBezTo>
                <a:lnTo>
                  <a:pt x="209934" y="79711"/>
                </a:lnTo>
                <a:cubicBezTo>
                  <a:pt x="203863" y="68867"/>
                  <a:pt x="189941" y="61318"/>
                  <a:pt x="173751" y="61318"/>
                </a:cubicBezTo>
                <a:cubicBezTo>
                  <a:pt x="157560" y="61318"/>
                  <a:pt x="143641" y="68867"/>
                  <a:pt x="137570" y="79711"/>
                </a:cubicBezTo>
                <a:lnTo>
                  <a:pt x="15795" y="79711"/>
                </a:lnTo>
                <a:close/>
                <a:moveTo>
                  <a:pt x="15795" y="141029"/>
                </a:moveTo>
                <a:cubicBezTo>
                  <a:pt x="7059" y="141029"/>
                  <a:pt x="0" y="146509"/>
                  <a:pt x="0" y="153292"/>
                </a:cubicBezTo>
                <a:cubicBezTo>
                  <a:pt x="0" y="160075"/>
                  <a:pt x="7059" y="165557"/>
                  <a:pt x="15795" y="165557"/>
                </a:cubicBezTo>
                <a:lnTo>
                  <a:pt x="42796" y="165557"/>
                </a:lnTo>
                <a:cubicBezTo>
                  <a:pt x="48867" y="176401"/>
                  <a:pt x="62789" y="183950"/>
                  <a:pt x="78977" y="183950"/>
                </a:cubicBezTo>
                <a:cubicBezTo>
                  <a:pt x="95167" y="183950"/>
                  <a:pt x="109089" y="176401"/>
                  <a:pt x="115160" y="165557"/>
                </a:cubicBezTo>
                <a:lnTo>
                  <a:pt x="236934" y="165557"/>
                </a:lnTo>
                <a:cubicBezTo>
                  <a:pt x="245671" y="165557"/>
                  <a:pt x="252730" y="160075"/>
                  <a:pt x="252730" y="153292"/>
                </a:cubicBezTo>
                <a:cubicBezTo>
                  <a:pt x="252730" y="146509"/>
                  <a:pt x="245671" y="141029"/>
                  <a:pt x="236934" y="141029"/>
                </a:cubicBezTo>
                <a:lnTo>
                  <a:pt x="115160" y="141029"/>
                </a:lnTo>
                <a:cubicBezTo>
                  <a:pt x="109089" y="130183"/>
                  <a:pt x="95167" y="122633"/>
                  <a:pt x="78977" y="122633"/>
                </a:cubicBezTo>
                <a:cubicBezTo>
                  <a:pt x="62789" y="122633"/>
                  <a:pt x="48867" y="130183"/>
                  <a:pt x="42796" y="141029"/>
                </a:cubicBezTo>
                <a:lnTo>
                  <a:pt x="15795" y="14102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923486" y="1634650"/>
            <a:ext cx="5205298" cy="228804"/>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环境变量配置</a:t>
            </a:r>
            <a:endParaRPr lang="en-US" sz="1100"/>
          </a:p>
        </p:txBody>
      </p:sp>
      <p:sp>
        <p:nvSpPr>
          <p:cNvPr id="8" name="Freeform 8"/>
          <p:cNvSpPr/>
          <p:nvPr/>
        </p:nvSpPr>
        <p:spPr>
          <a:xfrm>
            <a:off x="523240" y="1960880"/>
            <a:ext cx="5327650" cy="1842770"/>
          </a:xfrm>
          <a:custGeom>
            <a:avLst/>
            <a:gdLst/>
            <a:ahLst/>
            <a:cxnLst/>
            <a:rect l="l" t="t" r="r" b="b"/>
            <a:pathLst>
              <a:path w="5327650" h="1842770">
                <a:moveTo>
                  <a:pt x="65373" y="0"/>
                </a:moveTo>
                <a:lnTo>
                  <a:pt x="5262277" y="0"/>
                </a:lnTo>
                <a:cubicBezTo>
                  <a:pt x="5298382" y="0"/>
                  <a:pt x="5327650" y="55005"/>
                  <a:pt x="5327650" y="122857"/>
                </a:cubicBezTo>
                <a:lnTo>
                  <a:pt x="5327650" y="1719913"/>
                </a:lnTo>
                <a:cubicBezTo>
                  <a:pt x="5327650" y="1787765"/>
                  <a:pt x="5298382" y="1842770"/>
                  <a:pt x="5262277" y="1842770"/>
                </a:cubicBezTo>
                <a:lnTo>
                  <a:pt x="65373" y="1842770"/>
                </a:lnTo>
                <a:cubicBezTo>
                  <a:pt x="29268" y="1842770"/>
                  <a:pt x="0" y="1787765"/>
                  <a:pt x="0" y="1719913"/>
                </a:cubicBezTo>
                <a:lnTo>
                  <a:pt x="0" y="122857"/>
                </a:lnTo>
                <a:cubicBezTo>
                  <a:pt x="0" y="55051"/>
                  <a:pt x="29293" y="0"/>
                  <a:pt x="65373"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621040" y="2059239"/>
            <a:ext cx="5188954" cy="16343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8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关键变量 1</a:t>
            </a:r>
            <a:endParaRPr lang="en-US" sz="1100"/>
          </a:p>
        </p:txBody>
      </p:sp>
      <p:sp>
        <p:nvSpPr>
          <p:cNvPr id="10" name="Freeform 10"/>
          <p:cNvSpPr/>
          <p:nvPr/>
        </p:nvSpPr>
        <p:spPr>
          <a:xfrm>
            <a:off x="670560" y="2406650"/>
            <a:ext cx="5130800" cy="810260"/>
          </a:xfrm>
          <a:custGeom>
            <a:avLst/>
            <a:gdLst/>
            <a:ahLst/>
            <a:cxnLst/>
            <a:rect l="l" t="t" r="r" b="b"/>
            <a:pathLst>
              <a:path w="5130800" h="810260">
                <a:moveTo>
                  <a:pt x="65362" y="0"/>
                </a:moveTo>
                <a:lnTo>
                  <a:pt x="5065438" y="0"/>
                </a:lnTo>
                <a:cubicBezTo>
                  <a:pt x="5101537" y="0"/>
                  <a:pt x="5130800" y="55811"/>
                  <a:pt x="5130800" y="124658"/>
                </a:cubicBezTo>
                <a:lnTo>
                  <a:pt x="5130800" y="685602"/>
                </a:lnTo>
                <a:cubicBezTo>
                  <a:pt x="5130800" y="754449"/>
                  <a:pt x="5101537" y="810260"/>
                  <a:pt x="5065438" y="810260"/>
                </a:cubicBezTo>
                <a:lnTo>
                  <a:pt x="65362" y="810260"/>
                </a:lnTo>
                <a:cubicBezTo>
                  <a:pt x="29287" y="810260"/>
                  <a:pt x="0" y="754403"/>
                  <a:pt x="0" y="685602"/>
                </a:cubicBezTo>
                <a:lnTo>
                  <a:pt x="0" y="124658"/>
                </a:lnTo>
                <a:cubicBezTo>
                  <a:pt x="0" y="55857"/>
                  <a:pt x="29287" y="0"/>
                  <a:pt x="65362"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11" name="AutoShape 11"/>
          <p:cNvSpPr/>
          <p:nvPr/>
        </p:nvSpPr>
        <p:spPr>
          <a:xfrm>
            <a:off x="674380" y="2598257"/>
            <a:ext cx="5184869" cy="424922"/>
          </a:xfrm>
          <a:prstGeom prst="rect">
            <a:avLst/>
          </a:prstGeom>
          <a:noFill/>
          <a:ln w="12700">
            <a:noFill/>
            <a:prstDash val="solid"/>
          </a:ln>
        </p:spPr>
        <p:txBody>
          <a:bodyPr wrap="square" lIns="130745" tIns="130745" rIns="130745" bIns="130745"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export VLLM_PLUGINS=fl</a:t>
            </a:r>
            <a:endParaRPr lang="en-US" sz="1100"/>
          </a:p>
        </p:txBody>
      </p:sp>
      <p:sp>
        <p:nvSpPr>
          <p:cNvPr id="12" name="AutoShape 12"/>
          <p:cNvSpPr/>
          <p:nvPr/>
        </p:nvSpPr>
        <p:spPr>
          <a:xfrm>
            <a:off x="764645" y="3451194"/>
            <a:ext cx="5037178" cy="130745"/>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rPr>
              <a:t>告诉vLLM使用FlagOS后端插件</a:t>
            </a:r>
            <a:endParaRPr lang="en-US" sz="1100"/>
          </a:p>
        </p:txBody>
      </p:sp>
      <p:sp>
        <p:nvSpPr>
          <p:cNvPr id="13" name="Freeform 13"/>
          <p:cNvSpPr/>
          <p:nvPr/>
        </p:nvSpPr>
        <p:spPr>
          <a:xfrm>
            <a:off x="523240" y="4163060"/>
            <a:ext cx="5309870" cy="2059305"/>
          </a:xfrm>
          <a:custGeom>
            <a:avLst/>
            <a:gdLst/>
            <a:ahLst/>
            <a:cxnLst/>
            <a:rect l="l" t="t" r="r" b="b"/>
            <a:pathLst>
              <a:path w="5309870" h="2059305">
                <a:moveTo>
                  <a:pt x="65155" y="0"/>
                </a:moveTo>
                <a:lnTo>
                  <a:pt x="5244715" y="0"/>
                </a:lnTo>
                <a:cubicBezTo>
                  <a:pt x="5280699" y="0"/>
                  <a:pt x="5309870" y="61469"/>
                  <a:pt x="5309870" y="137295"/>
                </a:cubicBezTo>
                <a:lnTo>
                  <a:pt x="5309870" y="1922010"/>
                </a:lnTo>
                <a:cubicBezTo>
                  <a:pt x="5309870" y="1997836"/>
                  <a:pt x="5280699" y="2059305"/>
                  <a:pt x="5244715" y="2059305"/>
                </a:cubicBezTo>
                <a:lnTo>
                  <a:pt x="65155" y="2059305"/>
                </a:lnTo>
                <a:cubicBezTo>
                  <a:pt x="29171" y="2059305"/>
                  <a:pt x="0" y="1997836"/>
                  <a:pt x="0" y="1922010"/>
                </a:cubicBezTo>
                <a:lnTo>
                  <a:pt x="0" y="137295"/>
                </a:lnTo>
                <a:cubicBezTo>
                  <a:pt x="0" y="61519"/>
                  <a:pt x="29195" y="0"/>
                  <a:pt x="65155" y="0"/>
                </a:cubicBezTo>
                <a:close/>
              </a:path>
            </a:pathLst>
          </a:custGeom>
          <a:solidFill>
            <a:srgbClr val="1E90FF">
              <a:alpha val="10196"/>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669935" y="4163772"/>
            <a:ext cx="5188954" cy="16343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关键变量 2</a:t>
            </a:r>
            <a:endParaRPr lang="en-US" sz="1100"/>
          </a:p>
        </p:txBody>
      </p:sp>
      <p:sp>
        <p:nvSpPr>
          <p:cNvPr id="15" name="Freeform 15"/>
          <p:cNvSpPr/>
          <p:nvPr/>
        </p:nvSpPr>
        <p:spPr>
          <a:xfrm>
            <a:off x="669925" y="4522470"/>
            <a:ext cx="4962525" cy="809625"/>
          </a:xfrm>
          <a:custGeom>
            <a:avLst/>
            <a:gdLst/>
            <a:ahLst/>
            <a:cxnLst/>
            <a:rect l="l" t="t" r="r" b="b"/>
            <a:pathLst>
              <a:path w="4962525" h="809625">
                <a:moveTo>
                  <a:pt x="63218" y="0"/>
                </a:moveTo>
                <a:lnTo>
                  <a:pt x="4899307" y="0"/>
                </a:lnTo>
                <a:cubicBezTo>
                  <a:pt x="4934222" y="0"/>
                  <a:pt x="4962525" y="55768"/>
                  <a:pt x="4962525" y="124560"/>
                </a:cubicBezTo>
                <a:lnTo>
                  <a:pt x="4962525" y="685065"/>
                </a:lnTo>
                <a:cubicBezTo>
                  <a:pt x="4962525" y="753857"/>
                  <a:pt x="4934222" y="809625"/>
                  <a:pt x="4899307" y="809625"/>
                </a:cubicBezTo>
                <a:lnTo>
                  <a:pt x="63218" y="809625"/>
                </a:lnTo>
                <a:cubicBezTo>
                  <a:pt x="28327" y="809625"/>
                  <a:pt x="0" y="753811"/>
                  <a:pt x="0" y="685065"/>
                </a:cubicBezTo>
                <a:lnTo>
                  <a:pt x="0" y="124560"/>
                </a:lnTo>
                <a:cubicBezTo>
                  <a:pt x="0" y="55814"/>
                  <a:pt x="28327" y="0"/>
                  <a:pt x="63218"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16" name="AutoShape 16"/>
          <p:cNvSpPr/>
          <p:nvPr/>
        </p:nvSpPr>
        <p:spPr>
          <a:xfrm>
            <a:off x="641350" y="4686935"/>
            <a:ext cx="5160645" cy="424815"/>
          </a:xfrm>
          <a:prstGeom prst="rect">
            <a:avLst/>
          </a:prstGeom>
          <a:noFill/>
          <a:ln w="12700">
            <a:noFill/>
            <a:prstDash val="solid"/>
          </a:ln>
        </p:spPr>
        <p:txBody>
          <a:bodyPr wrap="square" lIns="130745" tIns="130745" rIns="130745" bIns="130745"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exportTRITON_ALL_BLOCKS_PARALLEL=1</a:t>
            </a:r>
            <a:endParaRPr lang="en-US" sz="1100"/>
          </a:p>
        </p:txBody>
      </p:sp>
      <p:sp>
        <p:nvSpPr>
          <p:cNvPr id="17" name="AutoShape 17"/>
          <p:cNvSpPr/>
          <p:nvPr/>
        </p:nvSpPr>
        <p:spPr>
          <a:xfrm>
            <a:off x="731625" y="5555092"/>
            <a:ext cx="5037178" cy="130745"/>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rPr>
              <a:t>开启Triton并行优化，提升推理速度</a:t>
            </a:r>
            <a:endParaRPr lang="en-US" sz="1100"/>
          </a:p>
        </p:txBody>
      </p:sp>
      <p:sp>
        <p:nvSpPr>
          <p:cNvPr id="18" name="Freeform 18"/>
          <p:cNvSpPr/>
          <p:nvPr/>
        </p:nvSpPr>
        <p:spPr>
          <a:xfrm>
            <a:off x="6191885" y="1438275"/>
            <a:ext cx="5671185" cy="2753995"/>
          </a:xfrm>
          <a:custGeom>
            <a:avLst/>
            <a:gdLst/>
            <a:ahLst/>
            <a:cxnLst/>
            <a:rect l="l" t="t" r="r" b="b"/>
            <a:pathLst>
              <a:path w="5671185" h="2753995">
                <a:moveTo>
                  <a:pt x="32686" y="0"/>
                </a:moveTo>
                <a:lnTo>
                  <a:pt x="5573126" y="0"/>
                </a:lnTo>
                <a:cubicBezTo>
                  <a:pt x="5627282" y="0"/>
                  <a:pt x="5671185" y="37174"/>
                  <a:pt x="5671185" y="83034"/>
                </a:cubicBezTo>
                <a:lnTo>
                  <a:pt x="5671185" y="2670961"/>
                </a:lnTo>
                <a:cubicBezTo>
                  <a:pt x="5671185" y="2716820"/>
                  <a:pt x="5627282" y="2753995"/>
                  <a:pt x="5573126" y="2753995"/>
                </a:cubicBezTo>
                <a:lnTo>
                  <a:pt x="32686" y="2753995"/>
                </a:lnTo>
                <a:cubicBezTo>
                  <a:pt x="14634" y="2753995"/>
                  <a:pt x="0" y="2741602"/>
                  <a:pt x="0" y="2726317"/>
                </a:cubicBezTo>
                <a:lnTo>
                  <a:pt x="0" y="27678"/>
                </a:lnTo>
                <a:cubicBezTo>
                  <a:pt x="0" y="12402"/>
                  <a:pt x="14647" y="0"/>
                  <a:pt x="32686" y="0"/>
                </a:cubicBezTo>
                <a:close/>
              </a:path>
            </a:pathLst>
          </a:custGeom>
          <a:solidFill>
            <a:srgbClr val="FFFFFF">
              <a:alpha val="100000"/>
            </a:srgbClr>
          </a:solidFill>
          <a:ln w="12700">
            <a:noFill/>
            <a:prstDash val="solid"/>
          </a:ln>
          <a:effectLst>
            <a:outerShdw blurRad="114300" dist="762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9" name="Freeform 19"/>
          <p:cNvSpPr/>
          <p:nvPr/>
        </p:nvSpPr>
        <p:spPr>
          <a:xfrm>
            <a:off x="6192144" y="1438198"/>
            <a:ext cx="32686" cy="3252290"/>
          </a:xfrm>
          <a:custGeom>
            <a:avLst/>
            <a:gdLst/>
            <a:ahLst/>
            <a:cxnLst/>
            <a:rect l="l" t="t" r="r" b="b"/>
            <a:pathLst>
              <a:path w="32686" h="3252290">
                <a:moveTo>
                  <a:pt x="32686" y="0"/>
                </a:moveTo>
                <a:lnTo>
                  <a:pt x="32686" y="0"/>
                </a:lnTo>
                <a:lnTo>
                  <a:pt x="32686" y="3252290"/>
                </a:lnTo>
                <a:lnTo>
                  <a:pt x="32686" y="3252290"/>
                </a:lnTo>
                <a:cubicBezTo>
                  <a:pt x="14634" y="3252290"/>
                  <a:pt x="0" y="3237655"/>
                  <a:pt x="0" y="3219602"/>
                </a:cubicBezTo>
                <a:lnTo>
                  <a:pt x="0" y="32686"/>
                </a:lnTo>
                <a:cubicBezTo>
                  <a:pt x="0" y="14646"/>
                  <a:pt x="14646" y="0"/>
                  <a:pt x="32686"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6296025" y="1600200"/>
            <a:ext cx="294640" cy="294640"/>
          </a:xfrm>
          <a:custGeom>
            <a:avLst/>
            <a:gdLst/>
            <a:ahLst/>
            <a:cxnLst/>
            <a:rect l="l" t="t" r="r" b="b"/>
            <a:pathLst>
              <a:path w="294640" h="294640">
                <a:moveTo>
                  <a:pt x="0" y="147320"/>
                </a:moveTo>
                <a:cubicBezTo>
                  <a:pt x="0" y="66012"/>
                  <a:pt x="66012" y="0"/>
                  <a:pt x="147320" y="0"/>
                </a:cubicBezTo>
                <a:cubicBezTo>
                  <a:pt x="228628" y="0"/>
                  <a:pt x="294640" y="66012"/>
                  <a:pt x="294640" y="147320"/>
                </a:cubicBezTo>
                <a:cubicBezTo>
                  <a:pt x="294640" y="228628"/>
                  <a:pt x="228628" y="294640"/>
                  <a:pt x="147320" y="294640"/>
                </a:cubicBezTo>
                <a:cubicBezTo>
                  <a:pt x="66012" y="294640"/>
                  <a:pt x="0" y="228628"/>
                  <a:pt x="0" y="147320"/>
                </a:cubicBezTo>
                <a:close/>
                <a:moveTo>
                  <a:pt x="108361" y="84652"/>
                </a:moveTo>
                <a:cubicBezTo>
                  <a:pt x="103988" y="87067"/>
                  <a:pt x="101283" y="91730"/>
                  <a:pt x="101283" y="96679"/>
                </a:cubicBezTo>
                <a:lnTo>
                  <a:pt x="101283" y="197961"/>
                </a:lnTo>
                <a:cubicBezTo>
                  <a:pt x="101283" y="202968"/>
                  <a:pt x="103988" y="207570"/>
                  <a:pt x="108361" y="209988"/>
                </a:cubicBezTo>
                <a:cubicBezTo>
                  <a:pt x="112734" y="212406"/>
                  <a:pt x="118027" y="212348"/>
                  <a:pt x="122344" y="209700"/>
                </a:cubicBezTo>
                <a:lnTo>
                  <a:pt x="205213" y="159060"/>
                </a:lnTo>
                <a:cubicBezTo>
                  <a:pt x="209297" y="156527"/>
                  <a:pt x="211828" y="152095"/>
                  <a:pt x="211828" y="147263"/>
                </a:cubicBezTo>
                <a:cubicBezTo>
                  <a:pt x="211828" y="142429"/>
                  <a:pt x="209297" y="137998"/>
                  <a:pt x="205213" y="135465"/>
                </a:cubicBezTo>
                <a:lnTo>
                  <a:pt x="122344" y="84823"/>
                </a:lnTo>
                <a:cubicBezTo>
                  <a:pt x="118086" y="82234"/>
                  <a:pt x="112734" y="82119"/>
                  <a:pt x="108361" y="84536"/>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6785123" y="1601630"/>
            <a:ext cx="5205298" cy="228804"/>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启动推理服务</a:t>
            </a:r>
            <a:endParaRPr lang="en-US" sz="1100"/>
          </a:p>
        </p:txBody>
      </p:sp>
      <p:sp>
        <p:nvSpPr>
          <p:cNvPr id="22" name="AutoShape 22"/>
          <p:cNvSpPr/>
          <p:nvPr/>
        </p:nvSpPr>
        <p:spPr>
          <a:xfrm>
            <a:off x="6372225" y="1960880"/>
            <a:ext cx="5380990" cy="111125"/>
          </a:xfrm>
          <a:prstGeom prst="rect">
            <a:avLst/>
          </a:prstGeom>
          <a:noFill/>
          <a:ln w="12700">
            <a:noFill/>
            <a:prstDash val="solid"/>
          </a:ln>
        </p:spPr>
        <p:txBody>
          <a:bodyPr wrap="square" lIns="130745" tIns="130745" rIns="130745" bIns="130745"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3" name="Freeform 23"/>
          <p:cNvSpPr/>
          <p:nvPr/>
        </p:nvSpPr>
        <p:spPr>
          <a:xfrm>
            <a:off x="6359661" y="5021437"/>
            <a:ext cx="147088" cy="147088"/>
          </a:xfrm>
          <a:custGeom>
            <a:avLst/>
            <a:gdLst/>
            <a:ahLst/>
            <a:cxnLst/>
            <a:rect l="l" t="t" r="r" b="b"/>
            <a:pathLst>
              <a:path w="147088" h="147088">
                <a:moveTo>
                  <a:pt x="73544" y="147088"/>
                </a:moveTo>
                <a:cubicBezTo>
                  <a:pt x="114134" y="147088"/>
                  <a:pt x="147088" y="114134"/>
                  <a:pt x="147088" y="73544"/>
                </a:cubicBezTo>
                <a:cubicBezTo>
                  <a:pt x="147088" y="32954"/>
                  <a:pt x="114134" y="0"/>
                  <a:pt x="73544" y="0"/>
                </a:cubicBezTo>
                <a:cubicBezTo>
                  <a:pt x="32954" y="0"/>
                  <a:pt x="0" y="32954"/>
                  <a:pt x="0" y="73544"/>
                </a:cubicBezTo>
                <a:cubicBezTo>
                  <a:pt x="0" y="114134"/>
                  <a:pt x="32954" y="147088"/>
                  <a:pt x="73544" y="147088"/>
                </a:cubicBezTo>
                <a:close/>
                <a:moveTo>
                  <a:pt x="97791" y="61105"/>
                </a:moveTo>
                <a:lnTo>
                  <a:pt x="74808" y="97878"/>
                </a:lnTo>
                <a:cubicBezTo>
                  <a:pt x="73602" y="99802"/>
                  <a:pt x="71533" y="101008"/>
                  <a:pt x="69265" y="101122"/>
                </a:cubicBezTo>
                <a:cubicBezTo>
                  <a:pt x="66994" y="101238"/>
                  <a:pt x="64811" y="100204"/>
                  <a:pt x="63461" y="98365"/>
                </a:cubicBezTo>
                <a:lnTo>
                  <a:pt x="49671" y="79980"/>
                </a:lnTo>
                <a:cubicBezTo>
                  <a:pt x="47374" y="76934"/>
                  <a:pt x="48005" y="72625"/>
                  <a:pt x="51050" y="70328"/>
                </a:cubicBezTo>
                <a:cubicBezTo>
                  <a:pt x="54094" y="68028"/>
                  <a:pt x="58403" y="68660"/>
                  <a:pt x="60703" y="71705"/>
                </a:cubicBezTo>
                <a:lnTo>
                  <a:pt x="68459" y="82048"/>
                </a:lnTo>
                <a:lnTo>
                  <a:pt x="86098" y="53809"/>
                </a:lnTo>
                <a:cubicBezTo>
                  <a:pt x="88109" y="50590"/>
                  <a:pt x="92361" y="49585"/>
                  <a:pt x="95608" y="51625"/>
                </a:cubicBezTo>
                <a:cubicBezTo>
                  <a:pt x="98854" y="53664"/>
                  <a:pt x="99831" y="57887"/>
                  <a:pt x="97791" y="61134"/>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6527179" y="4980579"/>
            <a:ext cx="5246155" cy="22880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启动成功标志</a:t>
            </a:r>
            <a:endParaRPr lang="en-US" sz="1100"/>
          </a:p>
        </p:txBody>
      </p:sp>
      <p:sp>
        <p:nvSpPr>
          <p:cNvPr id="25" name="Freeform 25"/>
          <p:cNvSpPr/>
          <p:nvPr/>
        </p:nvSpPr>
        <p:spPr>
          <a:xfrm>
            <a:off x="6362033" y="5345274"/>
            <a:ext cx="101756" cy="94090"/>
          </a:xfrm>
          <a:custGeom>
            <a:avLst/>
            <a:gdLst/>
            <a:ahLst/>
            <a:cxnLst/>
            <a:rect l="l" t="t" r="r" b="b"/>
            <a:pathLst>
              <a:path w="101756" h="94090">
                <a:moveTo>
                  <a:pt x="97845" y="2346"/>
                </a:moveTo>
                <a:cubicBezTo>
                  <a:pt x="101041" y="4670"/>
                  <a:pt x="101756" y="9139"/>
                  <a:pt x="99432" y="12334"/>
                </a:cubicBezTo>
                <a:lnTo>
                  <a:pt x="42231" y="90986"/>
                </a:lnTo>
                <a:cubicBezTo>
                  <a:pt x="41002" y="92684"/>
                  <a:pt x="39103" y="93734"/>
                  <a:pt x="37002" y="93913"/>
                </a:cubicBezTo>
                <a:cubicBezTo>
                  <a:pt x="34902" y="94091"/>
                  <a:pt x="32868" y="93308"/>
                  <a:pt x="31394" y="91835"/>
                </a:cubicBezTo>
                <a:lnTo>
                  <a:pt x="2794" y="63234"/>
                </a:lnTo>
                <a:cubicBezTo>
                  <a:pt x="0" y="60441"/>
                  <a:pt x="0" y="55906"/>
                  <a:pt x="2794" y="53112"/>
                </a:cubicBezTo>
                <a:cubicBezTo>
                  <a:pt x="5586" y="50319"/>
                  <a:pt x="10121" y="50319"/>
                  <a:pt x="12915" y="53112"/>
                </a:cubicBezTo>
                <a:lnTo>
                  <a:pt x="35595" y="75793"/>
                </a:lnTo>
                <a:lnTo>
                  <a:pt x="87880" y="3911"/>
                </a:lnTo>
                <a:cubicBezTo>
                  <a:pt x="90204" y="715"/>
                  <a:pt x="94673" y="0"/>
                  <a:pt x="97868" y="2324"/>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6547608" y="5307442"/>
            <a:ext cx="1593458" cy="16343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9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Platform plugin fl is activated</a:t>
            </a:r>
            <a:endParaRPr lang="en-US" sz="1100"/>
          </a:p>
        </p:txBody>
      </p:sp>
      <p:sp>
        <p:nvSpPr>
          <p:cNvPr id="27" name="Freeform 27"/>
          <p:cNvSpPr/>
          <p:nvPr/>
        </p:nvSpPr>
        <p:spPr>
          <a:xfrm>
            <a:off x="6362033" y="5574078"/>
            <a:ext cx="101756" cy="94090"/>
          </a:xfrm>
          <a:custGeom>
            <a:avLst/>
            <a:gdLst/>
            <a:ahLst/>
            <a:cxnLst/>
            <a:rect l="l" t="t" r="r" b="b"/>
            <a:pathLst>
              <a:path w="101756" h="94090">
                <a:moveTo>
                  <a:pt x="97845" y="2346"/>
                </a:moveTo>
                <a:cubicBezTo>
                  <a:pt x="101041" y="4670"/>
                  <a:pt x="101756" y="9139"/>
                  <a:pt x="99432" y="12334"/>
                </a:cubicBezTo>
                <a:lnTo>
                  <a:pt x="42231" y="90986"/>
                </a:lnTo>
                <a:cubicBezTo>
                  <a:pt x="41002" y="92684"/>
                  <a:pt x="39103" y="93734"/>
                  <a:pt x="37002" y="93913"/>
                </a:cubicBezTo>
                <a:cubicBezTo>
                  <a:pt x="34902" y="94091"/>
                  <a:pt x="32868" y="93308"/>
                  <a:pt x="31394" y="91835"/>
                </a:cubicBezTo>
                <a:lnTo>
                  <a:pt x="2794" y="63234"/>
                </a:lnTo>
                <a:cubicBezTo>
                  <a:pt x="0" y="60441"/>
                  <a:pt x="0" y="55906"/>
                  <a:pt x="2794" y="53112"/>
                </a:cubicBezTo>
                <a:cubicBezTo>
                  <a:pt x="5586" y="50319"/>
                  <a:pt x="10121" y="50319"/>
                  <a:pt x="12915" y="53112"/>
                </a:cubicBezTo>
                <a:lnTo>
                  <a:pt x="35595" y="75793"/>
                </a:lnTo>
                <a:lnTo>
                  <a:pt x="87880" y="3911"/>
                </a:lnTo>
                <a:cubicBezTo>
                  <a:pt x="90204" y="715"/>
                  <a:pt x="94673" y="0"/>
                  <a:pt x="97868" y="2324"/>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8" name="AutoShape 28"/>
          <p:cNvSpPr/>
          <p:nvPr/>
        </p:nvSpPr>
        <p:spPr>
          <a:xfrm>
            <a:off x="6547608" y="5536247"/>
            <a:ext cx="915217" cy="16343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9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服务状态: 运行中</a:t>
            </a:r>
            <a:endParaRPr lang="en-US" sz="1100"/>
          </a:p>
        </p:txBody>
      </p:sp>
      <p:sp>
        <p:nvSpPr>
          <p:cNvPr id="29" name="Freeform 29"/>
          <p:cNvSpPr/>
          <p:nvPr/>
        </p:nvSpPr>
        <p:spPr>
          <a:xfrm>
            <a:off x="6362033" y="5802883"/>
            <a:ext cx="101756" cy="94090"/>
          </a:xfrm>
          <a:custGeom>
            <a:avLst/>
            <a:gdLst/>
            <a:ahLst/>
            <a:cxnLst/>
            <a:rect l="l" t="t" r="r" b="b"/>
            <a:pathLst>
              <a:path w="101756" h="94090">
                <a:moveTo>
                  <a:pt x="97845" y="2346"/>
                </a:moveTo>
                <a:cubicBezTo>
                  <a:pt x="101041" y="4670"/>
                  <a:pt x="101756" y="9139"/>
                  <a:pt x="99432" y="12334"/>
                </a:cubicBezTo>
                <a:lnTo>
                  <a:pt x="42231" y="90986"/>
                </a:lnTo>
                <a:cubicBezTo>
                  <a:pt x="41002" y="92684"/>
                  <a:pt x="39103" y="93734"/>
                  <a:pt x="37002" y="93913"/>
                </a:cubicBezTo>
                <a:cubicBezTo>
                  <a:pt x="34902" y="94091"/>
                  <a:pt x="32868" y="93308"/>
                  <a:pt x="31394" y="91835"/>
                </a:cubicBezTo>
                <a:lnTo>
                  <a:pt x="2794" y="63234"/>
                </a:lnTo>
                <a:cubicBezTo>
                  <a:pt x="0" y="60441"/>
                  <a:pt x="0" y="55906"/>
                  <a:pt x="2794" y="53112"/>
                </a:cubicBezTo>
                <a:cubicBezTo>
                  <a:pt x="5586" y="50319"/>
                  <a:pt x="10121" y="50319"/>
                  <a:pt x="12915" y="53112"/>
                </a:cubicBezTo>
                <a:lnTo>
                  <a:pt x="35595" y="75793"/>
                </a:lnTo>
                <a:lnTo>
                  <a:pt x="87880" y="3911"/>
                </a:lnTo>
                <a:cubicBezTo>
                  <a:pt x="90204" y="715"/>
                  <a:pt x="94673" y="0"/>
                  <a:pt x="97868" y="2324"/>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0" name="AutoShape 30"/>
          <p:cNvSpPr/>
          <p:nvPr/>
        </p:nvSpPr>
        <p:spPr>
          <a:xfrm>
            <a:off x="6547608" y="5765051"/>
            <a:ext cx="1405512" cy="16343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9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监听地址: 127.0.0.1:30000</a:t>
            </a:r>
            <a:endParaRPr lang="en-US" sz="1100"/>
          </a:p>
        </p:txBody>
      </p:sp>
      <p:sp>
        <p:nvSpPr>
          <p:cNvPr id="31" name="Freeform 31"/>
          <p:cNvSpPr/>
          <p:nvPr/>
        </p:nvSpPr>
        <p:spPr>
          <a:xfrm>
            <a:off x="6339232" y="6063314"/>
            <a:ext cx="5360558" cy="8172"/>
          </a:xfrm>
          <a:custGeom>
            <a:avLst/>
            <a:gdLst/>
            <a:ahLst/>
            <a:cxnLst/>
            <a:rect l="l" t="t" r="r" b="b"/>
            <a:pathLst>
              <a:path w="5360558" h="8172">
                <a:moveTo>
                  <a:pt x="0" y="0"/>
                </a:moveTo>
                <a:lnTo>
                  <a:pt x="5360558" y="0"/>
                </a:lnTo>
                <a:lnTo>
                  <a:pt x="5360558" y="8172"/>
                </a:lnTo>
                <a:lnTo>
                  <a:pt x="0" y="8172"/>
                </a:lnTo>
                <a:lnTo>
                  <a:pt x="0" y="0"/>
                </a:lnTo>
                <a:close/>
              </a:path>
            </a:pathLst>
          </a:custGeom>
          <a:solidFill>
            <a:srgbClr val="FFFFFF">
              <a:alpha val="30196"/>
            </a:srgbClr>
          </a:solidFill>
          <a:ln w="12700">
            <a:noFill/>
            <a:prstDash val="solid"/>
          </a:ln>
        </p:spPr>
        <p:txBody>
          <a:bodyPr wrap="square" lIns="91440" tIns="45720" rIns="91440" bIns="45720" rtlCol="0" anchor="t">
            <a:noAutofit/>
          </a:bodyPr>
          <a:lstStyle/>
          <a:p>
            <a:pPr algn="ctr">
              <a:defRPr/>
            </a:pPr>
          </a:p>
        </p:txBody>
      </p:sp>
      <p:sp>
        <p:nvSpPr>
          <p:cNvPr id="32" name="Freeform 32"/>
          <p:cNvSpPr/>
          <p:nvPr/>
        </p:nvSpPr>
        <p:spPr>
          <a:xfrm>
            <a:off x="6363747" y="6198145"/>
            <a:ext cx="114402" cy="114402"/>
          </a:xfrm>
          <a:custGeom>
            <a:avLst/>
            <a:gdLst/>
            <a:ahLst/>
            <a:cxnLst/>
            <a:rect l="l" t="t" r="r" b="b"/>
            <a:pathLst>
              <a:path w="114402" h="114402">
                <a:moveTo>
                  <a:pt x="16344" y="0"/>
                </a:moveTo>
                <a:cubicBezTo>
                  <a:pt x="7329" y="0"/>
                  <a:pt x="0" y="7328"/>
                  <a:pt x="0" y="16343"/>
                </a:cubicBezTo>
                <a:lnTo>
                  <a:pt x="0" y="32686"/>
                </a:lnTo>
                <a:cubicBezTo>
                  <a:pt x="0" y="41700"/>
                  <a:pt x="7329" y="49029"/>
                  <a:pt x="16344" y="49029"/>
                </a:cubicBezTo>
                <a:lnTo>
                  <a:pt x="98059" y="49029"/>
                </a:lnTo>
                <a:cubicBezTo>
                  <a:pt x="107072" y="49029"/>
                  <a:pt x="114402" y="41700"/>
                  <a:pt x="114402" y="32686"/>
                </a:cubicBezTo>
                <a:lnTo>
                  <a:pt x="114402" y="16343"/>
                </a:lnTo>
                <a:cubicBezTo>
                  <a:pt x="114402" y="7328"/>
                  <a:pt x="107072" y="0"/>
                  <a:pt x="98059" y="0"/>
                </a:cubicBezTo>
                <a:lnTo>
                  <a:pt x="16344" y="0"/>
                </a:lnTo>
                <a:close/>
                <a:moveTo>
                  <a:pt x="71501" y="18386"/>
                </a:moveTo>
                <a:cubicBezTo>
                  <a:pt x="74884" y="18386"/>
                  <a:pt x="77630" y="21132"/>
                  <a:pt x="77630" y="24514"/>
                </a:cubicBezTo>
                <a:cubicBezTo>
                  <a:pt x="77630" y="27897"/>
                  <a:pt x="74884" y="30643"/>
                  <a:pt x="71501" y="30643"/>
                </a:cubicBezTo>
                <a:cubicBezTo>
                  <a:pt x="68119" y="30643"/>
                  <a:pt x="65373" y="27897"/>
                  <a:pt x="65373" y="24514"/>
                </a:cubicBezTo>
                <a:cubicBezTo>
                  <a:pt x="65373" y="21132"/>
                  <a:pt x="68119" y="18386"/>
                  <a:pt x="71501" y="18386"/>
                </a:cubicBezTo>
                <a:close/>
                <a:moveTo>
                  <a:pt x="85802" y="24514"/>
                </a:moveTo>
                <a:cubicBezTo>
                  <a:pt x="85802" y="21132"/>
                  <a:pt x="88548" y="18386"/>
                  <a:pt x="91930" y="18386"/>
                </a:cubicBezTo>
                <a:cubicBezTo>
                  <a:pt x="95313" y="18386"/>
                  <a:pt x="98059" y="21132"/>
                  <a:pt x="98059" y="24514"/>
                </a:cubicBezTo>
                <a:cubicBezTo>
                  <a:pt x="98059" y="27897"/>
                  <a:pt x="95313" y="30643"/>
                  <a:pt x="91930" y="30643"/>
                </a:cubicBezTo>
                <a:cubicBezTo>
                  <a:pt x="88548" y="30643"/>
                  <a:pt x="85802" y="27897"/>
                  <a:pt x="85802" y="24514"/>
                </a:cubicBezTo>
                <a:close/>
                <a:moveTo>
                  <a:pt x="16344" y="65372"/>
                </a:moveTo>
                <a:cubicBezTo>
                  <a:pt x="7329" y="65372"/>
                  <a:pt x="0" y="72702"/>
                  <a:pt x="0" y="81715"/>
                </a:cubicBezTo>
                <a:lnTo>
                  <a:pt x="0" y="98058"/>
                </a:lnTo>
                <a:cubicBezTo>
                  <a:pt x="0" y="107073"/>
                  <a:pt x="7329" y="114402"/>
                  <a:pt x="16344" y="114402"/>
                </a:cubicBezTo>
                <a:lnTo>
                  <a:pt x="98059" y="114402"/>
                </a:lnTo>
                <a:cubicBezTo>
                  <a:pt x="107072" y="114402"/>
                  <a:pt x="114402" y="107073"/>
                  <a:pt x="114402" y="98058"/>
                </a:cubicBezTo>
                <a:lnTo>
                  <a:pt x="114402" y="81715"/>
                </a:lnTo>
                <a:cubicBezTo>
                  <a:pt x="114402" y="72702"/>
                  <a:pt x="107072" y="65372"/>
                  <a:pt x="98059" y="65372"/>
                </a:cubicBezTo>
                <a:lnTo>
                  <a:pt x="16344" y="65372"/>
                </a:lnTo>
                <a:close/>
                <a:moveTo>
                  <a:pt x="71501" y="83758"/>
                </a:moveTo>
                <a:cubicBezTo>
                  <a:pt x="74884" y="83758"/>
                  <a:pt x="77630" y="86504"/>
                  <a:pt x="77630" y="89887"/>
                </a:cubicBezTo>
                <a:cubicBezTo>
                  <a:pt x="77630" y="93269"/>
                  <a:pt x="74884" y="96016"/>
                  <a:pt x="71501" y="96016"/>
                </a:cubicBezTo>
                <a:cubicBezTo>
                  <a:pt x="68119" y="96016"/>
                  <a:pt x="65373" y="93269"/>
                  <a:pt x="65373" y="89887"/>
                </a:cubicBezTo>
                <a:cubicBezTo>
                  <a:pt x="65373" y="86504"/>
                  <a:pt x="68119" y="83758"/>
                  <a:pt x="71501" y="83758"/>
                </a:cubicBezTo>
                <a:close/>
                <a:moveTo>
                  <a:pt x="85802" y="89887"/>
                </a:moveTo>
                <a:cubicBezTo>
                  <a:pt x="85802" y="86504"/>
                  <a:pt x="88548" y="83758"/>
                  <a:pt x="91930" y="83758"/>
                </a:cubicBezTo>
                <a:cubicBezTo>
                  <a:pt x="95313" y="83758"/>
                  <a:pt x="98059" y="86504"/>
                  <a:pt x="98059" y="89887"/>
                </a:cubicBezTo>
                <a:cubicBezTo>
                  <a:pt x="98059" y="93269"/>
                  <a:pt x="95313" y="96016"/>
                  <a:pt x="91930" y="96016"/>
                </a:cubicBezTo>
                <a:cubicBezTo>
                  <a:pt x="88548" y="96016"/>
                  <a:pt x="85802" y="93269"/>
                  <a:pt x="85802" y="89887"/>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6544727" y="6165458"/>
            <a:ext cx="5220436" cy="196118"/>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华为NPU已变身为AI推理服务器！</a:t>
            </a:r>
            <a:endParaRPr lang="en-US" sz="1100"/>
          </a:p>
        </p:txBody>
      </p:sp>
      <p:sp>
        <p:nvSpPr>
          <p:cNvPr id="34" name="Freeform 34"/>
          <p:cNvSpPr/>
          <p:nvPr/>
        </p:nvSpPr>
        <p:spPr>
          <a:xfrm>
            <a:off x="6369685" y="4568821"/>
            <a:ext cx="309234" cy="307160"/>
          </a:xfrm>
          <a:custGeom>
            <a:avLst/>
            <a:gdLst/>
            <a:ahLst/>
            <a:cxnLst/>
            <a:rect l="l" t="t" r="r" b="b"/>
            <a:pathLst>
              <a:path w="309234" h="307160">
                <a:moveTo>
                  <a:pt x="154617" y="307160"/>
                </a:moveTo>
                <a:cubicBezTo>
                  <a:pt x="239953" y="307160"/>
                  <a:pt x="309234" y="238343"/>
                  <a:pt x="309234" y="153580"/>
                </a:cubicBezTo>
                <a:cubicBezTo>
                  <a:pt x="309234" y="68816"/>
                  <a:pt x="239953" y="0"/>
                  <a:pt x="154617" y="0"/>
                </a:cubicBezTo>
                <a:cubicBezTo>
                  <a:pt x="69281" y="0"/>
                  <a:pt x="0" y="68816"/>
                  <a:pt x="0" y="153580"/>
                </a:cubicBezTo>
                <a:cubicBezTo>
                  <a:pt x="0" y="238343"/>
                  <a:pt x="69281" y="307160"/>
                  <a:pt x="154617" y="307160"/>
                </a:cubicBezTo>
                <a:close/>
                <a:moveTo>
                  <a:pt x="205591" y="127603"/>
                </a:moveTo>
                <a:lnTo>
                  <a:pt x="157276" y="204393"/>
                </a:lnTo>
                <a:cubicBezTo>
                  <a:pt x="154738" y="208412"/>
                  <a:pt x="150390" y="210932"/>
                  <a:pt x="145617" y="211173"/>
                </a:cubicBezTo>
                <a:cubicBezTo>
                  <a:pt x="140846" y="211413"/>
                  <a:pt x="136257" y="209253"/>
                  <a:pt x="133417" y="205414"/>
                </a:cubicBezTo>
                <a:lnTo>
                  <a:pt x="104426" y="167019"/>
                </a:lnTo>
                <a:cubicBezTo>
                  <a:pt x="99596" y="160660"/>
                  <a:pt x="100924" y="151661"/>
                  <a:pt x="107326" y="146860"/>
                </a:cubicBezTo>
                <a:cubicBezTo>
                  <a:pt x="113729" y="142061"/>
                  <a:pt x="122789" y="143382"/>
                  <a:pt x="127621" y="149741"/>
                </a:cubicBezTo>
                <a:lnTo>
                  <a:pt x="143927" y="171338"/>
                </a:lnTo>
                <a:lnTo>
                  <a:pt x="181012" y="112365"/>
                </a:lnTo>
                <a:cubicBezTo>
                  <a:pt x="185240" y="105647"/>
                  <a:pt x="194178" y="103548"/>
                  <a:pt x="201004" y="107808"/>
                </a:cubicBezTo>
                <a:cubicBezTo>
                  <a:pt x="207827" y="112066"/>
                  <a:pt x="209880" y="120884"/>
                  <a:pt x="205591" y="127663"/>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5" name="Freeform 35"/>
          <p:cNvSpPr/>
          <p:nvPr/>
        </p:nvSpPr>
        <p:spPr>
          <a:xfrm>
            <a:off x="6272530" y="4211320"/>
            <a:ext cx="5590540" cy="1101725"/>
          </a:xfrm>
          <a:custGeom>
            <a:avLst/>
            <a:gdLst/>
            <a:ahLst/>
            <a:cxnLst/>
            <a:rect l="l" t="t" r="r" b="b"/>
            <a:pathLst>
              <a:path w="5590540" h="1101725">
                <a:moveTo>
                  <a:pt x="77916" y="0"/>
                </a:moveTo>
                <a:lnTo>
                  <a:pt x="5512624" y="0"/>
                </a:lnTo>
                <a:cubicBezTo>
                  <a:pt x="5555657" y="0"/>
                  <a:pt x="5590540" y="83958"/>
                  <a:pt x="5590540" y="187523"/>
                </a:cubicBezTo>
                <a:lnTo>
                  <a:pt x="5590540" y="914202"/>
                </a:lnTo>
                <a:cubicBezTo>
                  <a:pt x="5590540" y="1017769"/>
                  <a:pt x="5555657" y="1101725"/>
                  <a:pt x="5512624" y="1101725"/>
                </a:cubicBezTo>
                <a:lnTo>
                  <a:pt x="77916" y="1101725"/>
                </a:lnTo>
                <a:cubicBezTo>
                  <a:pt x="34884" y="1101725"/>
                  <a:pt x="0" y="1017769"/>
                  <a:pt x="0" y="914202"/>
                </a:cubicBezTo>
                <a:lnTo>
                  <a:pt x="0" y="187523"/>
                </a:lnTo>
                <a:cubicBezTo>
                  <a:pt x="0" y="84027"/>
                  <a:pt x="34914" y="0"/>
                  <a:pt x="77916"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36" name="AutoShape 36"/>
          <p:cNvSpPr/>
          <p:nvPr/>
        </p:nvSpPr>
        <p:spPr>
          <a:xfrm>
            <a:off x="6700520" y="4288790"/>
            <a:ext cx="4543425" cy="92202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推理服务启动</a:t>
            </a:r>
            <a:endParaRPr lang="en-US" sz="1100"/>
          </a:p>
          <a:p>
            <a:pPr indent="0" algn="l">
              <a:lnSpc>
                <a:spcPct val="100000"/>
              </a:lnSpc>
            </a:pPr>
            <a:endParaRPr lang="en-US" sz="1100"/>
          </a:p>
          <a:p>
            <a:pPr indent="0" algn="l">
              <a:lnSpc>
                <a:spcPct val="100000"/>
              </a:lnSpc>
            </a:pP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显示</a:t>
            </a: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Platform plugin fl is activiated</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7" name="Freeform 37"/>
          <p:cNvSpPr/>
          <p:nvPr/>
        </p:nvSpPr>
        <p:spPr>
          <a:xfrm>
            <a:off x="6402705" y="2032000"/>
            <a:ext cx="5132070" cy="628015"/>
          </a:xfrm>
          <a:custGeom>
            <a:avLst/>
            <a:gdLst/>
            <a:ahLst/>
            <a:cxnLst/>
            <a:rect l="l" t="t" r="r" b="b"/>
            <a:pathLst>
              <a:path w="5132070" h="628015">
                <a:moveTo>
                  <a:pt x="65378" y="0"/>
                </a:moveTo>
                <a:lnTo>
                  <a:pt x="5066692" y="0"/>
                </a:lnTo>
                <a:cubicBezTo>
                  <a:pt x="5102799" y="0"/>
                  <a:pt x="5132070" y="43259"/>
                  <a:pt x="5132070" y="96620"/>
                </a:cubicBezTo>
                <a:lnTo>
                  <a:pt x="5132070" y="531395"/>
                </a:lnTo>
                <a:cubicBezTo>
                  <a:pt x="5132070" y="584756"/>
                  <a:pt x="5102799" y="628015"/>
                  <a:pt x="5066692" y="628015"/>
                </a:cubicBezTo>
                <a:lnTo>
                  <a:pt x="65378" y="628015"/>
                </a:lnTo>
                <a:cubicBezTo>
                  <a:pt x="29295" y="628015"/>
                  <a:pt x="0" y="584721"/>
                  <a:pt x="0" y="531395"/>
                </a:cubicBezTo>
                <a:lnTo>
                  <a:pt x="0" y="96620"/>
                </a:lnTo>
                <a:cubicBezTo>
                  <a:pt x="0" y="43294"/>
                  <a:pt x="29295" y="0"/>
                  <a:pt x="65378"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vllm serve --model /root/Qwen3-4B --served-model-name qwen --enforce-eager --port 30000</a:t>
            </a:r>
            <a:endParaRPr lang="en-US" sz="1100"/>
          </a:p>
          <a:p>
            <a:pPr indent="0" algn="l">
              <a:lnSpc>
                <a:spcPct val="100000"/>
              </a:lnSpc>
            </a:pPr>
            <a:endParaRPr lang="en-US" sz="1100"/>
          </a:p>
          <a:p>
            <a:pPr indent="0" algn="l">
              <a:lnSpc>
                <a:spcPct val="100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8" name="Freeform 38"/>
          <p:cNvSpPr/>
          <p:nvPr/>
        </p:nvSpPr>
        <p:spPr>
          <a:xfrm>
            <a:off x="6409690" y="2886075"/>
            <a:ext cx="5159375" cy="1229995"/>
          </a:xfrm>
          <a:custGeom>
            <a:avLst/>
            <a:gdLst/>
            <a:ahLst/>
            <a:cxnLst/>
            <a:rect l="l" t="t" r="r" b="b"/>
            <a:pathLst>
              <a:path w="5159375" h="1229995">
                <a:moveTo>
                  <a:pt x="154588" y="0"/>
                </a:moveTo>
                <a:lnTo>
                  <a:pt x="5004787" y="0"/>
                </a:lnTo>
                <a:cubicBezTo>
                  <a:pt x="5090107" y="0"/>
                  <a:pt x="5159375" y="68892"/>
                  <a:pt x="5159375" y="153749"/>
                </a:cubicBezTo>
                <a:lnTo>
                  <a:pt x="5159375" y="1076246"/>
                </a:lnTo>
                <a:cubicBezTo>
                  <a:pt x="5159375" y="1161103"/>
                  <a:pt x="5090107" y="1229995"/>
                  <a:pt x="5004787" y="1229995"/>
                </a:cubicBezTo>
                <a:lnTo>
                  <a:pt x="154588" y="1229995"/>
                </a:lnTo>
                <a:cubicBezTo>
                  <a:pt x="69268" y="1229995"/>
                  <a:pt x="0" y="1161103"/>
                  <a:pt x="0" y="1076246"/>
                </a:cubicBezTo>
                <a:lnTo>
                  <a:pt x="0" y="153749"/>
                </a:lnTo>
                <a:cubicBezTo>
                  <a:pt x="0" y="68892"/>
                  <a:pt x="69268" y="0"/>
                  <a:pt x="154588"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--model </a:t>
            </a: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模型权重路径</a:t>
            </a:r>
            <a:endParaRPr lang="en-US" sz="1100"/>
          </a:p>
          <a:p>
            <a:pPr indent="0" algn="l">
              <a:lnSpc>
                <a:spcPct val="100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--served-model-name </a:t>
            </a: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服务对外名称</a:t>
            </a:r>
            <a:endPar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--enforce-eager</a:t>
            </a: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禁用</a:t>
            </a: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CUDA Graph</a:t>
            </a:r>
            <a:r>
              <a:rPr lang="en-US" sz="18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NPU</a:t>
            </a: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兼容）</a:t>
            </a:r>
            <a:endPar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--port </a:t>
            </a: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服务运行在</a:t>
            </a: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30000</a:t>
            </a: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端口</a:t>
            </a:r>
            <a:endPar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39" name="Freeform 39"/>
          <p:cNvSpPr/>
          <p:nvPr/>
        </p:nvSpPr>
        <p:spPr>
          <a:xfrm>
            <a:off x="6272530" y="5567680"/>
            <a:ext cx="5590540" cy="1101725"/>
          </a:xfrm>
          <a:custGeom>
            <a:avLst/>
            <a:gdLst/>
            <a:ahLst/>
            <a:cxnLst/>
            <a:rect l="l" t="t" r="r" b="b"/>
            <a:pathLst>
              <a:path w="5590540" h="1101725">
                <a:moveTo>
                  <a:pt x="77916" y="0"/>
                </a:moveTo>
                <a:lnTo>
                  <a:pt x="5512624" y="0"/>
                </a:lnTo>
                <a:cubicBezTo>
                  <a:pt x="5555657" y="0"/>
                  <a:pt x="5590540" y="83958"/>
                  <a:pt x="5590540" y="187523"/>
                </a:cubicBezTo>
                <a:lnTo>
                  <a:pt x="5590540" y="914202"/>
                </a:lnTo>
                <a:cubicBezTo>
                  <a:pt x="5590540" y="1017769"/>
                  <a:pt x="5555657" y="1101725"/>
                  <a:pt x="5512624" y="1101725"/>
                </a:cubicBezTo>
                <a:lnTo>
                  <a:pt x="77916" y="1101725"/>
                </a:lnTo>
                <a:cubicBezTo>
                  <a:pt x="34884" y="1101725"/>
                  <a:pt x="0" y="1017769"/>
                  <a:pt x="0" y="914202"/>
                </a:cubicBezTo>
                <a:lnTo>
                  <a:pt x="0" y="187523"/>
                </a:lnTo>
                <a:cubicBezTo>
                  <a:pt x="0" y="84027"/>
                  <a:pt x="34914" y="0"/>
                  <a:pt x="77916"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推理服务启动时自动启动</a:t>
            </a: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FlagGems</a:t>
            </a: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算子，可通过</a:t>
            </a:r>
            <a:b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b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cat /tmp/flaggems_enable_oplist.txt </a:t>
            </a: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查询启动的</a:t>
            </a: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FlagGems</a:t>
            </a: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算子</a:t>
            </a:r>
            <a:endParaRPr lang="en-US" sz="11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81000" y="647700"/>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36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第六步：客户端配置与对话</a:t>
            </a:r>
            <a:endParaRPr lang="en-US" sz="1100"/>
          </a:p>
        </p:txBody>
      </p:sp>
      <p:sp>
        <p:nvSpPr>
          <p:cNvPr id="3" name="Freeform 3"/>
          <p:cNvSpPr/>
          <p:nvPr/>
        </p:nvSpPr>
        <p:spPr>
          <a:xfrm>
            <a:off x="381000" y="14859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400050" y="1676400"/>
            <a:ext cx="5600700" cy="4349115"/>
          </a:xfrm>
          <a:custGeom>
            <a:avLst/>
            <a:gdLst/>
            <a:ahLst/>
            <a:cxnLst/>
            <a:rect l="l" t="t" r="r" b="b"/>
            <a:pathLst>
              <a:path w="5600700" h="4349115">
                <a:moveTo>
                  <a:pt x="38100" y="0"/>
                </a:moveTo>
                <a:lnTo>
                  <a:pt x="5486397" y="0"/>
                </a:lnTo>
                <a:cubicBezTo>
                  <a:pt x="5549483" y="0"/>
                  <a:pt x="5600700" y="91708"/>
                  <a:pt x="5600700" y="204669"/>
                </a:cubicBezTo>
                <a:lnTo>
                  <a:pt x="5600700" y="4144446"/>
                </a:lnTo>
                <a:cubicBezTo>
                  <a:pt x="5600700" y="4257407"/>
                  <a:pt x="5549483" y="4349115"/>
                  <a:pt x="5486397" y="4349115"/>
                </a:cubicBezTo>
                <a:lnTo>
                  <a:pt x="38100" y="4349115"/>
                </a:lnTo>
                <a:cubicBezTo>
                  <a:pt x="17073" y="4349115"/>
                  <a:pt x="0" y="4318546"/>
                  <a:pt x="0" y="4280893"/>
                </a:cubicBezTo>
                <a:lnTo>
                  <a:pt x="0" y="68222"/>
                </a:lnTo>
                <a:cubicBezTo>
                  <a:pt x="0" y="30569"/>
                  <a:pt x="17073" y="0"/>
                  <a:pt x="38100" y="0"/>
                </a:cubicBezTo>
                <a:close/>
              </a:path>
            </a:pathLst>
          </a:custGeom>
          <a:solidFill>
            <a:srgbClr val="FFFFFF">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5" name="Freeform 5"/>
          <p:cNvSpPr/>
          <p:nvPr/>
        </p:nvSpPr>
        <p:spPr>
          <a:xfrm>
            <a:off x="400050" y="1676400"/>
            <a:ext cx="38100" cy="2428875"/>
          </a:xfrm>
          <a:custGeom>
            <a:avLst/>
            <a:gdLst/>
            <a:ahLst/>
            <a:cxnLst/>
            <a:rect l="l" t="t" r="r" b="b"/>
            <a:pathLst>
              <a:path w="38100" h="2428875">
                <a:moveTo>
                  <a:pt x="38100" y="0"/>
                </a:moveTo>
                <a:lnTo>
                  <a:pt x="38100" y="0"/>
                </a:lnTo>
                <a:lnTo>
                  <a:pt x="38100" y="2428875"/>
                </a:lnTo>
                <a:lnTo>
                  <a:pt x="38100" y="2428875"/>
                </a:lnTo>
                <a:cubicBezTo>
                  <a:pt x="17073" y="2428875"/>
                  <a:pt x="0" y="2411802"/>
                  <a:pt x="0" y="2390775"/>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600357" y="1963818"/>
            <a:ext cx="192063" cy="202405"/>
          </a:xfrm>
          <a:custGeom>
            <a:avLst/>
            <a:gdLst/>
            <a:ahLst/>
            <a:cxnLst/>
            <a:rect l="l" t="t" r="r" b="b"/>
            <a:pathLst>
              <a:path w="192063" h="202405">
                <a:moveTo>
                  <a:pt x="73262" y="9486"/>
                </a:moveTo>
                <a:cubicBezTo>
                  <a:pt x="74378" y="3980"/>
                  <a:pt x="79252" y="0"/>
                  <a:pt x="84908" y="0"/>
                </a:cubicBezTo>
                <a:lnTo>
                  <a:pt x="107158" y="0"/>
                </a:lnTo>
                <a:cubicBezTo>
                  <a:pt x="112813" y="0"/>
                  <a:pt x="117688" y="3980"/>
                  <a:pt x="118803" y="9486"/>
                </a:cubicBezTo>
                <a:lnTo>
                  <a:pt x="124198" y="35532"/>
                </a:lnTo>
                <a:cubicBezTo>
                  <a:pt x="129445" y="37764"/>
                  <a:pt x="134356" y="40629"/>
                  <a:pt x="138822" y="44015"/>
                </a:cubicBezTo>
                <a:lnTo>
                  <a:pt x="164048" y="35643"/>
                </a:lnTo>
                <a:cubicBezTo>
                  <a:pt x="169404" y="33856"/>
                  <a:pt x="175285" y="36090"/>
                  <a:pt x="178112" y="41001"/>
                </a:cubicBezTo>
                <a:lnTo>
                  <a:pt x="189236" y="60274"/>
                </a:lnTo>
                <a:cubicBezTo>
                  <a:pt x="192064" y="65186"/>
                  <a:pt x="191059" y="71362"/>
                  <a:pt x="186817" y="75120"/>
                </a:cubicBezTo>
                <a:lnTo>
                  <a:pt x="166986" y="92756"/>
                </a:lnTo>
                <a:cubicBezTo>
                  <a:pt x="167320" y="95509"/>
                  <a:pt x="167470" y="98337"/>
                  <a:pt x="167470" y="101202"/>
                </a:cubicBezTo>
                <a:cubicBezTo>
                  <a:pt x="167470" y="104067"/>
                  <a:pt x="167284" y="106895"/>
                  <a:pt x="166986" y="109647"/>
                </a:cubicBezTo>
                <a:lnTo>
                  <a:pt x="186856" y="127321"/>
                </a:lnTo>
                <a:cubicBezTo>
                  <a:pt x="191097" y="131079"/>
                  <a:pt x="192064" y="137293"/>
                  <a:pt x="189274" y="142167"/>
                </a:cubicBezTo>
                <a:lnTo>
                  <a:pt x="178148" y="161439"/>
                </a:lnTo>
                <a:cubicBezTo>
                  <a:pt x="175321" y="166314"/>
                  <a:pt x="169443" y="168584"/>
                  <a:pt x="164084" y="166798"/>
                </a:cubicBezTo>
                <a:lnTo>
                  <a:pt x="138858" y="158426"/>
                </a:lnTo>
                <a:cubicBezTo>
                  <a:pt x="134356" y="161811"/>
                  <a:pt x="129445" y="164640"/>
                  <a:pt x="124236" y="166911"/>
                </a:cubicBezTo>
                <a:lnTo>
                  <a:pt x="118878" y="192918"/>
                </a:lnTo>
                <a:cubicBezTo>
                  <a:pt x="117724" y="198461"/>
                  <a:pt x="112850" y="202404"/>
                  <a:pt x="107232" y="202404"/>
                </a:cubicBezTo>
                <a:lnTo>
                  <a:pt x="84982" y="202404"/>
                </a:lnTo>
                <a:cubicBezTo>
                  <a:pt x="79327" y="202404"/>
                  <a:pt x="74453" y="198424"/>
                  <a:pt x="73337" y="192918"/>
                </a:cubicBezTo>
                <a:lnTo>
                  <a:pt x="67978" y="166911"/>
                </a:lnTo>
                <a:cubicBezTo>
                  <a:pt x="62732" y="164677"/>
                  <a:pt x="57858" y="161811"/>
                  <a:pt x="53356" y="158426"/>
                </a:cubicBezTo>
                <a:lnTo>
                  <a:pt x="28018" y="166798"/>
                </a:lnTo>
                <a:cubicBezTo>
                  <a:pt x="22660" y="168584"/>
                  <a:pt x="16782" y="166352"/>
                  <a:pt x="13954" y="161439"/>
                </a:cubicBezTo>
                <a:lnTo>
                  <a:pt x="2829" y="142167"/>
                </a:lnTo>
                <a:cubicBezTo>
                  <a:pt x="0" y="137256"/>
                  <a:pt x="1006" y="131079"/>
                  <a:pt x="5247" y="127321"/>
                </a:cubicBezTo>
                <a:lnTo>
                  <a:pt x="25116" y="109647"/>
                </a:lnTo>
                <a:cubicBezTo>
                  <a:pt x="24781" y="106895"/>
                  <a:pt x="24632" y="104067"/>
                  <a:pt x="24632" y="101202"/>
                </a:cubicBezTo>
                <a:cubicBezTo>
                  <a:pt x="24632" y="98337"/>
                  <a:pt x="24818" y="95509"/>
                  <a:pt x="25116" y="92756"/>
                </a:cubicBezTo>
                <a:lnTo>
                  <a:pt x="5247" y="75083"/>
                </a:lnTo>
                <a:cubicBezTo>
                  <a:pt x="1006" y="71325"/>
                  <a:pt x="39" y="65111"/>
                  <a:pt x="2829" y="60237"/>
                </a:cubicBezTo>
                <a:lnTo>
                  <a:pt x="13954" y="40965"/>
                </a:lnTo>
                <a:cubicBezTo>
                  <a:pt x="16782" y="36052"/>
                  <a:pt x="22660" y="33820"/>
                  <a:pt x="28018" y="35606"/>
                </a:cubicBezTo>
                <a:lnTo>
                  <a:pt x="53245" y="43978"/>
                </a:lnTo>
                <a:cubicBezTo>
                  <a:pt x="57747" y="40593"/>
                  <a:pt x="62658" y="37764"/>
                  <a:pt x="67867" y="35493"/>
                </a:cubicBezTo>
                <a:lnTo>
                  <a:pt x="73262" y="9486"/>
                </a:lnTo>
                <a:close/>
                <a:moveTo>
                  <a:pt x="96033" y="130968"/>
                </a:moveTo>
                <a:cubicBezTo>
                  <a:pt x="106666" y="130928"/>
                  <a:pt x="116472" y="125218"/>
                  <a:pt x="121755" y="115989"/>
                </a:cubicBezTo>
                <a:cubicBezTo>
                  <a:pt x="127037" y="106760"/>
                  <a:pt x="126995" y="95412"/>
                  <a:pt x="121644" y="86224"/>
                </a:cubicBezTo>
                <a:cubicBezTo>
                  <a:pt x="116291" y="77033"/>
                  <a:pt x="106444" y="71396"/>
                  <a:pt x="95809" y="71436"/>
                </a:cubicBezTo>
                <a:cubicBezTo>
                  <a:pt x="85176" y="71476"/>
                  <a:pt x="75370" y="77186"/>
                  <a:pt x="70087" y="86415"/>
                </a:cubicBezTo>
                <a:cubicBezTo>
                  <a:pt x="64805" y="95644"/>
                  <a:pt x="64847" y="106992"/>
                  <a:pt x="70198" y="116180"/>
                </a:cubicBezTo>
                <a:cubicBezTo>
                  <a:pt x="75551" y="125371"/>
                  <a:pt x="85398" y="131008"/>
                  <a:pt x="96033" y="130968"/>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874395" y="1905000"/>
            <a:ext cx="52863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配置模型地址和名称</a:t>
            </a:r>
            <a:endParaRPr lang="en-US" sz="1100"/>
          </a:p>
        </p:txBody>
      </p:sp>
      <p:sp>
        <p:nvSpPr>
          <p:cNvPr id="8" name="Freeform 8"/>
          <p:cNvSpPr/>
          <p:nvPr/>
        </p:nvSpPr>
        <p:spPr>
          <a:xfrm>
            <a:off x="6572250" y="3357563"/>
            <a:ext cx="4895850" cy="9525"/>
          </a:xfrm>
          <a:custGeom>
            <a:avLst/>
            <a:gdLst/>
            <a:ahLst/>
            <a:cxnLst/>
            <a:rect l="l" t="t" r="r" b="b"/>
            <a:pathLst>
              <a:path w="4895850" h="9525">
                <a:moveTo>
                  <a:pt x="0" y="0"/>
                </a:moveTo>
                <a:lnTo>
                  <a:pt x="4895850" y="0"/>
                </a:lnTo>
                <a:lnTo>
                  <a:pt x="4895850" y="9525"/>
                </a:lnTo>
                <a:lnTo>
                  <a:pt x="0" y="9525"/>
                </a:lnTo>
                <a:lnTo>
                  <a:pt x="0" y="0"/>
                </a:lnTo>
                <a:close/>
              </a:path>
            </a:pathLst>
          </a:custGeom>
          <a:solidFill>
            <a:srgbClr val="FFFFFF">
              <a:alpha val="2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6547247" y="5095467"/>
            <a:ext cx="145666" cy="174501"/>
          </a:xfrm>
          <a:custGeom>
            <a:avLst/>
            <a:gdLst/>
            <a:ahLst/>
            <a:cxnLst/>
            <a:rect l="l" t="t" r="r" b="b"/>
            <a:pathLst>
              <a:path w="145666" h="174501">
                <a:moveTo>
                  <a:pt x="94172" y="20500"/>
                </a:moveTo>
                <a:cubicBezTo>
                  <a:pt x="98041" y="15180"/>
                  <a:pt x="96850" y="7738"/>
                  <a:pt x="91530" y="3869"/>
                </a:cubicBezTo>
                <a:cubicBezTo>
                  <a:pt x="86209" y="0"/>
                  <a:pt x="78768" y="1190"/>
                  <a:pt x="74898" y="6510"/>
                </a:cubicBezTo>
                <a:lnTo>
                  <a:pt x="35459" y="60721"/>
                </a:lnTo>
                <a:lnTo>
                  <a:pt x="21506" y="46769"/>
                </a:lnTo>
                <a:cubicBezTo>
                  <a:pt x="16855" y="42118"/>
                  <a:pt x="9302" y="42118"/>
                  <a:pt x="4650" y="46769"/>
                </a:cubicBezTo>
                <a:cubicBezTo>
                  <a:pt x="0" y="51419"/>
                  <a:pt x="0" y="58972"/>
                  <a:pt x="4650" y="63623"/>
                </a:cubicBezTo>
                <a:lnTo>
                  <a:pt x="28464" y="87437"/>
                </a:lnTo>
                <a:cubicBezTo>
                  <a:pt x="30919" y="89891"/>
                  <a:pt x="34342" y="91156"/>
                  <a:pt x="37803" y="90896"/>
                </a:cubicBezTo>
                <a:cubicBezTo>
                  <a:pt x="41263" y="90636"/>
                  <a:pt x="44462" y="88850"/>
                  <a:pt x="46508" y="86022"/>
                </a:cubicBezTo>
                <a:lnTo>
                  <a:pt x="94133" y="20538"/>
                </a:lnTo>
                <a:close/>
                <a:moveTo>
                  <a:pt x="141797" y="71102"/>
                </a:moveTo>
                <a:cubicBezTo>
                  <a:pt x="145666" y="65780"/>
                  <a:pt x="144475" y="58340"/>
                  <a:pt x="139155" y="54470"/>
                </a:cubicBezTo>
                <a:cubicBezTo>
                  <a:pt x="133834" y="50601"/>
                  <a:pt x="126393" y="51791"/>
                  <a:pt x="122523" y="57111"/>
                </a:cubicBezTo>
                <a:lnTo>
                  <a:pt x="59271" y="144065"/>
                </a:lnTo>
                <a:lnTo>
                  <a:pt x="33412" y="118206"/>
                </a:lnTo>
                <a:cubicBezTo>
                  <a:pt x="28761" y="113555"/>
                  <a:pt x="21207" y="113555"/>
                  <a:pt x="16558" y="118206"/>
                </a:cubicBezTo>
                <a:cubicBezTo>
                  <a:pt x="11907" y="122857"/>
                  <a:pt x="11907" y="130410"/>
                  <a:pt x="16558" y="135062"/>
                </a:cubicBezTo>
                <a:lnTo>
                  <a:pt x="52275" y="170779"/>
                </a:lnTo>
                <a:cubicBezTo>
                  <a:pt x="54732" y="173235"/>
                  <a:pt x="58156" y="174500"/>
                  <a:pt x="61615" y="174240"/>
                </a:cubicBezTo>
                <a:cubicBezTo>
                  <a:pt x="65075" y="173979"/>
                  <a:pt x="68275" y="172193"/>
                  <a:pt x="70322" y="169365"/>
                </a:cubicBezTo>
                <a:lnTo>
                  <a:pt x="141758" y="71139"/>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pic>
        <p:nvPicPr>
          <p:cNvPr id="10" name="Picture 10"/>
          <p:cNvPicPr>
            <a:picLocks noChangeAspect="1"/>
          </p:cNvPicPr>
          <p:nvPr/>
        </p:nvPicPr>
        <p:blipFill>
          <a:blip r:embed="rId1"/>
          <a:srcRect/>
          <a:stretch>
            <a:fillRect/>
          </a:stretch>
        </p:blipFill>
        <p:spPr>
          <a:xfrm>
            <a:off x="485775" y="2310765"/>
            <a:ext cx="5505450" cy="2780665"/>
          </a:xfrm>
          <a:prstGeom prst="rect">
            <a:avLst/>
          </a:prstGeom>
          <a:ln w="12700">
            <a:noFill/>
            <a:prstDash val="solid"/>
          </a:ln>
        </p:spPr>
      </p:pic>
      <p:pic>
        <p:nvPicPr>
          <p:cNvPr id="11" name="Picture 11"/>
          <p:cNvPicPr>
            <a:picLocks noChangeAspect="1"/>
          </p:cNvPicPr>
          <p:nvPr/>
        </p:nvPicPr>
        <p:blipFill>
          <a:blip r:embed="rId2"/>
          <a:srcRect/>
          <a:stretch>
            <a:fillRect/>
          </a:stretch>
        </p:blipFill>
        <p:spPr>
          <a:xfrm>
            <a:off x="6402705" y="647700"/>
            <a:ext cx="5019675" cy="3115945"/>
          </a:xfrm>
          <a:prstGeom prst="rect">
            <a:avLst/>
          </a:prstGeom>
          <a:ln w="12700">
            <a:noFill/>
            <a:prstDash val="solid"/>
          </a:ln>
        </p:spPr>
      </p:pic>
      <p:sp>
        <p:nvSpPr>
          <p:cNvPr id="12" name="Freeform 12"/>
          <p:cNvSpPr/>
          <p:nvPr/>
        </p:nvSpPr>
        <p:spPr>
          <a:xfrm>
            <a:off x="6336030" y="4500245"/>
            <a:ext cx="5132070" cy="628015"/>
          </a:xfrm>
          <a:custGeom>
            <a:avLst/>
            <a:gdLst/>
            <a:ahLst/>
            <a:cxnLst/>
            <a:rect l="l" t="t" r="r" b="b"/>
            <a:pathLst>
              <a:path w="5132070" h="628015">
                <a:moveTo>
                  <a:pt x="65378" y="0"/>
                </a:moveTo>
                <a:lnTo>
                  <a:pt x="5066692" y="0"/>
                </a:lnTo>
                <a:cubicBezTo>
                  <a:pt x="5102799" y="0"/>
                  <a:pt x="5132070" y="43259"/>
                  <a:pt x="5132070" y="96620"/>
                </a:cubicBezTo>
                <a:lnTo>
                  <a:pt x="5132070" y="531395"/>
                </a:lnTo>
                <a:cubicBezTo>
                  <a:pt x="5132070" y="584756"/>
                  <a:pt x="5102799" y="628015"/>
                  <a:pt x="5066692" y="628015"/>
                </a:cubicBezTo>
                <a:lnTo>
                  <a:pt x="65378" y="628015"/>
                </a:lnTo>
                <a:cubicBezTo>
                  <a:pt x="29295" y="628015"/>
                  <a:pt x="0" y="584721"/>
                  <a:pt x="0" y="531395"/>
                </a:cubicBezTo>
                <a:lnTo>
                  <a:pt x="0" y="96620"/>
                </a:lnTo>
                <a:cubicBezTo>
                  <a:pt x="0" y="43294"/>
                  <a:pt x="29295" y="0"/>
                  <a:pt x="65378"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vllm serve --model /root/Qwen3-4B --served-model-name </a:t>
            </a:r>
            <a:r>
              <a:rPr lang="en-US" sz="1800" b="1" i="0" u="none" strike="noStrike">
                <a:solidFill>
                  <a:srgbClr val="FF0000"/>
                </a:solidFill>
                <a:latin typeface="Calibri" panose="020F0502020204030204"/>
                <a:ea typeface="Calibri" panose="020F0502020204030204"/>
                <a:cs typeface="Calibri" panose="020F0502020204030204"/>
                <a:sym typeface="Calibri" panose="020F0502020204030204"/>
              </a:rPr>
              <a:t>qwen </a:t>
            </a: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--enforce-eager --port 30000</a:t>
            </a:r>
            <a:endParaRPr lang="en-US" sz="1100"/>
          </a:p>
          <a:p>
            <a:pPr indent="0" algn="l">
              <a:lnSpc>
                <a:spcPct val="100000"/>
              </a:lnSpc>
            </a:pPr>
            <a:endParaRPr lang="en-US" sz="1100"/>
          </a:p>
          <a:p>
            <a:pPr indent="0" algn="l">
              <a:lnSpc>
                <a:spcPct val="100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cxnSp>
        <p:nvCxnSpPr>
          <p:cNvPr id="13" name="Connector 13"/>
          <p:cNvCxnSpPr/>
          <p:nvPr/>
        </p:nvCxnSpPr>
        <p:spPr>
          <a:xfrm rot="10800000" flipV="1">
            <a:off x="2951480" y="2802890"/>
            <a:ext cx="5102860" cy="897255"/>
          </a:xfrm>
          <a:prstGeom prst="straightConnector1">
            <a:avLst/>
          </a:prstGeom>
          <a:noFill/>
          <a:ln w="12700" cap="flat">
            <a:solidFill>
              <a:srgbClr val="FF0000">
                <a:alpha val="100000"/>
              </a:srgbClr>
            </a:solidFill>
            <a:prstDash val="solid"/>
            <a:headEnd type="none" w="med" len="med"/>
            <a:tailEnd type="arrow" w="med" len="med"/>
          </a:ln>
        </p:spPr>
      </p:cxnSp>
      <p:cxnSp>
        <p:nvCxnSpPr>
          <p:cNvPr id="14" name="Connector 14"/>
          <p:cNvCxnSpPr/>
          <p:nvPr/>
        </p:nvCxnSpPr>
        <p:spPr>
          <a:xfrm rot="10800000">
            <a:off x="5124450" y="4123690"/>
            <a:ext cx="1250950" cy="376555"/>
          </a:xfrm>
          <a:prstGeom prst="straightConnector1">
            <a:avLst/>
          </a:prstGeom>
          <a:noFill/>
          <a:ln w="12700" cap="flat">
            <a:solidFill>
              <a:srgbClr val="FF0000">
                <a:alpha val="100000"/>
              </a:srgbClr>
            </a:solidFill>
            <a:prstDash val="solid"/>
            <a:headEnd type="none" w="med" len="med"/>
            <a:tailEnd type="arrow" w="med" len="med"/>
          </a:ln>
        </p:spPr>
      </p:cxnSp>
      <p:sp>
        <p:nvSpPr>
          <p:cNvPr id="15" name="Freeform 15"/>
          <p:cNvSpPr/>
          <p:nvPr/>
        </p:nvSpPr>
        <p:spPr>
          <a:xfrm>
            <a:off x="6375400" y="3829685"/>
            <a:ext cx="5159375" cy="541020"/>
          </a:xfrm>
          <a:custGeom>
            <a:avLst/>
            <a:gdLst/>
            <a:ahLst/>
            <a:cxnLst/>
            <a:rect l="l" t="t" r="r" b="b"/>
            <a:pathLst>
              <a:path w="5159375" h="541020">
                <a:moveTo>
                  <a:pt x="154588" y="0"/>
                </a:moveTo>
                <a:lnTo>
                  <a:pt x="5004787" y="0"/>
                </a:lnTo>
                <a:cubicBezTo>
                  <a:pt x="5090107" y="0"/>
                  <a:pt x="5159375" y="30302"/>
                  <a:pt x="5159375" y="67627"/>
                </a:cubicBezTo>
                <a:lnTo>
                  <a:pt x="5159375" y="473393"/>
                </a:lnTo>
                <a:cubicBezTo>
                  <a:pt x="5159375" y="510718"/>
                  <a:pt x="5090107" y="541020"/>
                  <a:pt x="5004787" y="541020"/>
                </a:cubicBezTo>
                <a:lnTo>
                  <a:pt x="154588" y="541020"/>
                </a:lnTo>
                <a:cubicBezTo>
                  <a:pt x="69268" y="541020"/>
                  <a:pt x="0" y="510718"/>
                  <a:pt x="0" y="473393"/>
                </a:cubicBezTo>
                <a:lnTo>
                  <a:pt x="0" y="67627"/>
                </a:lnTo>
                <a:cubicBezTo>
                  <a:pt x="0" y="30302"/>
                  <a:pt x="69268" y="0"/>
                  <a:pt x="154588"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indent="0" algn="l">
              <a:lnSpc>
                <a:spcPct val="100000"/>
              </a:lnSpc>
              <a:defRPr/>
            </a:pPr>
            <a:r>
              <a:rPr lang="en-US" sz="1800" b="1" i="0" u="none" strike="noStrike">
                <a:solidFill>
                  <a:srgbClr val="000000"/>
                </a:solidFill>
                <a:latin typeface="Calibri" panose="020F0502020204030204"/>
                <a:ea typeface="Calibri" panose="020F0502020204030204"/>
                <a:cs typeface="Calibri" panose="020F0502020204030204"/>
                <a:sym typeface="Calibri" panose="020F0502020204030204"/>
              </a:rPr>
              <a:t>Base URL</a:t>
            </a: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 </a:t>
            </a:r>
            <a:r>
              <a:rPr lang="en-US" sz="1800" b="1" i="0" u="none" strike="noStrike">
                <a:solidFill>
                  <a:srgbClr val="000000"/>
                </a:solidFill>
                <a:latin typeface="Calibri" panose="020F0502020204030204"/>
                <a:ea typeface="Calibri" panose="020F0502020204030204"/>
                <a:cs typeface="Calibri" panose="020F0502020204030204"/>
                <a:sym typeface="Calibri" panose="020F0502020204030204"/>
              </a:rPr>
              <a:t>Service URL/v1</a:t>
            </a:r>
            <a:endParaRPr lang="en-US" sz="1100"/>
          </a:p>
          <a:p>
            <a:pPr indent="0" algn="l">
              <a:lnSpc>
                <a:spcPct val="100000"/>
              </a:lnSpc>
            </a:pPr>
            <a:endParaRPr lang="en-US" sz="1100"/>
          </a:p>
          <a:p>
            <a:pPr indent="0" algn="l">
              <a:lnSpc>
                <a:spcPct val="100000"/>
              </a:lnSpc>
            </a:pPr>
            <a:endParaRPr lang="en-US" sz="1100"/>
          </a:p>
          <a:p>
            <a:pPr indent="0" algn="l">
              <a:lnSpc>
                <a:spcPct val="100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6" name="Freeform 16"/>
          <p:cNvSpPr/>
          <p:nvPr/>
        </p:nvSpPr>
        <p:spPr>
          <a:xfrm>
            <a:off x="6402705" y="5295900"/>
            <a:ext cx="5159375" cy="541020"/>
          </a:xfrm>
          <a:custGeom>
            <a:avLst/>
            <a:gdLst/>
            <a:ahLst/>
            <a:cxnLst/>
            <a:rect l="l" t="t" r="r" b="b"/>
            <a:pathLst>
              <a:path w="5159375" h="541020">
                <a:moveTo>
                  <a:pt x="154588" y="0"/>
                </a:moveTo>
                <a:lnTo>
                  <a:pt x="5004787" y="0"/>
                </a:lnTo>
                <a:cubicBezTo>
                  <a:pt x="5090107" y="0"/>
                  <a:pt x="5159375" y="30302"/>
                  <a:pt x="5159375" y="67628"/>
                </a:cubicBezTo>
                <a:lnTo>
                  <a:pt x="5159375" y="473392"/>
                </a:lnTo>
                <a:cubicBezTo>
                  <a:pt x="5159375" y="510718"/>
                  <a:pt x="5090107" y="541020"/>
                  <a:pt x="5004787" y="541020"/>
                </a:cubicBezTo>
                <a:lnTo>
                  <a:pt x="154588" y="541020"/>
                </a:lnTo>
                <a:cubicBezTo>
                  <a:pt x="69268" y="541020"/>
                  <a:pt x="0" y="510718"/>
                  <a:pt x="0" y="473392"/>
                </a:cubicBezTo>
                <a:lnTo>
                  <a:pt x="0" y="67628"/>
                </a:lnTo>
                <a:cubicBezTo>
                  <a:pt x="0" y="30302"/>
                  <a:pt x="69268" y="0"/>
                  <a:pt x="154588"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indent="0" algn="l">
              <a:lnSpc>
                <a:spcPct val="100000"/>
              </a:lnSpc>
              <a:defRPr/>
            </a:pPr>
            <a:r>
              <a:rPr lang="en-US" sz="1800" b="1" i="0" u="none" strike="noStrike">
                <a:solidFill>
                  <a:srgbClr val="000000"/>
                </a:solidFill>
                <a:latin typeface="Calibri" panose="020F0502020204030204"/>
                <a:ea typeface="Calibri" panose="020F0502020204030204"/>
                <a:cs typeface="Calibri" panose="020F0502020204030204"/>
                <a:sym typeface="Calibri" panose="020F0502020204030204"/>
              </a:rPr>
              <a:t>Chat Model Name = </a:t>
            </a:r>
            <a:r>
              <a:rPr lang="en-US" sz="1800" b="1" i="0" u="none" strike="noStrike">
                <a:solidFill>
                  <a:srgbClr val="FF0000"/>
                </a:solidFill>
                <a:latin typeface="Calibri" panose="020F0502020204030204"/>
                <a:ea typeface="Calibri" panose="020F0502020204030204"/>
                <a:cs typeface="Calibri" panose="020F0502020204030204"/>
                <a:sym typeface="Calibri" panose="020F0502020204030204"/>
              </a:rPr>
              <a:t>qwen</a:t>
            </a:r>
            <a:endParaRPr lang="en-US" sz="1100"/>
          </a:p>
          <a:p>
            <a:pPr indent="0" algn="l">
              <a:lnSpc>
                <a:spcPct val="100000"/>
              </a:lnSpc>
            </a:pPr>
            <a:endParaRPr lang="en-US" sz="1100"/>
          </a:p>
          <a:p>
            <a:pPr indent="0" algn="l">
              <a:lnSpc>
                <a:spcPct val="100000"/>
              </a:lnSpc>
            </a:pPr>
            <a:endParaRPr lang="en-US" sz="1100"/>
          </a:p>
          <a:p>
            <a:pPr indent="0" algn="l">
              <a:lnSpc>
                <a:spcPct val="100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1561465" y="1524000"/>
            <a:ext cx="8115300" cy="4425950"/>
          </a:xfrm>
          <a:prstGeom prst="rect">
            <a:avLst/>
          </a:prstGeom>
          <a:ln w="12700">
            <a:noFill/>
            <a:prstDash val="solid"/>
          </a:ln>
        </p:spPr>
      </p:pic>
      <p:sp>
        <p:nvSpPr>
          <p:cNvPr id="3" name="AutoShape 3"/>
          <p:cNvSpPr/>
          <p:nvPr/>
        </p:nvSpPr>
        <p:spPr>
          <a:xfrm>
            <a:off x="381000" y="647700"/>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36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第六步：客户端配置与对话</a:t>
            </a:r>
            <a:endParaRPr lang="en-US" sz="1100"/>
          </a:p>
        </p:txBody>
      </p:sp>
      <p:sp>
        <p:nvSpPr>
          <p:cNvPr id="4" name="Freeform 4"/>
          <p:cNvSpPr/>
          <p:nvPr/>
        </p:nvSpPr>
        <p:spPr>
          <a:xfrm>
            <a:off x="381000" y="14859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81000" y="609600"/>
            <a:ext cx="11572875"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36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FlagOS带来的核心价值</a:t>
            </a:r>
            <a:endParaRPr lang="en-US" sz="1100"/>
          </a:p>
        </p:txBody>
      </p:sp>
      <p:sp>
        <p:nvSpPr>
          <p:cNvPr id="3" name="Freeform 3"/>
          <p:cNvSpPr/>
          <p:nvPr/>
        </p:nvSpPr>
        <p:spPr>
          <a:xfrm>
            <a:off x="381000" y="13335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81000" y="1466850"/>
            <a:ext cx="5657850" cy="1924050"/>
          </a:xfrm>
          <a:custGeom>
            <a:avLst/>
            <a:gdLst/>
            <a:ahLst/>
            <a:cxnLst/>
            <a:rect l="l" t="t" r="r" b="b"/>
            <a:pathLst>
              <a:path w="5657850" h="1924050">
                <a:moveTo>
                  <a:pt x="38100" y="0"/>
                </a:moveTo>
                <a:lnTo>
                  <a:pt x="5619750" y="0"/>
                </a:lnTo>
                <a:cubicBezTo>
                  <a:pt x="5640777" y="0"/>
                  <a:pt x="5657850" y="17073"/>
                  <a:pt x="5657850" y="38100"/>
                </a:cubicBezTo>
                <a:lnTo>
                  <a:pt x="5657850" y="1809742"/>
                </a:lnTo>
                <a:cubicBezTo>
                  <a:pt x="5657850" y="1872873"/>
                  <a:pt x="5606673" y="1924050"/>
                  <a:pt x="5543542" y="1924050"/>
                </a:cubicBezTo>
                <a:lnTo>
                  <a:pt x="114308" y="1924050"/>
                </a:lnTo>
                <a:cubicBezTo>
                  <a:pt x="51177" y="1924050"/>
                  <a:pt x="0" y="1872873"/>
                  <a:pt x="0" y="1809742"/>
                </a:cubicBezTo>
                <a:lnTo>
                  <a:pt x="0" y="38100"/>
                </a:lnTo>
                <a:cubicBezTo>
                  <a:pt x="0" y="17073"/>
                  <a:pt x="17073" y="0"/>
                  <a:pt x="38100" y="0"/>
                </a:cubicBezTo>
                <a:close/>
              </a:path>
            </a:pathLst>
          </a:custGeom>
          <a:solidFill>
            <a:srgbClr val="FFFFFF">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5" name="Freeform 5"/>
          <p:cNvSpPr/>
          <p:nvPr/>
        </p:nvSpPr>
        <p:spPr>
          <a:xfrm>
            <a:off x="381000" y="1466850"/>
            <a:ext cx="5657850" cy="38100"/>
          </a:xfrm>
          <a:custGeom>
            <a:avLst/>
            <a:gdLst/>
            <a:ahLst/>
            <a:cxnLst/>
            <a:rect l="l" t="t" r="r" b="b"/>
            <a:pathLst>
              <a:path w="5657850" h="38100">
                <a:moveTo>
                  <a:pt x="38100" y="0"/>
                </a:moveTo>
                <a:lnTo>
                  <a:pt x="5619750" y="0"/>
                </a:lnTo>
                <a:cubicBezTo>
                  <a:pt x="5640777" y="0"/>
                  <a:pt x="5657850" y="17073"/>
                  <a:pt x="5657850" y="38100"/>
                </a:cubicBezTo>
                <a:lnTo>
                  <a:pt x="5657850" y="38100"/>
                </a:lnTo>
                <a:lnTo>
                  <a:pt x="0" y="38100"/>
                </a:ln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495300" y="1600200"/>
            <a:ext cx="457200" cy="457200"/>
          </a:xfrm>
          <a:custGeom>
            <a:avLst/>
            <a:gdLst/>
            <a:ahLst/>
            <a:cxnLst/>
            <a:rect l="l" t="t" r="r" b="b"/>
            <a:pathLst>
              <a:path w="457200" h="457200">
                <a:moveTo>
                  <a:pt x="114300" y="0"/>
                </a:moveTo>
                <a:lnTo>
                  <a:pt x="342900" y="0"/>
                </a:lnTo>
                <a:cubicBezTo>
                  <a:pt x="405983" y="0"/>
                  <a:pt x="457200" y="51217"/>
                  <a:pt x="457200" y="114300"/>
                </a:cubicBezTo>
                <a:lnTo>
                  <a:pt x="457200" y="342900"/>
                </a:lnTo>
                <a:cubicBezTo>
                  <a:pt x="457200" y="405983"/>
                  <a:pt x="405983" y="457200"/>
                  <a:pt x="342900" y="457200"/>
                </a:cubicBezTo>
                <a:lnTo>
                  <a:pt x="114300" y="457200"/>
                </a:lnTo>
                <a:cubicBezTo>
                  <a:pt x="51217" y="457200"/>
                  <a:pt x="0" y="405983"/>
                  <a:pt x="0" y="342900"/>
                </a:cubicBezTo>
                <a:lnTo>
                  <a:pt x="0" y="114300"/>
                </a:lnTo>
                <a:cubicBezTo>
                  <a:pt x="0" y="51217"/>
                  <a:pt x="51217" y="0"/>
                  <a:pt x="114300" y="0"/>
                </a:cubicBezTo>
                <a:close/>
              </a:path>
            </a:pathLst>
          </a:custGeom>
          <a:gradFill rotWithShape="1">
            <a:gsLst>
              <a:gs pos="0">
                <a:srgbClr val="5B92E5">
                  <a:alpha val="100000"/>
                </a:srgbClr>
              </a:gs>
              <a:gs pos="100000">
                <a:srgbClr val="87CEEB">
                  <a:alpha val="100000"/>
                </a:srgbClr>
              </a:gs>
            </a:gsLst>
            <a:lin ang="2700000"/>
          </a:gra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634602" y="1733550"/>
            <a:ext cx="178669" cy="190202"/>
          </a:xfrm>
          <a:custGeom>
            <a:avLst/>
            <a:gdLst/>
            <a:ahLst/>
            <a:cxnLst/>
            <a:rect l="l" t="t" r="r" b="b"/>
            <a:pathLst>
              <a:path w="178669" h="190202">
                <a:moveTo>
                  <a:pt x="89298" y="0"/>
                </a:moveTo>
                <a:cubicBezTo>
                  <a:pt x="91010" y="0"/>
                  <a:pt x="92721" y="372"/>
                  <a:pt x="94284" y="1080"/>
                </a:cubicBezTo>
                <a:lnTo>
                  <a:pt x="164382" y="30806"/>
                </a:lnTo>
                <a:cubicBezTo>
                  <a:pt x="172567" y="34268"/>
                  <a:pt x="178669" y="42342"/>
                  <a:pt x="178632" y="52090"/>
                </a:cubicBezTo>
                <a:cubicBezTo>
                  <a:pt x="178446" y="88999"/>
                  <a:pt x="163267" y="156530"/>
                  <a:pt x="99158" y="187226"/>
                </a:cubicBezTo>
                <a:cubicBezTo>
                  <a:pt x="92944" y="190202"/>
                  <a:pt x="85725" y="190202"/>
                  <a:pt x="79513" y="187226"/>
                </a:cubicBezTo>
                <a:cubicBezTo>
                  <a:pt x="15367" y="156530"/>
                  <a:pt x="224" y="88999"/>
                  <a:pt x="39" y="52090"/>
                </a:cubicBezTo>
                <a:cubicBezTo>
                  <a:pt x="0" y="42342"/>
                  <a:pt x="6103" y="34268"/>
                  <a:pt x="14289" y="30806"/>
                </a:cubicBezTo>
                <a:lnTo>
                  <a:pt x="84349" y="1080"/>
                </a:lnTo>
                <a:cubicBezTo>
                  <a:pt x="85912" y="372"/>
                  <a:pt x="87586" y="0"/>
                  <a:pt x="89298" y="0"/>
                </a:cubicBezTo>
                <a:close/>
                <a:moveTo>
                  <a:pt x="89298" y="24854"/>
                </a:moveTo>
                <a:lnTo>
                  <a:pt x="89298" y="165534"/>
                </a:lnTo>
                <a:cubicBezTo>
                  <a:pt x="140644" y="140680"/>
                  <a:pt x="154448" y="85613"/>
                  <a:pt x="154782" y="52648"/>
                </a:cubicBezTo>
                <a:lnTo>
                  <a:pt x="89298" y="24892"/>
                </a:lnTo>
                <a:lnTo>
                  <a:pt x="89298" y="24892"/>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1066800" y="1695450"/>
            <a:ext cx="141668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自主可控</a:t>
            </a:r>
            <a:endParaRPr lang="en-US" sz="1100"/>
          </a:p>
        </p:txBody>
      </p:sp>
      <p:sp>
        <p:nvSpPr>
          <p:cNvPr id="9" name="AutoShape 9"/>
          <p:cNvSpPr/>
          <p:nvPr/>
        </p:nvSpPr>
        <p:spPr>
          <a:xfrm>
            <a:off x="495300" y="2317115"/>
            <a:ext cx="5505450" cy="4191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摆脱对API和生态的依赖，数据完全本地部署 。</a:t>
            </a:r>
            <a:endParaRPr lang="en-US" sz="1100"/>
          </a:p>
        </p:txBody>
      </p:sp>
      <p:sp>
        <p:nvSpPr>
          <p:cNvPr id="10" name="Freeform 10"/>
          <p:cNvSpPr/>
          <p:nvPr/>
        </p:nvSpPr>
        <p:spPr>
          <a:xfrm>
            <a:off x="6153150" y="1466850"/>
            <a:ext cx="5657850" cy="1924050"/>
          </a:xfrm>
          <a:custGeom>
            <a:avLst/>
            <a:gdLst/>
            <a:ahLst/>
            <a:cxnLst/>
            <a:rect l="l" t="t" r="r" b="b"/>
            <a:pathLst>
              <a:path w="5657850" h="1924050">
                <a:moveTo>
                  <a:pt x="38100" y="0"/>
                </a:moveTo>
                <a:lnTo>
                  <a:pt x="5619750" y="0"/>
                </a:lnTo>
                <a:cubicBezTo>
                  <a:pt x="5640777" y="0"/>
                  <a:pt x="5657850" y="17073"/>
                  <a:pt x="5657850" y="38100"/>
                </a:cubicBezTo>
                <a:lnTo>
                  <a:pt x="5657850" y="1809742"/>
                </a:lnTo>
                <a:cubicBezTo>
                  <a:pt x="5657850" y="1872873"/>
                  <a:pt x="5606673" y="1924050"/>
                  <a:pt x="5543542" y="1924050"/>
                </a:cubicBezTo>
                <a:lnTo>
                  <a:pt x="114308" y="1924050"/>
                </a:lnTo>
                <a:cubicBezTo>
                  <a:pt x="51177" y="1924050"/>
                  <a:pt x="0" y="1872873"/>
                  <a:pt x="0" y="1809742"/>
                </a:cubicBezTo>
                <a:lnTo>
                  <a:pt x="0" y="38100"/>
                </a:lnTo>
                <a:cubicBezTo>
                  <a:pt x="0" y="17073"/>
                  <a:pt x="17073" y="0"/>
                  <a:pt x="38100" y="0"/>
                </a:cubicBezTo>
                <a:close/>
              </a:path>
            </a:pathLst>
          </a:custGeom>
          <a:solidFill>
            <a:srgbClr val="FFFFFF">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1" name="Freeform 11"/>
          <p:cNvSpPr/>
          <p:nvPr/>
        </p:nvSpPr>
        <p:spPr>
          <a:xfrm>
            <a:off x="6153150" y="1466850"/>
            <a:ext cx="5657850" cy="38100"/>
          </a:xfrm>
          <a:custGeom>
            <a:avLst/>
            <a:gdLst/>
            <a:ahLst/>
            <a:cxnLst/>
            <a:rect l="l" t="t" r="r" b="b"/>
            <a:pathLst>
              <a:path w="5657850" h="38100">
                <a:moveTo>
                  <a:pt x="38100" y="0"/>
                </a:moveTo>
                <a:lnTo>
                  <a:pt x="5619750" y="0"/>
                </a:lnTo>
                <a:cubicBezTo>
                  <a:pt x="5640777" y="0"/>
                  <a:pt x="5657850" y="17073"/>
                  <a:pt x="5657850" y="38100"/>
                </a:cubicBezTo>
                <a:lnTo>
                  <a:pt x="5657850" y="38100"/>
                </a:lnTo>
                <a:lnTo>
                  <a:pt x="0" y="38100"/>
                </a:lnTo>
                <a:lnTo>
                  <a:pt x="0" y="38100"/>
                </a:lnTo>
                <a:cubicBezTo>
                  <a:pt x="0" y="17073"/>
                  <a:pt x="17073" y="0"/>
                  <a:pt x="381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6267450" y="1600200"/>
            <a:ext cx="457200" cy="457200"/>
          </a:xfrm>
          <a:custGeom>
            <a:avLst/>
            <a:gdLst/>
            <a:ahLst/>
            <a:cxnLst/>
            <a:rect l="l" t="t" r="r" b="b"/>
            <a:pathLst>
              <a:path w="457200" h="457200">
                <a:moveTo>
                  <a:pt x="114300" y="0"/>
                </a:moveTo>
                <a:lnTo>
                  <a:pt x="342900" y="0"/>
                </a:lnTo>
                <a:cubicBezTo>
                  <a:pt x="405983" y="0"/>
                  <a:pt x="457200" y="51217"/>
                  <a:pt x="457200" y="114300"/>
                </a:cubicBezTo>
                <a:lnTo>
                  <a:pt x="457200" y="342900"/>
                </a:lnTo>
                <a:cubicBezTo>
                  <a:pt x="457200" y="405983"/>
                  <a:pt x="405983" y="457200"/>
                  <a:pt x="342900" y="457200"/>
                </a:cubicBezTo>
                <a:lnTo>
                  <a:pt x="114300" y="457200"/>
                </a:lnTo>
                <a:cubicBezTo>
                  <a:pt x="51217" y="457200"/>
                  <a:pt x="0" y="405983"/>
                  <a:pt x="0" y="342900"/>
                </a:cubicBezTo>
                <a:lnTo>
                  <a:pt x="0" y="114300"/>
                </a:lnTo>
                <a:cubicBezTo>
                  <a:pt x="0" y="51217"/>
                  <a:pt x="51217" y="0"/>
                  <a:pt x="114300" y="0"/>
                </a:cubicBezTo>
                <a:close/>
              </a:path>
            </a:pathLst>
          </a:custGeom>
          <a:gradFill rotWithShape="1">
            <a:gsLst>
              <a:gs pos="0">
                <a:srgbClr val="1E90FF">
                  <a:alpha val="100000"/>
                </a:srgbClr>
              </a:gs>
              <a:gs pos="100000">
                <a:srgbClr val="00CED1">
                  <a:alpha val="100000"/>
                </a:srgbClr>
              </a:gs>
            </a:gsLst>
            <a:lin ang="2700000"/>
          </a:gra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6394958" y="1742703"/>
            <a:ext cx="187189" cy="187189"/>
          </a:xfrm>
          <a:custGeom>
            <a:avLst/>
            <a:gdLst/>
            <a:ahLst/>
            <a:cxnLst/>
            <a:rect l="l" t="t" r="r" b="b"/>
            <a:pathLst>
              <a:path w="187189" h="187189">
                <a:moveTo>
                  <a:pt x="53467" y="109909"/>
                </a:moveTo>
                <a:lnTo>
                  <a:pt x="14958" y="109909"/>
                </a:lnTo>
                <a:cubicBezTo>
                  <a:pt x="5693" y="109909"/>
                  <a:pt x="0" y="99826"/>
                  <a:pt x="4762" y="91864"/>
                </a:cubicBezTo>
                <a:lnTo>
                  <a:pt x="24446" y="59047"/>
                </a:lnTo>
                <a:cubicBezTo>
                  <a:pt x="27683" y="53652"/>
                  <a:pt x="33487" y="50378"/>
                  <a:pt x="39775" y="50378"/>
                </a:cubicBezTo>
                <a:lnTo>
                  <a:pt x="75120" y="50378"/>
                </a:lnTo>
                <a:cubicBezTo>
                  <a:pt x="103436" y="2418"/>
                  <a:pt x="145666" y="0"/>
                  <a:pt x="173906" y="4130"/>
                </a:cubicBezTo>
                <a:cubicBezTo>
                  <a:pt x="178669" y="4837"/>
                  <a:pt x="182389" y="8558"/>
                  <a:pt x="183059" y="13283"/>
                </a:cubicBezTo>
                <a:cubicBezTo>
                  <a:pt x="187189" y="41523"/>
                  <a:pt x="184771" y="83753"/>
                  <a:pt x="136811" y="112068"/>
                </a:cubicBezTo>
                <a:lnTo>
                  <a:pt x="136811" y="147414"/>
                </a:lnTo>
                <a:cubicBezTo>
                  <a:pt x="136811" y="153702"/>
                  <a:pt x="133537" y="159506"/>
                  <a:pt x="128142" y="162743"/>
                </a:cubicBezTo>
                <a:lnTo>
                  <a:pt x="95325" y="182427"/>
                </a:lnTo>
                <a:cubicBezTo>
                  <a:pt x="87400" y="187189"/>
                  <a:pt x="77280" y="181459"/>
                  <a:pt x="77280" y="172231"/>
                </a:cubicBezTo>
                <a:lnTo>
                  <a:pt x="77280" y="133722"/>
                </a:lnTo>
                <a:cubicBezTo>
                  <a:pt x="77280" y="120588"/>
                  <a:pt x="66601" y="109909"/>
                  <a:pt x="53467" y="109909"/>
                </a:cubicBezTo>
                <a:lnTo>
                  <a:pt x="53430" y="109909"/>
                </a:lnTo>
                <a:close/>
                <a:moveTo>
                  <a:pt x="154669" y="50378"/>
                </a:moveTo>
                <a:cubicBezTo>
                  <a:pt x="154669" y="40521"/>
                  <a:pt x="146668" y="32520"/>
                  <a:pt x="136811" y="32520"/>
                </a:cubicBezTo>
                <a:cubicBezTo>
                  <a:pt x="126954" y="32520"/>
                  <a:pt x="118951" y="40521"/>
                  <a:pt x="118951" y="50378"/>
                </a:cubicBezTo>
                <a:cubicBezTo>
                  <a:pt x="118951" y="60235"/>
                  <a:pt x="126954" y="68238"/>
                  <a:pt x="136811" y="68238"/>
                </a:cubicBezTo>
                <a:cubicBezTo>
                  <a:pt x="146668" y="68238"/>
                  <a:pt x="154669" y="60235"/>
                  <a:pt x="154669" y="50378"/>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6838950" y="1695450"/>
            <a:ext cx="165798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开发效率</a:t>
            </a:r>
            <a:endParaRPr lang="en-US" sz="1100"/>
          </a:p>
        </p:txBody>
      </p:sp>
      <p:sp>
        <p:nvSpPr>
          <p:cNvPr id="15" name="AutoShape 15"/>
          <p:cNvSpPr/>
          <p:nvPr/>
        </p:nvSpPr>
        <p:spPr>
          <a:xfrm>
            <a:off x="6305550" y="2409190"/>
            <a:ext cx="5505450" cy="27559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无需针对NPU重写算子，一套代码跨平台运行，降低开发成本 。</a:t>
            </a:r>
            <a:endParaRPr lang="en-US" sz="1100"/>
          </a:p>
        </p:txBody>
      </p:sp>
      <p:sp>
        <p:nvSpPr>
          <p:cNvPr id="16" name="Freeform 16"/>
          <p:cNvSpPr/>
          <p:nvPr/>
        </p:nvSpPr>
        <p:spPr>
          <a:xfrm>
            <a:off x="381000" y="3524250"/>
            <a:ext cx="5657850" cy="1714500"/>
          </a:xfrm>
          <a:custGeom>
            <a:avLst/>
            <a:gdLst/>
            <a:ahLst/>
            <a:cxnLst/>
            <a:rect l="l" t="t" r="r" b="b"/>
            <a:pathLst>
              <a:path w="5657850" h="1714500">
                <a:moveTo>
                  <a:pt x="38100" y="0"/>
                </a:moveTo>
                <a:lnTo>
                  <a:pt x="5619750" y="0"/>
                </a:lnTo>
                <a:cubicBezTo>
                  <a:pt x="5640777" y="0"/>
                  <a:pt x="5657850" y="17073"/>
                  <a:pt x="5657850" y="38100"/>
                </a:cubicBezTo>
                <a:lnTo>
                  <a:pt x="5657850" y="1600194"/>
                </a:lnTo>
                <a:cubicBezTo>
                  <a:pt x="5657850" y="1663324"/>
                  <a:pt x="5606674" y="1714500"/>
                  <a:pt x="5543544" y="1714500"/>
                </a:cubicBezTo>
                <a:lnTo>
                  <a:pt x="114306" y="1714500"/>
                </a:lnTo>
                <a:cubicBezTo>
                  <a:pt x="51176" y="1714500"/>
                  <a:pt x="0" y="1663324"/>
                  <a:pt x="0" y="1600194"/>
                </a:cubicBezTo>
                <a:lnTo>
                  <a:pt x="0" y="38100"/>
                </a:lnTo>
                <a:cubicBezTo>
                  <a:pt x="0" y="17073"/>
                  <a:pt x="17073" y="0"/>
                  <a:pt x="38100" y="0"/>
                </a:cubicBezTo>
                <a:close/>
              </a:path>
            </a:pathLst>
          </a:custGeom>
          <a:solidFill>
            <a:srgbClr val="FFFFFF">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7" name="Freeform 17"/>
          <p:cNvSpPr/>
          <p:nvPr/>
        </p:nvSpPr>
        <p:spPr>
          <a:xfrm>
            <a:off x="381000" y="3524250"/>
            <a:ext cx="5657850" cy="38100"/>
          </a:xfrm>
          <a:custGeom>
            <a:avLst/>
            <a:gdLst/>
            <a:ahLst/>
            <a:cxnLst/>
            <a:rect l="l" t="t" r="r" b="b"/>
            <a:pathLst>
              <a:path w="5657850" h="38100">
                <a:moveTo>
                  <a:pt x="38100" y="0"/>
                </a:moveTo>
                <a:lnTo>
                  <a:pt x="5619750" y="0"/>
                </a:lnTo>
                <a:cubicBezTo>
                  <a:pt x="5640777" y="0"/>
                  <a:pt x="5657850" y="17073"/>
                  <a:pt x="5657850" y="38100"/>
                </a:cubicBezTo>
                <a:lnTo>
                  <a:pt x="5657850" y="38100"/>
                </a:lnTo>
                <a:lnTo>
                  <a:pt x="0" y="38100"/>
                </a:ln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495300" y="3657600"/>
            <a:ext cx="457200" cy="457200"/>
          </a:xfrm>
          <a:custGeom>
            <a:avLst/>
            <a:gdLst/>
            <a:ahLst/>
            <a:cxnLst/>
            <a:rect l="l" t="t" r="r" b="b"/>
            <a:pathLst>
              <a:path w="457200" h="457200">
                <a:moveTo>
                  <a:pt x="114300" y="0"/>
                </a:moveTo>
                <a:lnTo>
                  <a:pt x="342900" y="0"/>
                </a:lnTo>
                <a:cubicBezTo>
                  <a:pt x="405983" y="0"/>
                  <a:pt x="457200" y="51217"/>
                  <a:pt x="457200" y="114300"/>
                </a:cubicBezTo>
                <a:lnTo>
                  <a:pt x="457200" y="342900"/>
                </a:lnTo>
                <a:cubicBezTo>
                  <a:pt x="457200" y="405983"/>
                  <a:pt x="405983" y="457200"/>
                  <a:pt x="342900" y="457200"/>
                </a:cubicBezTo>
                <a:lnTo>
                  <a:pt x="114300" y="457200"/>
                </a:lnTo>
                <a:cubicBezTo>
                  <a:pt x="51217" y="457200"/>
                  <a:pt x="0" y="405983"/>
                  <a:pt x="0" y="342900"/>
                </a:cubicBezTo>
                <a:lnTo>
                  <a:pt x="0" y="114300"/>
                </a:lnTo>
                <a:cubicBezTo>
                  <a:pt x="0" y="51217"/>
                  <a:pt x="51217" y="0"/>
                  <a:pt x="114300" y="0"/>
                </a:cubicBezTo>
                <a:close/>
              </a:path>
            </a:pathLst>
          </a:custGeom>
          <a:gradFill rotWithShape="1">
            <a:gsLst>
              <a:gs pos="0">
                <a:srgbClr val="87CEEB">
                  <a:alpha val="100000"/>
                </a:srgbClr>
              </a:gs>
              <a:gs pos="100000">
                <a:srgbClr val="5B92E5">
                  <a:alpha val="100000"/>
                </a:srgbClr>
              </a:gs>
            </a:gsLst>
            <a:lin ang="2700000"/>
          </a:gra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628650" y="3790950"/>
            <a:ext cx="190500" cy="190500"/>
          </a:xfrm>
          <a:custGeom>
            <a:avLst/>
            <a:gdLst/>
            <a:ahLst/>
            <a:cxnLst/>
            <a:rect l="l" t="t" r="r" b="b"/>
            <a:pathLst>
              <a:path w="190500" h="190500">
                <a:moveTo>
                  <a:pt x="0" y="95250"/>
                </a:moveTo>
                <a:cubicBezTo>
                  <a:pt x="0" y="42680"/>
                  <a:pt x="42680" y="0"/>
                  <a:pt x="95250" y="0"/>
                </a:cubicBezTo>
                <a:cubicBezTo>
                  <a:pt x="147820" y="0"/>
                  <a:pt x="190500" y="42680"/>
                  <a:pt x="190500" y="95250"/>
                </a:cubicBezTo>
                <a:cubicBezTo>
                  <a:pt x="190500" y="147820"/>
                  <a:pt x="147820" y="190500"/>
                  <a:pt x="95250" y="190500"/>
                </a:cubicBezTo>
                <a:cubicBezTo>
                  <a:pt x="42680" y="190500"/>
                  <a:pt x="0" y="147820"/>
                  <a:pt x="0" y="95250"/>
                </a:cubicBezTo>
                <a:close/>
                <a:moveTo>
                  <a:pt x="107156" y="35719"/>
                </a:moveTo>
                <a:cubicBezTo>
                  <a:pt x="107156" y="29148"/>
                  <a:pt x="101821" y="23812"/>
                  <a:pt x="95250" y="23812"/>
                </a:cubicBezTo>
                <a:cubicBezTo>
                  <a:pt x="88679" y="23812"/>
                  <a:pt x="83344" y="29148"/>
                  <a:pt x="83344" y="35719"/>
                </a:cubicBezTo>
                <a:cubicBezTo>
                  <a:pt x="83344" y="42290"/>
                  <a:pt x="88679" y="47625"/>
                  <a:pt x="95250" y="47625"/>
                </a:cubicBezTo>
                <a:cubicBezTo>
                  <a:pt x="101821" y="47625"/>
                  <a:pt x="107156" y="42290"/>
                  <a:pt x="107156" y="35719"/>
                </a:cubicBezTo>
                <a:close/>
                <a:moveTo>
                  <a:pt x="95250" y="154781"/>
                </a:moveTo>
                <a:cubicBezTo>
                  <a:pt x="108384" y="154781"/>
                  <a:pt x="119062" y="144103"/>
                  <a:pt x="119062" y="130969"/>
                </a:cubicBezTo>
                <a:cubicBezTo>
                  <a:pt x="119062" y="124941"/>
                  <a:pt x="116830" y="119397"/>
                  <a:pt x="113109" y="115230"/>
                </a:cubicBezTo>
                <a:lnTo>
                  <a:pt x="138968" y="63550"/>
                </a:lnTo>
                <a:cubicBezTo>
                  <a:pt x="141163" y="59122"/>
                  <a:pt x="139377" y="53764"/>
                  <a:pt x="134987" y="51570"/>
                </a:cubicBezTo>
                <a:cubicBezTo>
                  <a:pt x="130597" y="49374"/>
                  <a:pt x="125202" y="51159"/>
                  <a:pt x="123006" y="55550"/>
                </a:cubicBezTo>
                <a:lnTo>
                  <a:pt x="97147" y="107231"/>
                </a:lnTo>
                <a:cubicBezTo>
                  <a:pt x="96515" y="107193"/>
                  <a:pt x="95882" y="107156"/>
                  <a:pt x="95250" y="107156"/>
                </a:cubicBezTo>
                <a:cubicBezTo>
                  <a:pt x="82116" y="107156"/>
                  <a:pt x="71438" y="117834"/>
                  <a:pt x="71438" y="130969"/>
                </a:cubicBezTo>
                <a:cubicBezTo>
                  <a:pt x="71438" y="144103"/>
                  <a:pt x="82116" y="154781"/>
                  <a:pt x="95250" y="154781"/>
                </a:cubicBezTo>
                <a:close/>
                <a:moveTo>
                  <a:pt x="65484" y="53577"/>
                </a:moveTo>
                <a:cubicBezTo>
                  <a:pt x="65484" y="47007"/>
                  <a:pt x="60148" y="41673"/>
                  <a:pt x="53577" y="41673"/>
                </a:cubicBezTo>
                <a:cubicBezTo>
                  <a:pt x="47007" y="41673"/>
                  <a:pt x="41673" y="47007"/>
                  <a:pt x="41673" y="53577"/>
                </a:cubicBezTo>
                <a:cubicBezTo>
                  <a:pt x="41673" y="60148"/>
                  <a:pt x="47007" y="65484"/>
                  <a:pt x="53577" y="65484"/>
                </a:cubicBezTo>
                <a:cubicBezTo>
                  <a:pt x="60148" y="65484"/>
                  <a:pt x="65484" y="60148"/>
                  <a:pt x="65484" y="53577"/>
                </a:cubicBezTo>
                <a:close/>
                <a:moveTo>
                  <a:pt x="35719" y="107156"/>
                </a:moveTo>
                <a:cubicBezTo>
                  <a:pt x="42290" y="107156"/>
                  <a:pt x="47625" y="101821"/>
                  <a:pt x="47625" y="95250"/>
                </a:cubicBezTo>
                <a:cubicBezTo>
                  <a:pt x="47625" y="88679"/>
                  <a:pt x="42290" y="83344"/>
                  <a:pt x="35719" y="83344"/>
                </a:cubicBezTo>
                <a:cubicBezTo>
                  <a:pt x="29148" y="83344"/>
                  <a:pt x="23812" y="88679"/>
                  <a:pt x="23812" y="95250"/>
                </a:cubicBezTo>
                <a:cubicBezTo>
                  <a:pt x="23812" y="101821"/>
                  <a:pt x="29148" y="107156"/>
                  <a:pt x="35719" y="107156"/>
                </a:cubicBezTo>
                <a:close/>
                <a:moveTo>
                  <a:pt x="166688" y="95250"/>
                </a:moveTo>
                <a:cubicBezTo>
                  <a:pt x="166688" y="88679"/>
                  <a:pt x="161352" y="83344"/>
                  <a:pt x="154781" y="83344"/>
                </a:cubicBezTo>
                <a:cubicBezTo>
                  <a:pt x="148210" y="83344"/>
                  <a:pt x="142875" y="88679"/>
                  <a:pt x="142875" y="95250"/>
                </a:cubicBezTo>
                <a:cubicBezTo>
                  <a:pt x="142875" y="101821"/>
                  <a:pt x="148210" y="107156"/>
                  <a:pt x="154781" y="107156"/>
                </a:cubicBezTo>
                <a:cubicBezTo>
                  <a:pt x="161352" y="107156"/>
                  <a:pt x="166688" y="101821"/>
                  <a:pt x="166688" y="9525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1066800" y="3752850"/>
            <a:ext cx="145351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性能保障</a:t>
            </a:r>
            <a:endParaRPr lang="en-US" sz="1100"/>
          </a:p>
        </p:txBody>
      </p:sp>
      <p:sp>
        <p:nvSpPr>
          <p:cNvPr id="21" name="AutoShape 21"/>
          <p:cNvSpPr/>
          <p:nvPr/>
        </p:nvSpPr>
        <p:spPr>
          <a:xfrm>
            <a:off x="514350" y="4295775"/>
            <a:ext cx="5505450" cy="20955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Triton语言带来</a:t>
            </a:r>
            <a:r>
              <a:rPr lang="en-US" sz="16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接近手写CUDA的性能</a:t>
            </a:r>
            <a:r>
              <a:rPr lang="en-US" sz="16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，同时保持代码可读性和可维护性。</a:t>
            </a:r>
            <a:endParaRPr lang="en-US" sz="1100"/>
          </a:p>
        </p:txBody>
      </p:sp>
      <p:sp>
        <p:nvSpPr>
          <p:cNvPr id="22" name="Freeform 22"/>
          <p:cNvSpPr/>
          <p:nvPr/>
        </p:nvSpPr>
        <p:spPr>
          <a:xfrm>
            <a:off x="6153150" y="3524250"/>
            <a:ext cx="5657850" cy="1714500"/>
          </a:xfrm>
          <a:custGeom>
            <a:avLst/>
            <a:gdLst/>
            <a:ahLst/>
            <a:cxnLst/>
            <a:rect l="l" t="t" r="r" b="b"/>
            <a:pathLst>
              <a:path w="5657850" h="1714500">
                <a:moveTo>
                  <a:pt x="38100" y="0"/>
                </a:moveTo>
                <a:lnTo>
                  <a:pt x="5619750" y="0"/>
                </a:lnTo>
                <a:cubicBezTo>
                  <a:pt x="5640777" y="0"/>
                  <a:pt x="5657850" y="17073"/>
                  <a:pt x="5657850" y="38100"/>
                </a:cubicBezTo>
                <a:lnTo>
                  <a:pt x="5657850" y="1600194"/>
                </a:lnTo>
                <a:cubicBezTo>
                  <a:pt x="5657850" y="1663324"/>
                  <a:pt x="5606674" y="1714500"/>
                  <a:pt x="5543544" y="1714500"/>
                </a:cubicBezTo>
                <a:lnTo>
                  <a:pt x="114306" y="1714500"/>
                </a:lnTo>
                <a:cubicBezTo>
                  <a:pt x="51176" y="1714500"/>
                  <a:pt x="0" y="1663324"/>
                  <a:pt x="0" y="1600194"/>
                </a:cubicBezTo>
                <a:lnTo>
                  <a:pt x="0" y="38100"/>
                </a:lnTo>
                <a:cubicBezTo>
                  <a:pt x="0" y="17073"/>
                  <a:pt x="17073" y="0"/>
                  <a:pt x="38100" y="0"/>
                </a:cubicBezTo>
                <a:close/>
              </a:path>
            </a:pathLst>
          </a:custGeom>
          <a:solidFill>
            <a:srgbClr val="FFFFFF">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3" name="Freeform 23"/>
          <p:cNvSpPr/>
          <p:nvPr/>
        </p:nvSpPr>
        <p:spPr>
          <a:xfrm>
            <a:off x="6153150" y="3524250"/>
            <a:ext cx="5657850" cy="38100"/>
          </a:xfrm>
          <a:custGeom>
            <a:avLst/>
            <a:gdLst/>
            <a:ahLst/>
            <a:cxnLst/>
            <a:rect l="l" t="t" r="r" b="b"/>
            <a:pathLst>
              <a:path w="5657850" h="38100">
                <a:moveTo>
                  <a:pt x="38100" y="0"/>
                </a:moveTo>
                <a:lnTo>
                  <a:pt x="5619750" y="0"/>
                </a:lnTo>
                <a:cubicBezTo>
                  <a:pt x="5640777" y="0"/>
                  <a:pt x="5657850" y="17073"/>
                  <a:pt x="5657850" y="38100"/>
                </a:cubicBezTo>
                <a:lnTo>
                  <a:pt x="5657850" y="38100"/>
                </a:lnTo>
                <a:lnTo>
                  <a:pt x="0" y="38100"/>
                </a:ln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4" name="Freeform 24"/>
          <p:cNvSpPr/>
          <p:nvPr/>
        </p:nvSpPr>
        <p:spPr>
          <a:xfrm>
            <a:off x="6267450" y="3657600"/>
            <a:ext cx="457200" cy="457200"/>
          </a:xfrm>
          <a:custGeom>
            <a:avLst/>
            <a:gdLst/>
            <a:ahLst/>
            <a:cxnLst/>
            <a:rect l="l" t="t" r="r" b="b"/>
            <a:pathLst>
              <a:path w="457200" h="457200">
                <a:moveTo>
                  <a:pt x="114300" y="0"/>
                </a:moveTo>
                <a:lnTo>
                  <a:pt x="342900" y="0"/>
                </a:lnTo>
                <a:cubicBezTo>
                  <a:pt x="405983" y="0"/>
                  <a:pt x="457200" y="51217"/>
                  <a:pt x="457200" y="114300"/>
                </a:cubicBezTo>
                <a:lnTo>
                  <a:pt x="457200" y="342900"/>
                </a:lnTo>
                <a:cubicBezTo>
                  <a:pt x="457200" y="405983"/>
                  <a:pt x="405983" y="457200"/>
                  <a:pt x="342900" y="457200"/>
                </a:cubicBezTo>
                <a:lnTo>
                  <a:pt x="114300" y="457200"/>
                </a:lnTo>
                <a:cubicBezTo>
                  <a:pt x="51217" y="457200"/>
                  <a:pt x="0" y="405983"/>
                  <a:pt x="0" y="342900"/>
                </a:cubicBezTo>
                <a:lnTo>
                  <a:pt x="0" y="114300"/>
                </a:lnTo>
                <a:cubicBezTo>
                  <a:pt x="0" y="51217"/>
                  <a:pt x="51217" y="0"/>
                  <a:pt x="114300" y="0"/>
                </a:cubicBezTo>
                <a:close/>
              </a:path>
            </a:pathLst>
          </a:custGeom>
          <a:gradFill rotWithShape="1">
            <a:gsLst>
              <a:gs pos="0">
                <a:srgbClr val="00CED1">
                  <a:alpha val="100000"/>
                </a:srgbClr>
              </a:gs>
              <a:gs pos="100000">
                <a:srgbClr val="1E90FF">
                  <a:alpha val="100000"/>
                </a:srgbClr>
              </a:gs>
            </a:gsLst>
            <a:lin ang="2700000"/>
          </a:gra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6412706" y="3802856"/>
            <a:ext cx="166687" cy="166688"/>
          </a:xfrm>
          <a:custGeom>
            <a:avLst/>
            <a:gdLst/>
            <a:ahLst/>
            <a:cxnLst/>
            <a:rect l="l" t="t" r="r" b="b"/>
            <a:pathLst>
              <a:path w="166687" h="166688">
                <a:moveTo>
                  <a:pt x="62508" y="0"/>
                </a:moveTo>
                <a:lnTo>
                  <a:pt x="8929" y="0"/>
                </a:lnTo>
                <a:cubicBezTo>
                  <a:pt x="3981" y="0"/>
                  <a:pt x="0" y="3980"/>
                  <a:pt x="0" y="8930"/>
                </a:cubicBezTo>
                <a:lnTo>
                  <a:pt x="0" y="62508"/>
                </a:lnTo>
                <a:cubicBezTo>
                  <a:pt x="0" y="66116"/>
                  <a:pt x="2158" y="69391"/>
                  <a:pt x="5507" y="70768"/>
                </a:cubicBezTo>
                <a:cubicBezTo>
                  <a:pt x="8854" y="72145"/>
                  <a:pt x="12689" y="71363"/>
                  <a:pt x="15255" y="68833"/>
                </a:cubicBezTo>
                <a:lnTo>
                  <a:pt x="30138" y="53950"/>
                </a:lnTo>
                <a:lnTo>
                  <a:pt x="59531" y="83344"/>
                </a:lnTo>
                <a:lnTo>
                  <a:pt x="30138" y="112738"/>
                </a:lnTo>
                <a:lnTo>
                  <a:pt x="15255" y="97855"/>
                </a:lnTo>
                <a:cubicBezTo>
                  <a:pt x="12689" y="95287"/>
                  <a:pt x="8854" y="94543"/>
                  <a:pt x="5507" y="95920"/>
                </a:cubicBezTo>
                <a:cubicBezTo>
                  <a:pt x="2158" y="97297"/>
                  <a:pt x="0" y="100572"/>
                  <a:pt x="0" y="104180"/>
                </a:cubicBezTo>
                <a:lnTo>
                  <a:pt x="0" y="157758"/>
                </a:lnTo>
                <a:cubicBezTo>
                  <a:pt x="0" y="162708"/>
                  <a:pt x="3981" y="166688"/>
                  <a:pt x="8929" y="166688"/>
                </a:cubicBezTo>
                <a:lnTo>
                  <a:pt x="62508" y="166688"/>
                </a:lnTo>
                <a:cubicBezTo>
                  <a:pt x="66117" y="166688"/>
                  <a:pt x="69392" y="164530"/>
                  <a:pt x="70768" y="161181"/>
                </a:cubicBezTo>
                <a:cubicBezTo>
                  <a:pt x="72144" y="157832"/>
                  <a:pt x="71399" y="154000"/>
                  <a:pt x="68833" y="151433"/>
                </a:cubicBezTo>
                <a:lnTo>
                  <a:pt x="53950" y="136549"/>
                </a:lnTo>
                <a:lnTo>
                  <a:pt x="83344" y="107156"/>
                </a:lnTo>
                <a:lnTo>
                  <a:pt x="112737" y="136549"/>
                </a:lnTo>
                <a:lnTo>
                  <a:pt x="97854" y="151433"/>
                </a:lnTo>
                <a:cubicBezTo>
                  <a:pt x="95287" y="154000"/>
                  <a:pt x="94543" y="157832"/>
                  <a:pt x="95921" y="161181"/>
                </a:cubicBezTo>
                <a:cubicBezTo>
                  <a:pt x="97296" y="164530"/>
                  <a:pt x="100571" y="166688"/>
                  <a:pt x="104179" y="166688"/>
                </a:cubicBezTo>
                <a:lnTo>
                  <a:pt x="157758" y="166688"/>
                </a:lnTo>
                <a:cubicBezTo>
                  <a:pt x="162706" y="166688"/>
                  <a:pt x="166687" y="162708"/>
                  <a:pt x="166687" y="157758"/>
                </a:cubicBezTo>
                <a:lnTo>
                  <a:pt x="166687" y="104180"/>
                </a:lnTo>
                <a:cubicBezTo>
                  <a:pt x="166687" y="100572"/>
                  <a:pt x="164528" y="97297"/>
                  <a:pt x="161181" y="95920"/>
                </a:cubicBezTo>
                <a:cubicBezTo>
                  <a:pt x="157832" y="94543"/>
                  <a:pt x="154000" y="95287"/>
                  <a:pt x="151434" y="97855"/>
                </a:cubicBezTo>
                <a:lnTo>
                  <a:pt x="136550" y="112738"/>
                </a:lnTo>
                <a:lnTo>
                  <a:pt x="107156" y="83344"/>
                </a:lnTo>
                <a:lnTo>
                  <a:pt x="136550" y="53950"/>
                </a:lnTo>
                <a:lnTo>
                  <a:pt x="151434" y="68833"/>
                </a:lnTo>
                <a:cubicBezTo>
                  <a:pt x="154000" y="71401"/>
                  <a:pt x="157832" y="72145"/>
                  <a:pt x="161181" y="70768"/>
                </a:cubicBezTo>
                <a:cubicBezTo>
                  <a:pt x="164528" y="69391"/>
                  <a:pt x="166687" y="66116"/>
                  <a:pt x="166687" y="62508"/>
                </a:cubicBezTo>
                <a:lnTo>
                  <a:pt x="166687" y="8930"/>
                </a:lnTo>
                <a:cubicBezTo>
                  <a:pt x="166687" y="3980"/>
                  <a:pt x="162706" y="0"/>
                  <a:pt x="157758" y="0"/>
                </a:cubicBezTo>
                <a:lnTo>
                  <a:pt x="104179" y="0"/>
                </a:lnTo>
                <a:cubicBezTo>
                  <a:pt x="100571" y="0"/>
                  <a:pt x="97296" y="2158"/>
                  <a:pt x="95921" y="5507"/>
                </a:cubicBezTo>
                <a:cubicBezTo>
                  <a:pt x="94543" y="8856"/>
                  <a:pt x="95324" y="12688"/>
                  <a:pt x="97854" y="15255"/>
                </a:cubicBezTo>
                <a:lnTo>
                  <a:pt x="112737" y="30139"/>
                </a:lnTo>
                <a:lnTo>
                  <a:pt x="83344" y="59532"/>
                </a:lnTo>
                <a:lnTo>
                  <a:pt x="53950" y="30139"/>
                </a:lnTo>
                <a:lnTo>
                  <a:pt x="68833" y="15255"/>
                </a:lnTo>
                <a:cubicBezTo>
                  <a:pt x="71399" y="12688"/>
                  <a:pt x="72144" y="8856"/>
                  <a:pt x="70768" y="5507"/>
                </a:cubicBezTo>
                <a:cubicBezTo>
                  <a:pt x="69392" y="2158"/>
                  <a:pt x="66117" y="0"/>
                  <a:pt x="62508"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6821805" y="3752850"/>
            <a:ext cx="16256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未来扩展</a:t>
            </a:r>
            <a:endParaRPr lang="en-US" sz="1100"/>
          </a:p>
        </p:txBody>
      </p:sp>
      <p:sp>
        <p:nvSpPr>
          <p:cNvPr id="27" name="AutoShape 27"/>
          <p:cNvSpPr/>
          <p:nvPr/>
        </p:nvSpPr>
        <p:spPr>
          <a:xfrm>
            <a:off x="6267450" y="4191000"/>
            <a:ext cx="5505450" cy="20955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同一套代码，未来可跑在更多国产芯片上。社区生态持续扩展。</a:t>
            </a:r>
            <a:endParaRPr lang="en-US" sz="1100"/>
          </a:p>
        </p:txBody>
      </p:sp>
      <p:sp>
        <p:nvSpPr>
          <p:cNvPr id="28" name="Freeform 28"/>
          <p:cNvSpPr/>
          <p:nvPr/>
        </p:nvSpPr>
        <p:spPr>
          <a:xfrm>
            <a:off x="400050" y="5314950"/>
            <a:ext cx="11410950" cy="762000"/>
          </a:xfrm>
          <a:custGeom>
            <a:avLst/>
            <a:gdLst/>
            <a:ahLst/>
            <a:cxnLst/>
            <a:rect l="l" t="t" r="r" b="b"/>
            <a:pathLst>
              <a:path w="11410950" h="762000">
                <a:moveTo>
                  <a:pt x="38100" y="0"/>
                </a:moveTo>
                <a:lnTo>
                  <a:pt x="11296650" y="0"/>
                </a:lnTo>
                <a:cubicBezTo>
                  <a:pt x="11359733" y="0"/>
                  <a:pt x="11410950" y="51217"/>
                  <a:pt x="11410950" y="114300"/>
                </a:cubicBezTo>
                <a:lnTo>
                  <a:pt x="11410950" y="647700"/>
                </a:lnTo>
                <a:cubicBezTo>
                  <a:pt x="11410950" y="710783"/>
                  <a:pt x="11359733" y="762000"/>
                  <a:pt x="11296650" y="762000"/>
                </a:cubicBezTo>
                <a:lnTo>
                  <a:pt x="38100" y="762000"/>
                </a:lnTo>
                <a:cubicBezTo>
                  <a:pt x="17073" y="762000"/>
                  <a:pt x="0" y="744927"/>
                  <a:pt x="0" y="723900"/>
                </a:cubicBezTo>
                <a:lnTo>
                  <a:pt x="0" y="38100"/>
                </a:lnTo>
                <a:cubicBezTo>
                  <a:pt x="0" y="17073"/>
                  <a:pt x="17073" y="0"/>
                  <a:pt x="38100" y="0"/>
                </a:cubicBezTo>
                <a:close/>
              </a:path>
            </a:pathLst>
          </a:custGeom>
          <a:gradFill rotWithShape="1">
            <a:gsLst>
              <a:gs pos="0">
                <a:srgbClr val="5B92E5">
                  <a:alpha val="10000"/>
                </a:srgbClr>
              </a:gs>
              <a:gs pos="100000">
                <a:srgbClr val="1E90FF">
                  <a:alpha val="10000"/>
                </a:srgbClr>
              </a:gs>
            </a:gsLst>
            <a:lin ang="0"/>
          </a:gradFill>
          <a:ln w="12700">
            <a:noFill/>
            <a:prstDash val="solid"/>
          </a:ln>
        </p:spPr>
        <p:txBody>
          <a:bodyPr wrap="square" lIns="91440" tIns="45720" rIns="91440" bIns="45720" rtlCol="0" anchor="t">
            <a:noAutofit/>
          </a:bodyPr>
          <a:lstStyle/>
          <a:p>
            <a:pPr algn="ctr">
              <a:defRPr/>
            </a:pPr>
          </a:p>
        </p:txBody>
      </p:sp>
      <p:sp>
        <p:nvSpPr>
          <p:cNvPr id="29" name="Freeform 29"/>
          <p:cNvSpPr/>
          <p:nvPr/>
        </p:nvSpPr>
        <p:spPr>
          <a:xfrm>
            <a:off x="400050" y="5314950"/>
            <a:ext cx="38100" cy="762000"/>
          </a:xfrm>
          <a:custGeom>
            <a:avLst/>
            <a:gdLst/>
            <a:ahLst/>
            <a:cxnLst/>
            <a:rect l="l" t="t" r="r" b="b"/>
            <a:pathLst>
              <a:path w="38100" h="762000">
                <a:moveTo>
                  <a:pt x="38100" y="0"/>
                </a:moveTo>
                <a:lnTo>
                  <a:pt x="38100" y="0"/>
                </a:lnTo>
                <a:lnTo>
                  <a:pt x="38100" y="762000"/>
                </a:lnTo>
                <a:lnTo>
                  <a:pt x="38100" y="762000"/>
                </a:lnTo>
                <a:cubicBezTo>
                  <a:pt x="17073" y="762000"/>
                  <a:pt x="0" y="744927"/>
                  <a:pt x="0" y="7239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0" name="Freeform 30"/>
          <p:cNvSpPr/>
          <p:nvPr/>
        </p:nvSpPr>
        <p:spPr>
          <a:xfrm>
            <a:off x="533400" y="542925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gradFill rotWithShape="1">
            <a:gsLst>
              <a:gs pos="0">
                <a:srgbClr val="5B92E5">
                  <a:alpha val="100000"/>
                </a:srgbClr>
              </a:gs>
              <a:gs pos="100000">
                <a:srgbClr val="1E90FF">
                  <a:alpha val="100000"/>
                </a:srgbClr>
              </a:gs>
            </a:gsLst>
            <a:lin ang="2700000"/>
          </a:gradFill>
          <a:ln w="12700">
            <a:noFill/>
            <a:prstDash val="solid"/>
          </a:ln>
        </p:spPr>
        <p:txBody>
          <a:bodyPr wrap="square" lIns="91440" tIns="45720" rIns="91440" bIns="45720" rtlCol="0" anchor="t">
            <a:noAutofit/>
          </a:bodyPr>
          <a:lstStyle/>
          <a:p>
            <a:pPr algn="ctr">
              <a:defRPr/>
            </a:pPr>
          </a:p>
        </p:txBody>
      </p:sp>
      <p:sp>
        <p:nvSpPr>
          <p:cNvPr id="31" name="Freeform 31"/>
          <p:cNvSpPr/>
          <p:nvPr/>
        </p:nvSpPr>
        <p:spPr>
          <a:xfrm>
            <a:off x="676557" y="5567362"/>
            <a:ext cx="247086" cy="235341"/>
          </a:xfrm>
          <a:custGeom>
            <a:avLst/>
            <a:gdLst/>
            <a:ahLst/>
            <a:cxnLst/>
            <a:rect l="l" t="t" r="r" b="b"/>
            <a:pathLst>
              <a:path w="247086" h="235341">
                <a:moveTo>
                  <a:pt x="133143" y="5849"/>
                </a:moveTo>
                <a:cubicBezTo>
                  <a:pt x="131312" y="2278"/>
                  <a:pt x="127607" y="0"/>
                  <a:pt x="123588" y="0"/>
                </a:cubicBezTo>
                <a:cubicBezTo>
                  <a:pt x="119570" y="0"/>
                  <a:pt x="115864" y="2278"/>
                  <a:pt x="114032" y="5849"/>
                </a:cubicBezTo>
                <a:lnTo>
                  <a:pt x="81172" y="70232"/>
                </a:lnTo>
                <a:lnTo>
                  <a:pt x="9779" y="81573"/>
                </a:lnTo>
                <a:cubicBezTo>
                  <a:pt x="5806" y="82197"/>
                  <a:pt x="2502" y="85010"/>
                  <a:pt x="1251" y="88851"/>
                </a:cubicBezTo>
                <a:cubicBezTo>
                  <a:pt x="0" y="92691"/>
                  <a:pt x="1028" y="96888"/>
                  <a:pt x="3841" y="99745"/>
                </a:cubicBezTo>
                <a:lnTo>
                  <a:pt x="54919" y="150868"/>
                </a:lnTo>
                <a:lnTo>
                  <a:pt x="43667" y="222259"/>
                </a:lnTo>
                <a:cubicBezTo>
                  <a:pt x="43042" y="226234"/>
                  <a:pt x="44694" y="230252"/>
                  <a:pt x="47954" y="232619"/>
                </a:cubicBezTo>
                <a:cubicBezTo>
                  <a:pt x="51213" y="234985"/>
                  <a:pt x="55499" y="235342"/>
                  <a:pt x="59116" y="233512"/>
                </a:cubicBezTo>
                <a:lnTo>
                  <a:pt x="123588" y="200741"/>
                </a:lnTo>
                <a:lnTo>
                  <a:pt x="188016" y="233512"/>
                </a:lnTo>
                <a:cubicBezTo>
                  <a:pt x="191588" y="235342"/>
                  <a:pt x="195920" y="234985"/>
                  <a:pt x="199178" y="232619"/>
                </a:cubicBezTo>
                <a:cubicBezTo>
                  <a:pt x="202437" y="230252"/>
                  <a:pt x="204089" y="226279"/>
                  <a:pt x="203465" y="222259"/>
                </a:cubicBezTo>
                <a:lnTo>
                  <a:pt x="192168" y="150868"/>
                </a:lnTo>
                <a:lnTo>
                  <a:pt x="243246" y="99745"/>
                </a:lnTo>
                <a:cubicBezTo>
                  <a:pt x="246104" y="96888"/>
                  <a:pt x="247087" y="92691"/>
                  <a:pt x="245836" y="88851"/>
                </a:cubicBezTo>
                <a:cubicBezTo>
                  <a:pt x="244585" y="85010"/>
                  <a:pt x="241326" y="82197"/>
                  <a:pt x="237308" y="81573"/>
                </a:cubicBezTo>
                <a:lnTo>
                  <a:pt x="165960" y="70232"/>
                </a:lnTo>
                <a:lnTo>
                  <a:pt x="133143" y="5849"/>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2" name="AutoShape 32"/>
          <p:cNvSpPr/>
          <p:nvPr/>
        </p:nvSpPr>
        <p:spPr>
          <a:xfrm>
            <a:off x="1219200" y="5438775"/>
            <a:ext cx="9382125" cy="266700"/>
          </a:xfrm>
          <a:prstGeom prst="rect">
            <a:avLst/>
          </a:prstGeom>
          <a:noFill/>
          <a:ln w="12700">
            <a:noFill/>
            <a:prstDash val="solid"/>
          </a:ln>
        </p:spPr>
        <p:txBody>
          <a:bodyPr wrap="square" lIns="0" tIns="0" rIns="0" bIns="0" rtlCol="0" anchor="ctr">
            <a:noAutofit/>
          </a:bodyPr>
          <a:lstStyle/>
          <a:p>
            <a:pPr indent="0" algn="l">
              <a:lnSpc>
                <a:spcPct val="117000"/>
              </a:lnSpc>
              <a:defRPr/>
            </a:pPr>
            <a:endParaRPr lang="en-US" sz="1100"/>
          </a:p>
          <a:p>
            <a:pPr indent="0" algn="l">
              <a:lnSpc>
                <a:spcPct val="117000"/>
              </a:lnSpc>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FlagOS：一套为各类 AI 芯片设计的统一、开源的系统软件栈</a:t>
            </a:r>
            <a:endPar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17000"/>
              </a:lnSpc>
            </a:pPr>
            <a:r>
              <a:rPr lang="en-US" sz="15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5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3" name="AutoShape 33"/>
          <p:cNvSpPr/>
          <p:nvPr/>
        </p:nvSpPr>
        <p:spPr>
          <a:xfrm>
            <a:off x="1219200" y="5743575"/>
            <a:ext cx="9363075" cy="20955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2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它让国产算力真正 </a:t>
            </a:r>
            <a:r>
              <a:rPr lang="en-US" sz="12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可用、易用、好用</a:t>
            </a:r>
            <a:r>
              <a:rPr lang="en-US" sz="12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 ，为中国AI基础设施的自主可控铺平道路</a:t>
            </a: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58600" cy="6858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3600" b="0" i="0" u="none" strike="noStrike">
                <a:solidFill>
                  <a:srgbClr val="5B92E5"/>
                </a:solidFill>
                <a:latin typeface="Alimama ShuHeiTi"/>
                <a:ea typeface="Alimama ShuHeiTi"/>
                <a:cs typeface="Alimama ShuHeiTi"/>
                <a:sym typeface="Alimama ShuHeiTi"/>
              </a:rPr>
              <a:t>参考资源与工具</a:t>
            </a:r>
            <a:endParaRPr lang="en-US" sz="1100"/>
          </a:p>
        </p:txBody>
      </p:sp>
      <p:sp>
        <p:nvSpPr>
          <p:cNvPr id="3" name="Freeform 3"/>
          <p:cNvSpPr/>
          <p:nvPr/>
        </p:nvSpPr>
        <p:spPr>
          <a:xfrm>
            <a:off x="398318" y="2365975"/>
            <a:ext cx="2682585" cy="1596735"/>
          </a:xfrm>
          <a:custGeom>
            <a:avLst/>
            <a:gdLst/>
            <a:ahLst/>
            <a:cxnLst/>
            <a:rect l="l" t="t" r="r" b="b"/>
            <a:pathLst>
              <a:path w="2682585" h="1596735">
                <a:moveTo>
                  <a:pt x="114294" y="0"/>
                </a:moveTo>
                <a:lnTo>
                  <a:pt x="2568292" y="0"/>
                </a:lnTo>
                <a:cubicBezTo>
                  <a:pt x="2631415" y="0"/>
                  <a:pt x="2682585" y="51171"/>
                  <a:pt x="2682585" y="114294"/>
                </a:cubicBezTo>
                <a:lnTo>
                  <a:pt x="2682585" y="1482442"/>
                </a:lnTo>
                <a:cubicBezTo>
                  <a:pt x="2682585" y="1545565"/>
                  <a:pt x="2631415" y="1596735"/>
                  <a:pt x="2568292" y="1596735"/>
                </a:cubicBezTo>
                <a:lnTo>
                  <a:pt x="114294" y="1596735"/>
                </a:lnTo>
                <a:cubicBezTo>
                  <a:pt x="51171" y="1596735"/>
                  <a:pt x="0" y="1545565"/>
                  <a:pt x="0" y="1482442"/>
                </a:cubicBezTo>
                <a:lnTo>
                  <a:pt x="0" y="114294"/>
                </a:lnTo>
                <a:cubicBezTo>
                  <a:pt x="0" y="51214"/>
                  <a:pt x="51214" y="0"/>
                  <a:pt x="114294" y="0"/>
                </a:cubicBezTo>
                <a:close/>
              </a:path>
            </a:pathLst>
          </a:custGeom>
          <a:solidFill>
            <a:srgbClr val="F2F2F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4" name="Freeform 4"/>
          <p:cNvSpPr/>
          <p:nvPr/>
        </p:nvSpPr>
        <p:spPr>
          <a:xfrm>
            <a:off x="1566863" y="2573796"/>
            <a:ext cx="342900" cy="342900"/>
          </a:xfrm>
          <a:custGeom>
            <a:avLst/>
            <a:gdLst/>
            <a:ahLst/>
            <a:cxnLst/>
            <a:rect l="l" t="t" r="r" b="b"/>
            <a:pathLst>
              <a:path w="342900" h="342900">
                <a:moveTo>
                  <a:pt x="0" y="171450"/>
                </a:moveTo>
                <a:cubicBezTo>
                  <a:pt x="0" y="76824"/>
                  <a:pt x="76824" y="0"/>
                  <a:pt x="171450" y="0"/>
                </a:cubicBezTo>
                <a:cubicBezTo>
                  <a:pt x="266076" y="0"/>
                  <a:pt x="342900" y="76824"/>
                  <a:pt x="342900" y="171450"/>
                </a:cubicBezTo>
                <a:cubicBezTo>
                  <a:pt x="342900" y="266076"/>
                  <a:pt x="266076" y="342900"/>
                  <a:pt x="171450" y="342900"/>
                </a:cubicBezTo>
                <a:cubicBezTo>
                  <a:pt x="76824" y="342900"/>
                  <a:pt x="0" y="266076"/>
                  <a:pt x="0" y="171450"/>
                </a:cubicBezTo>
                <a:close/>
                <a:moveTo>
                  <a:pt x="126110" y="98516"/>
                </a:moveTo>
                <a:cubicBezTo>
                  <a:pt x="121020" y="101329"/>
                  <a:pt x="117873" y="106754"/>
                  <a:pt x="117873" y="112514"/>
                </a:cubicBezTo>
                <a:lnTo>
                  <a:pt x="117873" y="230386"/>
                </a:lnTo>
                <a:cubicBezTo>
                  <a:pt x="117873" y="236212"/>
                  <a:pt x="121020" y="241571"/>
                  <a:pt x="126110" y="244384"/>
                </a:cubicBezTo>
                <a:cubicBezTo>
                  <a:pt x="131199" y="247197"/>
                  <a:pt x="137361" y="247129"/>
                  <a:pt x="142384" y="244048"/>
                </a:cubicBezTo>
                <a:lnTo>
                  <a:pt x="238824" y="185111"/>
                </a:lnTo>
                <a:cubicBezTo>
                  <a:pt x="243580" y="182166"/>
                  <a:pt x="246526" y="177009"/>
                  <a:pt x="246526" y="171383"/>
                </a:cubicBezTo>
                <a:cubicBezTo>
                  <a:pt x="246526" y="165757"/>
                  <a:pt x="243580" y="160600"/>
                  <a:pt x="238824" y="157654"/>
                </a:cubicBezTo>
                <a:lnTo>
                  <a:pt x="142384" y="98718"/>
                </a:lnTo>
                <a:cubicBezTo>
                  <a:pt x="137428" y="95703"/>
                  <a:pt x="131199" y="95570"/>
                  <a:pt x="126110" y="98383"/>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563274" y="3030810"/>
            <a:ext cx="235267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交互式理解Transformer架构</a:t>
            </a:r>
            <a:endParaRPr lang="en-US" sz="1100"/>
          </a:p>
        </p:txBody>
      </p:sp>
      <p:sp>
        <p:nvSpPr>
          <p:cNvPr id="6" name="AutoShape 6"/>
          <p:cNvSpPr/>
          <p:nvPr/>
        </p:nvSpPr>
        <p:spPr>
          <a:xfrm>
            <a:off x="572799" y="3373524"/>
            <a:ext cx="2333625"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poloclub.github.io/transformer-explainer</a:t>
            </a:r>
            <a:endParaRPr lang="en-US" sz="1100"/>
          </a:p>
        </p:txBody>
      </p:sp>
      <p:sp>
        <p:nvSpPr>
          <p:cNvPr id="7" name="Freeform 7"/>
          <p:cNvSpPr/>
          <p:nvPr/>
        </p:nvSpPr>
        <p:spPr>
          <a:xfrm>
            <a:off x="3296920" y="2348657"/>
            <a:ext cx="2714625" cy="1628775"/>
          </a:xfrm>
          <a:custGeom>
            <a:avLst/>
            <a:gdLst/>
            <a:ahLst/>
            <a:cxnLst/>
            <a:rect l="l" t="t" r="r" b="b"/>
            <a:pathLst>
              <a:path w="2714625" h="1628775">
                <a:moveTo>
                  <a:pt x="114308" y="0"/>
                </a:moveTo>
                <a:lnTo>
                  <a:pt x="2600317" y="0"/>
                </a:lnTo>
                <a:cubicBezTo>
                  <a:pt x="2663448" y="0"/>
                  <a:pt x="2714625" y="51177"/>
                  <a:pt x="2714625" y="114308"/>
                </a:cubicBezTo>
                <a:lnTo>
                  <a:pt x="2714625" y="1514467"/>
                </a:lnTo>
                <a:cubicBezTo>
                  <a:pt x="2714625" y="1577598"/>
                  <a:pt x="2663448" y="1628775"/>
                  <a:pt x="2600317" y="1628775"/>
                </a:cubicBezTo>
                <a:lnTo>
                  <a:pt x="114308" y="1628775"/>
                </a:lnTo>
                <a:cubicBezTo>
                  <a:pt x="51177" y="1628775"/>
                  <a:pt x="0" y="1577598"/>
                  <a:pt x="0" y="1514467"/>
                </a:cubicBezTo>
                <a:lnTo>
                  <a:pt x="0" y="114308"/>
                </a:lnTo>
                <a:cubicBezTo>
                  <a:pt x="0" y="51219"/>
                  <a:pt x="51219" y="0"/>
                  <a:pt x="114308"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4449953" y="2560588"/>
            <a:ext cx="386968" cy="300038"/>
          </a:xfrm>
          <a:custGeom>
            <a:avLst/>
            <a:gdLst/>
            <a:ahLst/>
            <a:cxnLst/>
            <a:rect l="l" t="t" r="r" b="b"/>
            <a:pathLst>
              <a:path w="386968" h="300038">
                <a:moveTo>
                  <a:pt x="193484" y="0"/>
                </a:moveTo>
                <a:cubicBezTo>
                  <a:pt x="139370" y="0"/>
                  <a:pt x="96038" y="24646"/>
                  <a:pt x="64495" y="53980"/>
                </a:cubicBezTo>
                <a:cubicBezTo>
                  <a:pt x="33152" y="83113"/>
                  <a:pt x="12189" y="117871"/>
                  <a:pt x="2210" y="141781"/>
                </a:cubicBezTo>
                <a:cubicBezTo>
                  <a:pt x="0" y="147073"/>
                  <a:pt x="0" y="152965"/>
                  <a:pt x="2210" y="158257"/>
                </a:cubicBezTo>
                <a:cubicBezTo>
                  <a:pt x="12189" y="182167"/>
                  <a:pt x="33152" y="216992"/>
                  <a:pt x="64495" y="246058"/>
                </a:cubicBezTo>
                <a:cubicBezTo>
                  <a:pt x="96038" y="275325"/>
                  <a:pt x="139370" y="300038"/>
                  <a:pt x="193484" y="300038"/>
                </a:cubicBezTo>
                <a:cubicBezTo>
                  <a:pt x="247598" y="300038"/>
                  <a:pt x="290929" y="275392"/>
                  <a:pt x="322474" y="246058"/>
                </a:cubicBezTo>
                <a:cubicBezTo>
                  <a:pt x="353817" y="216925"/>
                  <a:pt x="374779" y="182167"/>
                  <a:pt x="384758" y="158257"/>
                </a:cubicBezTo>
                <a:cubicBezTo>
                  <a:pt x="386967" y="152965"/>
                  <a:pt x="386967" y="147073"/>
                  <a:pt x="384758" y="141781"/>
                </a:cubicBezTo>
                <a:cubicBezTo>
                  <a:pt x="374779" y="117871"/>
                  <a:pt x="353817" y="83046"/>
                  <a:pt x="322474" y="53980"/>
                </a:cubicBezTo>
                <a:cubicBezTo>
                  <a:pt x="290929" y="24713"/>
                  <a:pt x="247598" y="0"/>
                  <a:pt x="193484" y="0"/>
                </a:cubicBezTo>
                <a:close/>
                <a:moveTo>
                  <a:pt x="97044" y="150019"/>
                </a:moveTo>
                <a:cubicBezTo>
                  <a:pt x="97044" y="96792"/>
                  <a:pt x="140257" y="53578"/>
                  <a:pt x="193484" y="53578"/>
                </a:cubicBezTo>
                <a:cubicBezTo>
                  <a:pt x="246711" y="53578"/>
                  <a:pt x="289926" y="96792"/>
                  <a:pt x="289926" y="150019"/>
                </a:cubicBezTo>
                <a:cubicBezTo>
                  <a:pt x="289926" y="203246"/>
                  <a:pt x="246711" y="246460"/>
                  <a:pt x="193484" y="246460"/>
                </a:cubicBezTo>
                <a:cubicBezTo>
                  <a:pt x="140257" y="246460"/>
                  <a:pt x="97044" y="203246"/>
                  <a:pt x="97044" y="150019"/>
                </a:cubicBezTo>
                <a:close/>
                <a:moveTo>
                  <a:pt x="193484" y="107156"/>
                </a:moveTo>
                <a:cubicBezTo>
                  <a:pt x="193484" y="130798"/>
                  <a:pt x="174263" y="150019"/>
                  <a:pt x="150622" y="150019"/>
                </a:cubicBezTo>
                <a:cubicBezTo>
                  <a:pt x="142920" y="150019"/>
                  <a:pt x="135687" y="148010"/>
                  <a:pt x="129391" y="144393"/>
                </a:cubicBezTo>
                <a:cubicBezTo>
                  <a:pt x="128722" y="151693"/>
                  <a:pt x="129324" y="159193"/>
                  <a:pt x="131334" y="166628"/>
                </a:cubicBezTo>
                <a:cubicBezTo>
                  <a:pt x="140509" y="200918"/>
                  <a:pt x="175803" y="221277"/>
                  <a:pt x="210093" y="212103"/>
                </a:cubicBezTo>
                <a:cubicBezTo>
                  <a:pt x="244383" y="202927"/>
                  <a:pt x="264743" y="167633"/>
                  <a:pt x="255568" y="133343"/>
                </a:cubicBezTo>
                <a:cubicBezTo>
                  <a:pt x="247397" y="102736"/>
                  <a:pt x="218398" y="83247"/>
                  <a:pt x="187859" y="85926"/>
                </a:cubicBezTo>
                <a:cubicBezTo>
                  <a:pt x="191408" y="92155"/>
                  <a:pt x="193484" y="99388"/>
                  <a:pt x="193484" y="107156"/>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3433763" y="2996171"/>
            <a:ext cx="24193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大模型架构可视化</a:t>
            </a:r>
            <a:endParaRPr lang="en-US" sz="1100"/>
          </a:p>
        </p:txBody>
      </p:sp>
      <p:sp>
        <p:nvSpPr>
          <p:cNvPr id="10" name="AutoShape 10"/>
          <p:cNvSpPr/>
          <p:nvPr/>
        </p:nvSpPr>
        <p:spPr>
          <a:xfrm>
            <a:off x="3443288" y="3338885"/>
            <a:ext cx="240030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bbycroft.net/llm</a:t>
            </a:r>
            <a:endParaRPr lang="en-US" sz="1100"/>
          </a:p>
        </p:txBody>
      </p:sp>
      <p:sp>
        <p:nvSpPr>
          <p:cNvPr id="11" name="Freeform 11"/>
          <p:cNvSpPr/>
          <p:nvPr/>
        </p:nvSpPr>
        <p:spPr>
          <a:xfrm>
            <a:off x="6191250" y="2348657"/>
            <a:ext cx="2714625" cy="1628775"/>
          </a:xfrm>
          <a:custGeom>
            <a:avLst/>
            <a:gdLst/>
            <a:ahLst/>
            <a:cxnLst/>
            <a:rect l="l" t="t" r="r" b="b"/>
            <a:pathLst>
              <a:path w="2714625" h="1628775">
                <a:moveTo>
                  <a:pt x="114308" y="0"/>
                </a:moveTo>
                <a:lnTo>
                  <a:pt x="2600317" y="0"/>
                </a:lnTo>
                <a:cubicBezTo>
                  <a:pt x="2663448" y="0"/>
                  <a:pt x="2714625" y="51177"/>
                  <a:pt x="2714625" y="114308"/>
                </a:cubicBezTo>
                <a:lnTo>
                  <a:pt x="2714625" y="1514467"/>
                </a:lnTo>
                <a:cubicBezTo>
                  <a:pt x="2714625" y="1577598"/>
                  <a:pt x="2663448" y="1628775"/>
                  <a:pt x="2600317" y="1628775"/>
                </a:cubicBezTo>
                <a:lnTo>
                  <a:pt x="114308" y="1628775"/>
                </a:lnTo>
                <a:cubicBezTo>
                  <a:pt x="51177" y="1628775"/>
                  <a:pt x="0" y="1577598"/>
                  <a:pt x="0" y="1514467"/>
                </a:cubicBezTo>
                <a:lnTo>
                  <a:pt x="0" y="114308"/>
                </a:lnTo>
                <a:cubicBezTo>
                  <a:pt x="0" y="51219"/>
                  <a:pt x="51219" y="0"/>
                  <a:pt x="114308"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7398544" y="2560588"/>
            <a:ext cx="300038" cy="300038"/>
          </a:xfrm>
          <a:custGeom>
            <a:avLst/>
            <a:gdLst/>
            <a:ahLst/>
            <a:cxnLst/>
            <a:rect l="l" t="t" r="r" b="b"/>
            <a:pathLst>
              <a:path w="300038" h="300038">
                <a:moveTo>
                  <a:pt x="0" y="42863"/>
                </a:moveTo>
                <a:cubicBezTo>
                  <a:pt x="0" y="19220"/>
                  <a:pt x="19221" y="0"/>
                  <a:pt x="42862" y="0"/>
                </a:cubicBezTo>
                <a:lnTo>
                  <a:pt x="257175" y="0"/>
                </a:lnTo>
                <a:cubicBezTo>
                  <a:pt x="280816" y="0"/>
                  <a:pt x="300037" y="19220"/>
                  <a:pt x="300037" y="42863"/>
                </a:cubicBezTo>
                <a:lnTo>
                  <a:pt x="300037" y="257175"/>
                </a:lnTo>
                <a:cubicBezTo>
                  <a:pt x="300037" y="280818"/>
                  <a:pt x="280816" y="300038"/>
                  <a:pt x="257175" y="300038"/>
                </a:cubicBezTo>
                <a:lnTo>
                  <a:pt x="42862" y="300038"/>
                </a:lnTo>
                <a:cubicBezTo>
                  <a:pt x="19221" y="300038"/>
                  <a:pt x="0" y="280818"/>
                  <a:pt x="0" y="257175"/>
                </a:cubicBezTo>
                <a:lnTo>
                  <a:pt x="0" y="42863"/>
                </a:lnTo>
                <a:close/>
                <a:moveTo>
                  <a:pt x="32148" y="225028"/>
                </a:moveTo>
                <a:lnTo>
                  <a:pt x="32148" y="246460"/>
                </a:lnTo>
                <a:cubicBezTo>
                  <a:pt x="32148" y="252353"/>
                  <a:pt x="36968" y="257175"/>
                  <a:pt x="42862" y="257175"/>
                </a:cubicBezTo>
                <a:lnTo>
                  <a:pt x="64294" y="257175"/>
                </a:lnTo>
                <a:cubicBezTo>
                  <a:pt x="70187" y="257175"/>
                  <a:pt x="75009" y="252353"/>
                  <a:pt x="75009" y="246460"/>
                </a:cubicBezTo>
                <a:lnTo>
                  <a:pt x="75009" y="225028"/>
                </a:lnTo>
                <a:cubicBezTo>
                  <a:pt x="75009" y="219135"/>
                  <a:pt x="70187" y="214313"/>
                  <a:pt x="64294" y="214313"/>
                </a:cubicBezTo>
                <a:lnTo>
                  <a:pt x="42862" y="214313"/>
                </a:lnTo>
                <a:cubicBezTo>
                  <a:pt x="36968" y="214313"/>
                  <a:pt x="32148" y="219135"/>
                  <a:pt x="32148" y="225028"/>
                </a:cubicBezTo>
                <a:close/>
                <a:moveTo>
                  <a:pt x="235744" y="214313"/>
                </a:moveTo>
                <a:cubicBezTo>
                  <a:pt x="229850" y="214313"/>
                  <a:pt x="225027" y="219135"/>
                  <a:pt x="225027" y="225028"/>
                </a:cubicBezTo>
                <a:lnTo>
                  <a:pt x="225027" y="246460"/>
                </a:lnTo>
                <a:cubicBezTo>
                  <a:pt x="225027" y="252353"/>
                  <a:pt x="229850" y="257175"/>
                  <a:pt x="235744" y="257175"/>
                </a:cubicBezTo>
                <a:lnTo>
                  <a:pt x="257175" y="257175"/>
                </a:lnTo>
                <a:cubicBezTo>
                  <a:pt x="263069" y="257175"/>
                  <a:pt x="267891" y="252353"/>
                  <a:pt x="267891" y="246460"/>
                </a:cubicBezTo>
                <a:lnTo>
                  <a:pt x="267891" y="225028"/>
                </a:lnTo>
                <a:cubicBezTo>
                  <a:pt x="267891" y="219135"/>
                  <a:pt x="263069" y="214313"/>
                  <a:pt x="257175" y="214313"/>
                </a:cubicBezTo>
                <a:lnTo>
                  <a:pt x="235744" y="214313"/>
                </a:lnTo>
                <a:close/>
                <a:moveTo>
                  <a:pt x="32148" y="139303"/>
                </a:moveTo>
                <a:lnTo>
                  <a:pt x="32148" y="160735"/>
                </a:lnTo>
                <a:cubicBezTo>
                  <a:pt x="32148" y="166628"/>
                  <a:pt x="36968" y="171450"/>
                  <a:pt x="42862" y="171450"/>
                </a:cubicBezTo>
                <a:lnTo>
                  <a:pt x="64294" y="171450"/>
                </a:lnTo>
                <a:cubicBezTo>
                  <a:pt x="70187" y="171450"/>
                  <a:pt x="75009" y="166628"/>
                  <a:pt x="75009" y="160735"/>
                </a:cubicBezTo>
                <a:lnTo>
                  <a:pt x="75009" y="139303"/>
                </a:lnTo>
                <a:cubicBezTo>
                  <a:pt x="75009" y="133410"/>
                  <a:pt x="70187" y="128588"/>
                  <a:pt x="64294" y="128588"/>
                </a:cubicBezTo>
                <a:lnTo>
                  <a:pt x="42862" y="128588"/>
                </a:lnTo>
                <a:cubicBezTo>
                  <a:pt x="36968" y="128588"/>
                  <a:pt x="32148" y="133410"/>
                  <a:pt x="32148" y="139303"/>
                </a:cubicBezTo>
                <a:close/>
                <a:moveTo>
                  <a:pt x="235744" y="128588"/>
                </a:moveTo>
                <a:cubicBezTo>
                  <a:pt x="229850" y="128588"/>
                  <a:pt x="225027" y="133410"/>
                  <a:pt x="225027" y="139303"/>
                </a:cubicBezTo>
                <a:lnTo>
                  <a:pt x="225027" y="160735"/>
                </a:lnTo>
                <a:cubicBezTo>
                  <a:pt x="225027" y="166628"/>
                  <a:pt x="229850" y="171450"/>
                  <a:pt x="235744" y="171450"/>
                </a:cubicBezTo>
                <a:lnTo>
                  <a:pt x="257175" y="171450"/>
                </a:lnTo>
                <a:cubicBezTo>
                  <a:pt x="263069" y="171450"/>
                  <a:pt x="267891" y="166628"/>
                  <a:pt x="267891" y="160735"/>
                </a:cubicBezTo>
                <a:lnTo>
                  <a:pt x="267891" y="139303"/>
                </a:lnTo>
                <a:cubicBezTo>
                  <a:pt x="267891" y="133410"/>
                  <a:pt x="263069" y="128588"/>
                  <a:pt x="257175" y="128588"/>
                </a:cubicBezTo>
                <a:lnTo>
                  <a:pt x="235744" y="128588"/>
                </a:lnTo>
                <a:close/>
                <a:moveTo>
                  <a:pt x="32148" y="53578"/>
                </a:moveTo>
                <a:lnTo>
                  <a:pt x="32148" y="75010"/>
                </a:lnTo>
                <a:cubicBezTo>
                  <a:pt x="32148" y="80903"/>
                  <a:pt x="36968" y="85725"/>
                  <a:pt x="42862" y="85725"/>
                </a:cubicBezTo>
                <a:lnTo>
                  <a:pt x="64294" y="85725"/>
                </a:lnTo>
                <a:cubicBezTo>
                  <a:pt x="70187" y="85725"/>
                  <a:pt x="75009" y="80903"/>
                  <a:pt x="75009" y="75010"/>
                </a:cubicBezTo>
                <a:lnTo>
                  <a:pt x="75009" y="53578"/>
                </a:lnTo>
                <a:cubicBezTo>
                  <a:pt x="75009" y="47685"/>
                  <a:pt x="70187" y="42863"/>
                  <a:pt x="64294" y="42863"/>
                </a:cubicBezTo>
                <a:lnTo>
                  <a:pt x="42862" y="42863"/>
                </a:lnTo>
                <a:cubicBezTo>
                  <a:pt x="36968" y="42863"/>
                  <a:pt x="32148" y="47685"/>
                  <a:pt x="32148" y="53578"/>
                </a:cubicBezTo>
                <a:close/>
                <a:moveTo>
                  <a:pt x="235744" y="42863"/>
                </a:moveTo>
                <a:cubicBezTo>
                  <a:pt x="229850" y="42863"/>
                  <a:pt x="225027" y="47685"/>
                  <a:pt x="225027" y="53578"/>
                </a:cubicBezTo>
                <a:lnTo>
                  <a:pt x="225027" y="75010"/>
                </a:lnTo>
                <a:cubicBezTo>
                  <a:pt x="225027" y="80903"/>
                  <a:pt x="229850" y="85725"/>
                  <a:pt x="235744" y="85725"/>
                </a:cubicBezTo>
                <a:lnTo>
                  <a:pt x="257175" y="85725"/>
                </a:lnTo>
                <a:cubicBezTo>
                  <a:pt x="263069" y="85725"/>
                  <a:pt x="267891" y="80903"/>
                  <a:pt x="267891" y="75010"/>
                </a:cubicBezTo>
                <a:lnTo>
                  <a:pt x="267891" y="53578"/>
                </a:lnTo>
                <a:cubicBezTo>
                  <a:pt x="267891" y="47685"/>
                  <a:pt x="263069" y="42863"/>
                  <a:pt x="257175" y="42863"/>
                </a:cubicBezTo>
                <a:lnTo>
                  <a:pt x="235744" y="42863"/>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6338888" y="2996171"/>
            <a:ext cx="24193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4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动画演示Attention机制</a:t>
            </a:r>
            <a:endParaRPr lang="en-US" sz="1100"/>
          </a:p>
        </p:txBody>
      </p:sp>
      <p:sp>
        <p:nvSpPr>
          <p:cNvPr id="14" name="AutoShape 14"/>
          <p:cNvSpPr/>
          <p:nvPr/>
        </p:nvSpPr>
        <p:spPr>
          <a:xfrm>
            <a:off x="6348413" y="3338885"/>
            <a:ext cx="24003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prvnsmpth.github.io/animated-transformer</a:t>
            </a:r>
            <a:endParaRPr lang="en-US" sz="1100"/>
          </a:p>
        </p:txBody>
      </p:sp>
      <p:sp>
        <p:nvSpPr>
          <p:cNvPr id="15" name="Freeform 15"/>
          <p:cNvSpPr/>
          <p:nvPr/>
        </p:nvSpPr>
        <p:spPr>
          <a:xfrm>
            <a:off x="9096374" y="2348657"/>
            <a:ext cx="2714625" cy="1628775"/>
          </a:xfrm>
          <a:custGeom>
            <a:avLst/>
            <a:gdLst/>
            <a:ahLst/>
            <a:cxnLst/>
            <a:rect l="l" t="t" r="r" b="b"/>
            <a:pathLst>
              <a:path w="2714625" h="1628775">
                <a:moveTo>
                  <a:pt x="114308" y="0"/>
                </a:moveTo>
                <a:lnTo>
                  <a:pt x="2600317" y="0"/>
                </a:lnTo>
                <a:cubicBezTo>
                  <a:pt x="2663448" y="0"/>
                  <a:pt x="2714625" y="51177"/>
                  <a:pt x="2714625" y="114308"/>
                </a:cubicBezTo>
                <a:lnTo>
                  <a:pt x="2714625" y="1514467"/>
                </a:lnTo>
                <a:cubicBezTo>
                  <a:pt x="2714625" y="1577598"/>
                  <a:pt x="2663448" y="1628775"/>
                  <a:pt x="2600317" y="1628775"/>
                </a:cubicBezTo>
                <a:lnTo>
                  <a:pt x="114308" y="1628775"/>
                </a:lnTo>
                <a:cubicBezTo>
                  <a:pt x="51177" y="1628775"/>
                  <a:pt x="0" y="1577598"/>
                  <a:pt x="0" y="1514467"/>
                </a:cubicBezTo>
                <a:lnTo>
                  <a:pt x="0" y="114308"/>
                </a:lnTo>
                <a:cubicBezTo>
                  <a:pt x="0" y="51219"/>
                  <a:pt x="51219" y="0"/>
                  <a:pt x="114308"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10287596" y="2544515"/>
            <a:ext cx="332184" cy="325152"/>
          </a:xfrm>
          <a:custGeom>
            <a:avLst/>
            <a:gdLst/>
            <a:ahLst/>
            <a:cxnLst/>
            <a:rect l="l" t="t" r="r" b="b"/>
            <a:pathLst>
              <a:path w="332184" h="325152">
                <a:moveTo>
                  <a:pt x="111107" y="260791"/>
                </a:moveTo>
                <a:cubicBezTo>
                  <a:pt x="111107" y="262131"/>
                  <a:pt x="109567" y="263203"/>
                  <a:pt x="107625" y="263203"/>
                </a:cubicBezTo>
                <a:cubicBezTo>
                  <a:pt x="105415" y="263403"/>
                  <a:pt x="103873" y="262333"/>
                  <a:pt x="103873" y="260791"/>
                </a:cubicBezTo>
                <a:cubicBezTo>
                  <a:pt x="103873" y="259452"/>
                  <a:pt x="105415" y="258380"/>
                  <a:pt x="107357" y="258380"/>
                </a:cubicBezTo>
                <a:cubicBezTo>
                  <a:pt x="109366" y="258178"/>
                  <a:pt x="111107" y="259252"/>
                  <a:pt x="111107" y="260791"/>
                </a:cubicBezTo>
                <a:close/>
                <a:moveTo>
                  <a:pt x="90279" y="257778"/>
                </a:moveTo>
                <a:cubicBezTo>
                  <a:pt x="89809" y="259117"/>
                  <a:pt x="91151" y="260657"/>
                  <a:pt x="93158" y="261059"/>
                </a:cubicBezTo>
                <a:cubicBezTo>
                  <a:pt x="94900" y="261729"/>
                  <a:pt x="96909" y="261059"/>
                  <a:pt x="97311" y="259720"/>
                </a:cubicBezTo>
                <a:cubicBezTo>
                  <a:pt x="97713" y="258380"/>
                  <a:pt x="96440" y="256840"/>
                  <a:pt x="94431" y="256237"/>
                </a:cubicBezTo>
                <a:cubicBezTo>
                  <a:pt x="92690" y="255768"/>
                  <a:pt x="90748" y="256439"/>
                  <a:pt x="90279" y="257778"/>
                </a:cubicBezTo>
                <a:close/>
                <a:moveTo>
                  <a:pt x="119881" y="256639"/>
                </a:moveTo>
                <a:cubicBezTo>
                  <a:pt x="117939" y="257108"/>
                  <a:pt x="116599" y="258380"/>
                  <a:pt x="116799" y="259921"/>
                </a:cubicBezTo>
                <a:cubicBezTo>
                  <a:pt x="117001" y="261259"/>
                  <a:pt x="118743" y="262131"/>
                  <a:pt x="120752" y="261662"/>
                </a:cubicBezTo>
                <a:cubicBezTo>
                  <a:pt x="122694" y="261193"/>
                  <a:pt x="124033" y="259921"/>
                  <a:pt x="123831" y="258581"/>
                </a:cubicBezTo>
                <a:cubicBezTo>
                  <a:pt x="123631" y="257308"/>
                  <a:pt x="121824" y="256439"/>
                  <a:pt x="119881" y="256639"/>
                </a:cubicBezTo>
                <a:close/>
                <a:moveTo>
                  <a:pt x="163950" y="0"/>
                </a:moveTo>
                <a:cubicBezTo>
                  <a:pt x="71058" y="0"/>
                  <a:pt x="0" y="70522"/>
                  <a:pt x="0" y="163414"/>
                </a:cubicBezTo>
                <a:cubicBezTo>
                  <a:pt x="0" y="237686"/>
                  <a:pt x="46748" y="301243"/>
                  <a:pt x="113518" y="323611"/>
                </a:cubicBezTo>
                <a:cubicBezTo>
                  <a:pt x="122092" y="325152"/>
                  <a:pt x="125105" y="319861"/>
                  <a:pt x="125105" y="315507"/>
                </a:cubicBezTo>
                <a:cubicBezTo>
                  <a:pt x="125105" y="311356"/>
                  <a:pt x="124905" y="288451"/>
                  <a:pt x="124905" y="274387"/>
                </a:cubicBezTo>
                <a:cubicBezTo>
                  <a:pt x="124905" y="274387"/>
                  <a:pt x="78023" y="284433"/>
                  <a:pt x="68178" y="254429"/>
                </a:cubicBezTo>
                <a:cubicBezTo>
                  <a:pt x="68178" y="254429"/>
                  <a:pt x="60544" y="234940"/>
                  <a:pt x="49561" y="229917"/>
                </a:cubicBezTo>
                <a:cubicBezTo>
                  <a:pt x="49561" y="229917"/>
                  <a:pt x="34223" y="219402"/>
                  <a:pt x="50631" y="219603"/>
                </a:cubicBezTo>
                <a:cubicBezTo>
                  <a:pt x="50631" y="219603"/>
                  <a:pt x="67308" y="220943"/>
                  <a:pt x="76483" y="236882"/>
                </a:cubicBezTo>
                <a:cubicBezTo>
                  <a:pt x="91151" y="262734"/>
                  <a:pt x="115729" y="255301"/>
                  <a:pt x="125306" y="250878"/>
                </a:cubicBezTo>
                <a:cubicBezTo>
                  <a:pt x="126846" y="240163"/>
                  <a:pt x="131199" y="232730"/>
                  <a:pt x="136021" y="228311"/>
                </a:cubicBezTo>
                <a:cubicBezTo>
                  <a:pt x="98584" y="224156"/>
                  <a:pt x="60812" y="218733"/>
                  <a:pt x="60812" y="154305"/>
                </a:cubicBezTo>
                <a:cubicBezTo>
                  <a:pt x="60812" y="135888"/>
                  <a:pt x="65900" y="126645"/>
                  <a:pt x="76617" y="114858"/>
                </a:cubicBezTo>
                <a:cubicBezTo>
                  <a:pt x="74876" y="110505"/>
                  <a:pt x="69183" y="92556"/>
                  <a:pt x="78358" y="69383"/>
                </a:cubicBezTo>
                <a:cubicBezTo>
                  <a:pt x="92355" y="65030"/>
                  <a:pt x="124569" y="87466"/>
                  <a:pt x="124569" y="87466"/>
                </a:cubicBezTo>
                <a:cubicBezTo>
                  <a:pt x="137963" y="83716"/>
                  <a:pt x="152363" y="81773"/>
                  <a:pt x="166628" y="81773"/>
                </a:cubicBezTo>
                <a:cubicBezTo>
                  <a:pt x="180893" y="81773"/>
                  <a:pt x="195292" y="83716"/>
                  <a:pt x="208687" y="87466"/>
                </a:cubicBezTo>
                <a:cubicBezTo>
                  <a:pt x="208687" y="87466"/>
                  <a:pt x="240900" y="64963"/>
                  <a:pt x="254898" y="69383"/>
                </a:cubicBezTo>
                <a:cubicBezTo>
                  <a:pt x="264072" y="92623"/>
                  <a:pt x="258380" y="110505"/>
                  <a:pt x="256639" y="114858"/>
                </a:cubicBezTo>
                <a:cubicBezTo>
                  <a:pt x="267355" y="126712"/>
                  <a:pt x="273918" y="135954"/>
                  <a:pt x="273918" y="154305"/>
                </a:cubicBezTo>
                <a:cubicBezTo>
                  <a:pt x="273918" y="218933"/>
                  <a:pt x="234471" y="224090"/>
                  <a:pt x="197033" y="228311"/>
                </a:cubicBezTo>
                <a:cubicBezTo>
                  <a:pt x="203195" y="233600"/>
                  <a:pt x="208419" y="243646"/>
                  <a:pt x="208419" y="259385"/>
                </a:cubicBezTo>
                <a:cubicBezTo>
                  <a:pt x="208419" y="281955"/>
                  <a:pt x="208218" y="309881"/>
                  <a:pt x="208218" y="315374"/>
                </a:cubicBezTo>
                <a:cubicBezTo>
                  <a:pt x="208218" y="319726"/>
                  <a:pt x="211299" y="325019"/>
                  <a:pt x="219804" y="323478"/>
                </a:cubicBezTo>
                <a:cubicBezTo>
                  <a:pt x="286778" y="301243"/>
                  <a:pt x="332184" y="237686"/>
                  <a:pt x="332184" y="163414"/>
                </a:cubicBezTo>
                <a:cubicBezTo>
                  <a:pt x="332184" y="70522"/>
                  <a:pt x="256840" y="0"/>
                  <a:pt x="163950" y="0"/>
                </a:cubicBezTo>
                <a:close/>
                <a:moveTo>
                  <a:pt x="65097" y="230989"/>
                </a:moveTo>
                <a:cubicBezTo>
                  <a:pt x="64227" y="231658"/>
                  <a:pt x="64428" y="233199"/>
                  <a:pt x="65566" y="234471"/>
                </a:cubicBezTo>
                <a:cubicBezTo>
                  <a:pt x="66638" y="235543"/>
                  <a:pt x="68178" y="236011"/>
                  <a:pt x="69049" y="235141"/>
                </a:cubicBezTo>
                <a:cubicBezTo>
                  <a:pt x="69919" y="234471"/>
                  <a:pt x="69718" y="232931"/>
                  <a:pt x="68580" y="231658"/>
                </a:cubicBezTo>
                <a:cubicBezTo>
                  <a:pt x="67508" y="230586"/>
                  <a:pt x="65968" y="230118"/>
                  <a:pt x="65097" y="230989"/>
                </a:cubicBezTo>
                <a:close/>
                <a:moveTo>
                  <a:pt x="57864" y="225564"/>
                </a:moveTo>
                <a:cubicBezTo>
                  <a:pt x="57395" y="226434"/>
                  <a:pt x="58065" y="227505"/>
                  <a:pt x="59404" y="228176"/>
                </a:cubicBezTo>
                <a:cubicBezTo>
                  <a:pt x="60476" y="228845"/>
                  <a:pt x="61816" y="228645"/>
                  <a:pt x="62283" y="227707"/>
                </a:cubicBezTo>
                <a:cubicBezTo>
                  <a:pt x="62753" y="226836"/>
                  <a:pt x="62083" y="225765"/>
                  <a:pt x="60744" y="225095"/>
                </a:cubicBezTo>
                <a:cubicBezTo>
                  <a:pt x="59404" y="224694"/>
                  <a:pt x="58332" y="224894"/>
                  <a:pt x="57864" y="225564"/>
                </a:cubicBezTo>
                <a:close/>
                <a:moveTo>
                  <a:pt x="79563" y="249407"/>
                </a:moveTo>
                <a:cubicBezTo>
                  <a:pt x="78492" y="250276"/>
                  <a:pt x="78894" y="252286"/>
                  <a:pt x="80434" y="253558"/>
                </a:cubicBezTo>
                <a:cubicBezTo>
                  <a:pt x="81974" y="255099"/>
                  <a:pt x="83917" y="255301"/>
                  <a:pt x="84787" y="254227"/>
                </a:cubicBezTo>
                <a:cubicBezTo>
                  <a:pt x="85658" y="253358"/>
                  <a:pt x="85256" y="251348"/>
                  <a:pt x="83917" y="250076"/>
                </a:cubicBezTo>
                <a:cubicBezTo>
                  <a:pt x="82443" y="248535"/>
                  <a:pt x="80434" y="248333"/>
                  <a:pt x="79563" y="249407"/>
                </a:cubicBezTo>
                <a:close/>
                <a:moveTo>
                  <a:pt x="71928" y="239561"/>
                </a:moveTo>
                <a:cubicBezTo>
                  <a:pt x="70857" y="240231"/>
                  <a:pt x="70857" y="241972"/>
                  <a:pt x="71928" y="243512"/>
                </a:cubicBezTo>
                <a:cubicBezTo>
                  <a:pt x="73000" y="245053"/>
                  <a:pt x="74808" y="245722"/>
                  <a:pt x="75679" y="245053"/>
                </a:cubicBezTo>
                <a:cubicBezTo>
                  <a:pt x="76750" y="244182"/>
                  <a:pt x="76750" y="242441"/>
                  <a:pt x="75679" y="240900"/>
                </a:cubicBezTo>
                <a:cubicBezTo>
                  <a:pt x="74741" y="239360"/>
                  <a:pt x="73000" y="238690"/>
                  <a:pt x="71928" y="239561"/>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9244012" y="2996171"/>
            <a:ext cx="24193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词向量可视化</a:t>
            </a:r>
            <a:endParaRPr lang="en-US" sz="1100"/>
          </a:p>
        </p:txBody>
      </p:sp>
      <p:sp>
        <p:nvSpPr>
          <p:cNvPr id="18" name="AutoShape 18"/>
          <p:cNvSpPr/>
          <p:nvPr/>
        </p:nvSpPr>
        <p:spPr>
          <a:xfrm>
            <a:off x="9253537" y="3338885"/>
            <a:ext cx="24003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https://projector.tensorflow.org/</a:t>
            </a:r>
            <a:endParaRPr lang="en-US" sz="1100"/>
          </a:p>
        </p:txBody>
      </p:sp>
      <p:sp>
        <p:nvSpPr>
          <p:cNvPr id="19" name="Freeform 19"/>
          <p:cNvSpPr/>
          <p:nvPr/>
        </p:nvSpPr>
        <p:spPr>
          <a:xfrm>
            <a:off x="381000" y="4170164"/>
            <a:ext cx="2714625" cy="1409700"/>
          </a:xfrm>
          <a:custGeom>
            <a:avLst/>
            <a:gdLst/>
            <a:ahLst/>
            <a:cxnLst/>
            <a:rect l="l" t="t" r="r" b="b"/>
            <a:pathLst>
              <a:path w="2714625" h="1409700">
                <a:moveTo>
                  <a:pt x="114297" y="0"/>
                </a:moveTo>
                <a:lnTo>
                  <a:pt x="2600328" y="0"/>
                </a:lnTo>
                <a:cubicBezTo>
                  <a:pt x="2663452" y="0"/>
                  <a:pt x="2714625" y="51173"/>
                  <a:pt x="2714625" y="114297"/>
                </a:cubicBezTo>
                <a:lnTo>
                  <a:pt x="2714625" y="1295403"/>
                </a:lnTo>
                <a:cubicBezTo>
                  <a:pt x="2714625" y="1358527"/>
                  <a:pt x="2663452" y="1409700"/>
                  <a:pt x="2600328" y="1409700"/>
                </a:cubicBezTo>
                <a:lnTo>
                  <a:pt x="114297" y="1409700"/>
                </a:lnTo>
                <a:cubicBezTo>
                  <a:pt x="51173" y="1409700"/>
                  <a:pt x="0" y="1358527"/>
                  <a:pt x="0" y="1295403"/>
                </a:cubicBezTo>
                <a:lnTo>
                  <a:pt x="0" y="114297"/>
                </a:lnTo>
                <a:cubicBezTo>
                  <a:pt x="0" y="51173"/>
                  <a:pt x="51173" y="0"/>
                  <a:pt x="114297"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1588294" y="4360664"/>
            <a:ext cx="300038" cy="342900"/>
          </a:xfrm>
          <a:custGeom>
            <a:avLst/>
            <a:gdLst/>
            <a:ahLst/>
            <a:cxnLst/>
            <a:rect l="l" t="t" r="r" b="b"/>
            <a:pathLst>
              <a:path w="300038" h="342900">
                <a:moveTo>
                  <a:pt x="257175" y="342900"/>
                </a:moveTo>
                <a:lnTo>
                  <a:pt x="64294" y="342900"/>
                </a:lnTo>
                <a:cubicBezTo>
                  <a:pt x="28799" y="342900"/>
                  <a:pt x="0" y="314101"/>
                  <a:pt x="0" y="278606"/>
                </a:cubicBezTo>
                <a:lnTo>
                  <a:pt x="0" y="64294"/>
                </a:lnTo>
                <a:cubicBezTo>
                  <a:pt x="0" y="28799"/>
                  <a:pt x="28799" y="0"/>
                  <a:pt x="64294" y="0"/>
                </a:cubicBezTo>
                <a:lnTo>
                  <a:pt x="267891" y="0"/>
                </a:lnTo>
                <a:cubicBezTo>
                  <a:pt x="285638" y="0"/>
                  <a:pt x="300038" y="14399"/>
                  <a:pt x="300038" y="32148"/>
                </a:cubicBezTo>
                <a:lnTo>
                  <a:pt x="300038" y="225027"/>
                </a:lnTo>
                <a:cubicBezTo>
                  <a:pt x="300038" y="239025"/>
                  <a:pt x="291062" y="250947"/>
                  <a:pt x="278606" y="255367"/>
                </a:cubicBezTo>
                <a:lnTo>
                  <a:pt x="278606" y="300038"/>
                </a:lnTo>
                <a:cubicBezTo>
                  <a:pt x="290460" y="300038"/>
                  <a:pt x="300038" y="309615"/>
                  <a:pt x="300038" y="321469"/>
                </a:cubicBezTo>
                <a:cubicBezTo>
                  <a:pt x="300038" y="333323"/>
                  <a:pt x="290460" y="342900"/>
                  <a:pt x="278606" y="342900"/>
                </a:cubicBezTo>
                <a:lnTo>
                  <a:pt x="257175" y="342900"/>
                </a:lnTo>
                <a:close/>
                <a:moveTo>
                  <a:pt x="64294" y="257175"/>
                </a:moveTo>
                <a:cubicBezTo>
                  <a:pt x="52440" y="257175"/>
                  <a:pt x="42862" y="266752"/>
                  <a:pt x="42862" y="278606"/>
                </a:cubicBezTo>
                <a:cubicBezTo>
                  <a:pt x="42862" y="290460"/>
                  <a:pt x="52440" y="300038"/>
                  <a:pt x="64294" y="300038"/>
                </a:cubicBezTo>
                <a:lnTo>
                  <a:pt x="235744" y="300038"/>
                </a:lnTo>
                <a:lnTo>
                  <a:pt x="235744" y="257175"/>
                </a:lnTo>
                <a:lnTo>
                  <a:pt x="64294" y="257175"/>
                </a:lnTo>
                <a:close/>
                <a:moveTo>
                  <a:pt x="85725" y="101798"/>
                </a:moveTo>
                <a:cubicBezTo>
                  <a:pt x="85725" y="110706"/>
                  <a:pt x="92892" y="117873"/>
                  <a:pt x="101798" y="117873"/>
                </a:cubicBezTo>
                <a:lnTo>
                  <a:pt x="219671" y="117873"/>
                </a:lnTo>
                <a:cubicBezTo>
                  <a:pt x="228578" y="117873"/>
                  <a:pt x="235744" y="110706"/>
                  <a:pt x="235744" y="101798"/>
                </a:cubicBezTo>
                <a:cubicBezTo>
                  <a:pt x="235744" y="92892"/>
                  <a:pt x="228578" y="85725"/>
                  <a:pt x="219671" y="85725"/>
                </a:cubicBezTo>
                <a:lnTo>
                  <a:pt x="101798" y="85725"/>
                </a:lnTo>
                <a:cubicBezTo>
                  <a:pt x="92892" y="85725"/>
                  <a:pt x="85725" y="92892"/>
                  <a:pt x="85725" y="101798"/>
                </a:cubicBezTo>
                <a:close/>
                <a:moveTo>
                  <a:pt x="101798" y="150019"/>
                </a:moveTo>
                <a:cubicBezTo>
                  <a:pt x="92892" y="150019"/>
                  <a:pt x="85725" y="157185"/>
                  <a:pt x="85725" y="166092"/>
                </a:cubicBezTo>
                <a:cubicBezTo>
                  <a:pt x="85725" y="175000"/>
                  <a:pt x="92892" y="182166"/>
                  <a:pt x="101798" y="182166"/>
                </a:cubicBezTo>
                <a:lnTo>
                  <a:pt x="219671" y="182166"/>
                </a:lnTo>
                <a:cubicBezTo>
                  <a:pt x="228578" y="182166"/>
                  <a:pt x="235744" y="175000"/>
                  <a:pt x="235744" y="166092"/>
                </a:cubicBezTo>
                <a:cubicBezTo>
                  <a:pt x="235744" y="157185"/>
                  <a:pt x="228578" y="150019"/>
                  <a:pt x="219671" y="150019"/>
                </a:cubicBezTo>
                <a:lnTo>
                  <a:pt x="101798" y="15001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528637" y="4817715"/>
            <a:ext cx="24193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FlagOS文档</a:t>
            </a:r>
            <a:endParaRPr lang="en-US" sz="1100"/>
          </a:p>
        </p:txBody>
      </p:sp>
      <p:sp>
        <p:nvSpPr>
          <p:cNvPr id="22" name="AutoShape 22"/>
          <p:cNvSpPr/>
          <p:nvPr/>
        </p:nvSpPr>
        <p:spPr>
          <a:xfrm>
            <a:off x="538162" y="5160429"/>
            <a:ext cx="240030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docs.flagos.io</a:t>
            </a:r>
            <a:endParaRPr lang="en-US" sz="1100"/>
          </a:p>
        </p:txBody>
      </p:sp>
      <p:sp>
        <p:nvSpPr>
          <p:cNvPr id="23" name="Freeform 23"/>
          <p:cNvSpPr/>
          <p:nvPr/>
        </p:nvSpPr>
        <p:spPr>
          <a:xfrm>
            <a:off x="3294784" y="4178823"/>
            <a:ext cx="2693843" cy="1388918"/>
          </a:xfrm>
          <a:custGeom>
            <a:avLst/>
            <a:gdLst/>
            <a:ahLst/>
            <a:cxnLst/>
            <a:rect l="l" t="t" r="r" b="b"/>
            <a:pathLst>
              <a:path w="2693843" h="1388918">
                <a:moveTo>
                  <a:pt x="114294" y="0"/>
                </a:moveTo>
                <a:lnTo>
                  <a:pt x="2579549" y="0"/>
                </a:lnTo>
                <a:cubicBezTo>
                  <a:pt x="2642672" y="0"/>
                  <a:pt x="2693843" y="51171"/>
                  <a:pt x="2693843" y="114294"/>
                </a:cubicBezTo>
                <a:lnTo>
                  <a:pt x="2693843" y="1274624"/>
                </a:lnTo>
                <a:cubicBezTo>
                  <a:pt x="2693843" y="1337747"/>
                  <a:pt x="2642672" y="1388918"/>
                  <a:pt x="2579549" y="1388918"/>
                </a:cubicBezTo>
                <a:lnTo>
                  <a:pt x="114294" y="1388918"/>
                </a:lnTo>
                <a:cubicBezTo>
                  <a:pt x="51213" y="1388918"/>
                  <a:pt x="0" y="1337705"/>
                  <a:pt x="0" y="1274624"/>
                </a:cubicBezTo>
                <a:lnTo>
                  <a:pt x="0" y="114294"/>
                </a:lnTo>
                <a:cubicBezTo>
                  <a:pt x="0" y="51213"/>
                  <a:pt x="51213" y="0"/>
                  <a:pt x="114294" y="0"/>
                </a:cubicBezTo>
                <a:close/>
              </a:path>
            </a:pathLst>
          </a:custGeom>
          <a:solidFill>
            <a:srgbClr val="F5F5F5">
              <a:alpha val="100000"/>
            </a:srgbClr>
          </a:solidFill>
          <a:ln w="12700">
            <a:solidFill>
              <a:srgbClr val="5B92E5">
                <a:alpha val="100000"/>
              </a:srgbClr>
            </a:solidFill>
            <a:prstDash val="dash"/>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4" name="Freeform 24"/>
          <p:cNvSpPr/>
          <p:nvPr/>
        </p:nvSpPr>
        <p:spPr>
          <a:xfrm>
            <a:off x="4493418" y="4399434"/>
            <a:ext cx="300038" cy="300038"/>
          </a:xfrm>
          <a:custGeom>
            <a:avLst/>
            <a:gdLst/>
            <a:ahLst/>
            <a:cxnLst/>
            <a:rect l="l" t="t" r="r" b="b"/>
            <a:pathLst>
              <a:path w="300038" h="300038">
                <a:moveTo>
                  <a:pt x="42862" y="85725"/>
                </a:moveTo>
                <a:lnTo>
                  <a:pt x="85725" y="85725"/>
                </a:lnTo>
                <a:lnTo>
                  <a:pt x="85725" y="42863"/>
                </a:lnTo>
                <a:lnTo>
                  <a:pt x="42862" y="42863"/>
                </a:lnTo>
                <a:lnTo>
                  <a:pt x="42862" y="85725"/>
                </a:lnTo>
                <a:close/>
                <a:moveTo>
                  <a:pt x="0" y="32146"/>
                </a:moveTo>
                <a:cubicBezTo>
                  <a:pt x="0" y="14400"/>
                  <a:pt x="14399" y="0"/>
                  <a:pt x="32148" y="0"/>
                </a:cubicBezTo>
                <a:lnTo>
                  <a:pt x="96441" y="0"/>
                </a:lnTo>
                <a:cubicBezTo>
                  <a:pt x="114188" y="0"/>
                  <a:pt x="128588" y="14400"/>
                  <a:pt x="128588" y="32146"/>
                </a:cubicBezTo>
                <a:lnTo>
                  <a:pt x="128588" y="96442"/>
                </a:lnTo>
                <a:cubicBezTo>
                  <a:pt x="128588" y="114188"/>
                  <a:pt x="114188" y="128588"/>
                  <a:pt x="96441" y="128588"/>
                </a:cubicBezTo>
                <a:lnTo>
                  <a:pt x="32148" y="128588"/>
                </a:lnTo>
                <a:cubicBezTo>
                  <a:pt x="14399" y="128588"/>
                  <a:pt x="0" y="114188"/>
                  <a:pt x="0" y="96442"/>
                </a:cubicBezTo>
                <a:lnTo>
                  <a:pt x="0" y="32146"/>
                </a:lnTo>
                <a:close/>
                <a:moveTo>
                  <a:pt x="42862" y="257175"/>
                </a:moveTo>
                <a:lnTo>
                  <a:pt x="85725" y="257175"/>
                </a:lnTo>
                <a:lnTo>
                  <a:pt x="85725" y="214313"/>
                </a:lnTo>
                <a:lnTo>
                  <a:pt x="42862" y="214313"/>
                </a:lnTo>
                <a:lnTo>
                  <a:pt x="42862" y="257175"/>
                </a:lnTo>
                <a:close/>
                <a:moveTo>
                  <a:pt x="0" y="203596"/>
                </a:moveTo>
                <a:cubicBezTo>
                  <a:pt x="0" y="185850"/>
                  <a:pt x="14399" y="171450"/>
                  <a:pt x="32148" y="171450"/>
                </a:cubicBezTo>
                <a:lnTo>
                  <a:pt x="96441" y="171450"/>
                </a:lnTo>
                <a:cubicBezTo>
                  <a:pt x="114188" y="171450"/>
                  <a:pt x="128588" y="185850"/>
                  <a:pt x="128588" y="203596"/>
                </a:cubicBezTo>
                <a:lnTo>
                  <a:pt x="128588" y="267892"/>
                </a:lnTo>
                <a:cubicBezTo>
                  <a:pt x="128588" y="285638"/>
                  <a:pt x="114188" y="300038"/>
                  <a:pt x="96441" y="300038"/>
                </a:cubicBezTo>
                <a:lnTo>
                  <a:pt x="32148" y="300038"/>
                </a:lnTo>
                <a:cubicBezTo>
                  <a:pt x="14399" y="300038"/>
                  <a:pt x="0" y="285638"/>
                  <a:pt x="0" y="267892"/>
                </a:cubicBezTo>
                <a:lnTo>
                  <a:pt x="0" y="203596"/>
                </a:lnTo>
                <a:close/>
                <a:moveTo>
                  <a:pt x="214312" y="42863"/>
                </a:moveTo>
                <a:lnTo>
                  <a:pt x="214312" y="85725"/>
                </a:lnTo>
                <a:lnTo>
                  <a:pt x="257175" y="85725"/>
                </a:lnTo>
                <a:lnTo>
                  <a:pt x="257175" y="42863"/>
                </a:lnTo>
                <a:lnTo>
                  <a:pt x="214312" y="42863"/>
                </a:lnTo>
                <a:close/>
                <a:moveTo>
                  <a:pt x="203598" y="0"/>
                </a:moveTo>
                <a:lnTo>
                  <a:pt x="267891" y="0"/>
                </a:lnTo>
                <a:cubicBezTo>
                  <a:pt x="285638" y="0"/>
                  <a:pt x="300038" y="14400"/>
                  <a:pt x="300038" y="32146"/>
                </a:cubicBezTo>
                <a:lnTo>
                  <a:pt x="300038" y="96442"/>
                </a:lnTo>
                <a:cubicBezTo>
                  <a:pt x="300038" y="114188"/>
                  <a:pt x="285638" y="128588"/>
                  <a:pt x="267891" y="128588"/>
                </a:cubicBezTo>
                <a:lnTo>
                  <a:pt x="203598" y="128588"/>
                </a:lnTo>
                <a:cubicBezTo>
                  <a:pt x="185849" y="128588"/>
                  <a:pt x="171450" y="114188"/>
                  <a:pt x="171450" y="96442"/>
                </a:cubicBezTo>
                <a:lnTo>
                  <a:pt x="171450" y="32146"/>
                </a:lnTo>
                <a:cubicBezTo>
                  <a:pt x="171450" y="14400"/>
                  <a:pt x="185849" y="0"/>
                  <a:pt x="203598" y="0"/>
                </a:cubicBezTo>
                <a:close/>
                <a:moveTo>
                  <a:pt x="192881" y="214313"/>
                </a:moveTo>
                <a:cubicBezTo>
                  <a:pt x="181052" y="214313"/>
                  <a:pt x="171450" y="204710"/>
                  <a:pt x="171450" y="192882"/>
                </a:cubicBezTo>
                <a:cubicBezTo>
                  <a:pt x="171450" y="181053"/>
                  <a:pt x="181052" y="171450"/>
                  <a:pt x="192881" y="171450"/>
                </a:cubicBezTo>
                <a:cubicBezTo>
                  <a:pt x="204709" y="171450"/>
                  <a:pt x="214312" y="181053"/>
                  <a:pt x="214312" y="192882"/>
                </a:cubicBezTo>
                <a:cubicBezTo>
                  <a:pt x="214312" y="204710"/>
                  <a:pt x="204709" y="214313"/>
                  <a:pt x="192881" y="214313"/>
                </a:cubicBezTo>
                <a:close/>
                <a:moveTo>
                  <a:pt x="192881" y="257175"/>
                </a:moveTo>
                <a:cubicBezTo>
                  <a:pt x="204735" y="257175"/>
                  <a:pt x="214312" y="266752"/>
                  <a:pt x="214312" y="278606"/>
                </a:cubicBezTo>
                <a:cubicBezTo>
                  <a:pt x="214312" y="290461"/>
                  <a:pt x="204735" y="300038"/>
                  <a:pt x="192881" y="300038"/>
                </a:cubicBezTo>
                <a:cubicBezTo>
                  <a:pt x="181027" y="300038"/>
                  <a:pt x="171450" y="290461"/>
                  <a:pt x="171450" y="278606"/>
                </a:cubicBezTo>
                <a:cubicBezTo>
                  <a:pt x="171450" y="266752"/>
                  <a:pt x="181027" y="257175"/>
                  <a:pt x="192881" y="257175"/>
                </a:cubicBezTo>
                <a:close/>
                <a:moveTo>
                  <a:pt x="257175" y="278606"/>
                </a:moveTo>
                <a:cubicBezTo>
                  <a:pt x="257175" y="266752"/>
                  <a:pt x="266752" y="257175"/>
                  <a:pt x="278606" y="257175"/>
                </a:cubicBezTo>
                <a:cubicBezTo>
                  <a:pt x="290460" y="257175"/>
                  <a:pt x="300038" y="266752"/>
                  <a:pt x="300038" y="278606"/>
                </a:cubicBezTo>
                <a:cubicBezTo>
                  <a:pt x="300038" y="290461"/>
                  <a:pt x="290460" y="300038"/>
                  <a:pt x="278606" y="300038"/>
                </a:cubicBezTo>
                <a:cubicBezTo>
                  <a:pt x="266752" y="300038"/>
                  <a:pt x="257175" y="290461"/>
                  <a:pt x="257175" y="278606"/>
                </a:cubicBezTo>
                <a:close/>
                <a:moveTo>
                  <a:pt x="278606" y="214313"/>
                </a:moveTo>
                <a:cubicBezTo>
                  <a:pt x="266777" y="214313"/>
                  <a:pt x="257175" y="204710"/>
                  <a:pt x="257175" y="192882"/>
                </a:cubicBezTo>
                <a:cubicBezTo>
                  <a:pt x="257175" y="181053"/>
                  <a:pt x="266777" y="171450"/>
                  <a:pt x="278606" y="171450"/>
                </a:cubicBezTo>
                <a:cubicBezTo>
                  <a:pt x="290434" y="171450"/>
                  <a:pt x="300038" y="181053"/>
                  <a:pt x="300038" y="192882"/>
                </a:cubicBezTo>
                <a:cubicBezTo>
                  <a:pt x="300038" y="204710"/>
                  <a:pt x="290434" y="214313"/>
                  <a:pt x="278606" y="214313"/>
                </a:cubicBezTo>
                <a:close/>
                <a:moveTo>
                  <a:pt x="257175" y="235744"/>
                </a:moveTo>
                <a:cubicBezTo>
                  <a:pt x="257175" y="247572"/>
                  <a:pt x="247573" y="257175"/>
                  <a:pt x="235744" y="257175"/>
                </a:cubicBezTo>
                <a:cubicBezTo>
                  <a:pt x="223916" y="257175"/>
                  <a:pt x="214312" y="247572"/>
                  <a:pt x="214312" y="235744"/>
                </a:cubicBezTo>
                <a:cubicBezTo>
                  <a:pt x="214312" y="223916"/>
                  <a:pt x="223916" y="214313"/>
                  <a:pt x="235744" y="214313"/>
                </a:cubicBezTo>
                <a:cubicBezTo>
                  <a:pt x="247573" y="214313"/>
                  <a:pt x="257175" y="223916"/>
                  <a:pt x="257175" y="235744"/>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5" name="Freeform 25"/>
          <p:cNvSpPr/>
          <p:nvPr/>
        </p:nvSpPr>
        <p:spPr>
          <a:xfrm>
            <a:off x="6199909" y="4178823"/>
            <a:ext cx="2693843" cy="1388918"/>
          </a:xfrm>
          <a:custGeom>
            <a:avLst/>
            <a:gdLst/>
            <a:ahLst/>
            <a:cxnLst/>
            <a:rect l="l" t="t" r="r" b="b"/>
            <a:pathLst>
              <a:path w="2693843" h="1388918">
                <a:moveTo>
                  <a:pt x="114294" y="0"/>
                </a:moveTo>
                <a:lnTo>
                  <a:pt x="2579549" y="0"/>
                </a:lnTo>
                <a:cubicBezTo>
                  <a:pt x="2642672" y="0"/>
                  <a:pt x="2693843" y="51171"/>
                  <a:pt x="2693843" y="114294"/>
                </a:cubicBezTo>
                <a:lnTo>
                  <a:pt x="2693843" y="1274624"/>
                </a:lnTo>
                <a:cubicBezTo>
                  <a:pt x="2693843" y="1337747"/>
                  <a:pt x="2642672" y="1388918"/>
                  <a:pt x="2579549" y="1388918"/>
                </a:cubicBezTo>
                <a:lnTo>
                  <a:pt x="114294" y="1388918"/>
                </a:lnTo>
                <a:cubicBezTo>
                  <a:pt x="51213" y="1388918"/>
                  <a:pt x="0" y="1337705"/>
                  <a:pt x="0" y="1274624"/>
                </a:cubicBezTo>
                <a:lnTo>
                  <a:pt x="0" y="114294"/>
                </a:lnTo>
                <a:cubicBezTo>
                  <a:pt x="0" y="51213"/>
                  <a:pt x="51213" y="0"/>
                  <a:pt x="114294" y="0"/>
                </a:cubicBezTo>
                <a:close/>
              </a:path>
            </a:pathLst>
          </a:custGeom>
          <a:solidFill>
            <a:srgbClr val="F5F5F5">
              <a:alpha val="100000"/>
            </a:srgbClr>
          </a:solidFill>
          <a:ln w="12700">
            <a:solidFill>
              <a:srgbClr val="5B92E5">
                <a:alpha val="100000"/>
              </a:srgbClr>
            </a:solidFill>
            <a:prstDash val="dash"/>
          </a:ln>
        </p:spPr>
        <p:txBody>
          <a:bodyPr wrap="square" lIns="91440" tIns="45720" rIns="91440" bIns="45720" rtlCol="0" anchor="t">
            <a:noAutofit/>
          </a:bodyPr>
          <a:lstStyle/>
          <a:p>
            <a:pPr algn="ctr">
              <a:defRPr/>
            </a:pPr>
          </a:p>
        </p:txBody>
      </p:sp>
      <p:sp>
        <p:nvSpPr>
          <p:cNvPr id="26" name="Freeform 26"/>
          <p:cNvSpPr/>
          <p:nvPr/>
        </p:nvSpPr>
        <p:spPr>
          <a:xfrm>
            <a:off x="7398544" y="4399434"/>
            <a:ext cx="300038" cy="300038"/>
          </a:xfrm>
          <a:custGeom>
            <a:avLst/>
            <a:gdLst/>
            <a:ahLst/>
            <a:cxnLst/>
            <a:rect l="l" t="t" r="r" b="b"/>
            <a:pathLst>
              <a:path w="300038" h="300038">
                <a:moveTo>
                  <a:pt x="42862" y="85725"/>
                </a:moveTo>
                <a:lnTo>
                  <a:pt x="85725" y="85725"/>
                </a:lnTo>
                <a:lnTo>
                  <a:pt x="85725" y="42863"/>
                </a:lnTo>
                <a:lnTo>
                  <a:pt x="42862" y="42863"/>
                </a:lnTo>
                <a:lnTo>
                  <a:pt x="42862" y="85725"/>
                </a:lnTo>
                <a:close/>
                <a:moveTo>
                  <a:pt x="0" y="32146"/>
                </a:moveTo>
                <a:cubicBezTo>
                  <a:pt x="0" y="14400"/>
                  <a:pt x="14399" y="0"/>
                  <a:pt x="32148" y="0"/>
                </a:cubicBezTo>
                <a:lnTo>
                  <a:pt x="96441" y="0"/>
                </a:lnTo>
                <a:cubicBezTo>
                  <a:pt x="114188" y="0"/>
                  <a:pt x="128587" y="14400"/>
                  <a:pt x="128587" y="32146"/>
                </a:cubicBezTo>
                <a:lnTo>
                  <a:pt x="128587" y="96442"/>
                </a:lnTo>
                <a:cubicBezTo>
                  <a:pt x="128587" y="114188"/>
                  <a:pt x="114188" y="128588"/>
                  <a:pt x="96441" y="128588"/>
                </a:cubicBezTo>
                <a:lnTo>
                  <a:pt x="32148" y="128588"/>
                </a:lnTo>
                <a:cubicBezTo>
                  <a:pt x="14399" y="128588"/>
                  <a:pt x="0" y="114188"/>
                  <a:pt x="0" y="96442"/>
                </a:cubicBezTo>
                <a:lnTo>
                  <a:pt x="0" y="32146"/>
                </a:lnTo>
                <a:close/>
                <a:moveTo>
                  <a:pt x="42862" y="257175"/>
                </a:moveTo>
                <a:lnTo>
                  <a:pt x="85725" y="257175"/>
                </a:lnTo>
                <a:lnTo>
                  <a:pt x="85725" y="214313"/>
                </a:lnTo>
                <a:lnTo>
                  <a:pt x="42862" y="214313"/>
                </a:lnTo>
                <a:lnTo>
                  <a:pt x="42862" y="257175"/>
                </a:lnTo>
                <a:close/>
                <a:moveTo>
                  <a:pt x="0" y="203596"/>
                </a:moveTo>
                <a:cubicBezTo>
                  <a:pt x="0" y="185850"/>
                  <a:pt x="14399" y="171450"/>
                  <a:pt x="32148" y="171450"/>
                </a:cubicBezTo>
                <a:lnTo>
                  <a:pt x="96441" y="171450"/>
                </a:lnTo>
                <a:cubicBezTo>
                  <a:pt x="114188" y="171450"/>
                  <a:pt x="128587" y="185850"/>
                  <a:pt x="128587" y="203596"/>
                </a:cubicBezTo>
                <a:lnTo>
                  <a:pt x="128587" y="267892"/>
                </a:lnTo>
                <a:cubicBezTo>
                  <a:pt x="128587" y="285638"/>
                  <a:pt x="114188" y="300038"/>
                  <a:pt x="96441" y="300038"/>
                </a:cubicBezTo>
                <a:lnTo>
                  <a:pt x="32148" y="300038"/>
                </a:lnTo>
                <a:cubicBezTo>
                  <a:pt x="14399" y="300038"/>
                  <a:pt x="0" y="285638"/>
                  <a:pt x="0" y="267892"/>
                </a:cubicBezTo>
                <a:lnTo>
                  <a:pt x="0" y="203596"/>
                </a:lnTo>
                <a:close/>
                <a:moveTo>
                  <a:pt x="214312" y="42863"/>
                </a:moveTo>
                <a:lnTo>
                  <a:pt x="214312" y="85725"/>
                </a:lnTo>
                <a:lnTo>
                  <a:pt x="257175" y="85725"/>
                </a:lnTo>
                <a:lnTo>
                  <a:pt x="257175" y="42863"/>
                </a:lnTo>
                <a:lnTo>
                  <a:pt x="214312" y="42863"/>
                </a:lnTo>
                <a:close/>
                <a:moveTo>
                  <a:pt x="203598" y="0"/>
                </a:moveTo>
                <a:lnTo>
                  <a:pt x="267891" y="0"/>
                </a:lnTo>
                <a:cubicBezTo>
                  <a:pt x="285638" y="0"/>
                  <a:pt x="300037" y="14400"/>
                  <a:pt x="300037" y="32146"/>
                </a:cubicBezTo>
                <a:lnTo>
                  <a:pt x="300037" y="96442"/>
                </a:lnTo>
                <a:cubicBezTo>
                  <a:pt x="300037" y="114188"/>
                  <a:pt x="285638" y="128588"/>
                  <a:pt x="267891" y="128588"/>
                </a:cubicBezTo>
                <a:lnTo>
                  <a:pt x="203598" y="128588"/>
                </a:lnTo>
                <a:cubicBezTo>
                  <a:pt x="185849" y="128588"/>
                  <a:pt x="171450" y="114188"/>
                  <a:pt x="171450" y="96442"/>
                </a:cubicBezTo>
                <a:lnTo>
                  <a:pt x="171450" y="32146"/>
                </a:lnTo>
                <a:cubicBezTo>
                  <a:pt x="171450" y="14400"/>
                  <a:pt x="185849" y="0"/>
                  <a:pt x="203598" y="0"/>
                </a:cubicBezTo>
                <a:close/>
                <a:moveTo>
                  <a:pt x="192881" y="214313"/>
                </a:moveTo>
                <a:cubicBezTo>
                  <a:pt x="181052" y="214313"/>
                  <a:pt x="171450" y="204710"/>
                  <a:pt x="171450" y="192882"/>
                </a:cubicBezTo>
                <a:cubicBezTo>
                  <a:pt x="171450" y="181053"/>
                  <a:pt x="181052" y="171450"/>
                  <a:pt x="192881" y="171450"/>
                </a:cubicBezTo>
                <a:cubicBezTo>
                  <a:pt x="204709" y="171450"/>
                  <a:pt x="214312" y="181053"/>
                  <a:pt x="214312" y="192882"/>
                </a:cubicBezTo>
                <a:cubicBezTo>
                  <a:pt x="214312" y="204710"/>
                  <a:pt x="204709" y="214313"/>
                  <a:pt x="192881" y="214313"/>
                </a:cubicBezTo>
                <a:close/>
                <a:moveTo>
                  <a:pt x="192881" y="257175"/>
                </a:moveTo>
                <a:cubicBezTo>
                  <a:pt x="204735" y="257175"/>
                  <a:pt x="214312" y="266752"/>
                  <a:pt x="214312" y="278606"/>
                </a:cubicBezTo>
                <a:cubicBezTo>
                  <a:pt x="214312" y="290461"/>
                  <a:pt x="204735" y="300038"/>
                  <a:pt x="192881" y="300038"/>
                </a:cubicBezTo>
                <a:cubicBezTo>
                  <a:pt x="181027" y="300038"/>
                  <a:pt x="171450" y="290461"/>
                  <a:pt x="171450" y="278606"/>
                </a:cubicBezTo>
                <a:cubicBezTo>
                  <a:pt x="171450" y="266752"/>
                  <a:pt x="181027" y="257175"/>
                  <a:pt x="192881" y="257175"/>
                </a:cubicBezTo>
                <a:close/>
                <a:moveTo>
                  <a:pt x="257175" y="278606"/>
                </a:moveTo>
                <a:cubicBezTo>
                  <a:pt x="257175" y="266752"/>
                  <a:pt x="266752" y="257175"/>
                  <a:pt x="278606" y="257175"/>
                </a:cubicBezTo>
                <a:cubicBezTo>
                  <a:pt x="290460" y="257175"/>
                  <a:pt x="300037" y="266752"/>
                  <a:pt x="300037" y="278606"/>
                </a:cubicBezTo>
                <a:cubicBezTo>
                  <a:pt x="300037" y="290461"/>
                  <a:pt x="290460" y="300038"/>
                  <a:pt x="278606" y="300038"/>
                </a:cubicBezTo>
                <a:cubicBezTo>
                  <a:pt x="266752" y="300038"/>
                  <a:pt x="257175" y="290461"/>
                  <a:pt x="257175" y="278606"/>
                </a:cubicBezTo>
                <a:close/>
                <a:moveTo>
                  <a:pt x="278606" y="214313"/>
                </a:moveTo>
                <a:cubicBezTo>
                  <a:pt x="266777" y="214313"/>
                  <a:pt x="257175" y="204710"/>
                  <a:pt x="257175" y="192882"/>
                </a:cubicBezTo>
                <a:cubicBezTo>
                  <a:pt x="257175" y="181053"/>
                  <a:pt x="266777" y="171450"/>
                  <a:pt x="278606" y="171450"/>
                </a:cubicBezTo>
                <a:cubicBezTo>
                  <a:pt x="290434" y="171450"/>
                  <a:pt x="300037" y="181053"/>
                  <a:pt x="300037" y="192882"/>
                </a:cubicBezTo>
                <a:cubicBezTo>
                  <a:pt x="300037" y="204710"/>
                  <a:pt x="290434" y="214313"/>
                  <a:pt x="278606" y="214313"/>
                </a:cubicBezTo>
                <a:close/>
                <a:moveTo>
                  <a:pt x="257175" y="235744"/>
                </a:moveTo>
                <a:cubicBezTo>
                  <a:pt x="257175" y="247572"/>
                  <a:pt x="247573" y="257175"/>
                  <a:pt x="235744" y="257175"/>
                </a:cubicBezTo>
                <a:cubicBezTo>
                  <a:pt x="223916" y="257175"/>
                  <a:pt x="214312" y="247572"/>
                  <a:pt x="214312" y="235744"/>
                </a:cubicBezTo>
                <a:cubicBezTo>
                  <a:pt x="214312" y="223916"/>
                  <a:pt x="223916" y="214313"/>
                  <a:pt x="235744" y="214313"/>
                </a:cubicBezTo>
                <a:cubicBezTo>
                  <a:pt x="247573" y="214313"/>
                  <a:pt x="257175" y="223916"/>
                  <a:pt x="257175" y="235744"/>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6356206" y="4835017"/>
            <a:ext cx="23812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8" name="AutoShape 28"/>
          <p:cNvSpPr/>
          <p:nvPr/>
        </p:nvSpPr>
        <p:spPr>
          <a:xfrm>
            <a:off x="6365731" y="5177730"/>
            <a:ext cx="236220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9" name="Freeform 29"/>
          <p:cNvSpPr/>
          <p:nvPr/>
        </p:nvSpPr>
        <p:spPr>
          <a:xfrm>
            <a:off x="9105034" y="4178823"/>
            <a:ext cx="2693843" cy="1388918"/>
          </a:xfrm>
          <a:custGeom>
            <a:avLst/>
            <a:gdLst/>
            <a:ahLst/>
            <a:cxnLst/>
            <a:rect l="l" t="t" r="r" b="b"/>
            <a:pathLst>
              <a:path w="2693843" h="1388918">
                <a:moveTo>
                  <a:pt x="114294" y="0"/>
                </a:moveTo>
                <a:lnTo>
                  <a:pt x="2579549" y="0"/>
                </a:lnTo>
                <a:cubicBezTo>
                  <a:pt x="2642672" y="0"/>
                  <a:pt x="2693843" y="51171"/>
                  <a:pt x="2693843" y="114294"/>
                </a:cubicBezTo>
                <a:lnTo>
                  <a:pt x="2693843" y="1274624"/>
                </a:lnTo>
                <a:cubicBezTo>
                  <a:pt x="2693843" y="1337747"/>
                  <a:pt x="2642672" y="1388918"/>
                  <a:pt x="2579549" y="1388918"/>
                </a:cubicBezTo>
                <a:lnTo>
                  <a:pt x="114294" y="1388918"/>
                </a:lnTo>
                <a:cubicBezTo>
                  <a:pt x="51213" y="1388918"/>
                  <a:pt x="0" y="1337705"/>
                  <a:pt x="0" y="1274624"/>
                </a:cubicBezTo>
                <a:lnTo>
                  <a:pt x="0" y="114294"/>
                </a:lnTo>
                <a:cubicBezTo>
                  <a:pt x="0" y="51213"/>
                  <a:pt x="51213" y="0"/>
                  <a:pt x="114294" y="0"/>
                </a:cubicBezTo>
                <a:close/>
              </a:path>
            </a:pathLst>
          </a:custGeom>
          <a:solidFill>
            <a:srgbClr val="F5F5F5">
              <a:alpha val="100000"/>
            </a:srgbClr>
          </a:solidFill>
          <a:ln w="12700">
            <a:solidFill>
              <a:srgbClr val="5B92E5">
                <a:alpha val="100000"/>
              </a:srgbClr>
            </a:solidFill>
            <a:prstDash val="dash"/>
          </a:ln>
        </p:spPr>
        <p:txBody>
          <a:bodyPr wrap="square" lIns="91440" tIns="45720" rIns="91440" bIns="45720" rtlCol="0" anchor="t">
            <a:noAutofit/>
          </a:bodyPr>
          <a:lstStyle/>
          <a:p>
            <a:pPr algn="ctr">
              <a:defRPr/>
            </a:pPr>
          </a:p>
        </p:txBody>
      </p:sp>
      <p:sp>
        <p:nvSpPr>
          <p:cNvPr id="30" name="Freeform 30"/>
          <p:cNvSpPr/>
          <p:nvPr/>
        </p:nvSpPr>
        <p:spPr>
          <a:xfrm>
            <a:off x="10303669" y="4399434"/>
            <a:ext cx="300038" cy="300038"/>
          </a:xfrm>
          <a:custGeom>
            <a:avLst/>
            <a:gdLst/>
            <a:ahLst/>
            <a:cxnLst/>
            <a:rect l="l" t="t" r="r" b="b"/>
            <a:pathLst>
              <a:path w="300038" h="300038">
                <a:moveTo>
                  <a:pt x="42863" y="85725"/>
                </a:moveTo>
                <a:lnTo>
                  <a:pt x="85725" y="85725"/>
                </a:lnTo>
                <a:lnTo>
                  <a:pt x="85725" y="42863"/>
                </a:lnTo>
                <a:lnTo>
                  <a:pt x="42863" y="42863"/>
                </a:lnTo>
                <a:lnTo>
                  <a:pt x="42863" y="85725"/>
                </a:lnTo>
                <a:close/>
                <a:moveTo>
                  <a:pt x="0" y="32146"/>
                </a:moveTo>
                <a:cubicBezTo>
                  <a:pt x="0" y="14400"/>
                  <a:pt x="14399" y="0"/>
                  <a:pt x="32148" y="0"/>
                </a:cubicBezTo>
                <a:lnTo>
                  <a:pt x="96441" y="0"/>
                </a:lnTo>
                <a:cubicBezTo>
                  <a:pt x="114188" y="0"/>
                  <a:pt x="128587" y="14400"/>
                  <a:pt x="128587" y="32146"/>
                </a:cubicBezTo>
                <a:lnTo>
                  <a:pt x="128587" y="96442"/>
                </a:lnTo>
                <a:cubicBezTo>
                  <a:pt x="128587" y="114188"/>
                  <a:pt x="114188" y="128588"/>
                  <a:pt x="96441" y="128588"/>
                </a:cubicBezTo>
                <a:lnTo>
                  <a:pt x="32148" y="128588"/>
                </a:lnTo>
                <a:cubicBezTo>
                  <a:pt x="14399" y="128588"/>
                  <a:pt x="0" y="114188"/>
                  <a:pt x="0" y="96442"/>
                </a:cubicBezTo>
                <a:lnTo>
                  <a:pt x="0" y="32146"/>
                </a:lnTo>
                <a:close/>
                <a:moveTo>
                  <a:pt x="42863" y="257175"/>
                </a:moveTo>
                <a:lnTo>
                  <a:pt x="85725" y="257175"/>
                </a:lnTo>
                <a:lnTo>
                  <a:pt x="85725" y="214313"/>
                </a:lnTo>
                <a:lnTo>
                  <a:pt x="42863" y="214313"/>
                </a:lnTo>
                <a:lnTo>
                  <a:pt x="42863" y="257175"/>
                </a:lnTo>
                <a:close/>
                <a:moveTo>
                  <a:pt x="0" y="203596"/>
                </a:moveTo>
                <a:cubicBezTo>
                  <a:pt x="0" y="185850"/>
                  <a:pt x="14399" y="171450"/>
                  <a:pt x="32148" y="171450"/>
                </a:cubicBezTo>
                <a:lnTo>
                  <a:pt x="96441" y="171450"/>
                </a:lnTo>
                <a:cubicBezTo>
                  <a:pt x="114188" y="171450"/>
                  <a:pt x="128587" y="185850"/>
                  <a:pt x="128587" y="203596"/>
                </a:cubicBezTo>
                <a:lnTo>
                  <a:pt x="128587" y="267892"/>
                </a:lnTo>
                <a:cubicBezTo>
                  <a:pt x="128587" y="285638"/>
                  <a:pt x="114188" y="300038"/>
                  <a:pt x="96441" y="300038"/>
                </a:cubicBezTo>
                <a:lnTo>
                  <a:pt x="32148" y="300038"/>
                </a:lnTo>
                <a:cubicBezTo>
                  <a:pt x="14399" y="300038"/>
                  <a:pt x="0" y="285638"/>
                  <a:pt x="0" y="267892"/>
                </a:cubicBezTo>
                <a:lnTo>
                  <a:pt x="0" y="203596"/>
                </a:lnTo>
                <a:close/>
                <a:moveTo>
                  <a:pt x="214313" y="42863"/>
                </a:moveTo>
                <a:lnTo>
                  <a:pt x="214313" y="85725"/>
                </a:lnTo>
                <a:lnTo>
                  <a:pt x="257175" y="85725"/>
                </a:lnTo>
                <a:lnTo>
                  <a:pt x="257175" y="42863"/>
                </a:lnTo>
                <a:lnTo>
                  <a:pt x="214313" y="42863"/>
                </a:lnTo>
                <a:close/>
                <a:moveTo>
                  <a:pt x="203598" y="0"/>
                </a:moveTo>
                <a:lnTo>
                  <a:pt x="267891" y="0"/>
                </a:lnTo>
                <a:cubicBezTo>
                  <a:pt x="285638" y="0"/>
                  <a:pt x="300037" y="14400"/>
                  <a:pt x="300037" y="32146"/>
                </a:cubicBezTo>
                <a:lnTo>
                  <a:pt x="300037" y="96442"/>
                </a:lnTo>
                <a:cubicBezTo>
                  <a:pt x="300037" y="114188"/>
                  <a:pt x="285638" y="128588"/>
                  <a:pt x="267891" y="128588"/>
                </a:cubicBezTo>
                <a:lnTo>
                  <a:pt x="203598" y="128588"/>
                </a:lnTo>
                <a:cubicBezTo>
                  <a:pt x="185849" y="128588"/>
                  <a:pt x="171450" y="114188"/>
                  <a:pt x="171450" y="96442"/>
                </a:cubicBezTo>
                <a:lnTo>
                  <a:pt x="171450" y="32146"/>
                </a:lnTo>
                <a:cubicBezTo>
                  <a:pt x="171450" y="14400"/>
                  <a:pt x="185849" y="0"/>
                  <a:pt x="203598" y="0"/>
                </a:cubicBezTo>
                <a:close/>
                <a:moveTo>
                  <a:pt x="192881" y="214313"/>
                </a:moveTo>
                <a:cubicBezTo>
                  <a:pt x="181052" y="214313"/>
                  <a:pt x="171450" y="204710"/>
                  <a:pt x="171450" y="192882"/>
                </a:cubicBezTo>
                <a:cubicBezTo>
                  <a:pt x="171450" y="181053"/>
                  <a:pt x="181052" y="171450"/>
                  <a:pt x="192881" y="171450"/>
                </a:cubicBezTo>
                <a:cubicBezTo>
                  <a:pt x="204709" y="171450"/>
                  <a:pt x="214313" y="181053"/>
                  <a:pt x="214313" y="192882"/>
                </a:cubicBezTo>
                <a:cubicBezTo>
                  <a:pt x="214313" y="204710"/>
                  <a:pt x="204709" y="214313"/>
                  <a:pt x="192881" y="214313"/>
                </a:cubicBezTo>
                <a:close/>
                <a:moveTo>
                  <a:pt x="192881" y="257175"/>
                </a:moveTo>
                <a:cubicBezTo>
                  <a:pt x="204735" y="257175"/>
                  <a:pt x="214313" y="266752"/>
                  <a:pt x="214313" y="278606"/>
                </a:cubicBezTo>
                <a:cubicBezTo>
                  <a:pt x="214313" y="290461"/>
                  <a:pt x="204735" y="300038"/>
                  <a:pt x="192881" y="300038"/>
                </a:cubicBezTo>
                <a:cubicBezTo>
                  <a:pt x="181027" y="300038"/>
                  <a:pt x="171450" y="290461"/>
                  <a:pt x="171450" y="278606"/>
                </a:cubicBezTo>
                <a:cubicBezTo>
                  <a:pt x="171450" y="266752"/>
                  <a:pt x="181027" y="257175"/>
                  <a:pt x="192881" y="257175"/>
                </a:cubicBezTo>
                <a:close/>
                <a:moveTo>
                  <a:pt x="257175" y="278606"/>
                </a:moveTo>
                <a:cubicBezTo>
                  <a:pt x="257175" y="266752"/>
                  <a:pt x="266752" y="257175"/>
                  <a:pt x="278606" y="257175"/>
                </a:cubicBezTo>
                <a:cubicBezTo>
                  <a:pt x="290460" y="257175"/>
                  <a:pt x="300037" y="266752"/>
                  <a:pt x="300037" y="278606"/>
                </a:cubicBezTo>
                <a:cubicBezTo>
                  <a:pt x="300037" y="290461"/>
                  <a:pt x="290460" y="300038"/>
                  <a:pt x="278606" y="300038"/>
                </a:cubicBezTo>
                <a:cubicBezTo>
                  <a:pt x="266752" y="300038"/>
                  <a:pt x="257175" y="290461"/>
                  <a:pt x="257175" y="278606"/>
                </a:cubicBezTo>
                <a:close/>
                <a:moveTo>
                  <a:pt x="278606" y="214313"/>
                </a:moveTo>
                <a:cubicBezTo>
                  <a:pt x="266777" y="214313"/>
                  <a:pt x="257175" y="204710"/>
                  <a:pt x="257175" y="192882"/>
                </a:cubicBezTo>
                <a:cubicBezTo>
                  <a:pt x="257175" y="181053"/>
                  <a:pt x="266777" y="171450"/>
                  <a:pt x="278606" y="171450"/>
                </a:cubicBezTo>
                <a:cubicBezTo>
                  <a:pt x="290434" y="171450"/>
                  <a:pt x="300037" y="181053"/>
                  <a:pt x="300037" y="192882"/>
                </a:cubicBezTo>
                <a:cubicBezTo>
                  <a:pt x="300037" y="204710"/>
                  <a:pt x="290434" y="214313"/>
                  <a:pt x="278606" y="214313"/>
                </a:cubicBezTo>
                <a:close/>
                <a:moveTo>
                  <a:pt x="257175" y="235744"/>
                </a:moveTo>
                <a:cubicBezTo>
                  <a:pt x="257175" y="247572"/>
                  <a:pt x="247573" y="257175"/>
                  <a:pt x="235744" y="257175"/>
                </a:cubicBezTo>
                <a:cubicBezTo>
                  <a:pt x="223916" y="257175"/>
                  <a:pt x="214313" y="247572"/>
                  <a:pt x="214313" y="235744"/>
                </a:cubicBezTo>
                <a:cubicBezTo>
                  <a:pt x="214313" y="223916"/>
                  <a:pt x="223916" y="214313"/>
                  <a:pt x="235744" y="214313"/>
                </a:cubicBezTo>
                <a:cubicBezTo>
                  <a:pt x="247573" y="214313"/>
                  <a:pt x="257175" y="223916"/>
                  <a:pt x="257175" y="235744"/>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9261331" y="4835017"/>
            <a:ext cx="23812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32" name="AutoShape 32"/>
          <p:cNvSpPr/>
          <p:nvPr/>
        </p:nvSpPr>
        <p:spPr>
          <a:xfrm>
            <a:off x="9270856" y="5177730"/>
            <a:ext cx="236220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33" name="AutoShape 33"/>
          <p:cNvSpPr/>
          <p:nvPr/>
        </p:nvSpPr>
        <p:spPr>
          <a:xfrm>
            <a:off x="3438842" y="4800570"/>
            <a:ext cx="24193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体验文本如何被切分成token</a:t>
            </a:r>
            <a:endParaRPr lang="en-US" sz="1100"/>
          </a:p>
        </p:txBody>
      </p:sp>
      <p:sp>
        <p:nvSpPr>
          <p:cNvPr id="34" name="AutoShape 34"/>
          <p:cNvSpPr/>
          <p:nvPr/>
        </p:nvSpPr>
        <p:spPr>
          <a:xfrm>
            <a:off x="3369627" y="5147094"/>
            <a:ext cx="240030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https://tiktokenizer.vercel.app/</a:t>
            </a:r>
            <a:endParaRPr lang="en-US" sz="1100"/>
          </a:p>
        </p:txBody>
      </p:sp>
    </p:spTree>
  </p:cSld>
  <p:clrMapOvr>
    <a:masterClrMapping/>
  </p:clrMapOvr>
  <p:transition spd="slow">
    <p:fade/>
  </p:transition>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76200"/>
          </a:xfrm>
          <a:custGeom>
            <a:avLst/>
            <a:gdLst/>
            <a:ahLst/>
            <a:cxnLst/>
            <a:rect l="l" t="t" r="r" b="b"/>
            <a:pathLst>
              <a:path w="12192000" h="76200">
                <a:moveTo>
                  <a:pt x="0" y="0"/>
                </a:moveTo>
                <a:lnTo>
                  <a:pt x="12192000" y="0"/>
                </a:lnTo>
                <a:lnTo>
                  <a:pt x="12192000" y="76200"/>
                </a:lnTo>
                <a:lnTo>
                  <a:pt x="0" y="762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 name="AutoShape 3"/>
          <p:cNvSpPr/>
          <p:nvPr/>
        </p:nvSpPr>
        <p:spPr>
          <a:xfrm>
            <a:off x="2133519" y="686358"/>
            <a:ext cx="8229600" cy="914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4800" b="0" i="0" u="none" strike="noStrike">
                <a:solidFill>
                  <a:srgbClr val="5B92E5"/>
                </a:solidFill>
                <a:latin typeface="Alimama ShuHeiTi"/>
                <a:ea typeface="Alimama ShuHeiTi"/>
                <a:cs typeface="Alimama ShuHeiTi"/>
                <a:sym typeface="Alimama ShuHeiTi"/>
              </a:rPr>
              <a:t>感谢以下人员对本课程的支持</a:t>
            </a:r>
            <a:endParaRPr lang="en-US" sz="1100"/>
          </a:p>
        </p:txBody>
      </p:sp>
      <p:sp>
        <p:nvSpPr>
          <p:cNvPr id="4" name="AutoShape 4"/>
          <p:cNvSpPr/>
          <p:nvPr/>
        </p:nvSpPr>
        <p:spPr>
          <a:xfrm>
            <a:off x="4652322" y="2058033"/>
            <a:ext cx="8890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曹州</a:t>
            </a:r>
            <a:endParaRPr lang="en-US" sz="1100"/>
          </a:p>
        </p:txBody>
      </p:sp>
      <p:sp>
        <p:nvSpPr>
          <p:cNvPr id="5" name="AutoShape 5"/>
          <p:cNvSpPr/>
          <p:nvPr/>
        </p:nvSpPr>
        <p:spPr>
          <a:xfrm>
            <a:off x="4652322" y="2591246"/>
            <a:ext cx="8890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腾启明</a:t>
            </a:r>
            <a:endParaRPr lang="en-US" sz="1100"/>
          </a:p>
        </p:txBody>
      </p:sp>
      <p:sp>
        <p:nvSpPr>
          <p:cNvPr id="6" name="AutoShape 6"/>
          <p:cNvSpPr/>
          <p:nvPr/>
        </p:nvSpPr>
        <p:spPr>
          <a:xfrm>
            <a:off x="4652322" y="3124460"/>
            <a:ext cx="8890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王蕴博</a:t>
            </a:r>
            <a:endParaRPr lang="en-US" sz="1100"/>
          </a:p>
        </p:txBody>
      </p:sp>
      <p:sp>
        <p:nvSpPr>
          <p:cNvPr id="7" name="AutoShape 7"/>
          <p:cNvSpPr/>
          <p:nvPr/>
        </p:nvSpPr>
        <p:spPr>
          <a:xfrm>
            <a:off x="4652322" y="3657674"/>
            <a:ext cx="8890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刘广</a:t>
            </a:r>
            <a:endParaRPr lang="en-US" sz="1100"/>
          </a:p>
        </p:txBody>
      </p:sp>
      <p:sp>
        <p:nvSpPr>
          <p:cNvPr id="8" name="AutoShape 8"/>
          <p:cNvSpPr/>
          <p:nvPr/>
        </p:nvSpPr>
        <p:spPr>
          <a:xfrm>
            <a:off x="4652322" y="4190851"/>
            <a:ext cx="8890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陶健</a:t>
            </a:r>
            <a:endParaRPr lang="en-US" sz="1100"/>
          </a:p>
        </p:txBody>
      </p:sp>
      <p:sp>
        <p:nvSpPr>
          <p:cNvPr id="9" name="AutoShape 9"/>
          <p:cNvSpPr/>
          <p:nvPr/>
        </p:nvSpPr>
        <p:spPr>
          <a:xfrm>
            <a:off x="4652322" y="4724065"/>
            <a:ext cx="8890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史丽娟</a:t>
            </a:r>
            <a:endParaRPr lang="en-US" sz="1100"/>
          </a:p>
        </p:txBody>
      </p:sp>
      <p:sp>
        <p:nvSpPr>
          <p:cNvPr id="10" name="Freeform 10"/>
          <p:cNvSpPr/>
          <p:nvPr/>
        </p:nvSpPr>
        <p:spPr>
          <a:xfrm>
            <a:off x="6096000" y="2058033"/>
            <a:ext cx="25977" cy="3046918"/>
          </a:xfrm>
          <a:custGeom>
            <a:avLst/>
            <a:gdLst/>
            <a:ahLst/>
            <a:cxnLst/>
            <a:rect l="l" t="t" r="r" b="b"/>
            <a:pathLst>
              <a:path w="25977" h="3046918">
                <a:moveTo>
                  <a:pt x="0" y="0"/>
                </a:moveTo>
                <a:lnTo>
                  <a:pt x="25977" y="0"/>
                </a:lnTo>
                <a:lnTo>
                  <a:pt x="25977" y="3046918"/>
                </a:lnTo>
                <a:lnTo>
                  <a:pt x="0" y="3046918"/>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6096000" y="2058033"/>
            <a:ext cx="17318" cy="3046918"/>
          </a:xfrm>
          <a:custGeom>
            <a:avLst/>
            <a:gdLst/>
            <a:ahLst/>
            <a:cxnLst/>
            <a:rect l="l" t="t" r="r" b="b"/>
            <a:pathLst>
              <a:path w="17318" h="3046918">
                <a:moveTo>
                  <a:pt x="0" y="0"/>
                </a:moveTo>
                <a:lnTo>
                  <a:pt x="17318" y="0"/>
                </a:lnTo>
                <a:lnTo>
                  <a:pt x="17318" y="3046918"/>
                </a:lnTo>
                <a:lnTo>
                  <a:pt x="0" y="3046918"/>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6650677" y="2058033"/>
            <a:ext cx="8890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陈敬怡</a:t>
            </a:r>
            <a:endParaRPr lang="en-US" sz="1100"/>
          </a:p>
        </p:txBody>
      </p:sp>
      <p:sp>
        <p:nvSpPr>
          <p:cNvPr id="13" name="AutoShape 13"/>
          <p:cNvSpPr/>
          <p:nvPr/>
        </p:nvSpPr>
        <p:spPr>
          <a:xfrm>
            <a:off x="6650677" y="2591246"/>
            <a:ext cx="8890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刘云玲</a:t>
            </a:r>
            <a:endParaRPr lang="en-US" sz="1100"/>
          </a:p>
        </p:txBody>
      </p:sp>
      <p:sp>
        <p:nvSpPr>
          <p:cNvPr id="14" name="AutoShape 14"/>
          <p:cNvSpPr/>
          <p:nvPr/>
        </p:nvSpPr>
        <p:spPr>
          <a:xfrm>
            <a:off x="6650677" y="3124460"/>
            <a:ext cx="8890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李程</a:t>
            </a:r>
            <a:endParaRPr lang="en-US" sz="1100"/>
          </a:p>
        </p:txBody>
      </p:sp>
      <p:sp>
        <p:nvSpPr>
          <p:cNvPr id="15" name="AutoShape 15"/>
          <p:cNvSpPr/>
          <p:nvPr/>
        </p:nvSpPr>
        <p:spPr>
          <a:xfrm>
            <a:off x="6650677" y="3657674"/>
            <a:ext cx="8890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赵志强</a:t>
            </a:r>
            <a:endParaRPr lang="en-US" sz="1100"/>
          </a:p>
        </p:txBody>
      </p:sp>
      <p:sp>
        <p:nvSpPr>
          <p:cNvPr id="16" name="AutoShape 16"/>
          <p:cNvSpPr/>
          <p:nvPr/>
        </p:nvSpPr>
        <p:spPr>
          <a:xfrm>
            <a:off x="6650677" y="4190851"/>
            <a:ext cx="8890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朱其罡</a:t>
            </a:r>
            <a:endParaRPr lang="en-US" sz="1100"/>
          </a:p>
        </p:txBody>
      </p:sp>
    </p:spTree>
  </p:cSld>
  <p:clrMapOvr>
    <a:masterClrMapping/>
  </p:clrMapOvr>
  <p:transition spd="slow">
    <p:fade/>
  </p:transition>
</p:sld>
</file>

<file path=ppt/tags/tag1.xml><?xml version="1.0" encoding="utf-8"?>
<p:tagLst xmlns:p="http://schemas.openxmlformats.org/presentationml/2006/main">
  <p:tag name="KSO_WM_DIAGRAM_VIRTUALLY_FRAME" val="{&quot;height&quot;:342.30496062992125,&quot;left&quot;:27.05,&quot;top&quot;:116.79503937007875,&quot;width&quot;:987.3}"/>
</p:tagLst>
</file>

<file path=ppt/tags/tag2.xml><?xml version="1.0" encoding="utf-8"?>
<p:tagLst xmlns:p="http://schemas.openxmlformats.org/presentationml/2006/main">
  <p:tag name="KSO_WM_DIAGRAM_VIRTUALLY_FRAME" val="{&quot;height&quot;:342.30496062992125,&quot;left&quot;:27.05,&quot;top&quot;:116.79503937007875,&quot;width&quot;:987.3}"/>
</p:tagLst>
</file>

<file path=ppt/tags/tag3.xml><?xml version="1.0" encoding="utf-8"?>
<p:tagLst xmlns:p="http://schemas.openxmlformats.org/presentationml/2006/main">
  <p:tag name="KSO_WM_DIAGRAM_VIRTUALLY_FRAME" val="{&quot;height&quot;:342.30496062992125,&quot;left&quot;:27.05,&quot;top&quot;:116.79503937007875,&quot;width&quot;:987.3}"/>
</p:tagLst>
</file>

<file path=ppt/tags/tag4.xml><?xml version="1.0" encoding="utf-8"?>
<p:tagLst xmlns:p="http://schemas.openxmlformats.org/presentationml/2006/main">
  <p:tag name="KSO_WM_DIAGRAM_VIRTUALLY_FRAME" val="{&quot;height&quot;:342.30496062992125,&quot;left&quot;:27.05,&quot;top&quot;:116.79503937007875,&quot;width&quot;:987.3}"/>
</p:tagLst>
</file>

<file path=ppt/tags/tag5.xml><?xml version="1.0" encoding="utf-8"?>
<p:tagLst xmlns:p="http://schemas.openxmlformats.org/presentationml/2006/main">
  <p:tag name="KSO_WM_DIAGRAM_VIRTUALLY_FRAME" val="{&quot;height&quot;:342.30496062992125,&quot;left&quot;:27.05,&quot;top&quot;:116.79503937007875,&quot;width&quot;:987.3}"/>
</p:tagLst>
</file>

<file path=ppt/tags/tag6.xml><?xml version="1.0" encoding="utf-8"?>
<p:tagLst xmlns:p="http://schemas.openxmlformats.org/presentationml/2006/main">
  <p:tag name="KSO_WM_DIAGRAM_VIRTUALLY_FRAME" val="{&quot;height&quot;:342.30496062992125,&quot;left&quot;:27.05,&quot;top&quot;:116.79503937007875,&quot;width&quot;:987.3}"/>
</p:tagLst>
</file>

<file path=ppt/tags/tag7.xml><?xml version="1.0" encoding="utf-8"?>
<p:tagLst xmlns:p="http://schemas.openxmlformats.org/presentationml/2006/main">
  <p:tag name="KSO_WM_DIAGRAM_VIRTUALLY_FRAME" val="{&quot;height&quot;:342.30496062992125,&quot;left&quot;:27.05,&quot;top&quot;:116.79503937007875,&quot;width&quot;:987.3}"/>
</p:tagLst>
</file>

<file path=ppt/tags/tag8.xml><?xml version="1.0" encoding="utf-8"?>
<p:tagLst xmlns:p="http://schemas.openxmlformats.org/presentationml/2006/main">
  <p:tag name="KSO_WM_DIAGRAM_VIRTUALLY_FRAME" val="{&quot;height&quot;:342.30496062992125,&quot;left&quot;:27.05,&quot;top&quot;:116.79503937007875,&quot;width&quot;:987.3}"/>
</p:tagLst>
</file>

<file path=ppt/tags/tag9.xml><?xml version="1.0" encoding="utf-8"?>
<p:tagLst xmlns:p="http://schemas.openxmlformats.org/presentationml/2006/main">
  <p:tag name="KSO_WM_DIAGRAM_VIRTUALLY_FRAME" val="{&quot;height&quot;:342.30496062992125,&quot;left&quot;:27.05,&quot;top&quot;:116.79503937007875,&quot;width&quot;:987.3}"/>
</p:tagLst>
</file>

<file path=ppt/tags/tag10.xml><?xml version="1.0" encoding="utf-8"?>
<p:tagLst xmlns:p="http://schemas.openxmlformats.org/presentationml/2006/main">
  <p:tag name="KSO_WM_DIAGRAM_VIRTUALLY_FRAME" val="{&quot;height&quot;:342.30496062992125,&quot;left&quot;:27.05,&quot;top&quot;:116.79503937007875,&quot;width&quot;:987.3}"/>
</p:tagLst>
</file>

<file path=ppt/tags/tag11.xml><?xml version="1.0" encoding="utf-8"?>
<p:tagLst xmlns:p="http://schemas.openxmlformats.org/presentationml/2006/main">
  <p:tag name="KSO_WM_DIAGRAM_VIRTUALLY_FRAME" val="{&quot;height&quot;:342.30496062992125,&quot;left&quot;:27.05,&quot;top&quot;:116.79503937007875,&quot;width&quot;:987.3}"/>
</p:tagLst>
</file>

<file path=ppt/tags/tag12.xml><?xml version="1.0" encoding="utf-8"?>
<p:tagLst xmlns:p="http://schemas.openxmlformats.org/presentationml/2006/main">
  <p:tag name="KSO_WM_DIAGRAM_VIRTUALLY_FRAME" val="{&quot;height&quot;:342.30496062992125,&quot;left&quot;:27.05,&quot;top&quot;:116.79503937007875,&quot;width&quot;:987.3}"/>
</p:tagLst>
</file>

<file path=ppt/tags/tag13.xml><?xml version="1.0" encoding="utf-8"?>
<p:tagLst xmlns:p="http://schemas.openxmlformats.org/presentationml/2006/main">
  <p:tag name="KSO_WM_DIAGRAM_VIRTUALLY_FRAME" val="{&quot;height&quot;:342.30496062992125,&quot;left&quot;:27.05,&quot;top&quot;:116.79503937007875,&quot;width&quot;:987.3}"/>
</p:tagLst>
</file>

<file path=ppt/tags/tag14.xml><?xml version="1.0" encoding="utf-8"?>
<p:tagLst xmlns:p="http://schemas.openxmlformats.org/presentationml/2006/main">
  <p:tag name="KSO_WM_DIAGRAM_VIRTUALLY_FRAME" val="{&quot;height&quot;:342.30496062992125,&quot;left&quot;:27.05,&quot;top&quot;:116.79503937007875,&quot;width&quot;:987.3}"/>
</p:tagLst>
</file>

<file path=ppt/tags/tag15.xml><?xml version="1.0" encoding="utf-8"?>
<p:tagLst xmlns:p="http://schemas.openxmlformats.org/presentationml/2006/main">
  <p:tag name="KSO_WM_DIAGRAM_VIRTUALLY_FRAME" val="{&quot;height&quot;:342.30496062992125,&quot;left&quot;:27.05,&quot;top&quot;:116.79503937007875,&quot;width&quot;:987.3}"/>
</p:tagLst>
</file>

<file path=ppt/tags/tag16.xml><?xml version="1.0" encoding="utf-8"?>
<p:tagLst xmlns:p="http://schemas.openxmlformats.org/presentationml/2006/main">
  <p:tag name="KSO_WM_DIAGRAM_VIRTUALLY_FRAME" val="{&quot;height&quot;:342.30496062992125,&quot;left&quot;:27.05,&quot;top&quot;:116.79503937007875,&quot;width&quot;:987.3}"/>
</p:tagLst>
</file>

<file path=ppt/tags/tag17.xml><?xml version="1.0" encoding="utf-8"?>
<p:tagLst xmlns:p="http://schemas.openxmlformats.org/presentationml/2006/main">
  <p:tag name="KSO_WM_DIAGRAM_VIRTUALLY_FRAME" val="{&quot;height&quot;:342.30496062992125,&quot;left&quot;:27.05,&quot;top&quot;:116.79503937007875,&quot;width&quot;:987.3}"/>
</p:tagLst>
</file>

<file path=ppt/tags/tag18.xml><?xml version="1.0" encoding="utf-8"?>
<p:tagLst xmlns:p="http://schemas.openxmlformats.org/presentationml/2006/main">
  <p:tag name="KSO_WM_DIAGRAM_VIRTUALLY_FRAME" val="{&quot;height&quot;:342.30496062992125,&quot;left&quot;:27.05,&quot;top&quot;:116.79503937007875,&quot;width&quot;:987.3}"/>
</p:tagLst>
</file>

<file path=ppt/tags/tag19.xml><?xml version="1.0" encoding="utf-8"?>
<p:tagLst xmlns:p="http://schemas.openxmlformats.org/presentationml/2006/main">
  <p:tag name="KSO_WM_DIAGRAM_VIRTUALLY_FRAME" val="{&quot;height&quot;:342.30496062992125,&quot;left&quot;:27.05,&quot;top&quot;:116.79503937007875,&quot;width&quot;:987.3}"/>
</p:tagLst>
</file>

<file path=ppt/tags/tag20.xml><?xml version="1.0" encoding="utf-8"?>
<p:tagLst xmlns:p="http://schemas.openxmlformats.org/presentationml/2006/main">
  <p:tag name="KSO_WM_DIAGRAM_VIRTUALLY_FRAME" val="{&quot;height&quot;:342.30496062992125,&quot;left&quot;:27.05,&quot;top&quot;:116.79503937007875,&quot;width&quot;:987.3}"/>
</p:tagLst>
</file>

<file path=ppt/tags/tag21.xml><?xml version="1.0" encoding="utf-8"?>
<p:tagLst xmlns:p="http://schemas.openxmlformats.org/presentationml/2006/main">
  <p:tag name="KSO_WM_DIAGRAM_VIRTUALLY_FRAME" val="{&quot;height&quot;:342.30496062992125,&quot;left&quot;:27.05,&quot;top&quot;:116.79503937007875,&quot;width&quot;:987.3}"/>
</p:tagLst>
</file>

<file path=ppt/tags/tag22.xml><?xml version="1.0" encoding="utf-8"?>
<p:tagLst xmlns:p="http://schemas.openxmlformats.org/presentationml/2006/main">
  <p:tag name="KSO_WM_DIAGRAM_VIRTUALLY_FRAME" val="{&quot;height&quot;:342.30496062992125,&quot;left&quot;:27.05,&quot;top&quot;:116.79503937007875,&quot;width&quot;:987.3}"/>
</p:tagLst>
</file>

<file path=ppt/tags/tag23.xml><?xml version="1.0" encoding="utf-8"?>
<p:tagLst xmlns:p="http://schemas.openxmlformats.org/presentationml/2006/main">
  <p:tag name="KSO_WM_DIAGRAM_VIRTUALLY_FRAME" val="{&quot;height&quot;:342.30496062992125,&quot;left&quot;:27.05,&quot;top&quot;:116.79503937007875,&quot;width&quot;:987.3}"/>
</p:tagLst>
</file>

<file path=ppt/tags/tag24.xml><?xml version="1.0" encoding="utf-8"?>
<p:tagLst xmlns:p="http://schemas.openxmlformats.org/presentationml/2006/main">
  <p:tag name="KSO_WM_DIAGRAM_VIRTUALLY_FRAME" val="{&quot;height&quot;:342.30496062992125,&quot;left&quot;:27.05,&quot;top&quot;:116.79503937007875,&quot;width&quot;:987.3}"/>
</p:tagLst>
</file>

<file path=ppt/tags/tag25.xml><?xml version="1.0" encoding="utf-8"?>
<p:tagLst xmlns:p="http://schemas.openxmlformats.org/presentationml/2006/main">
  <p:tag name="KSO_WM_DIAGRAM_VIRTUALLY_FRAME" val="{&quot;height&quot;:342.30496062992125,&quot;left&quot;:27.05,&quot;top&quot;:116.79503937007875,&quot;width&quot;:987.3}"/>
</p:tagLst>
</file>

<file path=ppt/tags/tag26.xml><?xml version="1.0" encoding="utf-8"?>
<p:tagLst xmlns:p="http://schemas.openxmlformats.org/presentationml/2006/main">
  <p:tag name="KSO_WM_DIAGRAM_VIRTUALLY_FRAME" val="{&quot;height&quot;:342.30496062992125,&quot;left&quot;:27.05,&quot;top&quot;:116.79503937007875,&quot;width&quot;:987.3}"/>
</p:tagLst>
</file>

<file path=ppt/tags/tag27.xml><?xml version="1.0" encoding="utf-8"?>
<p:tagLst xmlns:p="http://schemas.openxmlformats.org/presentationml/2006/main">
  <p:tag name="KSO_WM_DIAGRAM_VIRTUALLY_FRAME" val="{&quot;height&quot;:342.30496062992125,&quot;left&quot;:27.05,&quot;top&quot;:116.79503937007875,&quot;width&quot;:987.3}"/>
</p:tagLst>
</file>

<file path=ppt/tags/tag28.xml><?xml version="1.0" encoding="utf-8"?>
<p:tagLst xmlns:p="http://schemas.openxmlformats.org/presentationml/2006/main">
  <p:tag name="KSO_WM_DIAGRAM_VIRTUALLY_FRAME" val="{&quot;height&quot;:342.30496062992125,&quot;left&quot;:27.05,&quot;top&quot;:116.79503937007875,&quot;width&quot;:987.3}"/>
</p:tagLst>
</file>

<file path=ppt/tags/tag29.xml><?xml version="1.0" encoding="utf-8"?>
<p:tagLst xmlns:p="http://schemas.openxmlformats.org/presentationml/2006/main">
  <p:tag name="KSO_WM_DIAGRAM_VIRTUALLY_FRAME" val="{&quot;height&quot;:342.30496062992125,&quot;left&quot;:27.05,&quot;top&quot;:116.79503937007875,&quot;width&quot;:987.3}"/>
</p:tagLst>
</file>

<file path=ppt/tags/tag30.xml><?xml version="1.0" encoding="utf-8"?>
<p:tagLst xmlns:p="http://schemas.openxmlformats.org/presentationml/2006/main">
  <p:tag name="KSO_WM_DIAGRAM_VIRTUALLY_FRAME" val="{&quot;height&quot;:342.30496062992125,&quot;left&quot;:27.05,&quot;top&quot;:116.79503937007875,&quot;width&quot;:987.3}"/>
</p:tagLst>
</file>

<file path=ppt/tags/tag31.xml><?xml version="1.0" encoding="utf-8"?>
<p:tagLst xmlns:p="http://schemas.openxmlformats.org/presentationml/2006/main">
  <p:tag name="KSO_WM_DIAGRAM_VIRTUALLY_FRAME" val="{&quot;height&quot;:342.30496062992125,&quot;left&quot;:27.05,&quot;top&quot;:116.79503937007875,&quot;width&quot;:987.3}"/>
</p:tagLst>
</file>

<file path=ppt/tags/tag32.xml><?xml version="1.0" encoding="utf-8"?>
<p:tagLst xmlns:p="http://schemas.openxmlformats.org/presentationml/2006/main">
  <p:tag name="KSO_WM_DIAGRAM_VIRTUALLY_FRAME" val="{&quot;height&quot;:342.30496062992125,&quot;left&quot;:27.05,&quot;top&quot;:116.79503937007875,&quot;width&quot;:987.3}"/>
</p:tagLst>
</file>

<file path=ppt/tags/tag33.xml><?xml version="1.0" encoding="utf-8"?>
<p:tagLst xmlns:p="http://schemas.openxmlformats.org/presentationml/2006/main">
  <p:tag name="KSO_WM_DIAGRAM_VIRTUALLY_FRAME" val="{&quot;height&quot;:342.30496062992125,&quot;left&quot;:27.05,&quot;top&quot;:116.79503937007875,&quot;width&quot;:987.3}"/>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8718</Words>
  <Application>WPS 演示</Application>
  <PresentationFormat>宽屏</PresentationFormat>
  <Paragraphs>1608</Paragraphs>
  <Slides>57</Slides>
  <Notes>57</Notes>
  <HiddenSlides>0</HiddenSlides>
  <MMClips>0</MMClips>
  <ScaleCrop>false</ScaleCrop>
  <HeadingPairs>
    <vt:vector size="8" baseType="variant">
      <vt:variant>
        <vt:lpstr>已用的字体</vt:lpstr>
      </vt:variant>
      <vt:variant>
        <vt:i4>13</vt:i4>
      </vt:variant>
      <vt:variant>
        <vt:lpstr>主题</vt:lpstr>
      </vt:variant>
      <vt:variant>
        <vt:i4>2</vt:i4>
      </vt:variant>
      <vt:variant>
        <vt:lpstr>嵌入 OLE 服务器</vt:lpstr>
      </vt:variant>
      <vt:variant>
        <vt:i4>1</vt:i4>
      </vt:variant>
      <vt:variant>
        <vt:lpstr>幻灯片标题</vt:lpstr>
      </vt:variant>
      <vt:variant>
        <vt:i4>57</vt:i4>
      </vt:variant>
    </vt:vector>
  </HeadingPairs>
  <TitlesOfParts>
    <vt:vector size="73" baseType="lpstr">
      <vt:lpstr>Arial</vt:lpstr>
      <vt:lpstr>宋体</vt:lpstr>
      <vt:lpstr>Wingdings</vt:lpstr>
      <vt:lpstr>Arial</vt:lpstr>
      <vt:lpstr>Alimama ShuHeiTi</vt:lpstr>
      <vt:lpstr>Segoe Print</vt:lpstr>
      <vt:lpstr>MiSans</vt:lpstr>
      <vt:lpstr>Calibri</vt:lpstr>
      <vt:lpstr>微软雅黑</vt:lpstr>
      <vt:lpstr>Arial Unicode MS</vt:lpstr>
      <vt:lpstr>等线</vt:lpstr>
      <vt:lpstr>Noto Sans SC</vt:lpstr>
      <vt:lpstr>MiSans</vt:lpstr>
      <vt:lpstr>Office 主题​​</vt:lpstr>
      <vt:lpstr>Custom Theme</vt:lpstr>
      <vt:lpstr>Package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orix zhu</dc:creator>
  <cp:lastModifiedBy>Zhiqiang Zhao</cp:lastModifiedBy>
  <cp:revision>6</cp:revision>
  <dcterms:created xsi:type="dcterms:W3CDTF">2026-03-18T03:13:00Z</dcterms:created>
  <dcterms:modified xsi:type="dcterms:W3CDTF">2026-03-18T08:51:43Z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2052-12.1.0.19302</vt:lpwstr>
  </property>
  <property fmtid="{D5CDD505-2E9C-101B-9397-08002B2CF9AE}" pid="3" name="ICV">
    <vt:lpwstr>8CE2BC3DFBAA4F5FA17BAD6513D3AB7F_12</vt:lpwstr>
  </property>
</Properties>
</file>